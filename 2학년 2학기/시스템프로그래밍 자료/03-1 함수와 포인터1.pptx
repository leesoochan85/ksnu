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9" r:id="rId2"/>
    <p:sldId id="297" r:id="rId3"/>
    <p:sldId id="327" r:id="rId4"/>
    <p:sldId id="328" r:id="rId5"/>
    <p:sldId id="329" r:id="rId6"/>
    <p:sldId id="330" r:id="rId7"/>
    <p:sldId id="331" r:id="rId8"/>
    <p:sldId id="332" r:id="rId9"/>
    <p:sldId id="333" r:id="rId10"/>
    <p:sldId id="334" r:id="rId11"/>
    <p:sldId id="335" r:id="rId12"/>
    <p:sldId id="337" r:id="rId13"/>
    <p:sldId id="338" r:id="rId1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1020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각 삼각형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제목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17" name="부제목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ko-KR" altLang="en-US" smtClean="0"/>
              <a:t>마스터 부제목 스타일 편집</a:t>
            </a:r>
            <a:endParaRPr kumimoji="0" lang="en-US"/>
          </a:p>
        </p:txBody>
      </p:sp>
      <p:grpSp>
        <p:nvGrpSpPr>
          <p:cNvPr id="2" name="그룹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자유형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자유형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자유형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직선 연결선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날짜 개체 틀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FDC3ACBB-4309-45E7-A0CE-9D4E9C4CF5F6}" type="datetimeFigureOut">
              <a:rPr lang="ko-KR" altLang="en-US" smtClean="0"/>
              <a:t>2024-10-02</a:t>
            </a:fld>
            <a:endParaRPr lang="ko-KR" altLang="en-US"/>
          </a:p>
        </p:txBody>
      </p:sp>
      <p:sp>
        <p:nvSpPr>
          <p:cNvPr id="19" name="바닥글 개체 틀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27" name="슬라이드 번호 개체 틀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2024-10-02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2024-10-02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갈매기형 수장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갈매기형 수장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2024-10-02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2024-10-02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2024-10-02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2024-10-02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FDC3ACBB-4309-45E7-A0CE-9D4E9C4CF5F6}" type="datetimeFigureOut">
              <a:rPr lang="ko-KR" altLang="en-US" smtClean="0"/>
              <a:t>2024-10-02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ko-KR" altLang="en-US" smtClean="0"/>
              <a:t>그림을 추가하려면 아이콘을 클릭하십시오</a:t>
            </a:r>
            <a:endParaRPr kumimoji="0" lang="en-US" dirty="0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DC3ACBB-4309-45E7-A0CE-9D4E9C4CF5F6}" type="datetimeFigureOut">
              <a:rPr lang="ko-KR" altLang="en-US" smtClean="0"/>
              <a:t>2024-10-02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8" name="자유형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자유형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직각 삼각형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직선 연결선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갈매기형 수장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갈매기형 수장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2024-10-02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2024-10-02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자유형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직각 삼각형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직선 연결선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개체 틀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0" name="텍스트 개체 틀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smtClean="0"/>
              <a:t>둘째 수준</a:t>
            </a:r>
          </a:p>
          <a:p>
            <a:pPr lvl="2" eaLnBrk="1" latinLnBrk="0" hangingPunct="1"/>
            <a:r>
              <a:rPr kumimoji="0" lang="ko-KR" altLang="en-US" smtClean="0"/>
              <a:t>셋째 수준</a:t>
            </a:r>
          </a:p>
          <a:p>
            <a:pPr lvl="3" eaLnBrk="1" latinLnBrk="0" hangingPunct="1"/>
            <a:r>
              <a:rPr kumimoji="0" lang="ko-KR" altLang="en-US" smtClean="0"/>
              <a:t>넷째 수준</a:t>
            </a:r>
          </a:p>
          <a:p>
            <a:pPr lvl="4" eaLnBrk="1" latinLnBrk="0" hangingPunct="1"/>
            <a:r>
              <a:rPr kumimoji="0" lang="ko-KR" altLang="en-US" smtClean="0"/>
              <a:t>다섯째 수준</a:t>
            </a:r>
            <a:endParaRPr kumimoji="0" lang="en-US"/>
          </a:p>
        </p:txBody>
      </p:sp>
      <p:sp>
        <p:nvSpPr>
          <p:cNvPr id="10" name="날짜 개체 틀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FDC3ACBB-4309-45E7-A0CE-9D4E9C4CF5F6}" type="datetimeFigureOut">
              <a:rPr lang="ko-KR" altLang="en-US" smtClean="0"/>
              <a:t>2024-10-02</a:t>
            </a:fld>
            <a:endParaRPr lang="ko-KR" altLang="en-US"/>
          </a:p>
        </p:txBody>
      </p:sp>
      <p:sp>
        <p:nvSpPr>
          <p:cNvPr id="22" name="바닥글 개체 틀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18" name="슬라이드 번호 개체 틀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rtl="0" eaLnBrk="1" latinLnBrk="1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1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1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1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1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1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 smtClean="0"/>
              <a:t>함수와 포인터</a:t>
            </a:r>
            <a:r>
              <a:rPr lang="en-US" altLang="ko-KR" sz="3200" dirty="0" smtClean="0"/>
              <a:t>1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525058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2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/>
              <a:t>함수의 개요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solidFill>
                  <a:srgbClr val="E46C0A"/>
                </a:solidFill>
              </a:rPr>
              <a:t>● </a:t>
            </a:r>
            <a:r>
              <a:rPr lang="ko-KR" altLang="en-US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블랙박스와 절차적 추상화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절차적 추상화</a:t>
            </a:r>
            <a:r>
              <a:rPr lang="en-US" altLang="ko-KR" sz="1800" b="1" dirty="0">
                <a:latin typeface="-윤고딕140"/>
                <a:ea typeface="-윤고딕140"/>
                <a:cs typeface="-윤고딕140"/>
              </a:rPr>
              <a:t>(procedural abstraction)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          = </a:t>
            </a:r>
            <a:r>
              <a:rPr lang="ko-KR" altLang="en-US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번거로운 절차를 감추는 행위</a:t>
            </a:r>
            <a:endParaRPr lang="en-US" altLang="ko-KR" sz="1800" b="1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블랙박스</a:t>
            </a:r>
            <a:r>
              <a:rPr lang="en-US" altLang="ko-KR" sz="1800" b="1" dirty="0">
                <a:latin typeface="-윤고딕140"/>
                <a:ea typeface="-윤고딕140"/>
                <a:cs typeface="-윤고딕140"/>
              </a:rPr>
              <a:t>(black box)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          = </a:t>
            </a:r>
            <a:r>
              <a:rPr lang="ko-KR" altLang="en-US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절차적 추상화를 한 장치</a:t>
            </a:r>
            <a:endParaRPr lang="en-US" altLang="ko-KR" sz="1800" b="1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함수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          = </a:t>
            </a:r>
            <a:r>
              <a:rPr lang="ko-KR" altLang="en-US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블랙박스 형태로 만든 코드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</p:txBody>
      </p:sp>
    </p:spTree>
    <p:extLst>
      <p:ext uri="{BB962C8B-B14F-4D97-AF65-F5344CB8AC3E}">
        <p14:creationId xmlns:p14="http://schemas.microsoft.com/office/powerpoint/2010/main" val="2975030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3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/>
              <a:t>함수의 개요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solidFill>
                  <a:srgbClr val="E46C0A"/>
                </a:solidFill>
              </a:rPr>
              <a:t>● </a:t>
            </a:r>
            <a:r>
              <a:rPr lang="ko-KR" altLang="en-US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모듈화</a:t>
            </a:r>
            <a:endParaRPr lang="en-US" altLang="ko-KR" sz="1800" b="1" dirty="0">
              <a:solidFill>
                <a:srgbClr val="E46C0A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큰 덩치의 프로그램을 작은 단위로 </a:t>
            </a:r>
            <a:r>
              <a:rPr lang="ko-KR" altLang="en-US" sz="1800" b="1" dirty="0" smtClean="0">
                <a:latin typeface="-윤고딕140"/>
                <a:ea typeface="-윤고딕140"/>
                <a:cs typeface="-윤고딕140"/>
              </a:rPr>
              <a:t>분할</a:t>
            </a:r>
            <a:endParaRPr lang="en-US" altLang="ko-KR" sz="1800" b="1" dirty="0" smtClean="0">
              <a:latin typeface="-윤고딕140"/>
              <a:ea typeface="-윤고딕140"/>
              <a:cs typeface="-윤고딕14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나눠서 정복한다</a:t>
            </a:r>
            <a:r>
              <a:rPr lang="en-US" altLang="ko-KR" sz="1800" b="1" dirty="0">
                <a:latin typeface="-윤고딕140"/>
                <a:ea typeface="-윤고딕140"/>
                <a:cs typeface="-윤고딕140"/>
              </a:rPr>
              <a:t>(Divide &amp; Conquer)</a:t>
            </a: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는 </a:t>
            </a:r>
            <a:r>
              <a:rPr lang="ko-KR" altLang="en-US" sz="1800" b="1" dirty="0" smtClean="0">
                <a:latin typeface="-윤고딕140"/>
                <a:ea typeface="-윤고딕140"/>
                <a:cs typeface="-윤고딕140"/>
              </a:rPr>
              <a:t>전략</a:t>
            </a:r>
            <a:endParaRPr lang="en-US" altLang="ko-KR" sz="1800" b="1" dirty="0" smtClean="0">
              <a:latin typeface="-윤고딕140"/>
              <a:ea typeface="-윤고딕140"/>
              <a:cs typeface="-윤고딕14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ko-KR" altLang="en-US" sz="1800" b="1" u="sng" dirty="0" err="1">
                <a:latin typeface="-윤고딕140"/>
                <a:ea typeface="-윤고딕140"/>
                <a:cs typeface="-윤고딕140"/>
              </a:rPr>
              <a:t>부품화</a:t>
            </a:r>
            <a:r>
              <a:rPr lang="ko-KR" altLang="en-US" sz="1800" b="1" dirty="0" err="1">
                <a:latin typeface="-윤고딕140"/>
                <a:ea typeface="-윤고딕140"/>
                <a:cs typeface="-윤고딕140"/>
              </a:rPr>
              <a:t>와</a:t>
            </a: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 유사한 </a:t>
            </a:r>
            <a:r>
              <a:rPr lang="ko-KR" altLang="en-US" sz="1800" b="1" dirty="0" smtClean="0">
                <a:latin typeface="-윤고딕140"/>
                <a:ea typeface="-윤고딕140"/>
                <a:cs typeface="-윤고딕140"/>
              </a:rPr>
              <a:t>개념</a:t>
            </a:r>
            <a:endParaRPr lang="en-US" altLang="ko-KR" sz="1800" b="1" dirty="0" smtClean="0">
              <a:latin typeface="-윤고딕140"/>
              <a:ea typeface="-윤고딕140"/>
              <a:cs typeface="-윤고딕14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ko-KR" altLang="en-US" sz="1800" b="1" dirty="0" err="1">
                <a:latin typeface="-윤고딕140"/>
                <a:ea typeface="-윤고딕140"/>
                <a:cs typeface="-윤고딕140"/>
              </a:rPr>
              <a:t>부품화하면</a:t>
            </a: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 </a:t>
            </a:r>
            <a:r>
              <a:rPr lang="ko-KR" altLang="en-US" sz="1800" b="1" u="sng" dirty="0">
                <a:latin typeface="-윤고딕140"/>
                <a:ea typeface="-윤고딕140"/>
                <a:cs typeface="-윤고딕140"/>
              </a:rPr>
              <a:t>재사용</a:t>
            </a: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 가능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</p:txBody>
      </p:sp>
    </p:spTree>
    <p:extLst>
      <p:ext uri="{BB962C8B-B14F-4D97-AF65-F5344CB8AC3E}">
        <p14:creationId xmlns:p14="http://schemas.microsoft.com/office/powerpoint/2010/main" val="3372527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4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/>
              <a:t>함수의 개요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solidFill>
                  <a:srgbClr val="E46C0A"/>
                </a:solidFill>
              </a:rPr>
              <a:t>● </a:t>
            </a:r>
            <a:r>
              <a:rPr lang="ko-KR" altLang="en-US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수학적 추상화</a:t>
            </a: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b="1" dirty="0">
                <a:latin typeface="-윤고딕140"/>
                <a:ea typeface="-윤고딕140"/>
                <a:cs typeface="-윤고딕140"/>
              </a:rPr>
              <a:t>C++</a:t>
            </a: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의 함수는 수학적 함수의 형태로도 구현 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함수에 적용된 개념들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</p:txBody>
      </p:sp>
      <p:sp>
        <p:nvSpPr>
          <p:cNvPr id="5" name="부제목 8"/>
          <p:cNvSpPr txBox="1">
            <a:spLocks/>
          </p:cNvSpPr>
          <p:nvPr/>
        </p:nvSpPr>
        <p:spPr>
          <a:xfrm>
            <a:off x="755576" y="2636912"/>
            <a:ext cx="6286500" cy="1224136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Y = F(x</a:t>
            </a:r>
            <a:r>
              <a:rPr kumimoji="0" lang="en-US" altLang="ko-KR" sz="1600" dirty="0" smtClean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)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ko-KR" sz="16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* </a:t>
            </a:r>
            <a:r>
              <a:rPr lang="ko-KR" altLang="en-US" sz="16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어떤 </a:t>
            </a:r>
            <a:r>
              <a:rPr lang="ko-KR" altLang="en-US" sz="1600" dirty="0" err="1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입력값</a:t>
            </a:r>
            <a:r>
              <a:rPr lang="ko-KR" altLang="en-US" sz="16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 </a:t>
            </a:r>
            <a:r>
              <a:rPr lang="en-US" altLang="ko-KR" sz="16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x</a:t>
            </a:r>
            <a:r>
              <a:rPr lang="ko-KR" altLang="en-US" sz="16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에 대한 결과값 </a:t>
            </a:r>
            <a:r>
              <a:rPr lang="en-US" altLang="ko-KR" sz="16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y</a:t>
            </a:r>
            <a:r>
              <a:rPr lang="ko-KR" altLang="en-US" sz="16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를 예측 가능</a:t>
            </a:r>
            <a:endParaRPr lang="en-US" altLang="ko-KR" sz="1600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ko-KR" sz="16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* </a:t>
            </a:r>
            <a:r>
              <a:rPr lang="ko-KR" altLang="en-US" sz="16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수학적 수준에서의 추상화 </a:t>
            </a:r>
            <a:r>
              <a:rPr lang="en-US" altLang="ko-KR" sz="16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= </a:t>
            </a:r>
            <a:r>
              <a:rPr lang="ko-KR" altLang="en-US" sz="16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고도의 </a:t>
            </a:r>
            <a:r>
              <a:rPr lang="ko-KR" altLang="en-US" sz="1600" dirty="0" smtClean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추상화</a:t>
            </a:r>
            <a:endParaRPr lang="en-US" altLang="ko-KR" sz="1600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</p:txBody>
      </p:sp>
      <p:sp>
        <p:nvSpPr>
          <p:cNvPr id="6" name="부제목 8"/>
          <p:cNvSpPr txBox="1">
            <a:spLocks/>
          </p:cNvSpPr>
          <p:nvPr/>
        </p:nvSpPr>
        <p:spPr bwMode="auto">
          <a:xfrm>
            <a:off x="755576" y="4509120"/>
            <a:ext cx="6286500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*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절차적 추상화</a:t>
            </a:r>
            <a:endParaRPr kumimoji="0" lang="en-US" altLang="ko-KR" sz="1600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*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모듈화 ≒</a:t>
            </a:r>
            <a:r>
              <a:rPr kumimoji="0" lang="ko-KR" altLang="en-US" sz="16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 </a:t>
            </a:r>
            <a:r>
              <a:rPr kumimoji="0" lang="ko-KR" altLang="en-US" sz="1600" dirty="0" err="1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부품화</a:t>
            </a:r>
            <a:endParaRPr kumimoji="0" lang="en-US" altLang="ko-KR" sz="1600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*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수학적 추상화</a:t>
            </a:r>
          </a:p>
        </p:txBody>
      </p:sp>
    </p:spTree>
    <p:extLst>
      <p:ext uri="{BB962C8B-B14F-4D97-AF65-F5344CB8AC3E}">
        <p14:creationId xmlns:p14="http://schemas.microsoft.com/office/powerpoint/2010/main" val="521371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5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/>
              <a:t>함수의 개요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solidFill>
                  <a:srgbClr val="E46C0A"/>
                </a:solidFill>
              </a:rPr>
              <a:t>● </a:t>
            </a:r>
            <a:r>
              <a:rPr lang="ko-KR" altLang="en-US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함수 선언</a:t>
            </a:r>
            <a:r>
              <a:rPr lang="en-US" altLang="ko-KR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 (</a:t>
            </a:r>
            <a:r>
              <a:rPr lang="ko-KR" altLang="en-US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혹은 함수 원형</a:t>
            </a:r>
            <a:r>
              <a:rPr lang="en-US" altLang="ko-KR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)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함수의 꼴을 </a:t>
            </a:r>
            <a:r>
              <a:rPr lang="en-US" altLang="ko-KR" sz="1800" b="1" dirty="0">
                <a:latin typeface="-윤고딕140"/>
                <a:ea typeface="-윤고딕140"/>
                <a:cs typeface="-윤고딕140"/>
              </a:rPr>
              <a:t>main()</a:t>
            </a: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함수 앞에서 미리 알려주는 것 </a:t>
            </a:r>
            <a:r>
              <a:rPr lang="en-US" altLang="ko-KR" sz="1800" b="1" dirty="0">
                <a:latin typeface="-윤고딕140"/>
                <a:ea typeface="-윤고딕140"/>
                <a:cs typeface="-윤고딕140"/>
              </a:rPr>
              <a:t>= </a:t>
            </a: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선언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b="1" dirty="0">
                <a:latin typeface="굴림" panose="020B0600000101010101" pitchFamily="50" charset="-127"/>
                <a:ea typeface="굴림" panose="020B0600000101010101" pitchFamily="50" charset="-127"/>
              </a:rPr>
              <a:t> #include &lt;</a:t>
            </a:r>
            <a:r>
              <a:rPr lang="en-US" altLang="ko-KR" sz="18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iostream</a:t>
            </a:r>
            <a:r>
              <a:rPr lang="en-US" altLang="ko-KR" sz="1800" b="1" dirty="0">
                <a:latin typeface="굴림" panose="020B0600000101010101" pitchFamily="50" charset="-127"/>
                <a:ea typeface="굴림" panose="020B0600000101010101" pitchFamily="50" charset="-127"/>
              </a:rPr>
              <a:t>&gt;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b="1" dirty="0">
                <a:latin typeface="굴림" panose="020B0600000101010101" pitchFamily="50" charset="-127"/>
                <a:ea typeface="굴림" panose="020B0600000101010101" pitchFamily="50" charset="-127"/>
              </a:rPr>
              <a:t>using namespace </a:t>
            </a:r>
            <a:r>
              <a:rPr lang="en-US" altLang="ko-KR" sz="18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std</a:t>
            </a:r>
            <a:r>
              <a:rPr lang="en-US" altLang="ko-KR" sz="1800" b="1" dirty="0">
                <a:latin typeface="굴림" panose="020B0600000101010101" pitchFamily="50" charset="-127"/>
                <a:ea typeface="굴림" panose="020B0600000101010101" pitchFamily="50" charset="-127"/>
              </a:rPr>
              <a:t>; </a:t>
            </a: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8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800" b="1" dirty="0">
                <a:latin typeface="굴림" panose="020B0600000101010101" pitchFamily="50" charset="-127"/>
                <a:ea typeface="굴림" panose="020B0600000101010101" pitchFamily="50" charset="-127"/>
              </a:rPr>
              <a:t> F(</a:t>
            </a:r>
            <a:r>
              <a:rPr lang="en-US" altLang="ko-KR" sz="18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800" b="1" dirty="0">
                <a:latin typeface="굴림" panose="020B0600000101010101" pitchFamily="50" charset="-127"/>
                <a:ea typeface="굴림" panose="020B0600000101010101" pitchFamily="50" charset="-127"/>
              </a:rPr>
              <a:t> x);</a:t>
            </a:r>
            <a:r>
              <a:rPr lang="en-US" altLang="ko-KR" sz="1800" b="1" dirty="0">
                <a:latin typeface="Arial" panose="020B0604020202020204" pitchFamily="34" charset="0"/>
                <a:ea typeface="굴림" panose="020B0600000101010101" pitchFamily="50" charset="-127"/>
              </a:rPr>
              <a:t>   </a:t>
            </a:r>
            <a:r>
              <a:rPr lang="en-US" altLang="ko-KR" sz="1800" b="1" dirty="0">
                <a:latin typeface="굴림" panose="020B0600000101010101" pitchFamily="50" charset="-127"/>
                <a:ea typeface="굴림" panose="020B0600000101010101" pitchFamily="50" charset="-127"/>
              </a:rPr>
              <a:t> // </a:t>
            </a:r>
            <a:r>
              <a:rPr lang="ko-KR" altLang="en-US" sz="1800" b="1" dirty="0">
                <a:latin typeface="굴림" panose="020B0600000101010101" pitchFamily="50" charset="-127"/>
                <a:ea typeface="굴림" panose="020B0600000101010101" pitchFamily="50" charset="-127"/>
              </a:rPr>
              <a:t>함수를 선언합니다</a:t>
            </a:r>
            <a:r>
              <a:rPr lang="en-US" altLang="ko-KR" sz="1800" b="1" dirty="0">
                <a:latin typeface="굴림" panose="020B0600000101010101" pitchFamily="50" charset="-127"/>
                <a:ea typeface="굴림" panose="020B0600000101010101" pitchFamily="50" charset="-127"/>
              </a:rPr>
              <a:t>. (</a:t>
            </a:r>
            <a:r>
              <a:rPr lang="ko-KR" altLang="en-US" sz="1800" b="1" dirty="0">
                <a:latin typeface="굴림" panose="020B0600000101010101" pitchFamily="50" charset="-127"/>
                <a:ea typeface="굴림" panose="020B0600000101010101" pitchFamily="50" charset="-127"/>
              </a:rPr>
              <a:t>함수 </a:t>
            </a:r>
            <a:r>
              <a:rPr lang="en-US" altLang="ko-KR" sz="1800" b="1" dirty="0">
                <a:latin typeface="굴림" panose="020B0600000101010101" pitchFamily="50" charset="-127"/>
                <a:ea typeface="굴림" panose="020B0600000101010101" pitchFamily="50" charset="-127"/>
              </a:rPr>
              <a:t>F(x)</a:t>
            </a:r>
            <a:r>
              <a:rPr lang="ko-KR" altLang="en-US" sz="1800" b="1" dirty="0">
                <a:latin typeface="굴림" panose="020B0600000101010101" pitchFamily="50" charset="-127"/>
                <a:ea typeface="굴림" panose="020B0600000101010101" pitchFamily="50" charset="-127"/>
              </a:rPr>
              <a:t>의 원형을 기술합니다</a:t>
            </a:r>
            <a:r>
              <a:rPr lang="en-US" altLang="ko-KR" sz="1800" b="1" dirty="0">
                <a:latin typeface="굴림" panose="020B0600000101010101" pitchFamily="50" charset="-127"/>
                <a:ea typeface="굴림" panose="020B0600000101010101" pitchFamily="50" charset="-127"/>
              </a:rPr>
              <a:t>. )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br>
              <a:rPr lang="en-US" altLang="ko-KR" sz="1800" b="1" dirty="0">
                <a:latin typeface="굴림" panose="020B0600000101010101" pitchFamily="50" charset="-127"/>
                <a:ea typeface="굴림" panose="020B0600000101010101" pitchFamily="50" charset="-127"/>
              </a:rPr>
            </a:br>
            <a:r>
              <a:rPr lang="en-US" altLang="ko-KR" sz="18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ko-KR" altLang="en-US" sz="18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800" b="1" dirty="0">
                <a:latin typeface="굴림" panose="020B0600000101010101" pitchFamily="50" charset="-127"/>
                <a:ea typeface="굴림" panose="020B0600000101010101" pitchFamily="50" charset="-127"/>
              </a:rPr>
              <a:t>main()</a:t>
            </a:r>
            <a:r>
              <a:rPr lang="en-US" altLang="ko-KR" sz="1800" b="1" dirty="0">
                <a:latin typeface="Arial" panose="020B0604020202020204" pitchFamily="34" charset="0"/>
                <a:ea typeface="굴림" panose="020B0600000101010101" pitchFamily="50" charset="-127"/>
              </a:rPr>
              <a:t> </a:t>
            </a:r>
            <a:r>
              <a:rPr lang="en-US" altLang="ko-KR" sz="18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8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{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8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 …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b="1" dirty="0">
                <a:latin typeface="굴림" panose="020B0600000101010101" pitchFamily="50" charset="-127"/>
                <a:ea typeface="굴림" panose="020B0600000101010101" pitchFamily="50" charset="-127"/>
              </a:rPr>
              <a:t>}</a:t>
            </a:r>
            <a:r>
              <a:rPr lang="en-US" altLang="ko-KR" sz="18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</p:txBody>
      </p:sp>
      <p:sp>
        <p:nvSpPr>
          <p:cNvPr id="7" name="부제목 8"/>
          <p:cNvSpPr txBox="1">
            <a:spLocks/>
          </p:cNvSpPr>
          <p:nvPr/>
        </p:nvSpPr>
        <p:spPr>
          <a:xfrm>
            <a:off x="611560" y="2636912"/>
            <a:ext cx="6286500" cy="357187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F(x)</a:t>
            </a:r>
            <a:endParaRPr kumimoji="0" lang="en-US" altLang="ko-KR" sz="1600" dirty="0">
              <a:solidFill>
                <a:srgbClr val="FF0000"/>
              </a:solidFill>
              <a:latin typeface="-윤고딕120" pitchFamily="18" charset="-127"/>
              <a:ea typeface="-윤고딕12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41461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6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/>
              <a:t>함수의 개요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solidFill>
                  <a:srgbClr val="E46C0A"/>
                </a:solidFill>
              </a:rPr>
              <a:t>● </a:t>
            </a:r>
            <a:r>
              <a:rPr lang="ko-KR" altLang="en-US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함수 호출하기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단독 문장으로 함수를 호출하는 예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문장 속에 포함하여 함수를 호출하는 예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</p:txBody>
      </p:sp>
      <p:sp>
        <p:nvSpPr>
          <p:cNvPr id="6" name="부제목 8"/>
          <p:cNvSpPr txBox="1">
            <a:spLocks/>
          </p:cNvSpPr>
          <p:nvPr/>
        </p:nvSpPr>
        <p:spPr>
          <a:xfrm>
            <a:off x="683568" y="2564904"/>
            <a:ext cx="6286500" cy="357187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함수 이름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(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자료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);</a:t>
            </a:r>
            <a:endParaRPr kumimoji="0" lang="en-US" altLang="ko-KR" sz="1600" dirty="0">
              <a:solidFill>
                <a:srgbClr val="FF0000"/>
              </a:solidFill>
              <a:latin typeface="-윤고딕120" pitchFamily="18" charset="-127"/>
              <a:ea typeface="-윤고딕120" pitchFamily="18" charset="-127"/>
            </a:endParaRPr>
          </a:p>
        </p:txBody>
      </p:sp>
      <p:sp>
        <p:nvSpPr>
          <p:cNvPr id="8" name="부제목 8"/>
          <p:cNvSpPr txBox="1">
            <a:spLocks/>
          </p:cNvSpPr>
          <p:nvPr/>
        </p:nvSpPr>
        <p:spPr>
          <a:xfrm>
            <a:off x="683568" y="3144150"/>
            <a:ext cx="6286500" cy="357187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F(2);</a:t>
            </a:r>
            <a:endParaRPr kumimoji="0" lang="en-US" altLang="ko-KR" sz="1600" dirty="0">
              <a:solidFill>
                <a:srgbClr val="FF0000"/>
              </a:solidFill>
              <a:latin typeface="-윤고딕120" pitchFamily="18" charset="-127"/>
              <a:ea typeface="-윤고딕120" pitchFamily="18" charset="-127"/>
            </a:endParaRPr>
          </a:p>
        </p:txBody>
      </p:sp>
      <p:sp>
        <p:nvSpPr>
          <p:cNvPr id="9" name="부제목 8"/>
          <p:cNvSpPr txBox="1">
            <a:spLocks/>
          </p:cNvSpPr>
          <p:nvPr/>
        </p:nvSpPr>
        <p:spPr>
          <a:xfrm>
            <a:off x="683568" y="4575720"/>
            <a:ext cx="6286500" cy="357188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cout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&lt;&lt; F(2) &lt;&lt;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endl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;</a:t>
            </a:r>
            <a:endParaRPr kumimoji="0" lang="en-US" altLang="ko-KR" sz="1600" dirty="0">
              <a:solidFill>
                <a:srgbClr val="FF0000"/>
              </a:solidFill>
              <a:latin typeface="-윤고딕120" pitchFamily="18" charset="-127"/>
              <a:ea typeface="-윤고딕120" pitchFamily="18" charset="-127"/>
            </a:endParaRPr>
          </a:p>
        </p:txBody>
      </p:sp>
      <p:sp>
        <p:nvSpPr>
          <p:cNvPr id="10" name="부제목 8"/>
          <p:cNvSpPr txBox="1">
            <a:spLocks/>
          </p:cNvSpPr>
          <p:nvPr/>
        </p:nvSpPr>
        <p:spPr>
          <a:xfrm>
            <a:off x="683568" y="5291505"/>
            <a:ext cx="6286500" cy="357188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while(F(2)) { … }</a:t>
            </a:r>
            <a:endParaRPr kumimoji="0" lang="en-US" altLang="ko-KR" sz="1600" dirty="0">
              <a:solidFill>
                <a:srgbClr val="FF0000"/>
              </a:solidFill>
              <a:latin typeface="-윤고딕120" pitchFamily="18" charset="-127"/>
              <a:ea typeface="-윤고딕12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43463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7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/>
              <a:t>함수의 정의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함수 구조 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800" b="1" dirty="0" err="1">
                <a:latin typeface="-윤고딕140"/>
                <a:ea typeface="-윤고딕140"/>
                <a:cs typeface="-윤고딕140"/>
              </a:rPr>
              <a:t>가인수</a:t>
            </a: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 </a:t>
            </a:r>
            <a:r>
              <a:rPr lang="en-US" altLang="ko-KR" sz="1800" b="1" dirty="0">
                <a:latin typeface="-윤고딕140"/>
                <a:ea typeface="-윤고딕140"/>
                <a:cs typeface="-윤고딕140"/>
              </a:rPr>
              <a:t>= </a:t>
            </a: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매개변수의 역할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</p:txBody>
      </p:sp>
      <p:sp>
        <p:nvSpPr>
          <p:cNvPr id="11" name="부제목 8"/>
          <p:cNvSpPr txBox="1">
            <a:spLocks/>
          </p:cNvSpPr>
          <p:nvPr/>
        </p:nvSpPr>
        <p:spPr>
          <a:xfrm>
            <a:off x="683568" y="1988840"/>
            <a:ext cx="6286500" cy="1214438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반환 </a:t>
            </a:r>
            <a:r>
              <a:rPr kumimoji="0" lang="ko-KR" altLang="en-US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자료형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함수이름 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(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인수 </a:t>
            </a:r>
            <a:r>
              <a:rPr kumimoji="0" lang="ko-KR" altLang="en-US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자료형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가인수 이름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) {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…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}</a:t>
            </a:r>
          </a:p>
        </p:txBody>
      </p:sp>
      <p:sp>
        <p:nvSpPr>
          <p:cNvPr id="12" name="부제목 8"/>
          <p:cNvSpPr txBox="1">
            <a:spLocks/>
          </p:cNvSpPr>
          <p:nvPr/>
        </p:nvSpPr>
        <p:spPr>
          <a:xfrm>
            <a:off x="683568" y="4378731"/>
            <a:ext cx="6286500" cy="1214437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F(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x) {       //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변수 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x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가 가인수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,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넘겨받은 자료를 저장</a:t>
            </a:r>
            <a:endParaRPr kumimoji="0"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  return x + 3;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26166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8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/>
              <a:t>함수의 정의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solidFill>
                  <a:srgbClr val="E46C0A"/>
                </a:solidFill>
              </a:rPr>
              <a:t>● </a:t>
            </a:r>
            <a:r>
              <a:rPr lang="ko-KR" altLang="en-US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인수와 복귀 값</a:t>
            </a:r>
            <a:endParaRPr lang="en-US" altLang="ko-KR" sz="1800" b="1" dirty="0">
              <a:solidFill>
                <a:srgbClr val="E46C0A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인수</a:t>
            </a:r>
            <a:r>
              <a:rPr lang="en-US" altLang="ko-KR" sz="1800" b="1" dirty="0">
                <a:latin typeface="-윤고딕140"/>
                <a:ea typeface="-윤고딕140"/>
                <a:cs typeface="-윤고딕140"/>
              </a:rPr>
              <a:t>(parameter) : </a:t>
            </a: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함수를 호출할 때 넘겨주는 자료 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매개변수</a:t>
            </a:r>
            <a:r>
              <a:rPr lang="en-US" altLang="ko-KR" sz="1800" b="1" dirty="0">
                <a:latin typeface="-윤고딕140"/>
                <a:ea typeface="-윤고딕140"/>
                <a:cs typeface="-윤고딕140"/>
              </a:rPr>
              <a:t>(argument) : </a:t>
            </a:r>
            <a:r>
              <a:rPr lang="ko-KR" altLang="en-US" sz="1800" b="1" dirty="0" smtClean="0">
                <a:latin typeface="-윤고딕140"/>
                <a:ea typeface="-윤고딕140"/>
                <a:cs typeface="-윤고딕140"/>
              </a:rPr>
              <a:t>함수 정의 </a:t>
            </a: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부분에서 자료를 받는 변수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</p:txBody>
      </p:sp>
      <p:sp>
        <p:nvSpPr>
          <p:cNvPr id="7" name="부제목 8"/>
          <p:cNvSpPr txBox="1">
            <a:spLocks/>
          </p:cNvSpPr>
          <p:nvPr/>
        </p:nvSpPr>
        <p:spPr>
          <a:xfrm>
            <a:off x="755576" y="2564904"/>
            <a:ext cx="6286500" cy="428625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y = F(2);   //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여기서 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2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는 인수 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= </a:t>
            </a:r>
            <a:r>
              <a:rPr kumimoji="0" lang="ko-KR" altLang="en-US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실인수</a:t>
            </a:r>
            <a:endParaRPr kumimoji="0"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</p:txBody>
      </p:sp>
      <p:sp>
        <p:nvSpPr>
          <p:cNvPr id="8" name="부제목 8"/>
          <p:cNvSpPr txBox="1">
            <a:spLocks/>
          </p:cNvSpPr>
          <p:nvPr/>
        </p:nvSpPr>
        <p:spPr>
          <a:xfrm>
            <a:off x="755576" y="3744308"/>
            <a:ext cx="6286500" cy="1916939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 err="1" smtClean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 smtClean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F(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x) {       //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여기서 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x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는 매개변수 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=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가인수</a:t>
            </a:r>
            <a:endParaRPr kumimoji="0"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…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구체적인 처리 절차를 정의한 부분 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…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 smtClean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}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ko-KR" sz="1600" dirty="0" smtClean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* </a:t>
            </a:r>
            <a:r>
              <a:rPr lang="ko-KR" altLang="en-US" sz="1600" dirty="0" err="1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실인수와</a:t>
            </a:r>
            <a:r>
              <a:rPr lang="ko-KR" altLang="en-US" sz="16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 </a:t>
            </a:r>
            <a:r>
              <a:rPr lang="ko-KR" altLang="en-US" sz="1600" dirty="0" err="1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가인수로</a:t>
            </a:r>
            <a:r>
              <a:rPr lang="ko-KR" altLang="en-US" sz="16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 구분하는 것이 </a:t>
            </a:r>
            <a:r>
              <a:rPr lang="ko-KR" altLang="en-US" sz="1600" dirty="0" err="1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바람직</a:t>
            </a:r>
            <a:endParaRPr lang="ko-KR" altLang="en-US" sz="1600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2031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9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/>
              <a:t>함수의 정의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반환 </a:t>
            </a:r>
            <a:r>
              <a:rPr lang="ko-KR" altLang="en-US" sz="1800" b="1" dirty="0" err="1">
                <a:latin typeface="-윤고딕140"/>
                <a:ea typeface="-윤고딕140"/>
                <a:cs typeface="-윤고딕140"/>
              </a:rPr>
              <a:t>자료형</a:t>
            </a: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 </a:t>
            </a:r>
            <a:r>
              <a:rPr lang="en-US" altLang="ko-KR" sz="1800" b="1" dirty="0">
                <a:latin typeface="-윤고딕140"/>
                <a:ea typeface="-윤고딕140"/>
                <a:cs typeface="-윤고딕140"/>
              </a:rPr>
              <a:t>= </a:t>
            </a: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복귀 </a:t>
            </a:r>
            <a:r>
              <a:rPr lang="ko-KR" altLang="en-US" sz="1800" b="1" dirty="0" err="1">
                <a:latin typeface="-윤고딕140"/>
                <a:ea typeface="-윤고딕140"/>
                <a:cs typeface="-윤고딕140"/>
              </a:rPr>
              <a:t>자료형</a:t>
            </a: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 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</p:txBody>
      </p:sp>
      <p:sp>
        <p:nvSpPr>
          <p:cNvPr id="9" name="부제목 8"/>
          <p:cNvSpPr txBox="1">
            <a:spLocks/>
          </p:cNvSpPr>
          <p:nvPr/>
        </p:nvSpPr>
        <p:spPr>
          <a:xfrm>
            <a:off x="683568" y="2172684"/>
            <a:ext cx="6286500" cy="1571625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</a:t>
            </a:r>
            <a:r>
              <a:rPr kumimoji="0" lang="en-US" altLang="ko-KR" sz="1600" dirty="0" err="1" smtClean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nt</a:t>
            </a:r>
            <a:r>
              <a:rPr kumimoji="0" lang="en-US" altLang="ko-KR" sz="1600" dirty="0" smtClean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F(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x) {       //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여기서 제일 앞의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가 반환 자료형</a:t>
            </a:r>
            <a:endParaRPr kumimoji="0"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   return x + 3;  // </a:t>
            </a:r>
            <a:r>
              <a:rPr kumimoji="0" lang="ko-KR" altLang="en-US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반환값의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형식이 반환 </a:t>
            </a:r>
            <a:r>
              <a:rPr kumimoji="0" lang="ko-KR" altLang="en-US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자료형과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일치</a:t>
            </a:r>
            <a:endParaRPr kumimoji="0"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   // return x + 3.0;  // </a:t>
            </a:r>
            <a:r>
              <a:rPr kumimoji="0" lang="ko-KR" altLang="en-US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반환자료형에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일치하지 않아 오류</a:t>
            </a:r>
            <a:endParaRPr kumimoji="0"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06475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10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/>
              <a:t>함수의 정의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ct val="0"/>
              </a:spcBef>
            </a:pPr>
            <a:r>
              <a:rPr lang="ko-KR" altLang="en-US" sz="1800" b="1" dirty="0" smtClean="0">
                <a:latin typeface="-윤고딕140"/>
                <a:ea typeface="-윤고딕140"/>
                <a:cs typeface="-윤고딕140"/>
              </a:rPr>
              <a:t>값의 반환 예 </a:t>
            </a:r>
            <a:r>
              <a:rPr lang="en-US" altLang="ko-KR" sz="1800" b="1" dirty="0" smtClean="0">
                <a:latin typeface="-윤고딕140"/>
                <a:ea typeface="-윤고딕140"/>
                <a:cs typeface="-윤고딕140"/>
              </a:rPr>
              <a:t>1</a:t>
            </a: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b="1" dirty="0">
                <a:latin typeface="굴림" panose="020B0600000101010101" pitchFamily="50" charset="-127"/>
                <a:ea typeface="굴림" panose="020B0600000101010101" pitchFamily="50" charset="-127"/>
              </a:rPr>
              <a:t>#include &lt;</a:t>
            </a:r>
            <a:r>
              <a:rPr lang="en-US" altLang="ko-KR" sz="18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iostream</a:t>
            </a:r>
            <a:r>
              <a:rPr lang="en-US" altLang="ko-KR" sz="1800" b="1" dirty="0">
                <a:latin typeface="굴림" panose="020B0600000101010101" pitchFamily="50" charset="-127"/>
                <a:ea typeface="굴림" panose="020B0600000101010101" pitchFamily="50" charset="-127"/>
              </a:rPr>
              <a:t>&gt;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b="1" dirty="0">
                <a:latin typeface="굴림" panose="020B0600000101010101" pitchFamily="50" charset="-127"/>
                <a:ea typeface="굴림" panose="020B0600000101010101" pitchFamily="50" charset="-127"/>
              </a:rPr>
              <a:t> using namespace </a:t>
            </a:r>
            <a:r>
              <a:rPr lang="en-US" altLang="ko-KR" sz="18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std</a:t>
            </a:r>
            <a:r>
              <a:rPr lang="en-US" altLang="ko-KR" sz="1800" b="1" dirty="0">
                <a:latin typeface="굴림" panose="020B0600000101010101" pitchFamily="50" charset="-127"/>
                <a:ea typeface="굴림" panose="020B0600000101010101" pitchFamily="50" charset="-127"/>
              </a:rPr>
              <a:t>; </a:t>
            </a: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800" b="1" dirty="0">
                <a:latin typeface="굴림" panose="020B0600000101010101" pitchFamily="50" charset="-127"/>
                <a:ea typeface="굴림" panose="020B0600000101010101" pitchFamily="50" charset="-127"/>
              </a:rPr>
              <a:t> F(</a:t>
            </a:r>
            <a:r>
              <a:rPr lang="en-US" altLang="ko-KR" sz="18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800" b="1" dirty="0">
                <a:latin typeface="굴림" panose="020B0600000101010101" pitchFamily="50" charset="-127"/>
                <a:ea typeface="굴림" panose="020B0600000101010101" pitchFamily="50" charset="-127"/>
              </a:rPr>
              <a:t> x);</a:t>
            </a:r>
            <a:r>
              <a:rPr lang="en-US" altLang="ko-KR" sz="1800" b="1" dirty="0">
                <a:latin typeface="Arial" panose="020B0604020202020204" pitchFamily="34" charset="0"/>
                <a:ea typeface="굴림" panose="020B0600000101010101" pitchFamily="50" charset="-127"/>
              </a:rPr>
              <a:t>   </a:t>
            </a:r>
            <a:r>
              <a:rPr lang="en-US" altLang="ko-KR" sz="1800" b="1" dirty="0">
                <a:latin typeface="굴림" panose="020B0600000101010101" pitchFamily="50" charset="-127"/>
                <a:ea typeface="굴림" panose="020B0600000101010101" pitchFamily="50" charset="-127"/>
              </a:rPr>
              <a:t/>
            </a:r>
            <a:br>
              <a:rPr lang="en-US" altLang="ko-KR" sz="1800" b="1" dirty="0">
                <a:latin typeface="굴림" panose="020B0600000101010101" pitchFamily="50" charset="-127"/>
                <a:ea typeface="굴림" panose="020B0600000101010101" pitchFamily="50" charset="-127"/>
              </a:rPr>
            </a:br>
            <a:endParaRPr lang="en-US" altLang="ko-KR" sz="18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800" b="1" dirty="0">
                <a:latin typeface="굴림" panose="020B0600000101010101" pitchFamily="50" charset="-127"/>
                <a:ea typeface="굴림" panose="020B0600000101010101" pitchFamily="50" charset="-127"/>
              </a:rPr>
              <a:t> main()</a:t>
            </a:r>
            <a:r>
              <a:rPr lang="en-US" altLang="ko-KR" sz="1800" b="1" dirty="0">
                <a:latin typeface="Arial" panose="020B0604020202020204" pitchFamily="34" charset="0"/>
                <a:ea typeface="굴림" panose="020B0600000101010101" pitchFamily="50" charset="-127"/>
              </a:rPr>
              <a:t> </a:t>
            </a:r>
            <a:r>
              <a:rPr lang="en-US" altLang="ko-KR" sz="1800" b="1" dirty="0">
                <a:latin typeface="굴림" panose="020B0600000101010101" pitchFamily="50" charset="-127"/>
                <a:ea typeface="굴림" panose="020B0600000101010101" pitchFamily="50" charset="-127"/>
              </a:rPr>
              <a:t> {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800" b="1" dirty="0">
                <a:latin typeface="Arial" panose="020B0604020202020204" pitchFamily="34" charset="0"/>
                <a:ea typeface="굴림" panose="020B0600000101010101" pitchFamily="50" charset="-127"/>
              </a:rPr>
              <a:t>    </a:t>
            </a:r>
            <a:r>
              <a:rPr lang="en-US" altLang="ko-KR" sz="18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cout</a:t>
            </a:r>
            <a:r>
              <a:rPr lang="en-US" altLang="ko-KR" sz="1800" b="1" dirty="0">
                <a:latin typeface="굴림" panose="020B0600000101010101" pitchFamily="50" charset="-127"/>
                <a:ea typeface="굴림" panose="020B0600000101010101" pitchFamily="50" charset="-127"/>
              </a:rPr>
              <a:t> &lt;&lt; "F(2) = " &lt;&lt; F(2) &lt;&lt; </a:t>
            </a:r>
            <a:r>
              <a:rPr lang="en-US" altLang="ko-KR" sz="18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endl</a:t>
            </a:r>
            <a:r>
              <a:rPr lang="en-US" altLang="ko-KR" sz="1800" b="1" dirty="0">
                <a:latin typeface="굴림" panose="020B0600000101010101" pitchFamily="50" charset="-127"/>
                <a:ea typeface="굴림" panose="020B0600000101010101" pitchFamily="50" charset="-127"/>
              </a:rPr>
              <a:t>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800" b="1" dirty="0">
                <a:latin typeface="Arial" panose="020B0604020202020204" pitchFamily="34" charset="0"/>
                <a:ea typeface="굴림" panose="020B0600000101010101" pitchFamily="50" charset="-127"/>
              </a:rPr>
              <a:t>    </a:t>
            </a:r>
            <a:r>
              <a:rPr lang="en-US" altLang="ko-KR" sz="18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cout</a:t>
            </a:r>
            <a:r>
              <a:rPr lang="en-US" altLang="ko-KR" sz="1800" b="1" dirty="0">
                <a:latin typeface="굴림" panose="020B0600000101010101" pitchFamily="50" charset="-127"/>
                <a:ea typeface="굴림" panose="020B0600000101010101" pitchFamily="50" charset="-127"/>
              </a:rPr>
              <a:t> &lt;&lt; "F(3) = " &lt;&lt; F(3) &lt;&lt; </a:t>
            </a:r>
            <a:r>
              <a:rPr lang="en-US" altLang="ko-KR" sz="18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endl</a:t>
            </a:r>
            <a:r>
              <a:rPr lang="en-US" altLang="ko-KR" sz="1800" b="1" dirty="0">
                <a:latin typeface="굴림" panose="020B0600000101010101" pitchFamily="50" charset="-127"/>
                <a:ea typeface="굴림" panose="020B0600000101010101" pitchFamily="50" charset="-127"/>
              </a:rPr>
              <a:t>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b="1" dirty="0">
                <a:latin typeface="굴림" panose="020B0600000101010101" pitchFamily="50" charset="-127"/>
                <a:ea typeface="굴림" panose="020B0600000101010101" pitchFamily="50" charset="-127"/>
              </a:rPr>
              <a:t>     return 0;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b="1" dirty="0">
                <a:latin typeface="굴림" panose="020B0600000101010101" pitchFamily="50" charset="-127"/>
                <a:ea typeface="굴림" panose="020B0600000101010101" pitchFamily="50" charset="-127"/>
              </a:rPr>
              <a:t>} </a:t>
            </a: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800" b="1" dirty="0">
                <a:latin typeface="굴림" panose="020B0600000101010101" pitchFamily="50" charset="-127"/>
                <a:ea typeface="굴림" panose="020B0600000101010101" pitchFamily="50" charset="-127"/>
              </a:rPr>
              <a:t> F(</a:t>
            </a:r>
            <a:r>
              <a:rPr lang="en-US" altLang="ko-KR" sz="18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800" b="1" dirty="0">
                <a:latin typeface="굴림" panose="020B0600000101010101" pitchFamily="50" charset="-127"/>
                <a:ea typeface="굴림" panose="020B0600000101010101" pitchFamily="50" charset="-127"/>
              </a:rPr>
              <a:t> x) // </a:t>
            </a:r>
            <a:r>
              <a:rPr lang="ko-KR" altLang="en-US" sz="1800" b="1" dirty="0">
                <a:latin typeface="굴림" panose="020B0600000101010101" pitchFamily="50" charset="-127"/>
                <a:ea typeface="굴림" panose="020B0600000101010101" pitchFamily="50" charset="-127"/>
              </a:rPr>
              <a:t>함수 </a:t>
            </a:r>
            <a:r>
              <a:rPr lang="en-US" altLang="ko-KR" sz="1800" b="1" dirty="0">
                <a:latin typeface="굴림" panose="020B0600000101010101" pitchFamily="50" charset="-127"/>
                <a:ea typeface="굴림" panose="020B0600000101010101" pitchFamily="50" charset="-127"/>
              </a:rPr>
              <a:t>F(x)</a:t>
            </a:r>
            <a:r>
              <a:rPr lang="ko-KR" altLang="en-US" sz="1800" b="1" dirty="0">
                <a:latin typeface="굴림" panose="020B0600000101010101" pitchFamily="50" charset="-127"/>
                <a:ea typeface="굴림" panose="020B0600000101010101" pitchFamily="50" charset="-127"/>
              </a:rPr>
              <a:t>를 정의하는 부분입니다</a:t>
            </a:r>
            <a:r>
              <a:rPr lang="en-US" altLang="ko-KR" sz="1800" b="1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b="1" dirty="0">
                <a:latin typeface="굴림" panose="020B0600000101010101" pitchFamily="50" charset="-127"/>
                <a:ea typeface="굴림" panose="020B0600000101010101" pitchFamily="50" charset="-127"/>
              </a:rPr>
              <a:t>{</a:t>
            </a:r>
            <a:r>
              <a:rPr lang="en-US" altLang="ko-KR" sz="1800" b="1" dirty="0">
                <a:latin typeface="Arial" panose="020B0604020202020204" pitchFamily="34" charset="0"/>
                <a:ea typeface="굴림" panose="020B0600000101010101" pitchFamily="50" charset="-127"/>
              </a:rPr>
              <a:t>   </a:t>
            </a:r>
            <a:r>
              <a:rPr lang="en-US" altLang="ko-KR" sz="18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800" b="1" dirty="0">
                <a:latin typeface="Arial" panose="020B0604020202020204" pitchFamily="34" charset="0"/>
                <a:ea typeface="굴림" panose="020B0600000101010101" pitchFamily="50" charset="-127"/>
              </a:rPr>
              <a:t>    </a:t>
            </a:r>
            <a:r>
              <a:rPr lang="en-US" altLang="ko-KR" sz="1800" b="1" dirty="0">
                <a:latin typeface="굴림" panose="020B0600000101010101" pitchFamily="50" charset="-127"/>
                <a:ea typeface="굴림" panose="020B0600000101010101" pitchFamily="50" charset="-127"/>
              </a:rPr>
              <a:t>return x + 3; </a:t>
            </a: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b="1" dirty="0">
                <a:latin typeface="-윤고딕140"/>
                <a:ea typeface="-윤고딕140"/>
                <a:cs typeface="-윤고딕140"/>
              </a:rPr>
              <a:t>}</a:t>
            </a: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</p:txBody>
      </p:sp>
    </p:spTree>
    <p:extLst>
      <p:ext uri="{BB962C8B-B14F-4D97-AF65-F5344CB8AC3E}">
        <p14:creationId xmlns:p14="http://schemas.microsoft.com/office/powerpoint/2010/main" val="1368641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11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/>
              <a:t>인수나 복귀 값이 없는 함수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solidFill>
                  <a:srgbClr val="E46C0A"/>
                </a:solidFill>
              </a:rPr>
              <a:t>● </a:t>
            </a:r>
            <a:r>
              <a:rPr lang="ko-KR" altLang="en-US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복귀 값이 없는 함수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800" b="1" dirty="0" err="1">
                <a:latin typeface="-윤고딕140"/>
                <a:ea typeface="-윤고딕140"/>
                <a:cs typeface="-윤고딕140"/>
              </a:rPr>
              <a:t>복귀값이</a:t>
            </a: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 없는 함수의 반환 </a:t>
            </a:r>
            <a:r>
              <a:rPr lang="ko-KR" altLang="en-US" sz="1800" b="1" dirty="0" err="1">
                <a:latin typeface="-윤고딕140"/>
                <a:ea typeface="-윤고딕140"/>
                <a:cs typeface="-윤고딕140"/>
              </a:rPr>
              <a:t>자료형은</a:t>
            </a: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 </a:t>
            </a:r>
            <a:r>
              <a:rPr lang="en-US" altLang="ko-KR" sz="1800" b="1" dirty="0">
                <a:latin typeface="-윤고딕140"/>
                <a:ea typeface="-윤고딕140"/>
                <a:cs typeface="-윤고딕140"/>
              </a:rPr>
              <a:t>void</a:t>
            </a:r>
          </a:p>
        </p:txBody>
      </p:sp>
      <p:sp>
        <p:nvSpPr>
          <p:cNvPr id="9" name="부제목 8"/>
          <p:cNvSpPr txBox="1">
            <a:spLocks/>
          </p:cNvSpPr>
          <p:nvPr/>
        </p:nvSpPr>
        <p:spPr>
          <a:xfrm>
            <a:off x="611560" y="2636912"/>
            <a:ext cx="6286500" cy="85725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void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SampleFunction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( … ) { … }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void main( … ) { … }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void F(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x) { … }</a:t>
            </a:r>
          </a:p>
        </p:txBody>
      </p:sp>
    </p:spTree>
    <p:extLst>
      <p:ext uri="{BB962C8B-B14F-4D97-AF65-F5344CB8AC3E}">
        <p14:creationId xmlns:p14="http://schemas.microsoft.com/office/powerpoint/2010/main" val="1230438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12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/>
              <a:t>인수나 복귀 값이 없는 함수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spcBef>
                <a:spcPct val="0"/>
              </a:spcBef>
            </a:pPr>
            <a:r>
              <a:rPr lang="ko-KR" altLang="en-US" sz="1800" b="1" dirty="0" smtClean="0">
                <a:latin typeface="-윤고딕140"/>
                <a:ea typeface="-윤고딕140"/>
                <a:cs typeface="-윤고딕140"/>
              </a:rPr>
              <a:t>값의 반환 예 </a:t>
            </a:r>
            <a:r>
              <a:rPr lang="en-US" altLang="ko-KR" sz="1800" b="1" dirty="0" smtClean="0">
                <a:latin typeface="-윤고딕140"/>
                <a:ea typeface="-윤고딕140"/>
                <a:cs typeface="-윤고딕140"/>
              </a:rPr>
              <a:t>2</a:t>
            </a: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900" b="1" dirty="0">
                <a:latin typeface="굴림" panose="020B0600000101010101" pitchFamily="50" charset="-127"/>
                <a:ea typeface="굴림" panose="020B0600000101010101" pitchFamily="50" charset="-127"/>
              </a:rPr>
              <a:t>#include &lt;</a:t>
            </a:r>
            <a:r>
              <a:rPr lang="en-US" altLang="ko-KR" sz="19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iostream</a:t>
            </a:r>
            <a:r>
              <a:rPr lang="en-US" altLang="ko-KR" sz="1900" b="1" dirty="0">
                <a:latin typeface="굴림" panose="020B0600000101010101" pitchFamily="50" charset="-127"/>
                <a:ea typeface="굴림" panose="020B0600000101010101" pitchFamily="50" charset="-127"/>
              </a:rPr>
              <a:t>&gt;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900" b="1" dirty="0">
                <a:latin typeface="굴림" panose="020B0600000101010101" pitchFamily="50" charset="-127"/>
                <a:ea typeface="굴림" panose="020B0600000101010101" pitchFamily="50" charset="-127"/>
              </a:rPr>
              <a:t>using namespace </a:t>
            </a:r>
            <a:r>
              <a:rPr lang="en-US" altLang="ko-KR" sz="19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std</a:t>
            </a:r>
            <a:r>
              <a:rPr lang="en-US" altLang="ko-KR" sz="1900" b="1" dirty="0">
                <a:latin typeface="굴림" panose="020B0600000101010101" pitchFamily="50" charset="-127"/>
                <a:ea typeface="굴림" panose="020B0600000101010101" pitchFamily="50" charset="-127"/>
              </a:rPr>
              <a:t>; </a:t>
            </a:r>
          </a:p>
          <a:p>
            <a:pPr>
              <a:spcBef>
                <a:spcPct val="0"/>
              </a:spcBef>
              <a:buNone/>
            </a:pPr>
            <a:endParaRPr lang="en-US" altLang="ko-KR" sz="19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9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900" b="1" dirty="0">
                <a:latin typeface="굴림" panose="020B0600000101010101" pitchFamily="50" charset="-127"/>
                <a:ea typeface="굴림" panose="020B0600000101010101" pitchFamily="50" charset="-127"/>
              </a:rPr>
              <a:t> F1(void);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900" b="1" dirty="0">
                <a:latin typeface="굴림" panose="020B0600000101010101" pitchFamily="50" charset="-127"/>
                <a:ea typeface="굴림" panose="020B0600000101010101" pitchFamily="50" charset="-127"/>
              </a:rPr>
              <a:t>void F2(</a:t>
            </a:r>
            <a:r>
              <a:rPr lang="en-US" altLang="ko-KR" sz="19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900" b="1" dirty="0">
                <a:latin typeface="굴림" panose="020B0600000101010101" pitchFamily="50" charset="-127"/>
                <a:ea typeface="굴림" panose="020B0600000101010101" pitchFamily="50" charset="-127"/>
              </a:rPr>
              <a:t> x);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900" b="1" dirty="0">
                <a:latin typeface="굴림" panose="020B0600000101010101" pitchFamily="50" charset="-127"/>
                <a:ea typeface="굴림" panose="020B0600000101010101" pitchFamily="50" charset="-127"/>
              </a:rPr>
              <a:t>void F3(void);</a:t>
            </a:r>
          </a:p>
          <a:p>
            <a:pPr>
              <a:spcBef>
                <a:spcPct val="0"/>
              </a:spcBef>
              <a:buNone/>
            </a:pPr>
            <a:endParaRPr lang="en-US" altLang="ko-KR" sz="19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9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900" b="1" dirty="0">
                <a:latin typeface="굴림" panose="020B0600000101010101" pitchFamily="50" charset="-127"/>
                <a:ea typeface="굴림" panose="020B0600000101010101" pitchFamily="50" charset="-127"/>
              </a:rPr>
              <a:t> main()</a:t>
            </a:r>
            <a:r>
              <a:rPr lang="en-US" altLang="ko-KR" sz="1900" b="1" dirty="0">
                <a:latin typeface="Arial" panose="020B0604020202020204" pitchFamily="34" charset="0"/>
                <a:ea typeface="굴림" panose="020B0600000101010101" pitchFamily="50" charset="-127"/>
              </a:rPr>
              <a:t> </a:t>
            </a:r>
            <a:r>
              <a:rPr lang="en-US" altLang="ko-KR" sz="1900" b="1" dirty="0">
                <a:latin typeface="굴림" panose="020B0600000101010101" pitchFamily="50" charset="-127"/>
                <a:ea typeface="굴림" panose="020B0600000101010101" pitchFamily="50" charset="-127"/>
              </a:rPr>
              <a:t> {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9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900" b="1" dirty="0">
                <a:latin typeface="Arial" panose="020B0604020202020204" pitchFamily="34" charset="0"/>
                <a:ea typeface="굴림" panose="020B0600000101010101" pitchFamily="50" charset="-127"/>
              </a:rPr>
              <a:t>    </a:t>
            </a:r>
            <a:r>
              <a:rPr lang="en-US" altLang="ko-KR" sz="19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cout</a:t>
            </a:r>
            <a:r>
              <a:rPr lang="en-US" altLang="ko-KR" sz="1900" b="1" dirty="0">
                <a:latin typeface="굴림" panose="020B0600000101010101" pitchFamily="50" charset="-127"/>
                <a:ea typeface="굴림" panose="020B0600000101010101" pitchFamily="50" charset="-127"/>
              </a:rPr>
              <a:t> &lt;&lt; "F1() + 2 = " &lt;&lt; F1() + 2 &lt;&lt; </a:t>
            </a:r>
            <a:r>
              <a:rPr lang="en-US" altLang="ko-KR" sz="19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endl</a:t>
            </a:r>
            <a:r>
              <a:rPr lang="en-US" altLang="ko-KR" sz="1900" b="1" dirty="0">
                <a:latin typeface="굴림" panose="020B0600000101010101" pitchFamily="50" charset="-127"/>
                <a:ea typeface="굴림" panose="020B0600000101010101" pitchFamily="50" charset="-127"/>
              </a:rPr>
              <a:t>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9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900" b="1" dirty="0">
                <a:latin typeface="Arial" panose="020B0604020202020204" pitchFamily="34" charset="0"/>
                <a:ea typeface="굴림" panose="020B0600000101010101" pitchFamily="50" charset="-127"/>
              </a:rPr>
              <a:t>    </a:t>
            </a:r>
            <a:r>
              <a:rPr lang="en-US" altLang="ko-KR" sz="1900" b="1" dirty="0">
                <a:latin typeface="굴림" panose="020B0600000101010101" pitchFamily="50" charset="-127"/>
                <a:ea typeface="굴림" panose="020B0600000101010101" pitchFamily="50" charset="-127"/>
              </a:rPr>
              <a:t>F2(5);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9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900" b="1" dirty="0">
                <a:latin typeface="Arial" panose="020B0604020202020204" pitchFamily="34" charset="0"/>
                <a:ea typeface="굴림" panose="020B0600000101010101" pitchFamily="50" charset="-127"/>
              </a:rPr>
              <a:t>    </a:t>
            </a:r>
            <a:r>
              <a:rPr lang="en-US" altLang="ko-KR" sz="1900" b="1" dirty="0">
                <a:latin typeface="굴림" panose="020B0600000101010101" pitchFamily="50" charset="-127"/>
                <a:ea typeface="굴림" panose="020B0600000101010101" pitchFamily="50" charset="-127"/>
              </a:rPr>
              <a:t>F3();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900" b="1" dirty="0">
                <a:latin typeface="굴림" panose="020B0600000101010101" pitchFamily="50" charset="-127"/>
                <a:ea typeface="굴림" panose="020B0600000101010101" pitchFamily="50" charset="-127"/>
              </a:rPr>
              <a:t>}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900" b="1" dirty="0">
                <a:latin typeface="굴림" panose="020B0600000101010101" pitchFamily="50" charset="-127"/>
                <a:ea typeface="굴림" panose="020B0600000101010101" pitchFamily="50" charset="-127"/>
              </a:rPr>
              <a:t>// </a:t>
            </a:r>
            <a:r>
              <a:rPr lang="ko-KR" altLang="en-US" sz="1900" b="1" dirty="0">
                <a:latin typeface="굴림" panose="020B0600000101010101" pitchFamily="50" charset="-127"/>
                <a:ea typeface="굴림" panose="020B0600000101010101" pitchFamily="50" charset="-127"/>
              </a:rPr>
              <a:t>인수가 없는 함수의 예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9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900" b="1" dirty="0">
                <a:latin typeface="굴림" panose="020B0600000101010101" pitchFamily="50" charset="-127"/>
                <a:ea typeface="굴림" panose="020B0600000101010101" pitchFamily="50" charset="-127"/>
              </a:rPr>
              <a:t> F1(void)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900" b="1" dirty="0">
                <a:latin typeface="굴림" panose="020B0600000101010101" pitchFamily="50" charset="-127"/>
                <a:ea typeface="굴림" panose="020B0600000101010101" pitchFamily="50" charset="-127"/>
              </a:rPr>
              <a:t>{</a:t>
            </a:r>
            <a:r>
              <a:rPr lang="en-US" altLang="ko-KR" sz="1900" b="1" dirty="0">
                <a:latin typeface="Arial" panose="020B0604020202020204" pitchFamily="34" charset="0"/>
                <a:ea typeface="굴림" panose="020B0600000101010101" pitchFamily="50" charset="-127"/>
              </a:rPr>
              <a:t> </a:t>
            </a:r>
            <a:r>
              <a:rPr lang="en-US" altLang="ko-KR" sz="19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9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900" b="1" dirty="0">
                <a:latin typeface="Arial" panose="020B0604020202020204" pitchFamily="34" charset="0"/>
                <a:ea typeface="굴림" panose="020B0600000101010101" pitchFamily="50" charset="-127"/>
              </a:rPr>
              <a:t>  </a:t>
            </a:r>
            <a:r>
              <a:rPr lang="en-US" altLang="ko-KR" sz="1900" b="1" dirty="0">
                <a:latin typeface="굴림" panose="020B0600000101010101" pitchFamily="50" charset="-127"/>
                <a:ea typeface="굴림" panose="020B0600000101010101" pitchFamily="50" charset="-127"/>
              </a:rPr>
              <a:t>return 5;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900" b="1" dirty="0">
                <a:latin typeface="굴림" panose="020B0600000101010101" pitchFamily="50" charset="-127"/>
                <a:ea typeface="굴림" panose="020B0600000101010101" pitchFamily="50" charset="-127"/>
              </a:rPr>
              <a:t>}  </a:t>
            </a:r>
          </a:p>
        </p:txBody>
      </p:sp>
    </p:spTree>
    <p:extLst>
      <p:ext uri="{BB962C8B-B14F-4D97-AF65-F5344CB8AC3E}">
        <p14:creationId xmlns:p14="http://schemas.microsoft.com/office/powerpoint/2010/main" val="2945101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13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/>
              <a:t>인수나 복귀 값이 없는 함수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// </a:t>
            </a:r>
            <a:r>
              <a:rPr lang="ko-KR" altLang="en-US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복귀 값이 없는 함수의 예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void F2(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x)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{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 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cout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&lt;&lt; "x + 2 = " &lt;&lt;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x + 2 &lt;&lt;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endl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} </a:t>
            </a:r>
            <a:endParaRPr lang="en-US" altLang="ko-KR" sz="16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None/>
            </a:pPr>
            <a:endParaRPr lang="en-US" altLang="ko-KR" sz="16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// </a:t>
            </a:r>
            <a:r>
              <a:rPr lang="ko-KR" altLang="en-US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복귀 값과 인수가 모두 없는 함수의 예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void F3(void)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{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 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cout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&lt;&lt; "5 + 2 = " &lt;&lt; 5 + 2 &lt;&lt;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endl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; </a:t>
            </a:r>
            <a:r>
              <a:rPr lang="en-US" altLang="ko-KR" sz="16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 b="1" dirty="0">
                <a:latin typeface="Arial" panose="020B0604020202020204" pitchFamily="34" charset="0"/>
                <a:ea typeface="굴림" panose="020B0600000101010101" pitchFamily="50" charset="-127"/>
              </a:rPr>
              <a:t>  </a:t>
            </a:r>
            <a:endParaRPr lang="en-US" altLang="ko-KR" sz="16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} </a:t>
            </a:r>
          </a:p>
          <a:p>
            <a:pPr>
              <a:spcBef>
                <a:spcPct val="0"/>
              </a:spcBef>
              <a:buNone/>
            </a:pPr>
            <a:endParaRPr lang="en-US" altLang="ko-KR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65318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광장">
  <a:themeElements>
    <a:clrScheme name="광장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광장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광장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579</TotalTime>
  <Words>454</Words>
  <Application>Microsoft Office PowerPoint</Application>
  <PresentationFormat>화면 슬라이드 쇼(4:3)</PresentationFormat>
  <Paragraphs>173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4" baseType="lpstr">
      <vt:lpstr>굴림</vt:lpstr>
      <vt:lpstr>맑은 고딕</vt:lpstr>
      <vt:lpstr>-윤고딕120</vt:lpstr>
      <vt:lpstr>-윤고딕140</vt:lpstr>
      <vt:lpstr>Arial</vt:lpstr>
      <vt:lpstr>Lucida Sans Unicode</vt:lpstr>
      <vt:lpstr>Tahoma</vt:lpstr>
      <vt:lpstr>Verdana</vt:lpstr>
      <vt:lpstr>Wingdings 2</vt:lpstr>
      <vt:lpstr>Wingdings 3</vt:lpstr>
      <vt:lpstr>광장</vt:lpstr>
      <vt:lpstr>함수와 포인터1</vt:lpstr>
      <vt:lpstr>함수의 개요</vt:lpstr>
      <vt:lpstr>함수의 개요</vt:lpstr>
      <vt:lpstr>함수의 개요</vt:lpstr>
      <vt:lpstr>함수의 개요</vt:lpstr>
      <vt:lpstr>함수의 개요</vt:lpstr>
      <vt:lpstr>함수의 정의</vt:lpstr>
      <vt:lpstr>함수의 정의</vt:lpstr>
      <vt:lpstr>함수의 정의</vt:lpstr>
      <vt:lpstr>함수의 정의</vt:lpstr>
      <vt:lpstr>인수나 복귀 값이 없는 함수</vt:lpstr>
      <vt:lpstr>인수나 복귀 값이 없는 함수</vt:lpstr>
      <vt:lpstr>인수나 복귀 값이 없는 함수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프로그램 문제</dc:title>
  <dc:creator>Lub</dc:creator>
  <cp:lastModifiedBy>박상준</cp:lastModifiedBy>
  <cp:revision>72</cp:revision>
  <dcterms:created xsi:type="dcterms:W3CDTF">2015-04-10T01:14:42Z</dcterms:created>
  <dcterms:modified xsi:type="dcterms:W3CDTF">2024-10-01T23:58:22Z</dcterms:modified>
</cp:coreProperties>
</file>