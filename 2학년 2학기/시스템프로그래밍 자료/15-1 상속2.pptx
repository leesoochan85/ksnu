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9" r:id="rId2"/>
    <p:sldId id="359" r:id="rId3"/>
    <p:sldId id="297" r:id="rId4"/>
    <p:sldId id="360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74" r:id="rId19"/>
    <p:sldId id="375" r:id="rId20"/>
    <p:sldId id="376" r:id="rId21"/>
    <p:sldId id="257" r:id="rId22"/>
    <p:sldId id="377" r:id="rId23"/>
    <p:sldId id="378" r:id="rId24"/>
    <p:sldId id="379" r:id="rId25"/>
    <p:sldId id="380" r:id="rId26"/>
    <p:sldId id="381" r:id="rId27"/>
    <p:sldId id="382" r:id="rId28"/>
    <p:sldId id="326" r:id="rId2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6D359F-9A96-4952-A86C-3E81D78107E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352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/>
              <a:t>둘째 수준</a:t>
            </a:r>
          </a:p>
          <a:p>
            <a:pPr lvl="2" eaLnBrk="1" latinLnBrk="0" hangingPunct="1"/>
            <a:r>
              <a:rPr kumimoji="0" lang="ko-KR" altLang="en-US"/>
              <a:t>셋째 수준</a:t>
            </a:r>
          </a:p>
          <a:p>
            <a:pPr lvl="3" eaLnBrk="1" latinLnBrk="0" hangingPunct="1"/>
            <a:r>
              <a:rPr kumimoji="0" lang="ko-KR" altLang="en-US"/>
              <a:t>넷째 수준</a:t>
            </a:r>
          </a:p>
          <a:p>
            <a:pPr lvl="4" eaLnBrk="1" latinLnBrk="0" hangingPunct="1"/>
            <a:r>
              <a:rPr kumimoji="0" lang="ko-KR" altLang="en-US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2024-12-03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상속</a:t>
            </a:r>
            <a:r>
              <a:rPr lang="en-US" altLang="ko-KR" sz="3200" dirty="0"/>
              <a:t>2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25058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/>
              <a:t>내용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2000" dirty="0"/>
              <a:t>상속 </a:t>
            </a:r>
            <a:r>
              <a:rPr kumimoji="0" lang="ko-KR" altLang="en-US" sz="2000" dirty="0" err="1"/>
              <a:t>생성자</a:t>
            </a:r>
            <a:r>
              <a:rPr lang="ko-KR" altLang="en-US" sz="2000" dirty="0" err="1"/>
              <a:t>와</a:t>
            </a:r>
            <a:r>
              <a:rPr lang="ko-KR" altLang="en-US" sz="2000" dirty="0"/>
              <a:t> </a:t>
            </a:r>
            <a:r>
              <a:rPr kumimoji="0" lang="ko-KR" altLang="en-US" sz="2000" dirty="0" err="1"/>
              <a:t>소멸자</a:t>
            </a:r>
            <a:endParaRPr kumimoji="0"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/>
              <a:t>멤버 함수 재정의</a:t>
            </a:r>
            <a:endParaRPr kumimoji="0"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620524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err="1"/>
              <a:t>생성자와</a:t>
            </a:r>
            <a:r>
              <a:rPr lang="ko-KR" altLang="en-US" sz="2800" spc="-250" dirty="0"/>
              <a:t> </a:t>
            </a:r>
            <a:r>
              <a:rPr lang="ko-KR" altLang="en-US" sz="2800" spc="-250" dirty="0" err="1"/>
              <a:t>소멸자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b="1" dirty="0">
                <a:latin typeface="+mn-ea"/>
                <a:cs typeface="-윤고딕140"/>
              </a:rPr>
              <a:t>상속에서 </a:t>
            </a:r>
            <a:r>
              <a:rPr lang="ko-KR" altLang="en-US" sz="1800" b="1" dirty="0" err="1">
                <a:latin typeface="+mn-ea"/>
                <a:cs typeface="-윤고딕140"/>
              </a:rPr>
              <a:t>생성자와</a:t>
            </a:r>
            <a:r>
              <a:rPr lang="ko-KR" altLang="en-US" sz="1800" b="1" dirty="0">
                <a:latin typeface="+mn-ea"/>
                <a:cs typeface="-윤고딕140"/>
              </a:rPr>
              <a:t> </a:t>
            </a:r>
            <a:r>
              <a:rPr lang="ko-KR" altLang="en-US" sz="1800" b="1" dirty="0" err="1">
                <a:latin typeface="+mn-ea"/>
                <a:cs typeface="-윤고딕140"/>
              </a:rPr>
              <a:t>소멸자</a:t>
            </a:r>
            <a:endParaRPr lang="en-US" altLang="ko-KR" sz="1800" b="1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</a:pP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b="1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부모 클래스의 </a:t>
            </a:r>
            <a:r>
              <a:rPr lang="ko-KR" altLang="en-US" sz="18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생성자</a:t>
            </a:r>
            <a:r>
              <a:rPr lang="ko-KR" altLang="en-US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호출 </a:t>
            </a:r>
            <a:r>
              <a:rPr lang="en-US" altLang="ko-KR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-&gt; </a:t>
            </a:r>
            <a:r>
              <a:rPr lang="ko-KR" altLang="en-US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자식</a:t>
            </a:r>
            <a:r>
              <a:rPr lang="en-US" altLang="ko-KR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(</a:t>
            </a:r>
            <a:r>
              <a:rPr lang="ko-KR" altLang="en-US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파생</a:t>
            </a:r>
            <a:r>
              <a:rPr lang="en-US" altLang="ko-KR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)</a:t>
            </a:r>
            <a:r>
              <a:rPr lang="ko-KR" altLang="en-US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클래스의 </a:t>
            </a:r>
            <a:r>
              <a:rPr lang="ko-KR" altLang="en-US" sz="18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생성자</a:t>
            </a:r>
            <a:r>
              <a:rPr lang="ko-KR" altLang="en-US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호출</a:t>
            </a:r>
            <a:endParaRPr lang="en-US" altLang="ko-KR" sz="1800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-&gt; </a:t>
            </a:r>
            <a:r>
              <a:rPr lang="ko-KR" altLang="en-US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자식 클래스 </a:t>
            </a:r>
            <a:r>
              <a:rPr lang="ko-KR" altLang="en-US" sz="18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소멸자</a:t>
            </a:r>
            <a:r>
              <a:rPr lang="ko-KR" altLang="en-US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호출 </a:t>
            </a:r>
            <a:r>
              <a:rPr lang="en-US" altLang="ko-KR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-&gt; </a:t>
            </a:r>
            <a:r>
              <a:rPr lang="ko-KR" altLang="en-US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부모 클래스 </a:t>
            </a:r>
            <a:r>
              <a:rPr lang="ko-KR" altLang="en-US" sz="1800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소멸자</a:t>
            </a:r>
            <a:r>
              <a:rPr lang="ko-KR" altLang="en-US" sz="1800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호출 </a:t>
            </a:r>
            <a:endParaRPr lang="en-US" altLang="ko-KR" sz="1800" b="1" dirty="0">
              <a:solidFill>
                <a:srgbClr val="FF0000"/>
              </a:solidFill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975030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4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err="1"/>
              <a:t>생성자와</a:t>
            </a:r>
            <a:r>
              <a:rPr lang="ko-KR" altLang="en-US" sz="2800" spc="-250" dirty="0"/>
              <a:t> </a:t>
            </a:r>
            <a:r>
              <a:rPr lang="ko-KR" altLang="en-US" sz="2800" spc="-250" dirty="0" err="1"/>
              <a:t>소멸자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상속에서 </a:t>
            </a:r>
            <a:r>
              <a:rPr lang="ko-KR" altLang="en-US" sz="1800" dirty="0" err="1">
                <a:latin typeface="+mn-ea"/>
                <a:cs typeface="-윤고딕140"/>
              </a:rPr>
              <a:t>생성자와</a:t>
            </a:r>
            <a:r>
              <a:rPr lang="ko-KR" altLang="en-US" sz="1800" dirty="0">
                <a:latin typeface="+mn-ea"/>
                <a:cs typeface="-윤고딕140"/>
              </a:rPr>
              <a:t> </a:t>
            </a:r>
            <a:r>
              <a:rPr lang="ko-KR" altLang="en-US" sz="1800" dirty="0" err="1">
                <a:latin typeface="+mn-ea"/>
                <a:cs typeface="-윤고딕140"/>
              </a:rPr>
              <a:t>소멸자</a:t>
            </a:r>
            <a:r>
              <a:rPr lang="ko-KR" altLang="en-US" sz="1800" dirty="0">
                <a:latin typeface="+mn-ea"/>
                <a:cs typeface="-윤고딕140"/>
              </a:rPr>
              <a:t> 기본 예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#include&lt;</a:t>
            </a:r>
            <a:r>
              <a:rPr lang="en-US" altLang="ko-KR" sz="1800" dirty="0" err="1">
                <a:latin typeface="+mn-ea"/>
                <a:cs typeface="-윤고딕140"/>
              </a:rPr>
              <a:t>iostream</a:t>
            </a:r>
            <a:r>
              <a:rPr lang="en-US" altLang="ko-KR" sz="1800" dirty="0">
                <a:latin typeface="+mn-ea"/>
                <a:cs typeface="-윤고딕140"/>
              </a:rPr>
              <a:t>&gt;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using namespace </a:t>
            </a:r>
            <a:r>
              <a:rPr lang="en-US" altLang="ko-KR" sz="1800" dirty="0" err="1">
                <a:latin typeface="+mn-ea"/>
                <a:cs typeface="-윤고딕140"/>
              </a:rPr>
              <a:t>std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Parent{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public: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Parent();  // </a:t>
            </a:r>
            <a:r>
              <a:rPr lang="ko-KR" altLang="en-US" sz="1800" dirty="0">
                <a:latin typeface="+mn-ea"/>
                <a:cs typeface="-윤고딕140"/>
              </a:rPr>
              <a:t>부모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endParaRPr lang="ko-KR" altLang="en-US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	</a:t>
            </a:r>
            <a:r>
              <a:rPr lang="en-US" altLang="ko-KR" sz="1800" dirty="0">
                <a:latin typeface="+mn-ea"/>
                <a:cs typeface="-윤고딕140"/>
              </a:rPr>
              <a:t>~Parent(); // </a:t>
            </a:r>
            <a:r>
              <a:rPr lang="ko-KR" altLang="en-US" sz="1800" dirty="0">
                <a:latin typeface="+mn-ea"/>
                <a:cs typeface="-윤고딕140"/>
              </a:rPr>
              <a:t>부모 </a:t>
            </a:r>
            <a:r>
              <a:rPr lang="ko-KR" altLang="en-US" sz="1800" dirty="0" err="1">
                <a:latin typeface="+mn-ea"/>
                <a:cs typeface="-윤고딕140"/>
              </a:rPr>
              <a:t>소멸자</a:t>
            </a:r>
            <a:endParaRPr lang="ko-KR" altLang="en-US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Parent::Parent()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"</a:t>
            </a:r>
            <a:r>
              <a:rPr lang="ko-KR" altLang="en-US" sz="1800" dirty="0">
                <a:latin typeface="+mn-ea"/>
                <a:cs typeface="-윤고딕140"/>
              </a:rPr>
              <a:t>부모 클래스 기본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r>
              <a:rPr lang="ko-KR" altLang="en-US" sz="1800" dirty="0">
                <a:latin typeface="+mn-ea"/>
                <a:cs typeface="-윤고딕140"/>
              </a:rPr>
              <a:t> </a:t>
            </a:r>
            <a:r>
              <a:rPr lang="en-US" altLang="ko-KR" sz="1800" dirty="0">
                <a:latin typeface="+mn-ea"/>
                <a:cs typeface="-윤고딕140"/>
              </a:rPr>
              <a:t>(Parent class Basic constructor)!"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Parent::~Parent()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"</a:t>
            </a:r>
            <a:r>
              <a:rPr lang="ko-KR" altLang="en-US" sz="1800" dirty="0">
                <a:latin typeface="+mn-ea"/>
                <a:cs typeface="-윤고딕140"/>
              </a:rPr>
              <a:t>부모 클래스 </a:t>
            </a:r>
            <a:r>
              <a:rPr lang="ko-KR" altLang="en-US" sz="1800" dirty="0" err="1">
                <a:latin typeface="+mn-ea"/>
                <a:cs typeface="-윤고딕140"/>
              </a:rPr>
              <a:t>소멸자</a:t>
            </a:r>
            <a:r>
              <a:rPr lang="en-US" altLang="ko-KR" sz="1800" dirty="0">
                <a:latin typeface="+mn-ea"/>
                <a:cs typeface="-윤고딕140"/>
              </a:rPr>
              <a:t>(destructor)!"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  <a:p>
            <a:pPr>
              <a:spcBef>
                <a:spcPct val="0"/>
              </a:spcBef>
            </a:pPr>
            <a:endParaRPr lang="en-US" altLang="ko-KR" sz="1800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572462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5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err="1"/>
              <a:t>생성자와</a:t>
            </a:r>
            <a:r>
              <a:rPr lang="ko-KR" altLang="en-US" sz="2800" spc="-250" dirty="0"/>
              <a:t> </a:t>
            </a:r>
            <a:r>
              <a:rPr lang="ko-KR" altLang="en-US" sz="2800" spc="-250" dirty="0" err="1"/>
              <a:t>소멸자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Child: public Parent 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public: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Child();   // </a:t>
            </a:r>
            <a:r>
              <a:rPr lang="ko-KR" altLang="en-US" sz="1800" dirty="0">
                <a:latin typeface="+mn-ea"/>
                <a:cs typeface="-윤고딕140"/>
              </a:rPr>
              <a:t>자식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endParaRPr lang="ko-KR" altLang="en-US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	</a:t>
            </a:r>
            <a:r>
              <a:rPr lang="en-US" altLang="ko-KR" sz="1800" dirty="0">
                <a:latin typeface="+mn-ea"/>
                <a:cs typeface="-윤고딕140"/>
              </a:rPr>
              <a:t>~Child();  // </a:t>
            </a:r>
            <a:r>
              <a:rPr lang="ko-KR" altLang="en-US" sz="1800" dirty="0">
                <a:latin typeface="+mn-ea"/>
                <a:cs typeface="-윤고딕140"/>
              </a:rPr>
              <a:t>자식 </a:t>
            </a:r>
            <a:r>
              <a:rPr lang="ko-KR" altLang="en-US" sz="1800" dirty="0" err="1">
                <a:latin typeface="+mn-ea"/>
                <a:cs typeface="-윤고딕140"/>
              </a:rPr>
              <a:t>소멸자</a:t>
            </a:r>
            <a:endParaRPr lang="ko-KR" altLang="en-US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Child::Child()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"</a:t>
            </a:r>
            <a:r>
              <a:rPr lang="ko-KR" altLang="en-US" sz="1800" dirty="0">
                <a:latin typeface="+mn-ea"/>
                <a:cs typeface="-윤고딕140"/>
              </a:rPr>
              <a:t>자식 클래스 기본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r>
              <a:rPr lang="en-US" altLang="ko-KR" sz="1800" dirty="0">
                <a:latin typeface="+mn-ea"/>
                <a:cs typeface="-윤고딕140"/>
              </a:rPr>
              <a:t>!"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Child::~Child()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"</a:t>
            </a:r>
            <a:r>
              <a:rPr lang="ko-KR" altLang="en-US" sz="1800" dirty="0">
                <a:latin typeface="+mn-ea"/>
                <a:cs typeface="-윤고딕140"/>
              </a:rPr>
              <a:t>자식 클래스 </a:t>
            </a:r>
            <a:r>
              <a:rPr lang="ko-KR" altLang="en-US" sz="1800" dirty="0" err="1">
                <a:latin typeface="+mn-ea"/>
                <a:cs typeface="-윤고딕140"/>
              </a:rPr>
              <a:t>소멸자</a:t>
            </a:r>
            <a:r>
              <a:rPr lang="en-US" altLang="ko-KR" sz="1800" dirty="0">
                <a:latin typeface="+mn-ea"/>
                <a:cs typeface="-윤고딕140"/>
              </a:rPr>
              <a:t>!"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404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6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err="1"/>
              <a:t>생성자와</a:t>
            </a:r>
            <a:r>
              <a:rPr lang="ko-KR" altLang="en-US" sz="2800" spc="-250" dirty="0"/>
              <a:t> </a:t>
            </a:r>
            <a:r>
              <a:rPr lang="ko-KR" altLang="en-US" sz="2800" spc="-250" dirty="0" err="1"/>
              <a:t>소멸자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main()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Child nm;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return 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3061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7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err="1"/>
              <a:t>생성자와</a:t>
            </a:r>
            <a:r>
              <a:rPr lang="ko-KR" altLang="en-US" sz="2800" spc="-250" dirty="0"/>
              <a:t> </a:t>
            </a:r>
            <a:r>
              <a:rPr lang="ko-KR" altLang="en-US" sz="2800" spc="-250" dirty="0" err="1"/>
              <a:t>소멸자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상속에서 다중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r>
              <a:rPr lang="ko-KR" altLang="en-US" sz="1800" dirty="0">
                <a:latin typeface="+mn-ea"/>
                <a:cs typeface="-윤고딕140"/>
              </a:rPr>
              <a:t> 호출</a:t>
            </a:r>
            <a:endParaRPr lang="en-US" altLang="ko-KR" sz="1800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latin typeface="+mn-ea"/>
                <a:cs typeface="-윤고딕140"/>
              </a:rPr>
              <a:t>부모 클래스의 </a:t>
            </a:r>
            <a:r>
              <a:rPr lang="ko-KR" altLang="en-US" sz="1800" dirty="0" err="1">
                <a:latin typeface="+mn-ea"/>
                <a:cs typeface="-윤고딕140"/>
              </a:rPr>
              <a:t>생성자를</a:t>
            </a:r>
            <a:r>
              <a:rPr lang="ko-KR" altLang="en-US" sz="1800" dirty="0">
                <a:latin typeface="+mn-ea"/>
                <a:cs typeface="-윤고딕140"/>
              </a:rPr>
              <a:t> 따로 지정하지 않으면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항상 부모의 기본 </a:t>
            </a:r>
            <a:r>
              <a:rPr lang="ko-KR" altLang="en-US" sz="1800" dirty="0" err="1">
                <a:solidFill>
                  <a:srgbClr val="FF0000"/>
                </a:solidFill>
                <a:latin typeface="+mn-ea"/>
                <a:cs typeface="-윤고딕140"/>
              </a:rPr>
              <a:t>생성자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 호출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매개 변수가 있는 부모 </a:t>
            </a:r>
            <a:r>
              <a:rPr lang="ko-KR" altLang="en-US" sz="1800" dirty="0" err="1">
                <a:solidFill>
                  <a:srgbClr val="FF0000"/>
                </a:solidFill>
                <a:latin typeface="+mn-ea"/>
                <a:cs typeface="-윤고딕140"/>
              </a:rPr>
              <a:t>생성자를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 호출</a:t>
            </a:r>
            <a:r>
              <a:rPr lang="ko-KR" altLang="en-US" sz="1800" dirty="0">
                <a:latin typeface="+mn-ea"/>
                <a:cs typeface="-윤고딕140"/>
              </a:rPr>
              <a:t>하려면 자식 </a:t>
            </a:r>
            <a:r>
              <a:rPr lang="ko-KR" altLang="en-US" sz="1800" dirty="0" err="1">
                <a:latin typeface="+mn-ea"/>
                <a:cs typeface="-윤고딕140"/>
              </a:rPr>
              <a:t>생성자에서</a:t>
            </a:r>
            <a:r>
              <a:rPr lang="ko-KR" altLang="en-US" sz="1800" dirty="0">
                <a:latin typeface="+mn-ea"/>
                <a:cs typeface="-윤고딕140"/>
              </a:rPr>
              <a:t> 직접 호출</a:t>
            </a:r>
            <a:endParaRPr lang="en-US" altLang="ko-KR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1461483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8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err="1"/>
              <a:t>생성자와</a:t>
            </a:r>
            <a:r>
              <a:rPr lang="ko-KR" altLang="en-US" sz="2800" spc="-250" dirty="0"/>
              <a:t> </a:t>
            </a:r>
            <a:r>
              <a:rPr lang="ko-KR" altLang="en-US" sz="2800" spc="-250" dirty="0" err="1"/>
              <a:t>소멸자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상속에서 다중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r>
              <a:rPr lang="ko-KR" altLang="en-US" sz="1800" dirty="0">
                <a:latin typeface="+mn-ea"/>
                <a:cs typeface="-윤고딕140"/>
              </a:rPr>
              <a:t> 호출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주의 사항</a:t>
            </a:r>
            <a:r>
              <a:rPr lang="en-US" altLang="ko-KR" sz="1800" dirty="0">
                <a:latin typeface="+mn-ea"/>
                <a:cs typeface="-윤고딕140"/>
              </a:rPr>
              <a:t>: </a:t>
            </a:r>
            <a:r>
              <a:rPr lang="ko-KR" altLang="en-US" sz="1800" dirty="0">
                <a:latin typeface="+mn-ea"/>
                <a:cs typeface="-윤고딕140"/>
              </a:rPr>
              <a:t>이 경우 </a:t>
            </a:r>
            <a:r>
              <a:rPr lang="ko-KR" altLang="en-US" sz="1800" dirty="0">
                <a:highlight>
                  <a:srgbClr val="FFFF00"/>
                </a:highlight>
                <a:latin typeface="+mn-ea"/>
                <a:cs typeface="-윤고딕140"/>
              </a:rPr>
              <a:t>자식 클래스 내에서 선언</a:t>
            </a:r>
            <a:r>
              <a:rPr lang="ko-KR" altLang="en-US" sz="1800" dirty="0">
                <a:latin typeface="+mn-ea"/>
                <a:cs typeface="-윤고딕140"/>
              </a:rPr>
              <a:t>해주어야 함</a:t>
            </a:r>
            <a:r>
              <a:rPr lang="en-US" altLang="ko-KR" sz="1800" dirty="0">
                <a:latin typeface="+mn-ea"/>
                <a:cs typeface="-윤고딕140"/>
              </a:rPr>
              <a:t>. 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자식 클래스의 다중정의 </a:t>
            </a:r>
            <a:r>
              <a:rPr lang="ko-KR" altLang="en-US" sz="1800" dirty="0" err="1">
                <a:solidFill>
                  <a:srgbClr val="FF0000"/>
                </a:solidFill>
                <a:latin typeface="+mn-ea"/>
                <a:cs typeface="-윤고딕140"/>
              </a:rPr>
              <a:t>생성자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( ) :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부모 클래스 다중정의 </a:t>
            </a:r>
            <a:r>
              <a:rPr lang="ko-KR" altLang="en-US" sz="1800" dirty="0" err="1">
                <a:solidFill>
                  <a:srgbClr val="FF0000"/>
                </a:solidFill>
                <a:latin typeface="+mn-ea"/>
                <a:cs typeface="-윤고딕140"/>
              </a:rPr>
              <a:t>생성자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( 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  …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49139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9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err="1"/>
              <a:t>생성자와</a:t>
            </a:r>
            <a:r>
              <a:rPr lang="ko-KR" altLang="en-US" sz="2800" spc="-250" dirty="0"/>
              <a:t> </a:t>
            </a:r>
            <a:r>
              <a:rPr lang="ko-KR" altLang="en-US" sz="2800" spc="-250" dirty="0" err="1"/>
              <a:t>소멸자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상속에서 다중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r>
              <a:rPr lang="ko-KR" altLang="en-US" sz="1800" dirty="0">
                <a:latin typeface="+mn-ea"/>
                <a:cs typeface="-윤고딕140"/>
              </a:rPr>
              <a:t> 호출 예</a:t>
            </a: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#include&lt;</a:t>
            </a:r>
            <a:r>
              <a:rPr lang="en-US" altLang="ko-KR" sz="1800" dirty="0" err="1">
                <a:latin typeface="+mn-ea"/>
                <a:cs typeface="-윤고딕140"/>
              </a:rPr>
              <a:t>iostream</a:t>
            </a:r>
            <a:r>
              <a:rPr lang="en-US" altLang="ko-KR" sz="1800" dirty="0">
                <a:latin typeface="+mn-ea"/>
                <a:cs typeface="-윤고딕140"/>
              </a:rPr>
              <a:t>&gt;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using namespace </a:t>
            </a:r>
            <a:r>
              <a:rPr lang="en-US" altLang="ko-KR" sz="1800" dirty="0" err="1">
                <a:latin typeface="+mn-ea"/>
                <a:cs typeface="-윤고딕140"/>
              </a:rPr>
              <a:t>std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Parent{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private: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pnum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public: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Parent();  // </a:t>
            </a:r>
            <a:r>
              <a:rPr lang="ko-KR" altLang="en-US" sz="1800" dirty="0">
                <a:latin typeface="+mn-ea"/>
                <a:cs typeface="-윤고딕140"/>
              </a:rPr>
              <a:t>부모 기본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endParaRPr lang="ko-KR" altLang="en-US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	</a:t>
            </a:r>
            <a:r>
              <a:rPr lang="en-US" altLang="ko-KR" sz="1800" dirty="0">
                <a:latin typeface="+mn-ea"/>
                <a:cs typeface="-윤고딕140"/>
              </a:rPr>
              <a:t>Parent(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pt</a:t>
            </a:r>
            <a:r>
              <a:rPr lang="en-US" altLang="ko-KR" sz="1800" dirty="0">
                <a:latin typeface="+mn-ea"/>
                <a:cs typeface="-윤고딕140"/>
              </a:rPr>
              <a:t>);	// </a:t>
            </a:r>
            <a:r>
              <a:rPr lang="ko-KR" altLang="en-US" sz="1800" dirty="0">
                <a:latin typeface="+mn-ea"/>
                <a:cs typeface="-윤고딕140"/>
              </a:rPr>
              <a:t>부모 다중 정의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endParaRPr lang="ko-KR" altLang="en-US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ko-KR" altLang="en-US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	</a:t>
            </a:r>
            <a:r>
              <a:rPr lang="en-US" altLang="ko-KR" sz="1800" dirty="0">
                <a:latin typeface="+mn-ea"/>
                <a:cs typeface="-윤고딕140"/>
              </a:rPr>
              <a:t>~Parent(); // </a:t>
            </a:r>
            <a:r>
              <a:rPr lang="ko-KR" altLang="en-US" sz="1800" dirty="0">
                <a:latin typeface="+mn-ea"/>
                <a:cs typeface="-윤고딕140"/>
              </a:rPr>
              <a:t>부모 </a:t>
            </a:r>
            <a:r>
              <a:rPr lang="ko-KR" altLang="en-US" sz="1800" dirty="0" err="1">
                <a:latin typeface="+mn-ea"/>
                <a:cs typeface="-윤고딕140"/>
              </a:rPr>
              <a:t>소멸자</a:t>
            </a:r>
            <a:endParaRPr lang="ko-KR" altLang="en-US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232975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10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err="1"/>
              <a:t>생성자와</a:t>
            </a:r>
            <a:r>
              <a:rPr lang="ko-KR" altLang="en-US" sz="2800" spc="-250" dirty="0"/>
              <a:t> </a:t>
            </a:r>
            <a:r>
              <a:rPr lang="ko-KR" altLang="en-US" sz="2800" spc="-250" dirty="0" err="1"/>
              <a:t>소멸자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Parent::Parent()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"</a:t>
            </a:r>
            <a:r>
              <a:rPr lang="ko-KR" altLang="en-US" sz="1800" dirty="0">
                <a:latin typeface="+mn-ea"/>
                <a:cs typeface="-윤고딕140"/>
              </a:rPr>
              <a:t>부모 클래스 기본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r>
              <a:rPr lang="ko-KR" altLang="en-US" sz="1800" dirty="0">
                <a:latin typeface="+mn-ea"/>
                <a:cs typeface="-윤고딕140"/>
              </a:rPr>
              <a:t> </a:t>
            </a:r>
            <a:r>
              <a:rPr lang="en-US" altLang="ko-KR" sz="1800" dirty="0">
                <a:latin typeface="+mn-ea"/>
                <a:cs typeface="-윤고딕140"/>
              </a:rPr>
              <a:t>(Parent class Basic constructor)!"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Parent::Parent(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pt</a:t>
            </a:r>
            <a:r>
              <a:rPr lang="en-US" altLang="ko-KR" sz="1800" dirty="0">
                <a:latin typeface="+mn-ea"/>
                <a:cs typeface="-윤고딕140"/>
              </a:rPr>
              <a:t>) {  // </a:t>
            </a:r>
            <a:r>
              <a:rPr lang="ko-KR" altLang="en-US" sz="1800" dirty="0">
                <a:latin typeface="+mn-ea"/>
                <a:cs typeface="-윤고딕140"/>
              </a:rPr>
              <a:t>부모 다중정의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endParaRPr lang="ko-KR" altLang="en-US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pnum</a:t>
            </a:r>
            <a:r>
              <a:rPr lang="en-US" altLang="ko-KR" sz="1800" dirty="0">
                <a:latin typeface="+mn-ea"/>
                <a:cs typeface="-윤고딕140"/>
              </a:rPr>
              <a:t> = </a:t>
            </a:r>
            <a:r>
              <a:rPr lang="en-US" altLang="ko-KR" sz="1800" dirty="0" err="1">
                <a:latin typeface="+mn-ea"/>
                <a:cs typeface="-윤고딕140"/>
              </a:rPr>
              <a:t>pt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"</a:t>
            </a:r>
            <a:r>
              <a:rPr lang="ko-KR" altLang="en-US" sz="1800" dirty="0">
                <a:latin typeface="+mn-ea"/>
                <a:cs typeface="-윤고딕140"/>
              </a:rPr>
              <a:t>부모 클래스 다중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r>
              <a:rPr lang="en-US" altLang="ko-KR" sz="1800" dirty="0">
                <a:latin typeface="+mn-ea"/>
                <a:cs typeface="-윤고딕140"/>
              </a:rPr>
              <a:t>: " &lt;&lt; </a:t>
            </a:r>
            <a:r>
              <a:rPr lang="en-US" altLang="ko-KR" sz="1800" dirty="0" err="1">
                <a:latin typeface="+mn-ea"/>
                <a:cs typeface="-윤고딕140"/>
              </a:rPr>
              <a:t>pnum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Parent::~Parent()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"</a:t>
            </a:r>
            <a:r>
              <a:rPr lang="ko-KR" altLang="en-US" sz="1800" dirty="0">
                <a:latin typeface="+mn-ea"/>
                <a:cs typeface="-윤고딕140"/>
              </a:rPr>
              <a:t>부모 클래스 </a:t>
            </a:r>
            <a:r>
              <a:rPr lang="ko-KR" altLang="en-US" sz="1800" dirty="0" err="1">
                <a:latin typeface="+mn-ea"/>
                <a:cs typeface="-윤고딕140"/>
              </a:rPr>
              <a:t>소멸자</a:t>
            </a:r>
            <a:r>
              <a:rPr lang="en-US" altLang="ko-KR" sz="1800" dirty="0">
                <a:latin typeface="+mn-ea"/>
                <a:cs typeface="-윤고딕140"/>
              </a:rPr>
              <a:t>(destructor)!"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4112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11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err="1"/>
              <a:t>생성자와</a:t>
            </a:r>
            <a:r>
              <a:rPr lang="ko-KR" altLang="en-US" sz="2800" spc="-250" dirty="0"/>
              <a:t> </a:t>
            </a:r>
            <a:r>
              <a:rPr lang="ko-KR" altLang="en-US" sz="2800" spc="-250" dirty="0" err="1"/>
              <a:t>소멸자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Child: public Parent 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private: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cnum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public: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Child();   // </a:t>
            </a:r>
            <a:r>
              <a:rPr lang="ko-KR" altLang="en-US" sz="1800" dirty="0">
                <a:latin typeface="+mn-ea"/>
                <a:cs typeface="-윤고딕140"/>
              </a:rPr>
              <a:t>자식 기본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endParaRPr lang="ko-KR" altLang="en-US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	</a:t>
            </a:r>
            <a:r>
              <a:rPr lang="en-US" altLang="ko-KR" sz="1800" dirty="0">
                <a:latin typeface="+mn-ea"/>
                <a:cs typeface="-윤고딕140"/>
              </a:rPr>
              <a:t>Child(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pt</a:t>
            </a:r>
            <a:r>
              <a:rPr lang="en-US" altLang="ko-KR" sz="1800" dirty="0">
                <a:latin typeface="+mn-ea"/>
                <a:cs typeface="-윤고딕140"/>
              </a:rPr>
              <a:t>, </a:t>
            </a: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ct</a:t>
            </a:r>
            <a:r>
              <a:rPr lang="en-US" altLang="ko-KR" sz="1800" dirty="0">
                <a:latin typeface="+mn-ea"/>
                <a:cs typeface="-윤고딕140"/>
              </a:rPr>
              <a:t>) : Parent(</a:t>
            </a:r>
            <a:r>
              <a:rPr lang="en-US" altLang="ko-KR" sz="1800" dirty="0" err="1">
                <a:latin typeface="+mn-ea"/>
                <a:cs typeface="-윤고딕140"/>
              </a:rPr>
              <a:t>pt</a:t>
            </a:r>
            <a:r>
              <a:rPr lang="en-US" altLang="ko-KR" sz="1800" dirty="0">
                <a:latin typeface="+mn-ea"/>
                <a:cs typeface="-윤고딕140"/>
              </a:rPr>
              <a:t>)  // </a:t>
            </a:r>
            <a:r>
              <a:rPr lang="ko-KR" altLang="en-US" sz="1800" dirty="0">
                <a:latin typeface="+mn-ea"/>
                <a:cs typeface="-윤고딕140"/>
              </a:rPr>
              <a:t>부모 다중정의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r>
              <a:rPr lang="ko-KR" altLang="en-US" sz="1800" dirty="0">
                <a:latin typeface="+mn-ea"/>
                <a:cs typeface="-윤고딕140"/>
              </a:rPr>
              <a:t> 호출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	</a:t>
            </a:r>
            <a:r>
              <a:rPr lang="en-US" altLang="ko-KR" sz="1800" dirty="0">
                <a:latin typeface="+mn-ea"/>
                <a:cs typeface="-윤고딕140"/>
              </a:rPr>
              <a:t>{  // </a:t>
            </a:r>
            <a:r>
              <a:rPr lang="ko-KR" altLang="en-US" sz="1800" dirty="0">
                <a:latin typeface="+mn-ea"/>
                <a:cs typeface="-윤고딕140"/>
              </a:rPr>
              <a:t>자식 다중정의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endParaRPr lang="ko-KR" altLang="en-US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ko-KR" altLang="en-US" sz="1800" dirty="0">
                <a:latin typeface="+mn-ea"/>
                <a:cs typeface="-윤고딕140"/>
              </a:rPr>
              <a:t>		</a:t>
            </a:r>
            <a:r>
              <a:rPr lang="en-US" altLang="ko-KR" sz="1800" dirty="0" err="1">
                <a:latin typeface="+mn-ea"/>
                <a:cs typeface="-윤고딕140"/>
              </a:rPr>
              <a:t>cnum</a:t>
            </a:r>
            <a:r>
              <a:rPr lang="en-US" altLang="ko-KR" sz="1800" dirty="0">
                <a:latin typeface="+mn-ea"/>
                <a:cs typeface="-윤고딕140"/>
              </a:rPr>
              <a:t> = </a:t>
            </a:r>
            <a:r>
              <a:rPr lang="en-US" altLang="ko-KR" sz="1800" dirty="0" err="1">
                <a:latin typeface="+mn-ea"/>
                <a:cs typeface="-윤고딕140"/>
              </a:rPr>
              <a:t>ct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"</a:t>
            </a:r>
            <a:r>
              <a:rPr lang="ko-KR" altLang="en-US" sz="1800" dirty="0">
                <a:latin typeface="+mn-ea"/>
                <a:cs typeface="-윤고딕140"/>
              </a:rPr>
              <a:t>자식 클래스 다중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r>
              <a:rPr lang="en-US" altLang="ko-KR" sz="1800" dirty="0">
                <a:latin typeface="+mn-ea"/>
                <a:cs typeface="-윤고딕140"/>
              </a:rPr>
              <a:t>: " &lt;&lt; </a:t>
            </a:r>
            <a:r>
              <a:rPr lang="en-US" altLang="ko-KR" sz="1800" dirty="0" err="1">
                <a:latin typeface="+mn-ea"/>
                <a:cs typeface="-윤고딕140"/>
              </a:rPr>
              <a:t>cnum</a:t>
            </a:r>
            <a:r>
              <a:rPr lang="en-US" altLang="ko-KR" sz="1800" dirty="0">
                <a:latin typeface="+mn-ea"/>
                <a:cs typeface="-윤고딕140"/>
              </a:rPr>
              <a:t>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~Child();  // </a:t>
            </a:r>
            <a:r>
              <a:rPr lang="ko-KR" altLang="en-US" sz="1800" dirty="0">
                <a:latin typeface="+mn-ea"/>
                <a:cs typeface="-윤고딕140"/>
              </a:rPr>
              <a:t>자식 </a:t>
            </a:r>
            <a:r>
              <a:rPr lang="ko-KR" altLang="en-US" sz="1800" dirty="0" err="1">
                <a:latin typeface="+mn-ea"/>
                <a:cs typeface="-윤고딕140"/>
              </a:rPr>
              <a:t>소멸자</a:t>
            </a:r>
            <a:endParaRPr lang="ko-KR" altLang="en-US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479479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12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err="1"/>
              <a:t>생성자와</a:t>
            </a:r>
            <a:r>
              <a:rPr lang="ko-KR" altLang="en-US" sz="2800" spc="-250" dirty="0"/>
              <a:t> </a:t>
            </a:r>
            <a:r>
              <a:rPr lang="ko-KR" altLang="en-US" sz="2800" spc="-250" dirty="0" err="1"/>
              <a:t>소멸자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Child::Child()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"</a:t>
            </a:r>
            <a:r>
              <a:rPr lang="ko-KR" altLang="en-US" sz="1800" dirty="0">
                <a:latin typeface="+mn-ea"/>
                <a:cs typeface="-윤고딕140"/>
              </a:rPr>
              <a:t>자식 클래스 기본 </a:t>
            </a:r>
            <a:r>
              <a:rPr lang="ko-KR" altLang="en-US" sz="1800" dirty="0" err="1">
                <a:latin typeface="+mn-ea"/>
                <a:cs typeface="-윤고딕140"/>
              </a:rPr>
              <a:t>생성자</a:t>
            </a:r>
            <a:r>
              <a:rPr lang="en-US" altLang="ko-KR" sz="1800" dirty="0">
                <a:latin typeface="+mn-ea"/>
                <a:cs typeface="-윤고딕140"/>
              </a:rPr>
              <a:t>!"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Child::~Child()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"</a:t>
            </a:r>
            <a:r>
              <a:rPr lang="ko-KR" altLang="en-US" sz="1800" dirty="0">
                <a:latin typeface="+mn-ea"/>
                <a:cs typeface="-윤고딕140"/>
              </a:rPr>
              <a:t>자식 클래스 </a:t>
            </a:r>
            <a:r>
              <a:rPr lang="ko-KR" altLang="en-US" sz="1800" dirty="0" err="1">
                <a:latin typeface="+mn-ea"/>
                <a:cs typeface="-윤고딕140"/>
              </a:rPr>
              <a:t>소멸자</a:t>
            </a:r>
            <a:r>
              <a:rPr lang="en-US" altLang="ko-KR" sz="1800" dirty="0">
                <a:latin typeface="+mn-ea"/>
                <a:cs typeface="-윤고딕140"/>
              </a:rPr>
              <a:t>!"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main()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	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Child nm(100, 200);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return 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26639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멤버 함수 재정의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멤버 함수 재정의 </a:t>
            </a:r>
            <a:r>
              <a:rPr lang="en-US" altLang="ko-KR" sz="1800" dirty="0">
                <a:latin typeface="+mn-ea"/>
                <a:cs typeface="-윤고딕140"/>
              </a:rPr>
              <a:t>(function overriding)</a:t>
            </a:r>
          </a:p>
          <a:p>
            <a:pPr>
              <a:spcBef>
                <a:spcPct val="0"/>
              </a:spcBef>
            </a:pPr>
            <a:endParaRPr lang="en-US" altLang="ko-KR" sz="1800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latin typeface="+mn-ea"/>
                <a:cs typeface="-윤고딕140"/>
              </a:rPr>
              <a:t>상속 받은 함수항목과 이름이 같은 함수항목을 다시 정의</a:t>
            </a:r>
            <a:endParaRPr lang="en-US" altLang="ko-KR" sz="1800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latin typeface="+mn-ea"/>
                <a:cs typeface="-윤고딕140"/>
              </a:rPr>
              <a:t>부모 클래스의 멤버 함수 이름과 같은 함수를 자식 클래스에서도 재정의 할 수 있다</a:t>
            </a:r>
            <a:r>
              <a:rPr lang="en-US" altLang="ko-KR" sz="1800" dirty="0">
                <a:latin typeface="+mn-ea"/>
                <a:cs typeface="-윤고딕140"/>
              </a:rPr>
              <a:t>.</a:t>
            </a: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latin typeface="+mn-ea"/>
                <a:cs typeface="-윤고딕140"/>
              </a:rPr>
              <a:t>상속 받은 함수항목보다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재정의된 함수항목이 우선 호출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class Car {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    void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</a:rPr>
              <a:t>displayNumber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()</a:t>
            </a:r>
            <a:r>
              <a:rPr lang="en-US" altLang="ko-KR" sz="1800" dirty="0">
                <a:latin typeface="+mn-ea"/>
              </a:rPr>
              <a:t> {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“</a:t>
            </a:r>
            <a:r>
              <a:rPr lang="ko-KR" altLang="en-US" sz="1800" dirty="0">
                <a:latin typeface="+mn-ea"/>
              </a:rPr>
              <a:t>차량 번호 </a:t>
            </a:r>
            <a:r>
              <a:rPr lang="en-US" altLang="ko-KR" sz="1800" dirty="0">
                <a:latin typeface="+mn-ea"/>
              </a:rPr>
              <a:t>“” …;}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};</a:t>
            </a:r>
          </a:p>
          <a:p>
            <a:pPr marL="109728" indent="0">
              <a:spcBef>
                <a:spcPts val="0"/>
              </a:spcBef>
              <a:buNone/>
              <a:defRPr/>
            </a:pPr>
            <a:endParaRPr lang="en-US" altLang="ko-KR" sz="1800" dirty="0">
              <a:latin typeface="+mn-ea"/>
            </a:endParaRP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class Motorcar : public Car {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    void </a:t>
            </a:r>
            <a:r>
              <a:rPr lang="en-US" altLang="ko-KR" sz="1800" dirty="0" err="1">
                <a:solidFill>
                  <a:srgbClr val="FF0000"/>
                </a:solidFill>
                <a:latin typeface="+mn-ea"/>
              </a:rPr>
              <a:t>displayNumber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() </a:t>
            </a:r>
            <a:r>
              <a:rPr lang="en-US" altLang="ko-KR" sz="1800" dirty="0">
                <a:latin typeface="+mn-ea"/>
              </a:rPr>
              <a:t>{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“</a:t>
            </a:r>
            <a:r>
              <a:rPr lang="ko-KR" altLang="en-US" sz="1800" dirty="0">
                <a:latin typeface="+mn-ea"/>
              </a:rPr>
              <a:t>승용 차량 번호 </a:t>
            </a:r>
            <a:r>
              <a:rPr lang="en-US" altLang="ko-KR" sz="1800" dirty="0">
                <a:latin typeface="+mn-ea"/>
              </a:rPr>
              <a:t>:’ …} &lt;&lt;</a:t>
            </a:r>
          </a:p>
          <a:p>
            <a:pPr marL="109728" indent="0">
              <a:spcBef>
                <a:spcPts val="0"/>
              </a:spcBef>
              <a:buNone/>
              <a:defRPr/>
            </a:pPr>
            <a:r>
              <a:rPr lang="en-US" altLang="ko-KR" sz="1800" dirty="0">
                <a:latin typeface="+mn-ea"/>
              </a:rPr>
              <a:t>};</a:t>
            </a:r>
            <a:endParaRPr lang="ko-KR" altLang="en-US" sz="1800" dirty="0">
              <a:latin typeface="+mn-ea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3085733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14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멤버 함수 재정의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멤버 함수 재정의 예</a:t>
            </a:r>
            <a:r>
              <a:rPr lang="en-US" altLang="ko-KR" sz="1800" dirty="0">
                <a:latin typeface="+mn-ea"/>
                <a:cs typeface="-윤고딕140"/>
              </a:rPr>
              <a:t>1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#include &lt;</a:t>
            </a:r>
            <a:r>
              <a:rPr lang="en-US" altLang="ko-KR" sz="1800" dirty="0" err="1">
                <a:latin typeface="+mn-ea"/>
                <a:cs typeface="-윤고딕140"/>
              </a:rPr>
              <a:t>iostream</a:t>
            </a:r>
            <a:r>
              <a:rPr lang="en-US" altLang="ko-KR" sz="1800" dirty="0">
                <a:latin typeface="+mn-ea"/>
                <a:cs typeface="-윤고딕140"/>
              </a:rPr>
              <a:t>&gt; 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using namespace </a:t>
            </a:r>
            <a:r>
              <a:rPr lang="en-US" altLang="ko-KR" sz="1800" dirty="0" err="1">
                <a:latin typeface="+mn-ea"/>
                <a:cs typeface="-윤고딕140"/>
              </a:rPr>
              <a:t>std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</a:t>
            </a:r>
            <a:r>
              <a:rPr lang="en-US" altLang="ko-KR" sz="1800" dirty="0" err="1">
                <a:latin typeface="+mn-ea"/>
                <a:cs typeface="-윤고딕140"/>
              </a:rPr>
              <a:t>PClass</a:t>
            </a:r>
            <a:r>
              <a:rPr lang="en-US" altLang="ko-KR" sz="1800" dirty="0">
                <a:latin typeface="+mn-ea"/>
                <a:cs typeface="-윤고딕140"/>
              </a:rPr>
              <a:t> 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public: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void </a:t>
            </a:r>
            <a:r>
              <a:rPr lang="en-US" altLang="ko-KR" sz="1800" dirty="0" err="1">
                <a:latin typeface="+mn-ea"/>
                <a:cs typeface="-윤고딕140"/>
              </a:rPr>
              <a:t>Pprint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void </a:t>
            </a:r>
            <a:r>
              <a:rPr lang="en-US" altLang="ko-KR" sz="1800" dirty="0" err="1">
                <a:latin typeface="+mn-ea"/>
                <a:cs typeface="-윤고딕140"/>
              </a:rPr>
              <a:t>PClass</a:t>
            </a:r>
            <a:r>
              <a:rPr lang="en-US" altLang="ko-KR" sz="1800" dirty="0">
                <a:latin typeface="+mn-ea"/>
                <a:cs typeface="-윤고딕140"/>
              </a:rPr>
              <a:t>::</a:t>
            </a:r>
            <a:r>
              <a:rPr lang="en-US" altLang="ko-KR" sz="1800" dirty="0" err="1">
                <a:latin typeface="+mn-ea"/>
                <a:cs typeface="-윤고딕140"/>
              </a:rPr>
              <a:t>Pprint</a:t>
            </a:r>
            <a:r>
              <a:rPr lang="en-US" altLang="ko-KR" sz="1800" dirty="0">
                <a:latin typeface="+mn-ea"/>
                <a:cs typeface="-윤고딕140"/>
              </a:rPr>
              <a:t>()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"</a:t>
            </a:r>
            <a:r>
              <a:rPr lang="ko-KR" altLang="en-US" sz="1800" dirty="0">
                <a:latin typeface="+mn-ea"/>
                <a:cs typeface="-윤고딕140"/>
              </a:rPr>
              <a:t>부모 클래스</a:t>
            </a:r>
            <a:r>
              <a:rPr lang="en-US" altLang="ko-KR" sz="1800" dirty="0">
                <a:latin typeface="+mn-ea"/>
                <a:cs typeface="-윤고딕140"/>
              </a:rPr>
              <a:t>"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5855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15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멤버 함수 재정의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class </a:t>
            </a:r>
            <a:r>
              <a:rPr lang="en-US" altLang="ko-KR" sz="1800" dirty="0" err="1">
                <a:latin typeface="+mn-ea"/>
                <a:cs typeface="-윤고딕140"/>
              </a:rPr>
              <a:t>ChClass</a:t>
            </a:r>
            <a:r>
              <a:rPr lang="en-US" altLang="ko-KR" sz="1800" dirty="0">
                <a:latin typeface="+mn-ea"/>
                <a:cs typeface="-윤고딕140"/>
              </a:rPr>
              <a:t> : public </a:t>
            </a:r>
            <a:r>
              <a:rPr lang="en-US" altLang="ko-KR" sz="1800" dirty="0" err="1">
                <a:latin typeface="+mn-ea"/>
                <a:cs typeface="-윤고딕140"/>
              </a:rPr>
              <a:t>PClass</a:t>
            </a:r>
            <a:r>
              <a:rPr lang="en-US" altLang="ko-KR" sz="1800" dirty="0">
                <a:latin typeface="+mn-ea"/>
                <a:cs typeface="-윤고딕140"/>
              </a:rPr>
              <a:t> 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public: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void </a:t>
            </a:r>
            <a:r>
              <a:rPr lang="en-US" altLang="ko-KR" sz="1800" dirty="0" err="1">
                <a:latin typeface="+mn-ea"/>
                <a:cs typeface="-윤고딕140"/>
              </a:rPr>
              <a:t>Pprint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void </a:t>
            </a:r>
            <a:r>
              <a:rPr lang="en-US" altLang="ko-KR" sz="1800" dirty="0" err="1">
                <a:latin typeface="+mn-ea"/>
                <a:cs typeface="-윤고딕140"/>
              </a:rPr>
              <a:t>ChClass</a:t>
            </a:r>
            <a:r>
              <a:rPr lang="en-US" altLang="ko-KR" sz="1800" dirty="0">
                <a:latin typeface="+mn-ea"/>
                <a:cs typeface="-윤고딕140"/>
              </a:rPr>
              <a:t>::</a:t>
            </a:r>
            <a:r>
              <a:rPr lang="en-US" altLang="ko-KR" sz="1800" dirty="0" err="1">
                <a:latin typeface="+mn-ea"/>
                <a:cs typeface="-윤고딕140"/>
              </a:rPr>
              <a:t>Pprint</a:t>
            </a:r>
            <a:r>
              <a:rPr lang="en-US" altLang="ko-KR" sz="1800" dirty="0">
                <a:latin typeface="+mn-ea"/>
                <a:cs typeface="-윤고딕140"/>
              </a:rPr>
              <a:t>()  // </a:t>
            </a:r>
            <a:r>
              <a:rPr lang="ko-KR" altLang="en-US" sz="1800" dirty="0">
                <a:latin typeface="+mn-ea"/>
                <a:cs typeface="-윤고딕140"/>
              </a:rPr>
              <a:t>자식 클래스 함수 재정의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{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cout</a:t>
            </a:r>
            <a:r>
              <a:rPr lang="en-US" altLang="ko-KR" sz="1800" dirty="0">
                <a:latin typeface="+mn-ea"/>
                <a:cs typeface="-윤고딕140"/>
              </a:rPr>
              <a:t> &lt;&lt; "</a:t>
            </a:r>
            <a:r>
              <a:rPr lang="ko-KR" altLang="en-US" sz="1800" dirty="0">
                <a:latin typeface="+mn-ea"/>
                <a:cs typeface="-윤고딕140"/>
              </a:rPr>
              <a:t>자식 클래스</a:t>
            </a:r>
            <a:r>
              <a:rPr lang="en-US" altLang="ko-KR" sz="1800" dirty="0">
                <a:latin typeface="+mn-ea"/>
                <a:cs typeface="-윤고딕140"/>
              </a:rPr>
              <a:t>" &lt;&lt; </a:t>
            </a:r>
            <a:r>
              <a:rPr lang="en-US" altLang="ko-KR" sz="1800" dirty="0" err="1">
                <a:latin typeface="+mn-ea"/>
                <a:cs typeface="-윤고딕140"/>
              </a:rPr>
              <a:t>endl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PClass</a:t>
            </a:r>
            <a:r>
              <a:rPr lang="en-US" altLang="ko-KR" sz="1800" dirty="0">
                <a:latin typeface="+mn-ea"/>
                <a:cs typeface="-윤고딕140"/>
              </a:rPr>
              <a:t>::</a:t>
            </a:r>
            <a:r>
              <a:rPr lang="en-US" altLang="ko-KR" sz="1800" dirty="0" err="1">
                <a:latin typeface="+mn-ea"/>
                <a:cs typeface="-윤고딕140"/>
              </a:rPr>
              <a:t>Pprint</a:t>
            </a:r>
            <a:r>
              <a:rPr lang="en-US" altLang="ko-KR" sz="1800" dirty="0">
                <a:latin typeface="+mn-ea"/>
                <a:cs typeface="-윤고딕140"/>
              </a:rPr>
              <a:t>();  // </a:t>
            </a:r>
            <a:r>
              <a:rPr lang="ko-KR" altLang="en-US" sz="1800" dirty="0">
                <a:latin typeface="+mn-ea"/>
                <a:cs typeface="-윤고딕140"/>
              </a:rPr>
              <a:t>부모 클래스 함수 직접 호출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522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16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멤버 함수 재정의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 err="1">
                <a:latin typeface="+mn-ea"/>
                <a:cs typeface="-윤고딕140"/>
              </a:rPr>
              <a:t>int</a:t>
            </a:r>
            <a:r>
              <a:rPr lang="en-US" altLang="ko-KR" sz="1800" dirty="0">
                <a:latin typeface="+mn-ea"/>
                <a:cs typeface="-윤고딕140"/>
              </a:rPr>
              <a:t> main() {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ChClass</a:t>
            </a:r>
            <a:r>
              <a:rPr lang="en-US" altLang="ko-KR" sz="1800" dirty="0">
                <a:latin typeface="+mn-ea"/>
                <a:cs typeface="-윤고딕140"/>
              </a:rPr>
              <a:t> </a:t>
            </a:r>
            <a:r>
              <a:rPr lang="en-US" altLang="ko-KR" sz="1800" dirty="0" err="1">
                <a:latin typeface="+mn-ea"/>
                <a:cs typeface="-윤고딕140"/>
              </a:rPr>
              <a:t>chd</a:t>
            </a:r>
            <a:r>
              <a:rPr lang="en-US" altLang="ko-KR" sz="1800" dirty="0">
                <a:latin typeface="+mn-ea"/>
                <a:cs typeface="-윤고딕140"/>
              </a:rPr>
              <a:t>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</a:t>
            </a:r>
            <a:r>
              <a:rPr lang="en-US" altLang="ko-KR" sz="1800" dirty="0" err="1">
                <a:latin typeface="+mn-ea"/>
                <a:cs typeface="-윤고딕140"/>
              </a:rPr>
              <a:t>chd.Pprint</a:t>
            </a:r>
            <a:r>
              <a:rPr lang="en-US" altLang="ko-KR" sz="1800" dirty="0">
                <a:latin typeface="+mn-ea"/>
                <a:cs typeface="-윤고딕140"/>
              </a:rPr>
              <a:t>();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	return 0;</a:t>
            </a:r>
          </a:p>
          <a:p>
            <a:pPr marL="109728" indent="0">
              <a:spcBef>
                <a:spcPct val="0"/>
              </a:spcBef>
              <a:buNone/>
            </a:pPr>
            <a:r>
              <a:rPr lang="en-US" altLang="ko-KR" sz="1800" dirty="0">
                <a:latin typeface="+mn-ea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2160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17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멤버 함수 재정의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멤버 함수 재정의 예</a:t>
            </a:r>
            <a:r>
              <a:rPr lang="en-US" altLang="ko-KR" sz="1800" dirty="0">
                <a:latin typeface="+mn-ea"/>
                <a:cs typeface="-윤고딕140"/>
              </a:rPr>
              <a:t>2</a:t>
            </a: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#include &lt;</a:t>
            </a:r>
            <a:r>
              <a:rPr lang="en-US" altLang="ko-KR" sz="1800" dirty="0" err="1">
                <a:latin typeface="+mn-ea"/>
              </a:rPr>
              <a:t>iostream</a:t>
            </a:r>
            <a:r>
              <a:rPr lang="en-US" altLang="ko-KR" sz="1800" dirty="0">
                <a:latin typeface="+mn-ea"/>
              </a:rPr>
              <a:t>&gt;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using namespace </a:t>
            </a:r>
            <a:r>
              <a:rPr lang="en-US" altLang="ko-KR" sz="1800" dirty="0" err="1">
                <a:latin typeface="+mn-ea"/>
              </a:rPr>
              <a:t>std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class Car {// </a:t>
            </a:r>
            <a:r>
              <a:rPr lang="ko-KR" altLang="en-US" sz="1800" dirty="0">
                <a:latin typeface="+mn-ea"/>
              </a:rPr>
              <a:t>기본 클래스인 </a:t>
            </a:r>
            <a:r>
              <a:rPr lang="en-US" altLang="ko-KR" sz="1800" dirty="0">
                <a:latin typeface="+mn-ea"/>
              </a:rPr>
              <a:t>Car </a:t>
            </a:r>
            <a:r>
              <a:rPr lang="ko-KR" altLang="en-US" sz="1800" dirty="0">
                <a:latin typeface="+mn-ea"/>
              </a:rPr>
              <a:t>클래스를 선언합니다</a:t>
            </a:r>
            <a:r>
              <a:rPr lang="en-US" altLang="ko-KR" sz="1800" dirty="0">
                <a:latin typeface="+mn-ea"/>
              </a:rPr>
              <a:t>. 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  public :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   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number;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   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fuel;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    Car(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cNum</a:t>
            </a:r>
            <a:r>
              <a:rPr lang="en-US" altLang="ko-KR" sz="1800" dirty="0">
                <a:latin typeface="+mn-ea"/>
              </a:rPr>
              <a:t> = 0, </a:t>
            </a:r>
            <a:r>
              <a:rPr lang="en-US" altLang="ko-KR" sz="1800" dirty="0" err="1">
                <a:latin typeface="+mn-ea"/>
              </a:rPr>
              <a:t>int</a:t>
            </a:r>
            <a:r>
              <a:rPr lang="en-US" altLang="ko-KR" sz="1800" dirty="0">
                <a:latin typeface="+mn-ea"/>
              </a:rPr>
              <a:t> </a:t>
            </a:r>
            <a:r>
              <a:rPr lang="en-US" altLang="ko-KR" sz="1800" dirty="0" err="1">
                <a:latin typeface="+mn-ea"/>
              </a:rPr>
              <a:t>cFuel</a:t>
            </a:r>
            <a:r>
              <a:rPr lang="en-US" altLang="ko-KR" sz="1800" dirty="0">
                <a:latin typeface="+mn-ea"/>
              </a:rPr>
              <a:t> = 0);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    void </a:t>
            </a:r>
            <a:r>
              <a:rPr lang="en-US" altLang="ko-KR" sz="1800" dirty="0" err="1">
                <a:latin typeface="+mn-ea"/>
              </a:rPr>
              <a:t>displayNumber</a:t>
            </a:r>
            <a:r>
              <a:rPr lang="en-US" altLang="ko-KR" sz="1800" dirty="0">
                <a:latin typeface="+mn-ea"/>
              </a:rPr>
              <a:t>( ) {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     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차량 번호 </a:t>
            </a:r>
            <a:r>
              <a:rPr lang="en-US" altLang="ko-KR" sz="1800" dirty="0">
                <a:latin typeface="+mn-ea"/>
              </a:rPr>
              <a:t>: " &lt;&lt; number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    }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    void </a:t>
            </a:r>
            <a:r>
              <a:rPr lang="en-US" altLang="ko-KR" sz="1800" dirty="0" err="1">
                <a:latin typeface="+mn-ea"/>
              </a:rPr>
              <a:t>displayFuel</a:t>
            </a:r>
            <a:r>
              <a:rPr lang="en-US" altLang="ko-KR" sz="1800" dirty="0">
                <a:latin typeface="+mn-ea"/>
              </a:rPr>
              <a:t>(void) {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    </a:t>
            </a:r>
            <a:r>
              <a:rPr lang="en-US" altLang="ko-KR" sz="1800" dirty="0" err="1">
                <a:latin typeface="+mn-ea"/>
              </a:rPr>
              <a:t>cout</a:t>
            </a:r>
            <a:r>
              <a:rPr lang="en-US" altLang="ko-KR" sz="1800" dirty="0">
                <a:latin typeface="+mn-ea"/>
              </a:rPr>
              <a:t> &lt;&lt; "</a:t>
            </a:r>
            <a:r>
              <a:rPr lang="ko-KR" altLang="en-US" sz="1800" dirty="0">
                <a:latin typeface="+mn-ea"/>
              </a:rPr>
              <a:t>남은 연료 </a:t>
            </a:r>
            <a:r>
              <a:rPr lang="en-US" altLang="ko-KR" sz="1800" dirty="0">
                <a:latin typeface="+mn-ea"/>
              </a:rPr>
              <a:t>: " &lt;&lt; fuel &lt;&lt; </a:t>
            </a:r>
            <a:r>
              <a:rPr lang="en-US" altLang="ko-KR" sz="1800" dirty="0" err="1">
                <a:latin typeface="+mn-ea"/>
              </a:rPr>
              <a:t>endl</a:t>
            </a:r>
            <a:r>
              <a:rPr lang="en-US" altLang="ko-KR" sz="1800" dirty="0">
                <a:latin typeface="+mn-ea"/>
              </a:rPr>
              <a:t>;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   }</a:t>
            </a:r>
          </a:p>
          <a:p>
            <a:pPr marL="109728" indent="0">
              <a:buNone/>
              <a:defRPr/>
            </a:pPr>
            <a:r>
              <a:rPr lang="en-US" altLang="ko-KR" sz="1800" dirty="0">
                <a:latin typeface="+mn-ea"/>
              </a:rPr>
              <a:t> };  </a:t>
            </a:r>
          </a:p>
        </p:txBody>
      </p:sp>
    </p:spTree>
    <p:extLst>
      <p:ext uri="{BB962C8B-B14F-4D97-AF65-F5344CB8AC3E}">
        <p14:creationId xmlns:p14="http://schemas.microsoft.com/office/powerpoint/2010/main" val="1678747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18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멤버 함수 재정의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Car::Car(</a:t>
            </a:r>
            <a:r>
              <a:rPr lang="en-US" altLang="ko-KR" sz="1800" dirty="0" err="1">
                <a:latin typeface="+mj-ea"/>
                <a:ea typeface="+mj-ea"/>
              </a:rPr>
              <a:t>int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en-US" altLang="ko-KR" sz="1800" dirty="0" err="1">
                <a:latin typeface="+mj-ea"/>
                <a:ea typeface="+mj-ea"/>
              </a:rPr>
              <a:t>cNum</a:t>
            </a:r>
            <a:r>
              <a:rPr lang="en-US" altLang="ko-KR" sz="1800" dirty="0">
                <a:latin typeface="+mj-ea"/>
                <a:ea typeface="+mj-ea"/>
              </a:rPr>
              <a:t>, </a:t>
            </a:r>
            <a:r>
              <a:rPr lang="en-US" altLang="ko-KR" sz="1800" dirty="0" err="1">
                <a:latin typeface="+mj-ea"/>
                <a:ea typeface="+mj-ea"/>
              </a:rPr>
              <a:t>int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en-US" altLang="ko-KR" sz="1800" dirty="0" err="1">
                <a:latin typeface="+mj-ea"/>
                <a:ea typeface="+mj-ea"/>
              </a:rPr>
              <a:t>cFuel</a:t>
            </a:r>
            <a:r>
              <a:rPr lang="en-US" altLang="ko-KR" sz="1800" dirty="0">
                <a:latin typeface="+mj-ea"/>
                <a:ea typeface="+mj-ea"/>
              </a:rPr>
              <a:t>) 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 number = </a:t>
            </a:r>
            <a:r>
              <a:rPr lang="en-US" altLang="ko-KR" sz="1800" dirty="0" err="1">
                <a:latin typeface="+mj-ea"/>
                <a:ea typeface="+mj-ea"/>
              </a:rPr>
              <a:t>cNum</a:t>
            </a:r>
            <a:r>
              <a:rPr lang="en-US" altLang="ko-KR" sz="1800" dirty="0">
                <a:latin typeface="+mj-ea"/>
                <a:ea typeface="+mj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 fuel = </a:t>
            </a:r>
            <a:r>
              <a:rPr lang="en-US" altLang="ko-KR" sz="1800" dirty="0" err="1">
                <a:latin typeface="+mj-ea"/>
                <a:ea typeface="+mj-ea"/>
              </a:rPr>
              <a:t>cFuel</a:t>
            </a:r>
            <a:r>
              <a:rPr lang="en-US" altLang="ko-KR" sz="1800" dirty="0">
                <a:latin typeface="+mj-ea"/>
                <a:ea typeface="+mj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 </a:t>
            </a:r>
            <a:r>
              <a:rPr lang="en-US" altLang="ko-KR" sz="1800" dirty="0" err="1">
                <a:latin typeface="+mj-ea"/>
                <a:ea typeface="+mj-ea"/>
              </a:rPr>
              <a:t>cout</a:t>
            </a:r>
            <a:r>
              <a:rPr lang="en-US" altLang="ko-KR" sz="1800" dirty="0">
                <a:latin typeface="+mj-ea"/>
                <a:ea typeface="+mj-ea"/>
              </a:rPr>
              <a:t> &lt;&lt; "</a:t>
            </a:r>
            <a:r>
              <a:rPr lang="ko-KR" altLang="en-US" sz="1800" dirty="0">
                <a:latin typeface="+mj-ea"/>
                <a:ea typeface="+mj-ea"/>
              </a:rPr>
              <a:t>차량 번호 </a:t>
            </a:r>
            <a:r>
              <a:rPr lang="en-US" altLang="ko-KR" sz="1800" dirty="0">
                <a:latin typeface="+mj-ea"/>
                <a:ea typeface="+mj-ea"/>
              </a:rPr>
              <a:t>: " &lt;&lt; number &lt;&lt; </a:t>
            </a:r>
            <a:r>
              <a:rPr lang="en-US" altLang="ko-KR" sz="1800" dirty="0" err="1">
                <a:latin typeface="+mj-ea"/>
                <a:ea typeface="+mj-ea"/>
              </a:rPr>
              <a:t>endl</a:t>
            </a:r>
            <a:r>
              <a:rPr lang="en-US" altLang="ko-KR" sz="1800" dirty="0">
                <a:latin typeface="+mj-ea"/>
                <a:ea typeface="+mj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 </a:t>
            </a:r>
            <a:r>
              <a:rPr lang="en-US" altLang="ko-KR" sz="1800" dirty="0" err="1">
                <a:latin typeface="+mj-ea"/>
                <a:ea typeface="+mj-ea"/>
              </a:rPr>
              <a:t>cout</a:t>
            </a:r>
            <a:r>
              <a:rPr lang="en-US" altLang="ko-KR" sz="1800" dirty="0">
                <a:latin typeface="+mj-ea"/>
                <a:ea typeface="+mj-ea"/>
              </a:rPr>
              <a:t> &lt;&lt; "</a:t>
            </a:r>
            <a:r>
              <a:rPr lang="ko-KR" altLang="en-US" sz="1800" dirty="0">
                <a:latin typeface="+mj-ea"/>
                <a:ea typeface="+mj-ea"/>
              </a:rPr>
              <a:t>남은 연료 </a:t>
            </a:r>
            <a:r>
              <a:rPr lang="en-US" altLang="ko-KR" sz="1800" dirty="0">
                <a:latin typeface="+mj-ea"/>
                <a:ea typeface="+mj-ea"/>
              </a:rPr>
              <a:t>: " &lt;&lt; fuel &lt;&lt; </a:t>
            </a:r>
            <a:r>
              <a:rPr lang="en-US" altLang="ko-KR" sz="1800" dirty="0" err="1">
                <a:latin typeface="+mj-ea"/>
                <a:ea typeface="+mj-ea"/>
              </a:rPr>
              <a:t>endl</a:t>
            </a:r>
            <a:r>
              <a:rPr lang="en-US" altLang="ko-KR" sz="1800" dirty="0">
                <a:latin typeface="+mj-ea"/>
                <a:ea typeface="+mj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 </a:t>
            </a:r>
            <a:r>
              <a:rPr lang="en-US" altLang="ko-KR" sz="1800" dirty="0" err="1">
                <a:latin typeface="+mj-ea"/>
                <a:ea typeface="+mj-ea"/>
              </a:rPr>
              <a:t>cout</a:t>
            </a:r>
            <a:r>
              <a:rPr lang="en-US" altLang="ko-KR" sz="1800" dirty="0">
                <a:latin typeface="+mj-ea"/>
                <a:ea typeface="+mj-ea"/>
              </a:rPr>
              <a:t> &lt;&lt; "</a:t>
            </a:r>
            <a:r>
              <a:rPr lang="ko-KR" altLang="en-US" sz="1800" dirty="0">
                <a:latin typeface="+mj-ea"/>
                <a:ea typeface="+mj-ea"/>
              </a:rPr>
              <a:t>인 차량을 생산하였습니다</a:t>
            </a:r>
            <a:r>
              <a:rPr lang="en-US" altLang="ko-KR" sz="1800" dirty="0">
                <a:latin typeface="+mj-ea"/>
                <a:ea typeface="+mj-ea"/>
              </a:rPr>
              <a:t>. " &lt;&lt; </a:t>
            </a:r>
            <a:r>
              <a:rPr lang="en-US" altLang="ko-KR" sz="1800" dirty="0" err="1">
                <a:latin typeface="+mj-ea"/>
                <a:ea typeface="+mj-ea"/>
              </a:rPr>
              <a:t>endl</a:t>
            </a:r>
            <a:r>
              <a:rPr lang="en-US" altLang="ko-KR" sz="1800" dirty="0">
                <a:latin typeface="+mj-ea"/>
                <a:ea typeface="+mj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}; 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j-ea"/>
              <a:ea typeface="+mj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class Motorcar : public Car 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private :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    </a:t>
            </a:r>
            <a:r>
              <a:rPr lang="en-US" altLang="ko-KR" sz="1800" dirty="0" err="1">
                <a:latin typeface="+mj-ea"/>
                <a:ea typeface="+mj-ea"/>
              </a:rPr>
              <a:t>int</a:t>
            </a:r>
            <a:r>
              <a:rPr lang="en-US" altLang="ko-KR" sz="1800" dirty="0">
                <a:latin typeface="+mj-ea"/>
                <a:ea typeface="+mj-ea"/>
              </a:rPr>
              <a:t> temp;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public :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    Motorcar(</a:t>
            </a:r>
            <a:r>
              <a:rPr lang="en-US" altLang="ko-KR" sz="1800" dirty="0" err="1">
                <a:latin typeface="+mj-ea"/>
                <a:ea typeface="+mj-ea"/>
              </a:rPr>
              <a:t>int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en-US" altLang="ko-KR" sz="1800" dirty="0" err="1">
                <a:latin typeface="+mj-ea"/>
                <a:ea typeface="+mj-ea"/>
              </a:rPr>
              <a:t>cTemp</a:t>
            </a:r>
            <a:r>
              <a:rPr lang="en-US" altLang="ko-KR" sz="1800" dirty="0">
                <a:latin typeface="+mj-ea"/>
                <a:ea typeface="+mj-ea"/>
              </a:rPr>
              <a:t> = 0, </a:t>
            </a:r>
            <a:r>
              <a:rPr lang="en-US" altLang="ko-KR" sz="1800" dirty="0" err="1">
                <a:latin typeface="+mj-ea"/>
                <a:ea typeface="+mj-ea"/>
              </a:rPr>
              <a:t>int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en-US" altLang="ko-KR" sz="1800" dirty="0" err="1">
                <a:latin typeface="+mj-ea"/>
                <a:ea typeface="+mj-ea"/>
              </a:rPr>
              <a:t>cNum</a:t>
            </a:r>
            <a:r>
              <a:rPr lang="en-US" altLang="ko-KR" sz="1800" dirty="0">
                <a:latin typeface="+mj-ea"/>
                <a:ea typeface="+mj-ea"/>
              </a:rPr>
              <a:t> = 0, </a:t>
            </a:r>
            <a:r>
              <a:rPr lang="en-US" altLang="ko-KR" sz="1800" dirty="0" err="1">
                <a:latin typeface="+mj-ea"/>
                <a:ea typeface="+mj-ea"/>
              </a:rPr>
              <a:t>int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en-US" altLang="ko-KR" sz="1800" dirty="0" err="1">
                <a:latin typeface="+mj-ea"/>
                <a:ea typeface="+mj-ea"/>
              </a:rPr>
              <a:t>cFuel</a:t>
            </a:r>
            <a:r>
              <a:rPr lang="en-US" altLang="ko-KR" sz="1800" dirty="0">
                <a:latin typeface="+mj-ea"/>
                <a:ea typeface="+mj-ea"/>
              </a:rPr>
              <a:t> = 0);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   void </a:t>
            </a:r>
            <a:r>
              <a:rPr lang="en-US" altLang="ko-KR" sz="1800" dirty="0" err="1">
                <a:latin typeface="+mj-ea"/>
                <a:ea typeface="+mj-ea"/>
              </a:rPr>
              <a:t>display_temp</a:t>
            </a:r>
            <a:r>
              <a:rPr lang="en-US" altLang="ko-KR" sz="1800" dirty="0">
                <a:latin typeface="+mj-ea"/>
                <a:ea typeface="+mj-ea"/>
              </a:rPr>
              <a:t>( ) 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     </a:t>
            </a:r>
            <a:r>
              <a:rPr lang="en-US" altLang="ko-KR" sz="1800" dirty="0" err="1">
                <a:latin typeface="+mj-ea"/>
                <a:ea typeface="+mj-ea"/>
              </a:rPr>
              <a:t>cout</a:t>
            </a:r>
            <a:r>
              <a:rPr lang="en-US" altLang="ko-KR" sz="1800" dirty="0">
                <a:latin typeface="+mj-ea"/>
                <a:ea typeface="+mj-ea"/>
              </a:rPr>
              <a:t> &lt;&lt; "</a:t>
            </a:r>
            <a:r>
              <a:rPr lang="ko-KR" altLang="en-US" sz="1800" dirty="0">
                <a:latin typeface="+mj-ea"/>
                <a:ea typeface="+mj-ea"/>
              </a:rPr>
              <a:t>설정 온도 </a:t>
            </a:r>
            <a:r>
              <a:rPr lang="en-US" altLang="ko-KR" sz="1800" dirty="0">
                <a:latin typeface="+mj-ea"/>
                <a:ea typeface="+mj-ea"/>
              </a:rPr>
              <a:t>: " &lt;&lt; temp &lt;&lt; </a:t>
            </a:r>
            <a:r>
              <a:rPr lang="en-US" altLang="ko-KR" sz="1800" dirty="0" err="1">
                <a:latin typeface="+mj-ea"/>
                <a:ea typeface="+mj-ea"/>
              </a:rPr>
              <a:t>endl</a:t>
            </a:r>
            <a:r>
              <a:rPr lang="en-US" altLang="ko-KR" sz="1800" dirty="0">
                <a:latin typeface="+mj-ea"/>
                <a:ea typeface="+mj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   void </a:t>
            </a:r>
            <a:r>
              <a:rPr lang="en-US" altLang="ko-KR" sz="1800" dirty="0" err="1">
                <a:latin typeface="+mj-ea"/>
                <a:ea typeface="+mj-ea"/>
              </a:rPr>
              <a:t>displayNumber</a:t>
            </a:r>
            <a:r>
              <a:rPr lang="en-US" altLang="ko-KR" sz="1800" dirty="0">
                <a:latin typeface="+mj-ea"/>
                <a:ea typeface="+mj-ea"/>
              </a:rPr>
              <a:t>( ) 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     </a:t>
            </a:r>
            <a:r>
              <a:rPr lang="en-US" altLang="ko-KR" sz="1800" dirty="0" err="1">
                <a:latin typeface="+mj-ea"/>
                <a:ea typeface="+mj-ea"/>
              </a:rPr>
              <a:t>cout</a:t>
            </a:r>
            <a:r>
              <a:rPr lang="en-US" altLang="ko-KR" sz="1800" dirty="0">
                <a:latin typeface="+mj-ea"/>
                <a:ea typeface="+mj-ea"/>
              </a:rPr>
              <a:t> &lt;&lt; "</a:t>
            </a:r>
            <a:r>
              <a:rPr lang="ko-KR" altLang="en-US" sz="1800" dirty="0">
                <a:latin typeface="+mj-ea"/>
                <a:ea typeface="+mj-ea"/>
              </a:rPr>
              <a:t>승용 차량 번호 </a:t>
            </a:r>
            <a:r>
              <a:rPr lang="en-US" altLang="ko-KR" sz="1800" dirty="0">
                <a:latin typeface="+mj-ea"/>
                <a:ea typeface="+mj-ea"/>
              </a:rPr>
              <a:t>: " &lt;&lt; number &lt;&lt; </a:t>
            </a:r>
            <a:r>
              <a:rPr lang="en-US" altLang="ko-KR" sz="1800" dirty="0" err="1">
                <a:latin typeface="+mj-ea"/>
                <a:ea typeface="+mj-ea"/>
              </a:rPr>
              <a:t>endl</a:t>
            </a:r>
            <a:r>
              <a:rPr lang="en-US" altLang="ko-KR" sz="1800" dirty="0">
                <a:latin typeface="+mj-ea"/>
                <a:ea typeface="+mj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   }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};  </a:t>
            </a:r>
          </a:p>
        </p:txBody>
      </p:sp>
    </p:spTree>
    <p:extLst>
      <p:ext uri="{BB962C8B-B14F-4D97-AF65-F5344CB8AC3E}">
        <p14:creationId xmlns:p14="http://schemas.microsoft.com/office/powerpoint/2010/main" val="16990827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19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멤버 함수 재정의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Motorcar::Motorcar(</a:t>
            </a:r>
            <a:r>
              <a:rPr lang="en-US" altLang="ko-KR" sz="1800" dirty="0" err="1">
                <a:latin typeface="+mj-ea"/>
                <a:ea typeface="+mj-ea"/>
              </a:rPr>
              <a:t>int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en-US" altLang="ko-KR" sz="1800" dirty="0" err="1">
                <a:latin typeface="+mj-ea"/>
                <a:ea typeface="+mj-ea"/>
              </a:rPr>
              <a:t>cTemp</a:t>
            </a:r>
            <a:r>
              <a:rPr lang="en-US" altLang="ko-KR" sz="1800" dirty="0">
                <a:latin typeface="+mj-ea"/>
                <a:ea typeface="+mj-ea"/>
              </a:rPr>
              <a:t>, </a:t>
            </a:r>
            <a:r>
              <a:rPr lang="en-US" altLang="ko-KR" sz="1800" dirty="0" err="1">
                <a:latin typeface="+mj-ea"/>
                <a:ea typeface="+mj-ea"/>
              </a:rPr>
              <a:t>int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en-US" altLang="ko-KR" sz="1800" dirty="0" err="1">
                <a:latin typeface="+mj-ea"/>
                <a:ea typeface="+mj-ea"/>
              </a:rPr>
              <a:t>cNum</a:t>
            </a:r>
            <a:r>
              <a:rPr lang="en-US" altLang="ko-KR" sz="1800" dirty="0">
                <a:latin typeface="+mj-ea"/>
                <a:ea typeface="+mj-ea"/>
              </a:rPr>
              <a:t>, </a:t>
            </a:r>
            <a:r>
              <a:rPr lang="en-US" altLang="ko-KR" sz="1800" dirty="0" err="1">
                <a:latin typeface="+mj-ea"/>
                <a:ea typeface="+mj-ea"/>
              </a:rPr>
              <a:t>int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en-US" altLang="ko-KR" sz="1800" dirty="0" err="1">
                <a:latin typeface="+mj-ea"/>
                <a:ea typeface="+mj-ea"/>
              </a:rPr>
              <a:t>cFuel</a:t>
            </a:r>
            <a:r>
              <a:rPr lang="en-US" altLang="ko-KR" sz="1800" dirty="0">
                <a:latin typeface="+mj-ea"/>
                <a:ea typeface="+mj-ea"/>
              </a:rPr>
              <a:t>):Car(</a:t>
            </a:r>
            <a:r>
              <a:rPr lang="en-US" altLang="ko-KR" sz="1800" dirty="0" err="1">
                <a:latin typeface="+mj-ea"/>
                <a:ea typeface="+mj-ea"/>
              </a:rPr>
              <a:t>cNum</a:t>
            </a:r>
            <a:r>
              <a:rPr lang="en-US" altLang="ko-KR" sz="1800" dirty="0">
                <a:latin typeface="+mj-ea"/>
                <a:ea typeface="+mj-ea"/>
              </a:rPr>
              <a:t>, </a:t>
            </a:r>
            <a:r>
              <a:rPr lang="en-US" altLang="ko-KR" sz="1800" dirty="0" err="1">
                <a:latin typeface="+mj-ea"/>
                <a:ea typeface="+mj-ea"/>
              </a:rPr>
              <a:t>cFuel</a:t>
            </a:r>
            <a:r>
              <a:rPr lang="en-US" altLang="ko-KR" sz="1800" dirty="0">
                <a:latin typeface="+mj-ea"/>
                <a:ea typeface="+mj-ea"/>
              </a:rPr>
              <a:t>) 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</a:t>
            </a:r>
            <a:r>
              <a:rPr lang="en-US" altLang="ko-KR" sz="1800" dirty="0" err="1">
                <a:latin typeface="+mj-ea"/>
                <a:ea typeface="+mj-ea"/>
              </a:rPr>
              <a:t>cout</a:t>
            </a:r>
            <a:r>
              <a:rPr lang="en-US" altLang="ko-KR" sz="1800" dirty="0">
                <a:latin typeface="+mj-ea"/>
                <a:ea typeface="+mj-ea"/>
              </a:rPr>
              <a:t> &lt;&lt; "</a:t>
            </a:r>
            <a:r>
              <a:rPr lang="ko-KR" altLang="en-US" sz="1800" dirty="0">
                <a:latin typeface="+mj-ea"/>
                <a:ea typeface="+mj-ea"/>
              </a:rPr>
              <a:t>이 차는 승용차입니다</a:t>
            </a:r>
            <a:r>
              <a:rPr lang="en-US" altLang="ko-KR" sz="1800" dirty="0">
                <a:latin typeface="+mj-ea"/>
                <a:ea typeface="+mj-ea"/>
              </a:rPr>
              <a:t>." &lt;&lt; </a:t>
            </a:r>
            <a:r>
              <a:rPr lang="en-US" altLang="ko-KR" sz="1800" dirty="0" err="1">
                <a:latin typeface="+mj-ea"/>
                <a:ea typeface="+mj-ea"/>
              </a:rPr>
              <a:t>endl</a:t>
            </a:r>
            <a:r>
              <a:rPr lang="en-US" altLang="ko-KR" sz="1800" dirty="0">
                <a:latin typeface="+mj-ea"/>
                <a:ea typeface="+mj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temp = </a:t>
            </a:r>
            <a:r>
              <a:rPr lang="en-US" altLang="ko-KR" sz="1800" dirty="0" err="1">
                <a:latin typeface="+mj-ea"/>
                <a:ea typeface="+mj-ea"/>
              </a:rPr>
              <a:t>cTemp</a:t>
            </a:r>
            <a:r>
              <a:rPr lang="en-US" altLang="ko-KR" sz="1800" dirty="0">
                <a:latin typeface="+mj-ea"/>
                <a:ea typeface="+mj-ea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};</a:t>
            </a:r>
          </a:p>
          <a:p>
            <a:pPr>
              <a:spcBef>
                <a:spcPct val="0"/>
              </a:spcBef>
              <a:buNone/>
            </a:pPr>
            <a:endParaRPr lang="en-US" altLang="ko-KR" sz="1800" dirty="0">
              <a:latin typeface="+mj-ea"/>
              <a:ea typeface="+mj-ea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dirty="0" err="1">
                <a:latin typeface="+mj-ea"/>
                <a:ea typeface="+mj-ea"/>
              </a:rPr>
              <a:t>int</a:t>
            </a:r>
            <a:r>
              <a:rPr lang="en-US" altLang="ko-KR" sz="1800" dirty="0">
                <a:latin typeface="+mj-ea"/>
                <a:ea typeface="+mj-ea"/>
              </a:rPr>
              <a:t>  main() 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Motorcar </a:t>
            </a:r>
            <a:r>
              <a:rPr lang="en-US" altLang="ko-KR" sz="1800" dirty="0" err="1">
                <a:latin typeface="+mj-ea"/>
                <a:ea typeface="+mj-ea"/>
              </a:rPr>
              <a:t>myMotorcar</a:t>
            </a:r>
            <a:r>
              <a:rPr lang="en-US" altLang="ko-KR" sz="1800" dirty="0">
                <a:latin typeface="+mj-ea"/>
                <a:ea typeface="+mj-ea"/>
              </a:rPr>
              <a:t>(25, 2345, 7);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</a:t>
            </a:r>
            <a:r>
              <a:rPr lang="en-US" altLang="ko-KR" sz="1800" dirty="0" err="1">
                <a:latin typeface="+mj-ea"/>
                <a:ea typeface="+mj-ea"/>
              </a:rPr>
              <a:t>myMotorcar.display_temp</a:t>
            </a:r>
            <a:r>
              <a:rPr lang="en-US" altLang="ko-KR" sz="1800" dirty="0">
                <a:latin typeface="+mj-ea"/>
                <a:ea typeface="+mj-ea"/>
              </a:rPr>
              <a:t>();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 </a:t>
            </a:r>
            <a:r>
              <a:rPr lang="en-US" altLang="ko-KR" sz="1800" dirty="0" err="1">
                <a:latin typeface="+mj-ea"/>
                <a:ea typeface="+mj-ea"/>
              </a:rPr>
              <a:t>myMotorcar.displayNumber</a:t>
            </a:r>
            <a:r>
              <a:rPr lang="en-US" altLang="ko-KR" sz="1800" dirty="0">
                <a:latin typeface="+mj-ea"/>
                <a:ea typeface="+mj-ea"/>
              </a:rPr>
              <a:t>();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  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800" dirty="0">
                <a:latin typeface="+mj-ea"/>
                <a:ea typeface="+mj-ea"/>
              </a:rPr>
              <a:t> } </a:t>
            </a:r>
          </a:p>
        </p:txBody>
      </p:sp>
    </p:spTree>
    <p:extLst>
      <p:ext uri="{BB962C8B-B14F-4D97-AF65-F5344CB8AC3E}">
        <p14:creationId xmlns:p14="http://schemas.microsoft.com/office/powerpoint/2010/main" val="1237649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20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/>
              <a:t>멤버 함수 재정의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ko-KR" altLang="en-US" sz="1800" dirty="0">
                <a:latin typeface="+mn-ea"/>
                <a:cs typeface="-윤고딕140"/>
              </a:rPr>
              <a:t>멤버 함수 재정의 </a:t>
            </a:r>
            <a:r>
              <a:rPr lang="en-US" altLang="ko-KR" sz="1800" dirty="0">
                <a:latin typeface="+mn-ea"/>
                <a:cs typeface="-윤고딕140"/>
              </a:rPr>
              <a:t>(function overriding)</a:t>
            </a:r>
          </a:p>
          <a:p>
            <a:pPr>
              <a:spcBef>
                <a:spcPct val="0"/>
              </a:spcBef>
            </a:pPr>
            <a:endParaRPr lang="en-US" altLang="ko-KR" sz="1800" dirty="0">
              <a:latin typeface="+mn-ea"/>
              <a:cs typeface="-윤고딕140"/>
            </a:endParaRPr>
          </a:p>
          <a:p>
            <a:pPr marL="109728" indent="0">
              <a:spcBef>
                <a:spcPct val="0"/>
              </a:spcBef>
              <a:buNone/>
            </a:pPr>
            <a:endParaRPr lang="en-US" altLang="ko-KR" sz="1800" dirty="0">
              <a:latin typeface="+mn-ea"/>
              <a:cs typeface="-윤고딕140"/>
            </a:endParaRP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r>
              <a:rPr lang="ko-KR" altLang="en-US" sz="1800" dirty="0">
                <a:latin typeface="+mn-ea"/>
                <a:cs typeface="-윤고딕140"/>
              </a:rPr>
              <a:t>함수의 </a:t>
            </a:r>
            <a:r>
              <a:rPr lang="ko-KR" altLang="en-US" sz="1800" dirty="0" err="1">
                <a:latin typeface="+mn-ea"/>
                <a:cs typeface="-윤고딕140"/>
              </a:rPr>
              <a:t>다형형</a:t>
            </a:r>
            <a:endParaRPr lang="en-US" altLang="ko-KR" sz="1800" dirty="0"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  <a:defRPr/>
            </a:pP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재정의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(overriding)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 함수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  <a:defRPr/>
            </a:pP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다중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(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중복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)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정의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(overloading)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 함수</a:t>
            </a: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>
              <a:spcBef>
                <a:spcPct val="0"/>
              </a:spcBef>
              <a:buNone/>
              <a:defRPr/>
            </a:pPr>
            <a:endParaRPr lang="en-US" altLang="ko-KR" sz="1800" dirty="0">
              <a:solidFill>
                <a:srgbClr val="FF0000"/>
              </a:solidFill>
              <a:latin typeface="+mn-ea"/>
              <a:cs typeface="-윤고딕140"/>
            </a:endParaRP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재정의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: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함수 이름이 같으며 인수의 </a:t>
            </a:r>
            <a:r>
              <a:rPr lang="ko-KR" altLang="en-US" sz="1800" dirty="0" err="1">
                <a:solidFill>
                  <a:srgbClr val="FF0000"/>
                </a:solidFill>
                <a:latin typeface="+mn-ea"/>
                <a:cs typeface="-윤고딕140"/>
              </a:rPr>
              <a:t>자료형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개수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반환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 </a:t>
            </a:r>
            <a:r>
              <a:rPr lang="ko-KR" altLang="en-US" sz="1800" dirty="0" err="1">
                <a:solidFill>
                  <a:srgbClr val="FF0000"/>
                </a:solidFill>
                <a:latin typeface="+mn-ea"/>
                <a:cs typeface="-윤고딕140"/>
              </a:rPr>
              <a:t>자료형도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 같다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.</a:t>
            </a:r>
          </a:p>
          <a:p>
            <a:pPr marL="0" indent="0">
              <a:spcBef>
                <a:spcPct val="0"/>
              </a:spcBef>
              <a:buNone/>
              <a:defRPr/>
            </a:pP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다중 정의 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: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함수 이름이 같지만 인수의 </a:t>
            </a:r>
            <a:r>
              <a:rPr lang="ko-KR" altLang="en-US" sz="1800" dirty="0" err="1">
                <a:solidFill>
                  <a:srgbClr val="FF0000"/>
                </a:solidFill>
                <a:latin typeface="+mn-ea"/>
                <a:cs typeface="-윤고딕140"/>
              </a:rPr>
              <a:t>자료형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,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개수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, </a:t>
            </a:r>
            <a:r>
              <a:rPr lang="ko-KR" altLang="en-US" sz="1800" dirty="0" err="1">
                <a:solidFill>
                  <a:srgbClr val="FF0000"/>
                </a:solidFill>
                <a:latin typeface="+mn-ea"/>
                <a:cs typeface="-윤고딕140"/>
              </a:rPr>
              <a:t>자료형이</a:t>
            </a:r>
            <a:r>
              <a:rPr lang="ko-KR" altLang="en-US" sz="1800" dirty="0">
                <a:solidFill>
                  <a:srgbClr val="FF0000"/>
                </a:solidFill>
                <a:latin typeface="+mn-ea"/>
                <a:cs typeface="-윤고딕140"/>
              </a:rPr>
              <a:t> 다르다</a:t>
            </a:r>
            <a:r>
              <a:rPr lang="en-US" altLang="ko-KR" sz="1800" dirty="0">
                <a:solidFill>
                  <a:srgbClr val="FF0000"/>
                </a:solidFill>
                <a:latin typeface="+mn-ea"/>
                <a:cs typeface="-윤고딕140"/>
              </a:rPr>
              <a:t>.</a:t>
            </a:r>
          </a:p>
          <a:p>
            <a:pPr marL="452628" indent="-342900">
              <a:spcBef>
                <a:spcPct val="0"/>
              </a:spcBef>
              <a:buFont typeface="+mj-lt"/>
              <a:buAutoNum type="arabicPeriod"/>
            </a:pPr>
            <a:endParaRPr lang="en-US" altLang="ko-KR" sz="1800" dirty="0">
              <a:latin typeface="+mn-ea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3852684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// </a:t>
            </a:r>
            <a:r>
              <a:rPr lang="ko-KR" altLang="en-US" sz="1600" dirty="0"/>
              <a:t>랜덤 퍼즐 제작 </a:t>
            </a:r>
            <a:r>
              <a:rPr lang="en-US" altLang="ko-KR" sz="1600" dirty="0"/>
              <a:t>(</a:t>
            </a:r>
            <a:r>
              <a:rPr lang="ko-KR" altLang="en-US" sz="1600" dirty="0"/>
              <a:t>한 줄짜리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stdlib.h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time.h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Windows.h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conio.h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#define NUM 10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881256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class </a:t>
            </a:r>
            <a:r>
              <a:rPr lang="en-US" altLang="ko-KR" sz="1600" dirty="0" err="1"/>
              <a:t>PSting</a:t>
            </a:r>
            <a:r>
              <a:rPr lang="en-US" altLang="ko-KR" sz="1600" dirty="0"/>
              <a:t> {</a:t>
            </a:r>
          </a:p>
          <a:p>
            <a:pPr marL="109728" indent="0" latinLnBrk="0">
              <a:buNone/>
            </a:pPr>
            <a:r>
              <a:rPr lang="en-US" altLang="ko-KR" sz="1600" dirty="0"/>
              <a:t>protected: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st</a:t>
            </a:r>
            <a:r>
              <a:rPr lang="en-US" altLang="ko-KR" sz="1600" dirty="0"/>
              <a:t>[NUM];</a:t>
            </a:r>
          </a:p>
          <a:p>
            <a:pPr marL="109728" indent="0" latinLnBrk="0">
              <a:buNone/>
            </a:pPr>
            <a:r>
              <a:rPr lang="en-US" altLang="ko-KR" sz="1600" dirty="0"/>
              <a:t>public: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Point_Num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};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PSting</a:t>
            </a:r>
            <a:r>
              <a:rPr lang="en-US" altLang="ko-KR" sz="1600" dirty="0"/>
              <a:t>::</a:t>
            </a:r>
            <a:r>
              <a:rPr lang="en-US" altLang="ko-KR" sz="1600" dirty="0" err="1"/>
              <a:t>Point_Num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for 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a = 0; a &lt; NUM; a++)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st</a:t>
            </a:r>
            <a:r>
              <a:rPr lang="en-US" altLang="ko-KR" sz="1600" dirty="0"/>
              <a:t>[a] = a;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5854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925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class </a:t>
            </a:r>
            <a:r>
              <a:rPr lang="en-US" altLang="ko-KR" sz="1600" dirty="0" err="1"/>
              <a:t>CSting</a:t>
            </a:r>
            <a:r>
              <a:rPr lang="en-US" altLang="ko-KR" sz="1600" dirty="0"/>
              <a:t> : public </a:t>
            </a:r>
            <a:r>
              <a:rPr lang="en-US" altLang="ko-KR" sz="1600" dirty="0" err="1"/>
              <a:t>PSting</a:t>
            </a:r>
            <a:r>
              <a:rPr lang="en-US" altLang="ko-KR" sz="1600" dirty="0"/>
              <a:t> {</a:t>
            </a:r>
          </a:p>
          <a:p>
            <a:pPr marL="109728" indent="0" latinLnBrk="0">
              <a:buNone/>
            </a:pPr>
            <a:r>
              <a:rPr lang="en-US" altLang="ko-KR" sz="1600" dirty="0"/>
              <a:t>private: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zx</a:t>
            </a:r>
            <a:r>
              <a:rPr lang="en-US" altLang="ko-KR" sz="1600" dirty="0"/>
              <a:t>;	</a:t>
            </a:r>
          </a:p>
          <a:p>
            <a:pPr marL="109728" indent="0" latinLnBrk="0">
              <a:buNone/>
            </a:pPr>
            <a:r>
              <a:rPr lang="en-US" altLang="ko-KR" sz="1600" dirty="0"/>
              <a:t>	char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public: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CS_Manage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>
                <a:solidFill>
                  <a:srgbClr val="FF0000"/>
                </a:solidFill>
              </a:rPr>
              <a:t>Point_Num</a:t>
            </a:r>
            <a:r>
              <a:rPr lang="en-US" altLang="ko-KR" sz="1600" dirty="0">
                <a:solidFill>
                  <a:srgbClr val="FF0000"/>
                </a:solidFill>
              </a:rPr>
              <a:t>();  // </a:t>
            </a:r>
            <a:r>
              <a:rPr lang="ko-KR" altLang="en-US" sz="1600" dirty="0">
                <a:solidFill>
                  <a:srgbClr val="FF0000"/>
                </a:solidFill>
              </a:rPr>
              <a:t>함수 재정의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Print_Num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Nm_Move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St_Left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void </a:t>
            </a:r>
            <a:r>
              <a:rPr lang="en-US" altLang="ko-KR" sz="1600" dirty="0" err="1"/>
              <a:t>St_Right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};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CSting</a:t>
            </a:r>
            <a:r>
              <a:rPr lang="en-US" altLang="ko-KR" sz="1600" dirty="0"/>
              <a:t>::</a:t>
            </a:r>
            <a:r>
              <a:rPr lang="en-US" altLang="ko-KR" sz="1600" dirty="0" err="1"/>
              <a:t>CS_Manage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srand</a:t>
            </a:r>
            <a:r>
              <a:rPr lang="en-US" altLang="ko-KR" sz="1600" dirty="0"/>
              <a:t>(time(NULL));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Point_Num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Nm_Move</a:t>
            </a:r>
            <a:r>
              <a:rPr lang="en-US" altLang="ko-KR" sz="1600" dirty="0"/>
              <a:t>();	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6379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CSting</a:t>
            </a:r>
            <a:r>
              <a:rPr lang="en-US" altLang="ko-KR" sz="1600" dirty="0"/>
              <a:t>::</a:t>
            </a:r>
            <a:r>
              <a:rPr lang="en-US" altLang="ko-KR" sz="1600" dirty="0" err="1"/>
              <a:t>Point_Num</a:t>
            </a:r>
            <a:r>
              <a:rPr lang="en-US" altLang="ko-KR" sz="1600" dirty="0"/>
              <a:t>() // </a:t>
            </a:r>
            <a:r>
              <a:rPr lang="ko-KR" altLang="en-US" sz="1600" dirty="0" err="1"/>
              <a:t>패섞기</a:t>
            </a:r>
            <a:endParaRPr lang="ko-KR" altLang="en-US" sz="1600" dirty="0"/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[NUM];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tp</a:t>
            </a:r>
            <a:r>
              <a:rPr lang="en-US" altLang="ko-KR" sz="1600" dirty="0"/>
              <a:t>[NUM];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a, b, c, 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nma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char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</a:p>
          <a:p>
            <a:pPr marL="109728" indent="0" latinLnBrk="0">
              <a:buNone/>
            </a:pPr>
            <a:r>
              <a:rPr lang="en-US" altLang="ko-KR" sz="1600" dirty="0"/>
              <a:t>	for 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n = 0; n &lt; NUM; n++) {  // </a:t>
            </a:r>
            <a:r>
              <a:rPr lang="ko-KR" altLang="en-US" sz="1600" dirty="0"/>
              <a:t>초기화</a:t>
            </a:r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 err="1"/>
              <a:t>st</a:t>
            </a:r>
            <a:r>
              <a:rPr lang="en-US" altLang="ko-KR" sz="1600" dirty="0"/>
              <a:t>[n] = n;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995326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70000" lnSpcReduction="20000"/>
          </a:bodyPr>
          <a:lstStyle/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a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for (c = 0; c &lt;NUM; </a:t>
            </a:r>
            <a:r>
              <a:rPr lang="en-US" altLang="ko-KR" sz="1600" dirty="0" err="1"/>
              <a:t>c++</a:t>
            </a:r>
            <a:r>
              <a:rPr lang="en-US" altLang="ko-KR" sz="1600" dirty="0"/>
              <a:t>) 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[c] = -1;//</a:t>
            </a:r>
            <a:r>
              <a:rPr lang="ko-KR" altLang="en-US" sz="1600" dirty="0"/>
              <a:t>반복을 위한 초기화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while (a &lt; NUM) {  // </a:t>
            </a:r>
            <a:r>
              <a:rPr lang="ko-KR" altLang="en-US" sz="1600" dirty="0"/>
              <a:t>인덱스 </a:t>
            </a:r>
            <a:r>
              <a:rPr lang="ko-KR" altLang="en-US" sz="1600" dirty="0" err="1"/>
              <a:t>패섞기</a:t>
            </a:r>
            <a:endParaRPr lang="ko-KR" altLang="en-US" sz="1600" dirty="0"/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 = 0;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nma</a:t>
            </a:r>
            <a:r>
              <a:rPr lang="en-US" altLang="ko-KR" sz="1600" dirty="0"/>
              <a:t> = rand() % NUM;</a:t>
            </a:r>
          </a:p>
          <a:p>
            <a:pPr marL="109728" indent="0" latinLnBrk="0">
              <a:buNone/>
            </a:pPr>
            <a:r>
              <a:rPr lang="en-US" altLang="ko-KR" sz="1600" dirty="0"/>
              <a:t>		for (b = 0; b &lt; NUM; b++) { // </a:t>
            </a:r>
            <a:r>
              <a:rPr lang="ko-KR" altLang="en-US" sz="1600" dirty="0" err="1"/>
              <a:t>중복수</a:t>
            </a:r>
            <a:r>
              <a:rPr lang="ko-KR" altLang="en-US" sz="1600" dirty="0"/>
              <a:t> 판별</a:t>
            </a:r>
          </a:p>
          <a:p>
            <a:pPr marL="109728" indent="0" latinLnBrk="0">
              <a:buNone/>
            </a:pPr>
            <a:r>
              <a:rPr lang="ko-KR" altLang="en-US" sz="1600" dirty="0"/>
              <a:t>			</a:t>
            </a:r>
            <a:r>
              <a:rPr lang="en-US" altLang="ko-KR" sz="1600" dirty="0"/>
              <a:t>if (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[b] == </a:t>
            </a:r>
            <a:r>
              <a:rPr lang="en-US" altLang="ko-KR" sz="1600" dirty="0" err="1"/>
              <a:t>nma</a:t>
            </a:r>
            <a:r>
              <a:rPr lang="en-US" altLang="ko-KR" sz="1600" dirty="0"/>
              <a:t>) ++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	}</a:t>
            </a:r>
          </a:p>
          <a:p>
            <a:pPr marL="109728" indent="0" latinLnBrk="0">
              <a:buNone/>
            </a:pPr>
            <a:r>
              <a:rPr lang="en-US" altLang="ko-KR" sz="1600" dirty="0"/>
              <a:t>		if (</a:t>
            </a:r>
            <a:r>
              <a:rPr lang="en-US" altLang="ko-KR" sz="1600" dirty="0" err="1"/>
              <a:t>tmp</a:t>
            </a:r>
            <a:r>
              <a:rPr lang="en-US" altLang="ko-KR" sz="1600" dirty="0"/>
              <a:t> == 0) { // </a:t>
            </a:r>
            <a:r>
              <a:rPr lang="ko-KR" altLang="en-US" sz="1600" dirty="0"/>
              <a:t>단일 수이면 입력</a:t>
            </a:r>
          </a:p>
          <a:p>
            <a:pPr marL="109728" indent="0" latinLnBrk="0">
              <a:buNone/>
            </a:pPr>
            <a:r>
              <a:rPr lang="ko-KR" altLang="en-US" sz="1600" dirty="0"/>
              <a:t>			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[a] = </a:t>
            </a:r>
            <a:r>
              <a:rPr lang="en-US" altLang="ko-KR" sz="1600" dirty="0" err="1"/>
              <a:t>nma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		++a;</a:t>
            </a:r>
          </a:p>
          <a:p>
            <a:pPr marL="109728" indent="0" latinLnBrk="0">
              <a:buNone/>
            </a:pPr>
            <a:r>
              <a:rPr lang="en-US" altLang="ko-KR" sz="1600" dirty="0"/>
              <a:t>		}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for (b = 0; b &lt; NUM; b++) { // </a:t>
            </a:r>
            <a:r>
              <a:rPr lang="ko-KR" altLang="en-US" sz="1600" dirty="0"/>
              <a:t>인덱스 변환</a:t>
            </a:r>
          </a:p>
          <a:p>
            <a:pPr marL="109728" indent="0" latinLnBrk="0">
              <a:buNone/>
            </a:pPr>
            <a:r>
              <a:rPr lang="ko-KR" altLang="en-US" sz="1600" dirty="0"/>
              <a:t>		</a:t>
            </a:r>
            <a:r>
              <a:rPr lang="en-US" altLang="ko-KR" sz="1600" dirty="0" err="1"/>
              <a:t>tp</a:t>
            </a:r>
            <a:r>
              <a:rPr lang="en-US" altLang="ko-KR" sz="1600" dirty="0"/>
              <a:t>[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[b]] = </a:t>
            </a:r>
            <a:r>
              <a:rPr lang="en-US" altLang="ko-KR" sz="1600" dirty="0" err="1"/>
              <a:t>st</a:t>
            </a:r>
            <a:r>
              <a:rPr lang="en-US" altLang="ko-KR" sz="1600" dirty="0"/>
              <a:t>[b];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for (b = 0; b &lt; NUM; b++)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st</a:t>
            </a:r>
            <a:r>
              <a:rPr lang="en-US" altLang="ko-KR" sz="1600" dirty="0"/>
              <a:t>[b] = </a:t>
            </a:r>
            <a:r>
              <a:rPr lang="en-US" altLang="ko-KR" sz="1600" dirty="0" err="1"/>
              <a:t>tp</a:t>
            </a:r>
            <a:r>
              <a:rPr lang="en-US" altLang="ko-KR" sz="1600" dirty="0"/>
              <a:t>[b];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Print_Num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39081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lnSpcReduction="10000"/>
          </a:bodyPr>
          <a:lstStyle/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CSting</a:t>
            </a:r>
            <a:r>
              <a:rPr lang="en-US" altLang="ko-KR" sz="1600" dirty="0"/>
              <a:t>::</a:t>
            </a:r>
            <a:r>
              <a:rPr lang="en-US" altLang="ko-KR" sz="1600" dirty="0" err="1"/>
              <a:t>Nm_Move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// 0</a:t>
            </a:r>
            <a:r>
              <a:rPr lang="ko-KR" altLang="en-US" sz="1600" dirty="0"/>
              <a:t>에서 </a:t>
            </a:r>
            <a:r>
              <a:rPr lang="en-US" altLang="ko-KR" sz="1600" dirty="0"/>
              <a:t>9</a:t>
            </a:r>
            <a:r>
              <a:rPr lang="ko-KR" altLang="en-US" sz="1600" dirty="0"/>
              <a:t>까지 순차적으로 값에 따라 좌우키 입력</a:t>
            </a:r>
          </a:p>
          <a:p>
            <a:pPr marL="109728" indent="0" latinLnBrk="0">
              <a:buNone/>
            </a:pPr>
            <a:r>
              <a:rPr lang="en-US" altLang="ko-KR" sz="1600" dirty="0"/>
              <a:t>	// 0 ~ 9 </a:t>
            </a:r>
            <a:r>
              <a:rPr lang="ko-KR" altLang="en-US" sz="1600" dirty="0"/>
              <a:t>순으로 배치 완성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CSting</a:t>
            </a:r>
            <a:r>
              <a:rPr lang="en-US" altLang="ko-KR" sz="1600" dirty="0"/>
              <a:t>::</a:t>
            </a:r>
            <a:r>
              <a:rPr lang="en-US" altLang="ko-KR" sz="1600" dirty="0" err="1"/>
              <a:t>St_Left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// </a:t>
            </a:r>
            <a:r>
              <a:rPr lang="ko-KR" altLang="en-US" sz="1600" dirty="0" err="1"/>
              <a:t>좌키에</a:t>
            </a:r>
            <a:r>
              <a:rPr lang="ko-KR" altLang="en-US" sz="1600" dirty="0"/>
              <a:t> 의한 숫자를 우측으로 이동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CSting</a:t>
            </a:r>
            <a:r>
              <a:rPr lang="en-US" altLang="ko-KR" sz="1600" dirty="0"/>
              <a:t> ::</a:t>
            </a:r>
            <a:r>
              <a:rPr lang="en-US" altLang="ko-KR" sz="1600" dirty="0" err="1"/>
              <a:t>St_Right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// </a:t>
            </a:r>
            <a:r>
              <a:rPr lang="ko-KR" altLang="en-US" sz="1600" dirty="0" err="1"/>
              <a:t>우키에</a:t>
            </a:r>
            <a:r>
              <a:rPr lang="ko-KR" altLang="en-US" sz="1600" dirty="0"/>
              <a:t> 의한 숫자를 좌측으로 이동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2293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92500" lnSpcReduction="20000"/>
          </a:bodyPr>
          <a:lstStyle/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CSting</a:t>
            </a:r>
            <a:r>
              <a:rPr lang="en-US" altLang="ko-KR" sz="1600" dirty="0"/>
              <a:t>::</a:t>
            </a:r>
            <a:r>
              <a:rPr lang="en-US" altLang="ko-KR" sz="1600" dirty="0" err="1"/>
              <a:t>Print_Num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for (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= 0;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 &lt; NUM;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++)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st</a:t>
            </a:r>
            <a:r>
              <a:rPr lang="en-US" altLang="ko-KR" sz="1600" dirty="0"/>
              <a:t>[</a:t>
            </a:r>
            <a:r>
              <a:rPr lang="en-US" altLang="ko-KR" sz="1600" dirty="0" err="1"/>
              <a:t>i</a:t>
            </a:r>
            <a:r>
              <a:rPr lang="en-US" altLang="ko-KR" sz="1600" dirty="0"/>
              <a:t>] &lt;&lt; " ";</a:t>
            </a:r>
          </a:p>
          <a:p>
            <a:pPr marL="109728" indent="0" latinLnBrk="0">
              <a:buNone/>
            </a:pPr>
            <a:r>
              <a:rPr lang="en-US" altLang="ko-KR" sz="1600" dirty="0"/>
              <a:t>	}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CSting</a:t>
            </a:r>
            <a:r>
              <a:rPr lang="en-US" altLang="ko-KR" sz="1600" dirty="0"/>
              <a:t> </a:t>
            </a:r>
            <a:r>
              <a:rPr lang="en-US" altLang="ko-KR" sz="1600" dirty="0" err="1"/>
              <a:t>cn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cn.CS_Manage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return 0;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06791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latinLnBrk="0"/>
            <a:r>
              <a:rPr lang="ko-KR" altLang="en-US" sz="1600" dirty="0"/>
              <a:t>랜덤 퍼즐 제작 </a:t>
            </a:r>
            <a:r>
              <a:rPr lang="en-US" altLang="ko-KR" sz="1600" dirty="0"/>
              <a:t>(</a:t>
            </a:r>
            <a:r>
              <a:rPr lang="ko-KR" altLang="en-US" sz="1600" dirty="0"/>
              <a:t>한 줄짜리</a:t>
            </a:r>
            <a:r>
              <a:rPr lang="en-US" altLang="ko-KR" sz="1600" dirty="0"/>
              <a:t>)</a:t>
            </a:r>
            <a:r>
              <a:rPr lang="ko-KR" altLang="en-US" sz="1600" dirty="0"/>
              <a:t> 계속 </a:t>
            </a:r>
            <a:endParaRPr lang="en-US" altLang="ko-KR" sz="1600" dirty="0"/>
          </a:p>
          <a:p>
            <a:pPr lvl="1" latinLnBrk="0"/>
            <a:r>
              <a:rPr lang="ko-KR" altLang="en-US" sz="1600" dirty="0"/>
              <a:t>좌우키 이동 추가 완성</a:t>
            </a:r>
            <a:endParaRPr lang="en-US" altLang="ko-KR" sz="16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ko-KR" altLang="en-US" sz="2800" dirty="0"/>
              <a:t>연습 프로그램</a:t>
            </a:r>
            <a:br>
              <a:rPr lang="en-US" altLang="ko-KR" sz="2800" dirty="0"/>
            </a:b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930362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843</TotalTime>
  <Words>1697</Words>
  <Application>Microsoft Office PowerPoint</Application>
  <PresentationFormat>화면 슬라이드 쇼(4:3)</PresentationFormat>
  <Paragraphs>388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굴림</vt:lpstr>
      <vt:lpstr>-윤고딕140</vt:lpstr>
      <vt:lpstr>Lucida Sans Unicode</vt:lpstr>
      <vt:lpstr>Tahoma</vt:lpstr>
      <vt:lpstr>Verdana</vt:lpstr>
      <vt:lpstr>Wingdings 2</vt:lpstr>
      <vt:lpstr>Wingdings 3</vt:lpstr>
      <vt:lpstr>광장</vt:lpstr>
      <vt:lpstr>상속2</vt:lpstr>
      <vt:lpstr>내용</vt:lpstr>
      <vt:lpstr>생성자와 소멸자</vt:lpstr>
      <vt:lpstr>생성자와 소멸자</vt:lpstr>
      <vt:lpstr>생성자와 소멸자</vt:lpstr>
      <vt:lpstr>생성자와 소멸자</vt:lpstr>
      <vt:lpstr>생성자와 소멸자</vt:lpstr>
      <vt:lpstr>생성자와 소멸자</vt:lpstr>
      <vt:lpstr>생성자와 소멸자</vt:lpstr>
      <vt:lpstr>생성자와 소멸자</vt:lpstr>
      <vt:lpstr>생성자와 소멸자</vt:lpstr>
      <vt:lpstr>생성자와 소멸자</vt:lpstr>
      <vt:lpstr>멤버 함수 재정의</vt:lpstr>
      <vt:lpstr>멤버 함수 재정의</vt:lpstr>
      <vt:lpstr>멤버 함수 재정의</vt:lpstr>
      <vt:lpstr>멤버 함수 재정의</vt:lpstr>
      <vt:lpstr>멤버 함수 재정의</vt:lpstr>
      <vt:lpstr>멤버 함수 재정의</vt:lpstr>
      <vt:lpstr>멤버 함수 재정의</vt:lpstr>
      <vt:lpstr>멤버 함수 재정의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실습 프로그램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프로그램 문제</dc:title>
  <dc:creator>Lub</dc:creator>
  <cp:lastModifiedBy>수찬 이</cp:lastModifiedBy>
  <cp:revision>96</cp:revision>
  <dcterms:created xsi:type="dcterms:W3CDTF">2015-04-10T01:14:42Z</dcterms:created>
  <dcterms:modified xsi:type="dcterms:W3CDTF">2024-12-03T06:22:37Z</dcterms:modified>
</cp:coreProperties>
</file>