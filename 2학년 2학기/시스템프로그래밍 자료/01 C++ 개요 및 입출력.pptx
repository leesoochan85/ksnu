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354" r:id="rId4"/>
    <p:sldId id="355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257" r:id="rId26"/>
    <p:sldId id="377" r:id="rId27"/>
    <p:sldId id="379" r:id="rId28"/>
    <p:sldId id="378" r:id="rId29"/>
    <p:sldId id="326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02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2024-09-07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개요</a:t>
            </a:r>
            <a:r>
              <a:rPr lang="en-US" altLang="ko-KR" sz="3200" dirty="0" smtClean="0"/>
              <a:t>, </a:t>
            </a:r>
            <a:r>
              <a:rPr lang="ko-KR" altLang="en-US" sz="3200" dirty="0" smtClean="0"/>
              <a:t>입출력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 smtClean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en-US" altLang="ko-KR" sz="2000" dirty="0" smtClean="0"/>
              <a:t>C++</a:t>
            </a:r>
            <a:r>
              <a:rPr kumimoji="0" lang="ko-KR" altLang="en-US" sz="2000" dirty="0" smtClean="0"/>
              <a:t> 개요</a:t>
            </a:r>
            <a:endParaRPr kumimoji="0" lang="en-US" altLang="ko-KR" sz="2000" dirty="0" smtClean="0"/>
          </a:p>
          <a:p>
            <a:pPr eaLnBrk="1" hangingPunct="1"/>
            <a:endParaRPr kumimoji="0"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en-US" altLang="ko-KR" sz="2000" dirty="0" smtClean="0"/>
              <a:t>C++ </a:t>
            </a:r>
            <a:r>
              <a:rPr lang="ko-KR" altLang="en-US" sz="2000" dirty="0" smtClean="0"/>
              <a:t>프로그램 구조</a:t>
            </a:r>
            <a:endParaRPr lang="en-US" altLang="ko-KR" sz="2000" dirty="0" smtClean="0"/>
          </a:p>
          <a:p>
            <a:pPr eaLnBrk="1" hangingPunct="1"/>
            <a:endParaRPr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ko-KR" altLang="en-US" sz="2000" dirty="0"/>
              <a:t>입</a:t>
            </a:r>
            <a:r>
              <a:rPr kumimoji="0" lang="ko-KR" altLang="en-US" sz="2000" dirty="0" smtClean="0"/>
              <a:t>출력</a:t>
            </a:r>
            <a:r>
              <a:rPr kumimoji="0" lang="en-US" altLang="ko-KR" sz="2000" dirty="0" smtClean="0"/>
              <a:t> </a:t>
            </a:r>
          </a:p>
          <a:p>
            <a:pPr eaLnBrk="1" hangingPunct="1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2800" dirty="0" smtClean="0"/>
              <a:t>C++ </a:t>
            </a:r>
            <a:r>
              <a:rPr lang="ko-KR" altLang="en-US" sz="2800" dirty="0" smtClean="0"/>
              <a:t>개요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C++ </a:t>
            </a:r>
            <a:r>
              <a:rPr lang="ko-KR" altLang="en-US" sz="1800" b="1" dirty="0"/>
              <a:t>언어의 개발</a:t>
            </a:r>
            <a:endParaRPr lang="en-US" altLang="ko-KR" sz="1800" b="1" dirty="0" smtClean="0"/>
          </a:p>
          <a:p>
            <a:pPr lvl="1"/>
            <a:r>
              <a:rPr lang="en-US" altLang="ko-KR" sz="1800" b="1" dirty="0" smtClean="0"/>
              <a:t>C++</a:t>
            </a:r>
            <a:r>
              <a:rPr lang="ko-KR" altLang="en-US" sz="1800" b="1" dirty="0" smtClean="0"/>
              <a:t>는 </a:t>
            </a:r>
            <a:r>
              <a:rPr lang="en-US" altLang="ko-KR" sz="1800" b="1" dirty="0" smtClean="0"/>
              <a:t>1980</a:t>
            </a:r>
            <a:r>
              <a:rPr lang="ko-KR" altLang="en-US" sz="1800" b="1" dirty="0" smtClean="0"/>
              <a:t>년대 초에 </a:t>
            </a:r>
            <a:r>
              <a:rPr lang="en-US" altLang="ko-KR" sz="1800" b="1" dirty="0" smtClean="0"/>
              <a:t>AT&amp;T </a:t>
            </a:r>
            <a:r>
              <a:rPr lang="ko-KR" altLang="en-US" sz="1800" b="1" dirty="0" err="1" smtClean="0"/>
              <a:t>벨연구소의</a:t>
            </a:r>
            <a:r>
              <a:rPr lang="ko-KR" altLang="en-US" sz="1800" b="1" dirty="0" smtClean="0"/>
              <a:t> </a:t>
            </a:r>
            <a:r>
              <a:rPr lang="en-US" altLang="ko-KR" sz="1800" b="1" dirty="0" smtClean="0"/>
              <a:t>Bjarne </a:t>
            </a:r>
            <a:r>
              <a:rPr lang="en-US" altLang="ko-KR" sz="1800" b="1" dirty="0" err="1" smtClean="0"/>
              <a:t>Stroustrup</a:t>
            </a:r>
            <a:r>
              <a:rPr lang="ko-KR" altLang="en-US" sz="1800" b="1" dirty="0" smtClean="0"/>
              <a:t>에 의하여 개발</a:t>
            </a:r>
          </a:p>
          <a:p>
            <a:pPr lvl="1"/>
            <a:r>
              <a:rPr lang="en-US" altLang="ko-KR" sz="1800" b="1" dirty="0" smtClean="0"/>
              <a:t>C++</a:t>
            </a:r>
            <a:r>
              <a:rPr lang="ko-KR" altLang="en-US" sz="1800" b="1" dirty="0" smtClean="0"/>
              <a:t>는 </a:t>
            </a:r>
            <a:r>
              <a:rPr lang="en-US" altLang="ko-KR" sz="1800" b="1" dirty="0" smtClean="0"/>
              <a:t>C</a:t>
            </a:r>
            <a:r>
              <a:rPr lang="ko-KR" altLang="en-US" sz="1800" b="1" dirty="0" smtClean="0"/>
              <a:t>언어를 유지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확장한 것</a:t>
            </a:r>
            <a:r>
              <a:rPr lang="en-US" altLang="ko-KR" sz="1800" b="1" dirty="0" smtClean="0"/>
              <a:t> </a:t>
            </a:r>
          </a:p>
          <a:p>
            <a:pPr lvl="1"/>
            <a:r>
              <a:rPr lang="en-US" altLang="ko-KR" sz="1800" b="1" dirty="0" smtClean="0"/>
              <a:t>C with Classes -&gt; C++ </a:t>
            </a:r>
          </a:p>
          <a:p>
            <a:pPr lvl="1"/>
            <a:r>
              <a:rPr lang="en-US" altLang="ko-KR" sz="1800" b="1" dirty="0" smtClean="0"/>
              <a:t>C++</a:t>
            </a:r>
            <a:r>
              <a:rPr lang="ko-KR" altLang="en-US" sz="1800" b="1" dirty="0" smtClean="0"/>
              <a:t>는 </a:t>
            </a:r>
            <a:r>
              <a:rPr lang="en-US" altLang="ko-KR" sz="1800" b="1" dirty="0" smtClean="0"/>
              <a:t>C</a:t>
            </a:r>
            <a:r>
              <a:rPr lang="ko-KR" altLang="en-US" sz="1800" b="1" dirty="0" smtClean="0"/>
              <a:t>언어에 클래스 개념을 추가하고 이어서 가상 함수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연산자 중복 정의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다중 상속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템플릿</a:t>
            </a:r>
            <a:r>
              <a:rPr lang="en-US" altLang="ko-KR" sz="1800" b="1" dirty="0" smtClean="0"/>
              <a:t>, </a:t>
            </a:r>
            <a:r>
              <a:rPr lang="ko-KR" altLang="en-US" sz="1800" b="1" dirty="0" err="1" smtClean="0"/>
              <a:t>다형형</a:t>
            </a:r>
            <a:r>
              <a:rPr lang="ko-KR" altLang="en-US" sz="1800" b="1" dirty="0" smtClean="0"/>
              <a:t> </a:t>
            </a:r>
            <a:r>
              <a:rPr lang="ko-KR" altLang="en-US" sz="1800" b="1" dirty="0" smtClean="0"/>
              <a:t>등의 기능이 차례로 추가</a:t>
            </a: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0" y="2652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  <p:pic>
        <p:nvPicPr>
          <p:cNvPr id="4101" name="_x70851448" descr="EMB00000b0cb3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789363"/>
            <a:ext cx="37338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4077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/>
              <a:t>개요</a:t>
            </a:r>
            <a:endParaRPr lang="ko-KR" altLang="en-US" sz="2800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C++</a:t>
            </a:r>
            <a:r>
              <a:rPr lang="ko-KR" altLang="en-US" sz="1800" b="1" dirty="0"/>
              <a:t>의 설계 철학</a:t>
            </a:r>
            <a:endParaRPr lang="en-US" altLang="ko-KR" sz="1800" b="1" dirty="0" smtClean="0"/>
          </a:p>
          <a:p>
            <a:pPr lvl="1"/>
            <a:r>
              <a:rPr lang="ko-KR" altLang="en-US" sz="1800" b="1" dirty="0" smtClean="0"/>
              <a:t>엄격한</a:t>
            </a:r>
            <a:r>
              <a:rPr lang="en-US" altLang="ko-KR" sz="1800" b="1" dirty="0" smtClean="0"/>
              <a:t> </a:t>
            </a:r>
            <a:r>
              <a:rPr lang="ko-KR" altLang="en-US" sz="1800" b="1" dirty="0" smtClean="0"/>
              <a:t>타입 검사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범용 언어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효율적</a:t>
            </a:r>
            <a:r>
              <a:rPr lang="en-US" altLang="ko-KR" sz="1800" b="1" dirty="0" smtClean="0"/>
              <a:t>, </a:t>
            </a:r>
            <a:r>
              <a:rPr lang="ko-KR" altLang="en-US" sz="1800" b="1" dirty="0" err="1" smtClean="0"/>
              <a:t>이식성</a:t>
            </a:r>
            <a:endParaRPr lang="ko-KR" altLang="en-US" sz="1800" b="1" dirty="0" smtClean="0"/>
          </a:p>
          <a:p>
            <a:pPr lvl="1"/>
            <a:r>
              <a:rPr lang="ko-KR" altLang="en-US" sz="1800" b="1" dirty="0" smtClean="0"/>
              <a:t>여러 가지의 프로그래밍 스타일을 지원 </a:t>
            </a:r>
            <a:r>
              <a:rPr lang="en-US" altLang="ko-KR" sz="1800" b="1" dirty="0" smtClean="0"/>
              <a:t>(</a:t>
            </a:r>
            <a:r>
              <a:rPr lang="ko-KR" altLang="en-US" sz="1800" b="1" dirty="0" smtClean="0"/>
              <a:t>절차 지향 프로그래밍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데이터 추상화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객체 지향 프로그래밍</a:t>
            </a:r>
            <a:r>
              <a:rPr lang="en-US" altLang="ko-KR" sz="1800" b="1" dirty="0" smtClean="0"/>
              <a:t>, </a:t>
            </a:r>
            <a:r>
              <a:rPr lang="ko-KR" altLang="en-US" sz="1800" b="1" dirty="0" smtClean="0"/>
              <a:t>일반화 프로그래밍</a:t>
            </a:r>
            <a:r>
              <a:rPr lang="en-US" altLang="ko-KR" sz="1800" b="1" dirty="0" smtClean="0"/>
              <a:t>) </a:t>
            </a:r>
          </a:p>
          <a:p>
            <a:pPr lvl="1"/>
            <a:r>
              <a:rPr lang="ko-KR" altLang="en-US" sz="1800" b="1" dirty="0" smtClean="0"/>
              <a:t>프로그래머가 자유롭게 선택할 수 있도록 설계</a:t>
            </a:r>
          </a:p>
          <a:p>
            <a:pPr lvl="1"/>
            <a:r>
              <a:rPr lang="ko-KR" altLang="en-US" sz="1800" b="1" dirty="0" smtClean="0"/>
              <a:t>최대한 </a:t>
            </a:r>
            <a:r>
              <a:rPr lang="en-US" altLang="ko-KR" sz="1800" b="1" dirty="0" smtClean="0"/>
              <a:t>C</a:t>
            </a:r>
            <a:r>
              <a:rPr lang="ko-KR" altLang="en-US" sz="1800" b="1" dirty="0" smtClean="0"/>
              <a:t>와 호환</a:t>
            </a:r>
          </a:p>
          <a:p>
            <a:pPr lvl="1"/>
            <a:r>
              <a:rPr lang="ko-KR" altLang="en-US" sz="1800" b="1" dirty="0" smtClean="0"/>
              <a:t>플랫폼에 의존적이거나 일반적이지 않은 특징은 제거</a:t>
            </a:r>
          </a:p>
        </p:txBody>
      </p:sp>
    </p:spTree>
    <p:extLst>
      <p:ext uri="{BB962C8B-B14F-4D97-AF65-F5344CB8AC3E}">
        <p14:creationId xmlns:p14="http://schemas.microsoft.com/office/powerpoint/2010/main" val="32861847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/>
              <a:t>개요</a:t>
            </a:r>
            <a:endParaRPr lang="ko-KR" altLang="en-US" sz="2800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smtClean="0"/>
              <a:t>구조적 </a:t>
            </a:r>
            <a:r>
              <a:rPr lang="ko-KR" altLang="en-US" sz="1800" b="1" dirty="0"/>
              <a:t>프로그래밍</a:t>
            </a:r>
            <a:endParaRPr lang="en-US" altLang="ko-KR" sz="1800" b="1" dirty="0" smtClean="0"/>
          </a:p>
          <a:p>
            <a:pPr lvl="1"/>
            <a:r>
              <a:rPr lang="ko-KR" altLang="en-US" sz="1800" b="1" dirty="0" smtClean="0"/>
              <a:t>절차적 프로그램 방식의 무조건적인 점프를 없앴음</a:t>
            </a:r>
          </a:p>
          <a:p>
            <a:pPr lvl="1"/>
            <a:r>
              <a:rPr lang="ko-KR" altLang="en-US" sz="1800" b="1" dirty="0" smtClean="0"/>
              <a:t>그러나 여전히 데이터와 알고리즘은 분리되어 있음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068960"/>
            <a:ext cx="6522216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251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</a:t>
            </a:r>
            <a:r>
              <a:rPr lang="en-US" altLang="ko-KR" sz="2800" dirty="0" smtClean="0"/>
              <a:t>++ </a:t>
            </a:r>
            <a:r>
              <a:rPr lang="ko-KR" altLang="en-US" sz="2800" dirty="0" smtClean="0"/>
              <a:t>개요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smtClean="0"/>
              <a:t>객체 </a:t>
            </a:r>
            <a:r>
              <a:rPr lang="ko-KR" altLang="en-US" sz="1800" b="1" dirty="0"/>
              <a:t>지향 프로그래밍</a:t>
            </a:r>
            <a:endParaRPr lang="en-US" altLang="ko-KR" sz="1800" b="1" dirty="0" smtClean="0"/>
          </a:p>
          <a:p>
            <a:pPr lvl="1"/>
            <a:r>
              <a:rPr lang="ko-KR" altLang="en-US" sz="1800" b="1" dirty="0" smtClean="0"/>
              <a:t>객체 지향 프로그래밍에서는 데이터와 알고리즘이 묶여 있음</a:t>
            </a:r>
            <a:r>
              <a:rPr lang="en-US" altLang="ko-KR" sz="1800" b="1" dirty="0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2348880"/>
            <a:ext cx="44958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268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/>
              <a:t>개요</a:t>
            </a:r>
            <a:endParaRPr lang="ko-KR" altLang="en-US" sz="2800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sz="2000" b="1" smtClean="0"/>
              <a:t>예제</a:t>
            </a:r>
            <a:r>
              <a:rPr lang="en-US" altLang="ko-KR" sz="2000" b="1" smtClean="0"/>
              <a:t>: </a:t>
            </a:r>
            <a:r>
              <a:rPr lang="ko-KR" altLang="en-US" sz="2000" b="1" smtClean="0"/>
              <a:t>직원의 월급을 계산하는 프로그램</a:t>
            </a:r>
          </a:p>
          <a:p>
            <a:pPr eaLnBrk="1" hangingPunct="1"/>
            <a:r>
              <a:rPr lang="ko-KR" altLang="en-US" sz="2000" b="1" smtClean="0"/>
              <a:t>직원에 대한 데이터와 알고리즘이 묶여있음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060575"/>
            <a:ext cx="5553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9746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/>
              <a:t>개요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객체 지향의 개념</a:t>
            </a:r>
            <a:endParaRPr lang="en-US" altLang="ko-KR" sz="1800" b="1" dirty="0" smtClean="0"/>
          </a:p>
          <a:p>
            <a:pPr lvl="1"/>
            <a:r>
              <a:rPr lang="ko-KR" altLang="en-US" sz="1800" b="1" dirty="0" smtClean="0"/>
              <a:t>캡슐화</a:t>
            </a:r>
            <a:r>
              <a:rPr lang="en-US" altLang="ko-KR" sz="1800" b="1" dirty="0" smtClean="0"/>
              <a:t>: </a:t>
            </a:r>
            <a:r>
              <a:rPr lang="ko-KR" altLang="en-US" sz="1800" b="1" dirty="0" smtClean="0"/>
              <a:t>데이터와 알고리즘을 하나의 단위</a:t>
            </a:r>
            <a:r>
              <a:rPr lang="en-US" altLang="ko-KR" sz="1800" b="1" dirty="0" smtClean="0"/>
              <a:t>(</a:t>
            </a:r>
            <a:r>
              <a:rPr lang="ko-KR" altLang="en-US" sz="1800" b="1" dirty="0" smtClean="0"/>
              <a:t>클래스</a:t>
            </a:r>
            <a:r>
              <a:rPr lang="en-US" altLang="ko-KR" sz="1800" b="1" dirty="0" smtClean="0"/>
              <a:t>)</a:t>
            </a:r>
            <a:r>
              <a:rPr lang="ko-KR" altLang="en-US" sz="1800" b="1" dirty="0" smtClean="0"/>
              <a:t>로 묶는 것이다</a:t>
            </a:r>
            <a:r>
              <a:rPr lang="en-US" altLang="ko-KR" sz="1800" b="1" dirty="0" smtClean="0"/>
              <a:t>.</a:t>
            </a:r>
          </a:p>
          <a:p>
            <a:pPr lvl="1"/>
            <a:r>
              <a:rPr lang="ko-KR" altLang="en-US" sz="1800" b="1" dirty="0" err="1" smtClean="0"/>
              <a:t>정보은닉</a:t>
            </a:r>
            <a:r>
              <a:rPr lang="en-US" altLang="ko-KR" sz="1800" b="1" dirty="0" smtClean="0"/>
              <a:t>: </a:t>
            </a:r>
            <a:r>
              <a:rPr lang="ko-KR" altLang="en-US" sz="1800" b="1" dirty="0" smtClean="0"/>
              <a:t>데이터에 대한 불필요한 접근을 차단하여서 데이터를 보호</a:t>
            </a:r>
          </a:p>
          <a:p>
            <a:pPr lvl="1"/>
            <a:r>
              <a:rPr lang="ko-KR" altLang="en-US" sz="1800" b="1" dirty="0" smtClean="0"/>
              <a:t>상속</a:t>
            </a:r>
            <a:r>
              <a:rPr lang="en-US" altLang="ko-KR" sz="1800" b="1" dirty="0" smtClean="0"/>
              <a:t>: </a:t>
            </a:r>
            <a:r>
              <a:rPr lang="ko-KR" altLang="en-US" sz="1800" b="1" dirty="0" smtClean="0"/>
              <a:t>비슷한 클래스가 이미 존재하고 있다면 그 클래스를 가져다가 사용하는 것</a:t>
            </a:r>
          </a:p>
          <a:p>
            <a:pPr lvl="1"/>
            <a:r>
              <a:rPr lang="ko-KR" altLang="en-US" sz="1800" b="1" dirty="0" err="1" smtClean="0"/>
              <a:t>다형성</a:t>
            </a:r>
            <a:r>
              <a:rPr lang="en-US" altLang="ko-KR" sz="1800" b="1" dirty="0" smtClean="0"/>
              <a:t>: </a:t>
            </a:r>
            <a:r>
              <a:rPr lang="ko-KR" altLang="en-US" sz="1800" b="1" dirty="0" smtClean="0"/>
              <a:t>같은 이름의 함수나 연산자를 중복 정의하여서 상황에 따라서 가장 적절한 함수나 연산자를 프로그램이 자동적으로 선택</a:t>
            </a:r>
          </a:p>
        </p:txBody>
      </p:sp>
      <p:sp>
        <p:nvSpPr>
          <p:cNvPr id="10244" name="AutoShape 5"/>
          <p:cNvSpPr>
            <a:spLocks noChangeArrowheads="1"/>
          </p:cNvSpPr>
          <p:nvPr/>
        </p:nvSpPr>
        <p:spPr bwMode="auto">
          <a:xfrm>
            <a:off x="4860032" y="3790798"/>
            <a:ext cx="3430587" cy="2316163"/>
          </a:xfrm>
          <a:prstGeom prst="irregularSeal2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/>
              <a:t>앞으로 하나씩 </a:t>
            </a:r>
          </a:p>
          <a:p>
            <a:pPr algn="ctr"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/>
              <a:t>학습할 것임</a:t>
            </a:r>
            <a:r>
              <a:rPr lang="en-US" altLang="ko-KR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55581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출력 프로그램의 뼈대</a:t>
            </a: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1331640" y="2065527"/>
            <a:ext cx="5429250" cy="400545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#include 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iostream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&gt;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using namespace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std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main()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{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반갑습니다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!!!”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“C++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객체지향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!!!” &lt;&lt;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return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0;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75482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헤더 파일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C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컴파일러가 설치된 폴더 안의 </a:t>
            </a: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include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라는 폴더에 있음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헤더 파일에 포함된 내용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</a:t>
            </a:r>
            <a:r>
              <a:rPr lang="en-US" altLang="ko-KR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클래스에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대한 정의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</a:t>
            </a:r>
            <a:r>
              <a:rPr lang="en-US" altLang="ko-KR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함수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정의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</a:t>
            </a:r>
            <a:r>
              <a:rPr lang="en-US" altLang="ko-KR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800" b="1" dirty="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각종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시스템 변수와 상수에 대한 정의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</p:txBody>
      </p:sp>
    </p:spTree>
    <p:extLst>
      <p:ext uri="{BB962C8B-B14F-4D97-AF65-F5344CB8AC3E}">
        <p14:creationId xmlns:p14="http://schemas.microsoft.com/office/powerpoint/2010/main" val="1792903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#include &lt;</a:t>
            </a:r>
            <a:r>
              <a:rPr lang="en-US" altLang="ko-KR" sz="1800" b="1" dirty="0" err="1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iostream</a:t>
            </a:r>
            <a:r>
              <a:rPr lang="en-US" altLang="ko-KR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&gt;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의 의미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 err="1">
                <a:latin typeface="-윤고딕130"/>
                <a:ea typeface="-윤고딕130"/>
                <a:cs typeface="-윤고딕130"/>
              </a:rPr>
              <a:t>iostream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에 화면 입출력에 필요한 정보가 담김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#include 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지시어로 해당 파일을 불러옴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-"/>
            </a:pPr>
            <a:r>
              <a:rPr lang="en-US" altLang="ko-KR" sz="1800" b="1" dirty="0" err="1">
                <a:latin typeface="-윤고딕130"/>
                <a:ea typeface="-윤고딕130"/>
                <a:cs typeface="-윤고딕130"/>
              </a:rPr>
              <a:t>iostream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안에 </a:t>
            </a:r>
            <a:r>
              <a:rPr lang="en-US" altLang="ko-KR" sz="1800" b="1" dirty="0" err="1">
                <a:latin typeface="-윤고딕130"/>
                <a:ea typeface="-윤고딕130"/>
                <a:cs typeface="-윤고딕130"/>
              </a:rPr>
              <a:t>cout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이라는 객체가 정의됨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-"/>
            </a:pP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 C</a:t>
            </a:r>
            <a:r>
              <a:rPr lang="en-US" altLang="ko-KR" sz="1800" b="1" dirty="0" smtClean="0">
                <a:latin typeface="-윤고딕130"/>
                <a:ea typeface="-윤고딕130"/>
                <a:cs typeface="-윤고딕130"/>
              </a:rPr>
              <a:t>++ </a:t>
            </a: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추가 </a:t>
            </a:r>
            <a:r>
              <a:rPr lang="ko-KR" altLang="en-US" sz="1800" b="1" dirty="0" err="1">
                <a:latin typeface="-윤고딕130"/>
                <a:ea typeface="-윤고딕130"/>
                <a:cs typeface="-윤고딕130"/>
              </a:rPr>
              <a:t>헤더파일에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 </a:t>
            </a: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.h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를 붙이지 않기로 함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-"/>
            </a:pPr>
            <a:endParaRPr lang="ko-KR" altLang="en-US" sz="1800" b="1" dirty="0">
              <a:latin typeface="-윤고딕130"/>
              <a:ea typeface="-윤고딕130"/>
              <a:cs typeface="-윤고딕13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755576" y="3429000"/>
            <a:ext cx="6143625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#include 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iostream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&gt;</a:t>
            </a:r>
            <a:endParaRPr kumimoji="0" lang="en-US" altLang="ko-KR" sz="1600" b="1" dirty="0">
              <a:latin typeface="-윤명조120" pitchFamily="18" charset="-127"/>
              <a:ea typeface="-윤명조12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6490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이름의 범위를 지정하기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거의 관습적으로 포함시키는 문장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이 문장이 없으면 다음처럼 써야 함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이 문장이 있으면 </a:t>
            </a:r>
            <a:r>
              <a:rPr lang="en-US" altLang="ko-KR" sz="1800" b="1" dirty="0" err="1">
                <a:latin typeface="-윤고딕130"/>
                <a:ea typeface="-윤고딕130"/>
                <a:cs typeface="-윤고딕130"/>
              </a:rPr>
              <a:t>std</a:t>
            </a: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::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을 생략할 수 있음</a:t>
            </a: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755576" y="2564904"/>
            <a:ext cx="6143625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using namespace std;</a:t>
            </a:r>
            <a:endParaRPr kumimoji="0" lang="en-US" altLang="ko-KR" sz="1600" b="1" dirty="0">
              <a:latin typeface="-윤명조120" pitchFamily="18" charset="-127"/>
              <a:ea typeface="-윤명조120" pitchFamily="18" charset="-127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3799102"/>
            <a:ext cx="6143625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std::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안녕하세요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?”&lt;&lt;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std::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반갑습니다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.”&lt;&lt;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9969" y="5490165"/>
            <a:ext cx="6143625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&lt;&lt;“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안녕하세요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?”&lt;&lt;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  <a:endParaRPr kumimoji="0" lang="en-US" altLang="ko-KR" sz="1600" b="1" dirty="0">
              <a:latin typeface="-윤명조120" pitchFamily="18" charset="-127"/>
              <a:ea typeface="-윤명조12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75516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이름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공간에 대한 정리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#namespace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 smtClean="0">
                <a:solidFill>
                  <a:srgbClr val="558ED5"/>
                </a:solidFill>
                <a:latin typeface="-윤고딕130"/>
                <a:ea typeface="-윤고딕130"/>
                <a:cs typeface="-윤고딕130"/>
              </a:rPr>
              <a:t>C</a:t>
            </a:r>
            <a:r>
              <a:rPr lang="en-US" altLang="ko-KR" sz="1800" b="1" dirty="0">
                <a:solidFill>
                  <a:srgbClr val="558ED5"/>
                </a:solidFill>
                <a:latin typeface="-윤고딕130"/>
                <a:ea typeface="-윤고딕130"/>
                <a:cs typeface="-윤고딕130"/>
              </a:rPr>
              <a:t>++</a:t>
            </a:r>
            <a:r>
              <a:rPr lang="ko-KR" altLang="en-US" sz="1800" b="1" dirty="0">
                <a:solidFill>
                  <a:srgbClr val="558ED5"/>
                </a:solidFill>
                <a:latin typeface="-윤고딕130"/>
                <a:ea typeface="-윤고딕130"/>
                <a:cs typeface="-윤고딕130"/>
              </a:rPr>
              <a:t>에서 새롭게 제공</a:t>
            </a:r>
          </a:p>
        </p:txBody>
      </p:sp>
      <p:grpSp>
        <p:nvGrpSpPr>
          <p:cNvPr id="4" name="그룹 8"/>
          <p:cNvGrpSpPr>
            <a:grpSpLocks/>
          </p:cNvGrpSpPr>
          <p:nvPr/>
        </p:nvGrpSpPr>
        <p:grpSpPr bwMode="auto">
          <a:xfrm>
            <a:off x="1403648" y="3284984"/>
            <a:ext cx="6143625" cy="1357313"/>
            <a:chOff x="1500166" y="3429000"/>
            <a:chExt cx="6143668" cy="1357322"/>
          </a:xfrm>
        </p:grpSpPr>
        <p:sp>
          <p:nvSpPr>
            <p:cNvPr id="5" name="부제목 8"/>
            <p:cNvSpPr txBox="1">
              <a:spLocks/>
            </p:cNvSpPr>
            <p:nvPr/>
          </p:nvSpPr>
          <p:spPr>
            <a:xfrm>
              <a:off x="1500166" y="3429000"/>
              <a:ext cx="1428760" cy="1357322"/>
            </a:xfrm>
            <a:prstGeom prst="rect">
              <a:avLst/>
            </a:prstGeom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>
              <a:normAutofit/>
            </a:bodyPr>
            <a:lstStyle/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김씨네</a:t>
              </a:r>
              <a:r>
                <a:rPr kumimoji="0" lang="en-US" altLang="ko-KR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:</a:t>
              </a: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첫째</a:t>
              </a:r>
              <a:endParaRPr kumimoji="0" lang="en-US" altLang="ko-KR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김씨네</a:t>
              </a:r>
              <a:r>
                <a:rPr kumimoji="0" lang="en-US" altLang="ko-KR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:</a:t>
              </a: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둘째</a:t>
              </a:r>
              <a:endParaRPr kumimoji="0" lang="en-US" altLang="ko-KR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김씨네</a:t>
              </a:r>
              <a:r>
                <a:rPr kumimoji="0" lang="en-US" altLang="ko-KR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:</a:t>
              </a: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셋째</a:t>
              </a:r>
            </a:p>
          </p:txBody>
        </p:sp>
        <p:sp>
          <p:nvSpPr>
            <p:cNvPr id="6" name="부제목 8"/>
            <p:cNvSpPr txBox="1">
              <a:spLocks/>
            </p:cNvSpPr>
            <p:nvPr/>
          </p:nvSpPr>
          <p:spPr>
            <a:xfrm>
              <a:off x="6929454" y="3429000"/>
              <a:ext cx="714380" cy="1357322"/>
            </a:xfrm>
            <a:prstGeom prst="rect">
              <a:avLst/>
            </a:prstGeom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>
              <a:normAutofit/>
            </a:bodyPr>
            <a:lstStyle/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첫째</a:t>
              </a:r>
              <a:endParaRPr kumimoji="0" lang="en-US" altLang="ko-KR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둘째</a:t>
              </a:r>
              <a:endParaRPr kumimoji="0" lang="en-US" altLang="ko-KR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endParaRPr>
            </a:p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셋째</a:t>
              </a:r>
            </a:p>
          </p:txBody>
        </p:sp>
        <p:sp>
          <p:nvSpPr>
            <p:cNvPr id="7" name="부제목 8"/>
            <p:cNvSpPr txBox="1">
              <a:spLocks/>
            </p:cNvSpPr>
            <p:nvPr/>
          </p:nvSpPr>
          <p:spPr>
            <a:xfrm>
              <a:off x="3500430" y="3786190"/>
              <a:ext cx="2857520" cy="50006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>
              <a:normAutofit lnSpcReduction="10000"/>
            </a:bodyPr>
            <a:lstStyle/>
            <a:p>
              <a:pPr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using namespace </a:t>
              </a:r>
              <a:r>
                <a:rPr kumimoji="0" lang="ko-KR" altLang="en-US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김씨네</a:t>
              </a:r>
              <a:r>
                <a:rPr kumimoji="0" lang="en-US" altLang="ko-KR" spc="-100" dirty="0">
                  <a:solidFill>
                    <a:srgbClr val="FF0000"/>
                  </a:solidFill>
                  <a:latin typeface="-윤명조130" pitchFamily="18" charset="-127"/>
                  <a:ea typeface="-윤명조130" pitchFamily="18" charset="-127"/>
                </a:rPr>
                <a:t>;</a:t>
              </a:r>
              <a:endParaRPr kumimoji="0" lang="ko-KR" altLang="en-US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endParaRPr>
            </a:p>
          </p:txBody>
        </p:sp>
        <p:sp>
          <p:nvSpPr>
            <p:cNvPr id="8" name="오른쪽 화살표 7"/>
            <p:cNvSpPr/>
            <p:nvPr/>
          </p:nvSpPr>
          <p:spPr>
            <a:xfrm>
              <a:off x="3071802" y="3929066"/>
              <a:ext cx="357191" cy="285752"/>
            </a:xfrm>
            <a:prstGeom prst="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  <p:sp>
          <p:nvSpPr>
            <p:cNvPr id="9" name="오른쪽 화살표 8"/>
            <p:cNvSpPr/>
            <p:nvPr/>
          </p:nvSpPr>
          <p:spPr>
            <a:xfrm>
              <a:off x="6500826" y="3929066"/>
              <a:ext cx="357191" cy="285752"/>
            </a:xfrm>
            <a:prstGeom prst="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07558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출력할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때 쓰는 </a:t>
            </a:r>
            <a:r>
              <a:rPr lang="en-US" altLang="ko-KR" sz="1800" b="1" dirty="0" err="1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객체</a:t>
            </a:r>
            <a:endParaRPr lang="ko-KR" altLang="en-US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 err="1">
                <a:latin typeface="-윤고딕130"/>
                <a:ea typeface="-윤고딕130"/>
                <a:cs typeface="-윤고딕130"/>
              </a:rPr>
              <a:t>cout</a:t>
            </a: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 : 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정보 출력을 담당하는 객체</a:t>
            </a: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, 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명령으로 이해해도 무방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</p:txBody>
      </p:sp>
      <p:sp>
        <p:nvSpPr>
          <p:cNvPr id="10" name="부제목 8"/>
          <p:cNvSpPr txBox="1">
            <a:spLocks/>
          </p:cNvSpPr>
          <p:nvPr/>
        </p:nvSpPr>
        <p:spPr>
          <a:xfrm>
            <a:off x="827584" y="2708920"/>
            <a:ext cx="6286500" cy="13573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{</a:t>
            </a:r>
          </a:p>
          <a:p>
            <a:pPr eaLnBrk="1" hangingPunct="1">
              <a:defRPr/>
            </a:pP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cout &lt;&lt;“</a:t>
            </a:r>
            <a:r>
              <a:rPr kumimoji="0" lang="ko-KR" altLang="en-US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안녕하세요</a:t>
            </a: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?”&lt;&lt; endl;</a:t>
            </a:r>
          </a:p>
          <a:p>
            <a:pPr eaLnBrk="1" hangingPunct="1">
              <a:defRPr/>
            </a:pP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cout &lt;&lt;“</a:t>
            </a:r>
            <a:r>
              <a:rPr kumimoji="0" lang="ko-KR" altLang="en-US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반갑습니다</a:t>
            </a: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.”&lt;&lt; endl;</a:t>
            </a:r>
          </a:p>
          <a:p>
            <a:pPr eaLnBrk="1" hangingPunct="1">
              <a:defRPr/>
            </a:pP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     …</a:t>
            </a:r>
          </a:p>
          <a:p>
            <a:pPr eaLnBrk="1" hangingPunct="1">
              <a:defRPr/>
            </a:pPr>
            <a:r>
              <a:rPr kumimoji="0" lang="en-US" altLang="ko-KR" sz="1600" smtClean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}</a:t>
            </a:r>
          </a:p>
          <a:p>
            <a:pPr eaLnBrk="1" hangingPunct="1">
              <a:lnSpc>
                <a:spcPct val="150000"/>
              </a:lnSpc>
              <a:defRPr/>
            </a:pPr>
            <a:endParaRPr kumimoji="0" lang="en-US" altLang="ko-KR" sz="1600" smtClean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11" name="부제목 8"/>
          <p:cNvSpPr txBox="1">
            <a:spLocks/>
          </p:cNvSpPr>
          <p:nvPr/>
        </p:nvSpPr>
        <p:spPr>
          <a:xfrm>
            <a:off x="827584" y="4240040"/>
            <a:ext cx="6286500" cy="1643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1.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화면에 정보를 출력할 때는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객체를 사용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2.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출력하려는 내용은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&lt;&lt;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다음에 적습니다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3.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출력하려는 내용이 문장이면 큰따옴표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(“ ”)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를 사용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4.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줄 바꿈을 하려면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&lt;&lt;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다음에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endl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을 적습니다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28725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C++ </a:t>
            </a:r>
            <a:r>
              <a:rPr lang="ko-KR" altLang="en-US" sz="2800" dirty="0" smtClean="0"/>
              <a:t>프로그램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줄 바꿈 할 때 사용하는 </a:t>
            </a:r>
            <a:r>
              <a:rPr lang="en-US" altLang="ko-KR" sz="1800" b="1" dirty="0" err="1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endl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두 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경우 </a:t>
            </a: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실행 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결과는 같음</a:t>
            </a:r>
            <a:endParaRPr lang="ko-KR" altLang="en-US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1643063" y="2000250"/>
            <a:ext cx="5786437" cy="5000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pc="-100" dirty="0" err="1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cout</a:t>
            </a:r>
            <a:r>
              <a:rPr kumimoji="0" lang="en-US" altLang="ko-KR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 &lt;&lt;“</a:t>
            </a:r>
            <a:r>
              <a:rPr kumimoji="0" lang="ko-KR" altLang="en-US" spc="-100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대한민국</a:t>
            </a:r>
            <a:r>
              <a:rPr kumimoji="0" lang="ko-KR" altLang="en-US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＼</a:t>
            </a:r>
            <a:r>
              <a:rPr kumimoji="0" lang="en-US" altLang="ko-KR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n</a:t>
            </a:r>
            <a:r>
              <a:rPr kumimoji="0" lang="ko-KR" altLang="en-US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최강한국 ＼</a:t>
            </a:r>
            <a:r>
              <a:rPr kumimoji="0" lang="en-US" altLang="ko-KR" dirty="0">
                <a:solidFill>
                  <a:srgbClr val="FF0000"/>
                </a:solidFill>
                <a:latin typeface="-윤명조130" pitchFamily="18" charset="-127"/>
                <a:ea typeface="-윤명조130" pitchFamily="18" charset="-127"/>
              </a:rPr>
              <a:t>n”</a:t>
            </a:r>
            <a:endParaRPr kumimoji="0" lang="ko-KR" altLang="en-US" dirty="0">
              <a:solidFill>
                <a:srgbClr val="FF0000"/>
              </a:solidFill>
              <a:latin typeface="-윤명조130" pitchFamily="18" charset="-127"/>
              <a:ea typeface="-윤명조130" pitchFamily="18" charset="-127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1643063" y="2643188"/>
            <a:ext cx="5786437" cy="5000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40000"/>
              </a:lnSpc>
              <a:defRPr/>
            </a:pPr>
            <a:r>
              <a:rPr kumimoji="0" lang="en-US" altLang="ko-KR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cout &lt;&lt;“</a:t>
            </a:r>
            <a:r>
              <a:rPr kumimoji="0" lang="ko-KR" altLang="en-US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대한민국</a:t>
            </a:r>
            <a:r>
              <a:rPr kumimoji="0" lang="en-US" altLang="ko-KR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”&lt;&lt; endl &lt;&lt;“</a:t>
            </a:r>
            <a:r>
              <a:rPr kumimoji="0" lang="ko-KR" altLang="en-US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최강한국</a:t>
            </a:r>
            <a:r>
              <a:rPr kumimoji="0" lang="en-US" altLang="ko-KR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”&lt;&lt;</a:t>
            </a:r>
            <a:r>
              <a:rPr kumimoji="0" lang="ko-KR" altLang="en-US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 </a:t>
            </a:r>
            <a:r>
              <a:rPr kumimoji="0" lang="en-US" altLang="ko-KR">
                <a:solidFill>
                  <a:srgbClr val="FF0000"/>
                </a:solidFill>
                <a:latin typeface="-윤명조130"/>
                <a:ea typeface="-윤명조130"/>
                <a:cs typeface="-윤명조130"/>
              </a:rPr>
              <a:t>endl;</a:t>
            </a:r>
            <a:endParaRPr kumimoji="0" lang="ko-KR" altLang="en-US">
              <a:solidFill>
                <a:srgbClr val="FF0000"/>
              </a:solidFill>
              <a:latin typeface="-윤명조130"/>
              <a:ea typeface="-윤명조130"/>
              <a:cs typeface="-윤명조13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1616211" y="4075208"/>
            <a:ext cx="3214687" cy="10001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-윤고딕120" pitchFamily="18" charset="-127"/>
                <a:ea typeface="-윤고딕120" pitchFamily="18" charset="-127"/>
              </a:rPr>
              <a:t>대한민국</a:t>
            </a:r>
            <a:endParaRPr kumimoji="0" lang="en-US" altLang="ko-KR" dirty="0">
              <a:latin typeface="-윤고딕120" pitchFamily="18" charset="-127"/>
              <a:ea typeface="-윤고딕12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atin typeface="-윤고딕120" pitchFamily="18" charset="-127"/>
                <a:ea typeface="-윤고딕120" pitchFamily="18" charset="-127"/>
              </a:rPr>
              <a:t>최강한국</a:t>
            </a:r>
          </a:p>
        </p:txBody>
      </p:sp>
    </p:spTree>
    <p:extLst>
      <p:ext uri="{BB962C8B-B14F-4D97-AF65-F5344CB8AC3E}">
        <p14:creationId xmlns:p14="http://schemas.microsoft.com/office/powerpoint/2010/main" val="16705630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en-US" altLang="ko-KR" sz="1800" b="1" dirty="0" err="1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const</a:t>
            </a:r>
            <a:r>
              <a:rPr lang="en-US" altLang="ko-KR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상수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변수의 값을 상수로 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지정하는데 사용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여러 개의 상수를 한 번에 지정 가능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PI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는 변수이지만 </a:t>
            </a:r>
            <a:r>
              <a:rPr lang="en-US" altLang="ko-KR" sz="1800" b="1" dirty="0" err="1">
                <a:latin typeface="-윤고딕130"/>
                <a:ea typeface="-윤고딕130"/>
                <a:cs typeface="-윤고딕130"/>
              </a:rPr>
              <a:t>const</a:t>
            </a:r>
            <a:r>
              <a:rPr lang="ko-KR" altLang="en-US" sz="1800" b="1" dirty="0">
                <a:latin typeface="-윤고딕130"/>
                <a:ea typeface="-윤고딕130"/>
                <a:cs typeface="-윤고딕130"/>
              </a:rPr>
              <a:t>로 지정하면 변경할 수 </a:t>
            </a: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없음</a:t>
            </a:r>
            <a:endParaRPr lang="en-US" altLang="ko-KR" sz="1800" b="1" dirty="0" smtClean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main ( )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   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const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double pi = 3.14159;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pi &lt;&lt; </a:t>
            </a:r>
            <a:r>
              <a:rPr lang="en-US" altLang="ko-KR" sz="18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  <a:endParaRPr lang="en-US" altLang="ko-KR" sz="18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r>
              <a:rPr lang="en-US" altLang="ko-KR" sz="18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endParaRPr lang="en-US" altLang="ko-KR" sz="18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827584" y="2314872"/>
            <a:ext cx="628650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const double PI = 3.141592;</a:t>
            </a: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40196" y="3494277"/>
            <a:ext cx="628650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const double pi = 3.141592, root2 = 1.414213;</a:t>
            </a:r>
          </a:p>
        </p:txBody>
      </p:sp>
    </p:spTree>
    <p:extLst>
      <p:ext uri="{BB962C8B-B14F-4D97-AF65-F5344CB8AC3E}">
        <p14:creationId xmlns:p14="http://schemas.microsoft.com/office/powerpoint/2010/main" val="38859319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  <a:r>
              <a:rPr lang="en-US" altLang="ko-KR" sz="2800" dirty="0" smtClean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입출력 예</a:t>
            </a:r>
            <a:r>
              <a:rPr lang="en-US" altLang="ko-KR" sz="1800" b="1" dirty="0" smtClean="0">
                <a:latin typeface="-윤고딕130"/>
                <a:ea typeface="-윤고딕130"/>
                <a:cs typeface="-윤고딕130"/>
              </a:rPr>
              <a:t>1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marL="109728" indent="0">
              <a:buNone/>
            </a:pPr>
            <a:r>
              <a:rPr lang="en-US" altLang="ko-KR" sz="1900" dirty="0"/>
              <a:t>#include &lt;</a:t>
            </a:r>
            <a:r>
              <a:rPr lang="en-US" altLang="ko-KR" sz="1900" dirty="0" err="1"/>
              <a:t>iostream</a:t>
            </a:r>
            <a:r>
              <a:rPr lang="en-US" altLang="ko-KR" sz="1900" dirty="0"/>
              <a:t>&gt; </a:t>
            </a:r>
          </a:p>
          <a:p>
            <a:pPr marL="109728" indent="0">
              <a:buNone/>
            </a:pPr>
            <a:r>
              <a:rPr lang="en-US" altLang="ko-KR" sz="1900" dirty="0"/>
              <a:t> using namespace </a:t>
            </a:r>
            <a:r>
              <a:rPr lang="en-US" altLang="ko-KR" sz="1900" dirty="0" err="1"/>
              <a:t>std</a:t>
            </a:r>
            <a:r>
              <a:rPr lang="en-US" altLang="ko-KR" sz="1900" dirty="0"/>
              <a:t>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 err="1"/>
              <a:t>int</a:t>
            </a:r>
            <a:r>
              <a:rPr lang="ko-KR" altLang="en-US" sz="1900" dirty="0"/>
              <a:t> </a:t>
            </a:r>
            <a:r>
              <a:rPr lang="en-US" altLang="ko-KR" sz="1900" dirty="0"/>
              <a:t>main()</a:t>
            </a:r>
            <a:r>
              <a:rPr lang="en-US" altLang="ko-KR" sz="1900" dirty="0">
                <a:latin typeface="Arial" panose="020B0604020202020204" pitchFamily="34" charset="0"/>
              </a:rPr>
              <a:t> </a:t>
            </a:r>
            <a:r>
              <a:rPr lang="en-US" altLang="ko-KR" sz="1900" dirty="0"/>
              <a:t> {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/>
              <a:t>// </a:t>
            </a:r>
            <a:r>
              <a:rPr lang="ko-KR" altLang="en-US" sz="1900" dirty="0"/>
              <a:t>변수를 초기화합니다</a:t>
            </a:r>
            <a:r>
              <a:rPr lang="en-US" altLang="ko-KR" sz="1900" dirty="0"/>
              <a:t>.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/>
              <a:t>char </a:t>
            </a:r>
            <a:r>
              <a:rPr lang="en-US" altLang="ko-KR" sz="1900" dirty="0" err="1"/>
              <a:t>someCharacter</a:t>
            </a:r>
            <a:r>
              <a:rPr lang="en-US" altLang="ko-KR" sz="1900" dirty="0"/>
              <a:t> = 'A';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 err="1"/>
              <a:t>int</a:t>
            </a:r>
            <a:r>
              <a:rPr lang="en-US" altLang="ko-KR" sz="1900" dirty="0"/>
              <a:t> </a:t>
            </a:r>
            <a:r>
              <a:rPr lang="en-US" altLang="ko-KR" sz="1900" dirty="0" err="1"/>
              <a:t>someNumber</a:t>
            </a:r>
            <a:r>
              <a:rPr lang="en-US" altLang="ko-KR" sz="1900" dirty="0"/>
              <a:t> = 0;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/>
              <a:t>double </a:t>
            </a:r>
            <a:r>
              <a:rPr lang="en-US" altLang="ko-KR" sz="1900" dirty="0" err="1"/>
              <a:t>someDoubleNumber</a:t>
            </a:r>
            <a:r>
              <a:rPr lang="en-US" altLang="ko-KR" sz="1900" dirty="0"/>
              <a:t> = 0.0;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br>
              <a:rPr lang="en-US" altLang="ko-KR" sz="1900" dirty="0"/>
            </a:br>
            <a:endParaRPr lang="en-US" altLang="ko-KR" sz="1900" dirty="0"/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/>
              <a:t>// </a:t>
            </a:r>
            <a:r>
              <a:rPr lang="ko-KR" altLang="en-US" sz="1900" dirty="0"/>
              <a:t>초기화한 변수의 값을 출력합니다</a:t>
            </a:r>
            <a:r>
              <a:rPr lang="en-US" altLang="ko-KR" sz="1900" dirty="0"/>
              <a:t>.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 err="1"/>
              <a:t>cout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someCharacter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endl</a:t>
            </a:r>
            <a:r>
              <a:rPr lang="en-US" altLang="ko-KR" sz="1900" dirty="0"/>
              <a:t>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 err="1"/>
              <a:t>cout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someNumber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endl</a:t>
            </a:r>
            <a:r>
              <a:rPr lang="en-US" altLang="ko-KR" sz="1900" dirty="0"/>
              <a:t>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  </a:t>
            </a:r>
            <a:r>
              <a:rPr lang="en-US" altLang="ko-KR" sz="1900" dirty="0" err="1"/>
              <a:t>cout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someDoubleNumber</a:t>
            </a:r>
            <a:r>
              <a:rPr lang="en-US" altLang="ko-KR" sz="1900" dirty="0"/>
              <a:t> &lt;&lt; </a:t>
            </a:r>
            <a:r>
              <a:rPr lang="en-US" altLang="ko-KR" sz="1900" dirty="0" err="1"/>
              <a:t>endl</a:t>
            </a:r>
            <a:r>
              <a:rPr lang="en-US" altLang="ko-KR" sz="1900" dirty="0"/>
              <a:t>; </a:t>
            </a:r>
          </a:p>
          <a:p>
            <a:pPr marL="109728" indent="0">
              <a:buNone/>
            </a:pPr>
            <a:r>
              <a:rPr lang="en-US" altLang="ko-KR" sz="1900" dirty="0"/>
              <a:t> </a:t>
            </a:r>
            <a:r>
              <a:rPr lang="en-US" altLang="ko-KR" sz="1900" dirty="0">
                <a:latin typeface="Arial" panose="020B0604020202020204" pitchFamily="34" charset="0"/>
              </a:rPr>
              <a:t>  </a:t>
            </a:r>
            <a:r>
              <a:rPr lang="en-US" altLang="ko-KR" sz="1900" dirty="0">
                <a:latin typeface="+mj-lt"/>
              </a:rPr>
              <a:t>  </a:t>
            </a:r>
          </a:p>
          <a:p>
            <a:pPr marL="109728" indent="0">
              <a:buNone/>
            </a:pPr>
            <a:r>
              <a:rPr lang="en-US" altLang="ko-KR" sz="1900" dirty="0">
                <a:latin typeface="+mj-lt"/>
              </a:rPr>
              <a:t>      return 0;</a:t>
            </a:r>
          </a:p>
          <a:p>
            <a:pPr marL="109728" indent="0">
              <a:buNone/>
            </a:pPr>
            <a:r>
              <a:rPr lang="en-US" altLang="ko-KR" sz="1900" dirty="0">
                <a:latin typeface="+mj-lt"/>
              </a:rPr>
              <a:t> } </a:t>
            </a:r>
            <a:endParaRPr lang="en-US" altLang="ko-KR" sz="1900" dirty="0">
              <a:latin typeface="+mj-lt"/>
              <a:ea typeface="-윤고딕130"/>
              <a:cs typeface="-윤고딕130"/>
            </a:endParaRPr>
          </a:p>
        </p:txBody>
      </p:sp>
    </p:spTree>
    <p:extLst>
      <p:ext uri="{BB962C8B-B14F-4D97-AF65-F5344CB8AC3E}">
        <p14:creationId xmlns:p14="http://schemas.microsoft.com/office/powerpoint/2010/main" val="5270460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  <a:r>
              <a:rPr lang="en-US" altLang="ko-KR" sz="2800" dirty="0" smtClean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입출력 예</a:t>
            </a:r>
            <a:r>
              <a:rPr lang="en-US" altLang="ko-KR" sz="1800" b="1" dirty="0" smtClean="0">
                <a:latin typeface="-윤고딕130"/>
                <a:ea typeface="-윤고딕130"/>
                <a:cs typeface="-윤고딕130"/>
              </a:rPr>
              <a:t>2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marL="109728" indent="0">
              <a:buNone/>
            </a:pPr>
            <a:r>
              <a:rPr lang="en-US" altLang="ko-KR" sz="2100" dirty="0"/>
              <a:t>#include &lt;</a:t>
            </a:r>
            <a:r>
              <a:rPr lang="en-US" altLang="ko-KR" sz="2100" dirty="0" err="1"/>
              <a:t>iostream</a:t>
            </a:r>
            <a:r>
              <a:rPr lang="en-US" altLang="ko-KR" sz="2100" dirty="0"/>
              <a:t>&gt; </a:t>
            </a:r>
          </a:p>
          <a:p>
            <a:pPr marL="109728" indent="0">
              <a:buNone/>
            </a:pPr>
            <a:r>
              <a:rPr lang="en-US" altLang="ko-KR" sz="2100" dirty="0"/>
              <a:t> using namespace </a:t>
            </a:r>
            <a:r>
              <a:rPr lang="en-US" altLang="ko-KR" sz="2100" dirty="0" err="1"/>
              <a:t>std</a:t>
            </a:r>
            <a:r>
              <a:rPr lang="en-US" altLang="ko-KR" sz="2100" dirty="0"/>
              <a:t>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 err="1"/>
              <a:t>int</a:t>
            </a:r>
            <a:r>
              <a:rPr lang="en-US" altLang="ko-KR" sz="2100" dirty="0"/>
              <a:t> main()</a:t>
            </a:r>
            <a:r>
              <a:rPr lang="en-US" altLang="ko-KR" sz="2100" dirty="0">
                <a:latin typeface="Arial" panose="020B0604020202020204" pitchFamily="34" charset="0"/>
              </a:rPr>
              <a:t> </a:t>
            </a:r>
            <a:r>
              <a:rPr lang="en-US" altLang="ko-KR" sz="2100" dirty="0"/>
              <a:t> {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 err="1"/>
              <a:t>int</a:t>
            </a:r>
            <a:r>
              <a:rPr lang="en-US" altLang="ko-KR" sz="2100" dirty="0"/>
              <a:t> num1 = 100, num2 = 200;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 err="1"/>
              <a:t>cout</a:t>
            </a:r>
            <a:r>
              <a:rPr lang="en-US" altLang="ko-KR" sz="2100" dirty="0"/>
              <a:t> &lt;&lt; "num1</a:t>
            </a:r>
            <a:r>
              <a:rPr lang="ko-KR" altLang="en-US" sz="2100" dirty="0"/>
              <a:t>의 초기 값 </a:t>
            </a:r>
            <a:r>
              <a:rPr lang="en-US" altLang="ko-KR" sz="2100" dirty="0"/>
              <a:t>: " &lt;&lt; num1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; </a:t>
            </a:r>
          </a:p>
          <a:p>
            <a:pPr marL="109728" indent="0">
              <a:buNone/>
            </a:pPr>
            <a:r>
              <a:rPr lang="en-US" altLang="ko-KR" sz="2100" dirty="0">
                <a:latin typeface="Arial" panose="020B0604020202020204" pitchFamily="34" charset="0"/>
              </a:rPr>
              <a:t>    </a:t>
            </a:r>
            <a:r>
              <a:rPr lang="en-US" altLang="ko-KR" sz="2100" dirty="0" err="1"/>
              <a:t>cout</a:t>
            </a:r>
            <a:r>
              <a:rPr lang="en-US" altLang="ko-KR" sz="2100" dirty="0"/>
              <a:t> &lt;&lt; "num2</a:t>
            </a:r>
            <a:r>
              <a:rPr lang="ko-KR" altLang="en-US" sz="2100" dirty="0"/>
              <a:t>의 초기 값 </a:t>
            </a:r>
            <a:r>
              <a:rPr lang="en-US" altLang="ko-KR" sz="2100" dirty="0"/>
              <a:t>: " &lt;&lt; num2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; </a:t>
            </a:r>
            <a:br>
              <a:rPr lang="en-US" altLang="ko-KR" sz="2100" dirty="0"/>
            </a:br>
            <a:endParaRPr lang="en-US" altLang="ko-KR" sz="2100" dirty="0"/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 </a:t>
            </a:r>
            <a:r>
              <a:rPr lang="en-US" altLang="ko-KR" sz="2100" dirty="0"/>
              <a:t>num1 = 300;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/>
              <a:t>num2 = 400;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 err="1"/>
              <a:t>cout</a:t>
            </a:r>
            <a:r>
              <a:rPr lang="en-US" altLang="ko-KR" sz="2100" dirty="0"/>
              <a:t> &lt;&lt; "num1</a:t>
            </a:r>
            <a:r>
              <a:rPr lang="ko-KR" altLang="en-US" sz="2100" dirty="0"/>
              <a:t>의 변경 값 </a:t>
            </a:r>
            <a:r>
              <a:rPr lang="en-US" altLang="ko-KR" sz="2100" dirty="0"/>
              <a:t>: " &lt;&lt; num1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 err="1"/>
              <a:t>cout</a:t>
            </a:r>
            <a:r>
              <a:rPr lang="en-US" altLang="ko-KR" sz="2100" dirty="0"/>
              <a:t> &lt;&lt; "num2</a:t>
            </a:r>
            <a:r>
              <a:rPr lang="ko-KR" altLang="en-US" sz="2100" dirty="0"/>
              <a:t>의 변경 값 </a:t>
            </a:r>
            <a:r>
              <a:rPr lang="en-US" altLang="ko-KR" sz="2100" dirty="0"/>
              <a:t>: " &lt;&lt; num2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&lt;&lt;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;  </a:t>
            </a:r>
            <a:br>
              <a:rPr lang="en-US" altLang="ko-KR" sz="2100" dirty="0"/>
            </a:br>
            <a:endParaRPr lang="en-US" altLang="ko-KR" sz="2100" dirty="0"/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/>
              <a:t>num1 = num2;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 err="1"/>
              <a:t>cout</a:t>
            </a:r>
            <a:r>
              <a:rPr lang="en-US" altLang="ko-KR" sz="2100" dirty="0"/>
              <a:t> &lt;&lt; "num1</a:t>
            </a:r>
            <a:r>
              <a:rPr lang="ko-KR" altLang="en-US" sz="2100" dirty="0"/>
              <a:t>의 치환 값 </a:t>
            </a:r>
            <a:r>
              <a:rPr lang="en-US" altLang="ko-KR" sz="2100" dirty="0"/>
              <a:t>: " &lt;&lt; num1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; </a:t>
            </a:r>
          </a:p>
          <a:p>
            <a:pPr marL="109728" indent="0">
              <a:buNone/>
            </a:pPr>
            <a:r>
              <a:rPr lang="en-US" altLang="ko-KR" sz="2100" dirty="0"/>
              <a:t> </a:t>
            </a:r>
            <a:r>
              <a:rPr lang="en-US" altLang="ko-KR" sz="2100" dirty="0">
                <a:latin typeface="Arial" panose="020B0604020202020204" pitchFamily="34" charset="0"/>
              </a:rPr>
              <a:t>   </a:t>
            </a:r>
            <a:r>
              <a:rPr lang="en-US" altLang="ko-KR" sz="2100" dirty="0" err="1"/>
              <a:t>cout</a:t>
            </a:r>
            <a:r>
              <a:rPr lang="en-US" altLang="ko-KR" sz="2100" dirty="0"/>
              <a:t> &lt;&lt; "num2</a:t>
            </a:r>
            <a:r>
              <a:rPr lang="ko-KR" altLang="en-US" sz="2100" dirty="0"/>
              <a:t>의 원래 값 </a:t>
            </a:r>
            <a:r>
              <a:rPr lang="en-US" altLang="ko-KR" sz="2100" dirty="0"/>
              <a:t>: " &lt;&lt; num2 &lt;&lt; </a:t>
            </a:r>
            <a:r>
              <a:rPr lang="en-US" altLang="ko-KR" sz="2100" dirty="0" err="1"/>
              <a:t>endl</a:t>
            </a:r>
            <a:r>
              <a:rPr lang="en-US" altLang="ko-KR" sz="2100" dirty="0"/>
              <a:t>;  </a:t>
            </a:r>
          </a:p>
          <a:p>
            <a:pPr marL="109728" indent="0">
              <a:buNone/>
            </a:pPr>
            <a:r>
              <a:rPr lang="en-US" altLang="ko-KR" sz="2100" dirty="0">
                <a:latin typeface="+mj-lt"/>
              </a:rPr>
              <a:t>    return 0; </a:t>
            </a:r>
            <a:br>
              <a:rPr lang="en-US" altLang="ko-KR" sz="2100" dirty="0">
                <a:latin typeface="+mj-lt"/>
              </a:rPr>
            </a:br>
            <a:r>
              <a:rPr lang="en-US" altLang="ko-KR" sz="2100" dirty="0">
                <a:latin typeface="+mj-lt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31979231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입출력</a:t>
            </a:r>
            <a:r>
              <a:rPr lang="en-US" altLang="ko-KR" sz="2800" dirty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18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en-US" altLang="ko-KR" sz="1800" b="1" dirty="0" err="1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cin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을 이용해 </a:t>
            </a:r>
            <a:r>
              <a:rPr lang="ko-KR" altLang="en-US" sz="1800" b="1" dirty="0" smtClean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변수에 자료 입력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755576" y="2204864"/>
            <a:ext cx="6286500" cy="500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cout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&lt;&lt;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출력할 자료나 변수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3068960"/>
            <a:ext cx="6286500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cin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&gt;&gt;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자료를 저장 할 변수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402957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  <a:r>
              <a:rPr lang="en-US" altLang="ko-KR" sz="2800" dirty="0" smtClean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입출력 예</a:t>
            </a:r>
            <a:r>
              <a:rPr lang="en-US" altLang="ko-KR" sz="1800" b="1" dirty="0">
                <a:latin typeface="-윤고딕130"/>
                <a:ea typeface="-윤고딕130"/>
                <a:cs typeface="-윤고딕130"/>
              </a:rPr>
              <a:t>3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marL="109728" indent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 </a:t>
            </a:r>
          </a:p>
          <a:p>
            <a:pPr marL="109728" indent="0">
              <a:buNone/>
            </a:pPr>
            <a:r>
              <a:rPr lang="en-US" altLang="ko-KR" sz="1600" dirty="0"/>
              <a:t> 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  <a:r>
              <a:rPr lang="en-US" altLang="ko-KR" sz="1600" dirty="0">
                <a:latin typeface="Arial" panose="020B0604020202020204" pitchFamily="34" charset="0"/>
              </a:rPr>
              <a:t> </a:t>
            </a:r>
            <a:r>
              <a:rPr lang="en-US" altLang="ko-KR" sz="1600" dirty="0"/>
              <a:t> { </a:t>
            </a:r>
          </a:p>
          <a:p>
            <a:pPr marL="109728" indent="0">
              <a:buNone/>
            </a:pPr>
            <a:r>
              <a:rPr lang="en-US" altLang="ko-KR" sz="1600" dirty="0">
                <a:latin typeface="Arial" panose="020B0604020202020204" pitchFamily="34" charset="0"/>
              </a:rPr>
              <a:t>  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>
                <a:latin typeface="Arial" panose="020B0604020202020204" pitchFamily="34" charset="0"/>
              </a:rPr>
              <a:t>“</a:t>
            </a:r>
            <a:r>
              <a:rPr lang="ko-KR" altLang="en-US" sz="1600" dirty="0"/>
              <a:t>정수를 입력한 뒤 </a:t>
            </a:r>
            <a:r>
              <a:rPr lang="en-US" altLang="ko-KR" sz="1600" dirty="0"/>
              <a:t>&lt;Enter&gt;</a:t>
            </a:r>
            <a:r>
              <a:rPr lang="ko-KR" altLang="en-US" sz="1600" dirty="0"/>
              <a:t>를 누르세요</a:t>
            </a:r>
            <a:r>
              <a:rPr lang="en-US" altLang="ko-KR" sz="1600" dirty="0"/>
              <a:t>."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입력한 수는 </a:t>
            </a:r>
            <a:r>
              <a:rPr lang="en-US" altLang="ko-KR" sz="1600" dirty="0"/>
              <a:t>" &lt;&lt;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입니다</a:t>
            </a:r>
            <a:r>
              <a:rPr lang="en-US" altLang="ko-KR" sz="1600" dirty="0"/>
              <a:t>."; </a:t>
            </a: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     </a:t>
            </a:r>
            <a:r>
              <a:rPr lang="en-US" altLang="ko-KR" sz="1600" dirty="0">
                <a:latin typeface="+mj-lt"/>
              </a:rPr>
              <a:t>return 0;    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22481472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입출력</a:t>
            </a:r>
            <a:r>
              <a:rPr lang="en-US" altLang="ko-KR" sz="2800" dirty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18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여러 개의 자료를 한 번에 입력하기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27584" y="2204864"/>
            <a:ext cx="5500688" cy="5000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cin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&gt;&gt;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변수명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1 &gt;&gt;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변수명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2 &gt;&gt; … … &gt;&gt;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변수명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n;</a:t>
            </a: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827584" y="2996952"/>
            <a:ext cx="5500688" cy="5000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cin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&gt;&gt; num1 &gt;&gt; num2 &gt;&gt; num3;</a:t>
            </a:r>
          </a:p>
        </p:txBody>
      </p:sp>
    </p:spTree>
    <p:extLst>
      <p:ext uri="{BB962C8B-B14F-4D97-AF65-F5344CB8AC3E}">
        <p14:creationId xmlns:p14="http://schemas.microsoft.com/office/powerpoint/2010/main" val="126887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  <a:r>
              <a:rPr lang="en-US" altLang="ko-KR" sz="2800" dirty="0" smtClean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입출력 예</a:t>
            </a:r>
            <a:r>
              <a:rPr lang="en-US" altLang="ko-KR" sz="1800" b="1" dirty="0" smtClean="0">
                <a:latin typeface="-윤고딕130"/>
                <a:ea typeface="-윤고딕130"/>
                <a:cs typeface="-윤고딕130"/>
              </a:rPr>
              <a:t>4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marL="109728" indent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 </a:t>
            </a:r>
          </a:p>
          <a:p>
            <a:pPr marL="109728" indent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  <a:r>
              <a:rPr lang="en-US" altLang="ko-KR" sz="1600" dirty="0">
                <a:latin typeface="Arial" panose="020B0604020202020204" pitchFamily="34" charset="0"/>
              </a:rPr>
              <a:t> </a:t>
            </a:r>
            <a:r>
              <a:rPr lang="en-US" altLang="ko-KR" sz="1600" dirty="0"/>
              <a:t> { </a:t>
            </a:r>
          </a:p>
          <a:p>
            <a:pPr marL="109728" indent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num1, num2, num3;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정수 세 개를 입력한 뒤 </a:t>
            </a:r>
            <a:r>
              <a:rPr lang="en-US" altLang="ko-KR" sz="1600" dirty="0"/>
              <a:t>&lt;Enter&gt;</a:t>
            </a:r>
            <a:r>
              <a:rPr lang="ko-KR" altLang="en-US" sz="1600" dirty="0"/>
              <a:t>를 누르세요</a:t>
            </a:r>
            <a:r>
              <a:rPr lang="en-US" altLang="ko-KR" sz="1600" dirty="0"/>
              <a:t>."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num1 &gt;&gt; num2 &gt;&gt; num3;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 &lt;&lt; "num1 = " &lt;&lt; num1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"num2 = " &lt;&lt; num2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"num3 = " &lt;&lt; num3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</a:t>
            </a:r>
            <a:r>
              <a:rPr lang="en-US" altLang="ko-KR" sz="1600" dirty="0">
                <a:latin typeface="+mj-lt"/>
              </a:rPr>
              <a:t> 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    return 0;</a:t>
            </a:r>
          </a:p>
          <a:p>
            <a:pPr marL="109728" indent="0">
              <a:buNone/>
            </a:pPr>
            <a:r>
              <a:rPr lang="en-US" altLang="ko-KR" sz="1600" dirty="0"/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2448532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  <a:r>
              <a:rPr lang="en-US" altLang="ko-KR" sz="2800" dirty="0" smtClean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연산자 예</a:t>
            </a:r>
            <a:r>
              <a:rPr lang="en-US" altLang="ko-KR" sz="1800" b="1" dirty="0" smtClean="0">
                <a:latin typeface="-윤고딕130"/>
                <a:ea typeface="-윤고딕130"/>
                <a:cs typeface="-윤고딕130"/>
              </a:rPr>
              <a:t>1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#include &lt;</a:t>
            </a:r>
            <a:r>
              <a:rPr lang="en-US" altLang="ko-KR" sz="1600" dirty="0" err="1">
                <a:latin typeface="+mj-lt"/>
              </a:rPr>
              <a:t>iostream</a:t>
            </a:r>
            <a:r>
              <a:rPr lang="en-US" altLang="ko-KR" sz="1600" dirty="0">
                <a:latin typeface="+mj-lt"/>
              </a:rPr>
              <a:t>&gt;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using namespace </a:t>
            </a:r>
            <a:r>
              <a:rPr lang="en-US" altLang="ko-KR" sz="1600" dirty="0" err="1">
                <a:latin typeface="+mj-lt"/>
              </a:rPr>
              <a:t>std</a:t>
            </a:r>
            <a:r>
              <a:rPr lang="en-US" altLang="ko-KR" sz="1600" dirty="0">
                <a:latin typeface="+mj-lt"/>
              </a:rPr>
              <a:t>; </a:t>
            </a:r>
          </a:p>
          <a:p>
            <a:pPr marL="109728" indent="0">
              <a:buNone/>
            </a:pPr>
            <a:r>
              <a:rPr lang="en-US" altLang="ko-KR" sz="1600" dirty="0" err="1">
                <a:latin typeface="+mj-lt"/>
              </a:rPr>
              <a:t>int</a:t>
            </a:r>
            <a:r>
              <a:rPr lang="en-US" altLang="ko-KR" sz="1600" dirty="0">
                <a:latin typeface="+mj-lt"/>
              </a:rPr>
              <a:t> main() 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{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    </a:t>
            </a:r>
            <a:r>
              <a:rPr lang="en-US" altLang="ko-KR" sz="1600" dirty="0" err="1">
                <a:latin typeface="+mj-lt"/>
              </a:rPr>
              <a:t>int</a:t>
            </a:r>
            <a:r>
              <a:rPr lang="en-US" altLang="ko-KR" sz="1600" dirty="0">
                <a:latin typeface="+mj-lt"/>
              </a:rPr>
              <a:t> num1 = 20;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    </a:t>
            </a:r>
            <a:r>
              <a:rPr lang="en-US" altLang="ko-KR" sz="1600" dirty="0" err="1">
                <a:latin typeface="+mj-lt"/>
              </a:rPr>
              <a:t>int</a:t>
            </a:r>
            <a:r>
              <a:rPr lang="en-US" altLang="ko-KR" sz="1600" dirty="0">
                <a:latin typeface="+mj-lt"/>
              </a:rPr>
              <a:t> num2 = 10;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    </a:t>
            </a:r>
            <a:r>
              <a:rPr lang="en-US" altLang="ko-KR" sz="1600" dirty="0" err="1">
                <a:latin typeface="+mj-lt"/>
              </a:rPr>
              <a:t>cout</a:t>
            </a:r>
            <a:r>
              <a:rPr lang="en-US" altLang="ko-KR" sz="1600" dirty="0">
                <a:latin typeface="+mj-lt"/>
              </a:rPr>
              <a:t> &lt;&lt; "20 + 10 = " &lt;&lt; num1 + num2 &lt;&lt; </a:t>
            </a:r>
            <a:r>
              <a:rPr lang="en-US" altLang="ko-KR" sz="1600" dirty="0" err="1">
                <a:latin typeface="+mj-lt"/>
              </a:rPr>
              <a:t>endl</a:t>
            </a:r>
            <a:r>
              <a:rPr lang="en-US" altLang="ko-KR" sz="1600" dirty="0">
                <a:latin typeface="+mj-lt"/>
              </a:rPr>
              <a:t>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    </a:t>
            </a:r>
            <a:r>
              <a:rPr lang="en-US" altLang="ko-KR" sz="1600" dirty="0" err="1">
                <a:latin typeface="+mj-lt"/>
              </a:rPr>
              <a:t>cout</a:t>
            </a:r>
            <a:r>
              <a:rPr lang="en-US" altLang="ko-KR" sz="1600" dirty="0">
                <a:latin typeface="+mj-lt"/>
              </a:rPr>
              <a:t> &lt;&lt; "20 - 10 = " &lt;&lt; num1 - num2 &lt;&lt; </a:t>
            </a:r>
            <a:r>
              <a:rPr lang="en-US" altLang="ko-KR" sz="1600" dirty="0" err="1">
                <a:latin typeface="+mj-lt"/>
              </a:rPr>
              <a:t>endl</a:t>
            </a:r>
            <a:r>
              <a:rPr lang="en-US" altLang="ko-KR" sz="1600" dirty="0">
                <a:latin typeface="+mj-lt"/>
              </a:rPr>
              <a:t>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    </a:t>
            </a:r>
            <a:r>
              <a:rPr lang="en-US" altLang="ko-KR" sz="1600" dirty="0" err="1">
                <a:latin typeface="+mj-lt"/>
              </a:rPr>
              <a:t>cout</a:t>
            </a:r>
            <a:r>
              <a:rPr lang="en-US" altLang="ko-KR" sz="1600" dirty="0">
                <a:latin typeface="+mj-lt"/>
              </a:rPr>
              <a:t> &lt;&lt; "20 * 10 = " &lt;&lt; num1 * num2 &lt;&lt; </a:t>
            </a:r>
            <a:r>
              <a:rPr lang="en-US" altLang="ko-KR" sz="1600" dirty="0" err="1">
                <a:latin typeface="+mj-lt"/>
              </a:rPr>
              <a:t>endl</a:t>
            </a:r>
            <a:r>
              <a:rPr lang="en-US" altLang="ko-KR" sz="1600" dirty="0">
                <a:latin typeface="+mj-lt"/>
              </a:rPr>
              <a:t>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    </a:t>
            </a:r>
            <a:r>
              <a:rPr lang="en-US" altLang="ko-KR" sz="1600" dirty="0" err="1">
                <a:latin typeface="+mj-lt"/>
              </a:rPr>
              <a:t>cout</a:t>
            </a:r>
            <a:r>
              <a:rPr lang="en-US" altLang="ko-KR" sz="1600" dirty="0">
                <a:latin typeface="+mj-lt"/>
              </a:rPr>
              <a:t> &lt;&lt; "20 / 10 = " &lt;&lt; num1 / num2 &lt;&lt; </a:t>
            </a:r>
            <a:r>
              <a:rPr lang="en-US" altLang="ko-KR" sz="1600" dirty="0" err="1">
                <a:latin typeface="+mj-lt"/>
              </a:rPr>
              <a:t>endl</a:t>
            </a:r>
            <a:r>
              <a:rPr lang="en-US" altLang="ko-KR" sz="1600" dirty="0">
                <a:latin typeface="+mj-lt"/>
              </a:rPr>
              <a:t>; </a:t>
            </a:r>
          </a:p>
          <a:p>
            <a:pPr marL="109728" indent="0">
              <a:buNone/>
            </a:pPr>
            <a:r>
              <a:rPr lang="en-US" altLang="ko-KR" sz="1600" dirty="0">
                <a:latin typeface="+mj-lt"/>
              </a:rPr>
              <a:t>    return 0;</a:t>
            </a:r>
            <a:endParaRPr lang="en-US" altLang="ko-KR" sz="1600" dirty="0">
              <a:latin typeface="+mj-lt"/>
              <a:ea typeface="-윤고딕140"/>
              <a:cs typeface="-윤고딕140"/>
            </a:endParaRPr>
          </a:p>
          <a:p>
            <a:pPr marL="109728" indent="0">
              <a:lnSpc>
                <a:spcPct val="150000"/>
              </a:lnSpc>
              <a:buNone/>
            </a:pPr>
            <a:r>
              <a:rPr lang="en-US" altLang="ko-KR" sz="1600" dirty="0">
                <a:latin typeface="+mj-lt"/>
                <a:ea typeface="-윤고딕140"/>
                <a:cs typeface="-윤고딕140"/>
              </a:rPr>
              <a:t>}</a:t>
            </a:r>
            <a:endParaRPr lang="en-US" altLang="ko-KR" sz="2000" dirty="0">
              <a:latin typeface="+mj-lt"/>
              <a:ea typeface="-윤고딕130"/>
              <a:cs typeface="-윤고딕130"/>
            </a:endParaRPr>
          </a:p>
        </p:txBody>
      </p:sp>
    </p:spTree>
    <p:extLst>
      <p:ext uri="{BB962C8B-B14F-4D97-AF65-F5344CB8AC3E}">
        <p14:creationId xmlns:p14="http://schemas.microsoft.com/office/powerpoint/2010/main" val="3636071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입출력</a:t>
            </a:r>
            <a:r>
              <a:rPr lang="en-US" altLang="ko-KR" sz="2800" dirty="0" smtClean="0"/>
              <a:t> </a:t>
            </a:r>
            <a:endParaRPr lang="ko-KR" altLang="en-US" sz="28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 smtClean="0">
                <a:latin typeface="-윤고딕130"/>
                <a:ea typeface="-윤고딕130"/>
                <a:cs typeface="-윤고딕130"/>
              </a:rPr>
              <a:t>연산자 예</a:t>
            </a:r>
            <a:r>
              <a:rPr lang="en-US" altLang="ko-KR" sz="1800" b="1" dirty="0" smtClean="0">
                <a:latin typeface="-윤고딕130"/>
                <a:ea typeface="-윤고딕130"/>
                <a:cs typeface="-윤고딕130"/>
              </a:rPr>
              <a:t>2</a:t>
            </a: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30"/>
              <a:ea typeface="-윤고딕130"/>
              <a:cs typeface="-윤고딕130"/>
            </a:endParaRPr>
          </a:p>
          <a:p>
            <a:pPr marL="109728" indent="0">
              <a:buNone/>
              <a:defRPr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  <a:r>
              <a:rPr lang="en-US" altLang="ko-KR" sz="1600" dirty="0">
                <a:latin typeface="Arial"/>
              </a:rPr>
              <a:t> </a:t>
            </a:r>
            <a:r>
              <a:rPr lang="en-US" altLang="ko-KR" sz="1600" dirty="0"/>
              <a:t>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{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num1, num2;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/>
              <a:t> </a:t>
            </a:r>
          </a:p>
          <a:p>
            <a:pPr marL="109728" indent="0">
              <a:buNone/>
              <a:defRPr/>
            </a:pPr>
            <a:endParaRPr lang="en-US" altLang="ko-KR" sz="1600" dirty="0"/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두 개의 수치를 입력한 뒤에 </a:t>
            </a:r>
            <a:r>
              <a:rPr lang="en-US" altLang="ko-KR" sz="1600" dirty="0"/>
              <a:t>&lt;Enter&gt;</a:t>
            </a:r>
            <a:r>
              <a:rPr lang="ko-KR" altLang="en-US" sz="1600" dirty="0"/>
              <a:t>를 누르세요</a:t>
            </a:r>
            <a:r>
              <a:rPr lang="en-US" altLang="ko-KR" sz="1600" dirty="0"/>
              <a:t>."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num1 &gt;&gt; num2;</a:t>
            </a:r>
            <a:r>
              <a:rPr lang="en-US" altLang="ko-KR" sz="1600" dirty="0">
                <a:latin typeface="Arial"/>
              </a:rPr>
              <a:t>     </a:t>
            </a:r>
            <a:r>
              <a:rPr lang="en-US" altLang="ko-KR" sz="1600" dirty="0"/>
              <a:t>// </a:t>
            </a:r>
            <a:r>
              <a:rPr lang="ko-KR" altLang="en-US" sz="1600" dirty="0"/>
              <a:t>두 개의 수치가 두 개의 변수에 저장됨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  <a:r>
              <a:rPr lang="en-US" altLang="ko-KR" sz="1600" dirty="0">
                <a:latin typeface="Arial"/>
              </a:rPr>
              <a:t>               </a:t>
            </a:r>
            <a:r>
              <a:rPr lang="en-US" altLang="ko-KR" sz="1600" dirty="0"/>
              <a:t>// </a:t>
            </a:r>
            <a:r>
              <a:rPr lang="ko-KR" altLang="en-US" sz="1600" dirty="0" err="1"/>
              <a:t>줄바꿈</a:t>
            </a:r>
            <a:r>
              <a:rPr lang="ko-KR" altLang="en-US" sz="1600" dirty="0"/>
              <a:t>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덧셈 결과 </a:t>
            </a:r>
            <a:r>
              <a:rPr lang="en-US" altLang="ko-KR" sz="1600" dirty="0"/>
              <a:t>: " &lt;&lt; num1 + num2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뺄셈 결과 </a:t>
            </a:r>
            <a:r>
              <a:rPr lang="en-US" altLang="ko-KR" sz="1600" dirty="0"/>
              <a:t>: " &lt;&lt;</a:t>
            </a:r>
            <a:r>
              <a:rPr lang="en-US" altLang="ko-KR" sz="1600" dirty="0">
                <a:latin typeface="Arial"/>
              </a:rPr>
              <a:t> </a:t>
            </a:r>
            <a:r>
              <a:rPr lang="en-US" altLang="ko-KR" sz="1600" dirty="0"/>
              <a:t> num1 - num2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곱셈 결과 </a:t>
            </a:r>
            <a:r>
              <a:rPr lang="en-US" altLang="ko-KR" sz="1600" dirty="0"/>
              <a:t>: " &lt;&lt;</a:t>
            </a:r>
            <a:r>
              <a:rPr lang="en-US" altLang="ko-KR" sz="1600" dirty="0">
                <a:latin typeface="Arial"/>
              </a:rPr>
              <a:t> </a:t>
            </a:r>
            <a:r>
              <a:rPr lang="en-US" altLang="ko-KR" sz="1600" dirty="0"/>
              <a:t> num1 * num2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나눗셈 결과 </a:t>
            </a:r>
            <a:r>
              <a:rPr lang="en-US" altLang="ko-KR" sz="1600" dirty="0"/>
              <a:t>: " &lt;&lt;</a:t>
            </a:r>
            <a:r>
              <a:rPr lang="en-US" altLang="ko-KR" sz="1600" dirty="0">
                <a:latin typeface="Arial"/>
              </a:rPr>
              <a:t> </a:t>
            </a:r>
            <a:r>
              <a:rPr lang="en-US" altLang="ko-KR" sz="1600" dirty="0"/>
              <a:t> num1 / num2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  <a:defRPr/>
            </a:pPr>
            <a:endParaRPr lang="en-US" altLang="ko-KR" sz="1600" dirty="0"/>
          </a:p>
          <a:p>
            <a:pPr marL="109728" indent="0">
              <a:buNone/>
              <a:defRPr/>
            </a:pPr>
            <a:r>
              <a:rPr lang="en-US" altLang="ko-KR" sz="1600" dirty="0"/>
              <a:t>     return 0;</a:t>
            </a:r>
          </a:p>
          <a:p>
            <a:pPr marL="109728" indent="0">
              <a:buNone/>
              <a:defRPr/>
            </a:pPr>
            <a:r>
              <a:rPr lang="en-US" altLang="ko-KR" sz="1600" dirty="0"/>
              <a:t>}</a:t>
            </a:r>
            <a:endParaRPr lang="en-US" altLang="ko-KR" sz="2000" dirty="0">
              <a:latin typeface="-윤고딕130"/>
              <a:ea typeface="-윤고딕130"/>
              <a:cs typeface="-윤고딕130"/>
            </a:endParaRPr>
          </a:p>
        </p:txBody>
      </p:sp>
    </p:spTree>
    <p:extLst>
      <p:ext uri="{BB962C8B-B14F-4D97-AF65-F5344CB8AC3E}">
        <p14:creationId xmlns:p14="http://schemas.microsoft.com/office/powerpoint/2010/main" val="3211633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숫자 트리 발생 프로그램</a:t>
            </a: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 smtClean="0"/>
              <a:t>using </a:t>
            </a:r>
            <a:r>
              <a:rPr lang="en-US" altLang="ko-KR" sz="1600" dirty="0"/>
              <a:t>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nm;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, j;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 smtClean="0"/>
              <a:t>cout</a:t>
            </a:r>
            <a:r>
              <a:rPr lang="en-US" altLang="ko-KR" sz="1600" dirty="0" smtClean="0"/>
              <a:t> &lt;&lt; "10 </a:t>
            </a:r>
            <a:r>
              <a:rPr lang="ko-KR" altLang="en-US" sz="1600" dirty="0"/>
              <a:t>이하 정수 입력</a:t>
            </a:r>
            <a:r>
              <a:rPr lang="en-US" altLang="ko-KR" sz="1600" dirty="0"/>
              <a:t>: </a:t>
            </a:r>
            <a:r>
              <a:rPr lang="en-US" altLang="ko-KR" sz="1600" dirty="0" smtClean="0"/>
              <a:t>";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nm;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for (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1;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&lt;= nm;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</a:t>
            </a:r>
            <a:r>
              <a:rPr lang="en-US" altLang="ko-KR" sz="1600" dirty="0" smtClean="0"/>
              <a:t>{  // </a:t>
            </a:r>
            <a:r>
              <a:rPr lang="ko-KR" altLang="en-US" sz="1600" dirty="0" smtClean="0"/>
              <a:t>수의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개수에 따라 출력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	for (j = 1; j &lt;=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; </a:t>
            </a:r>
            <a:r>
              <a:rPr lang="en-US" altLang="ko-KR" sz="1600" dirty="0" err="1"/>
              <a:t>j++</a:t>
            </a:r>
            <a:r>
              <a:rPr lang="en-US" altLang="ko-KR" sz="1600" dirty="0"/>
              <a:t>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nm;</a:t>
            </a:r>
          </a:p>
          <a:p>
            <a:pPr marL="109728" indent="0" latinLnBrk="0">
              <a:buNone/>
            </a:pPr>
            <a:r>
              <a:rPr lang="en-US" altLang="ko-KR" sz="1600" dirty="0"/>
              <a:t>	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125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문자열 범위 프로그램</a:t>
            </a:r>
            <a:r>
              <a:rPr lang="en-US" altLang="ko-KR" sz="1600" dirty="0" smtClean="0"/>
              <a:t>1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 smtClean="0"/>
              <a:t>using </a:t>
            </a:r>
            <a:r>
              <a:rPr lang="en-US" altLang="ko-KR" sz="1600" dirty="0"/>
              <a:t>namespace </a:t>
            </a:r>
            <a:r>
              <a:rPr lang="en-US" altLang="ko-KR" sz="1600" dirty="0" err="1"/>
              <a:t>std</a:t>
            </a:r>
            <a:r>
              <a:rPr lang="en-US" altLang="ko-KR" sz="1600" dirty="0" smtClean="0"/>
              <a:t>;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ch1, ch2;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 err="1"/>
              <a:t>문자범위</a:t>
            </a:r>
            <a:r>
              <a:rPr lang="ko-KR" altLang="en-US" sz="1600" dirty="0"/>
              <a:t> 입력</a:t>
            </a:r>
            <a:r>
              <a:rPr lang="en-US" altLang="ko-KR" sz="1600" dirty="0"/>
              <a:t>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처음 문자입력</a:t>
            </a:r>
            <a:r>
              <a:rPr lang="en-US" altLang="ko-KR" sz="1600" dirty="0"/>
              <a:t>: 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ch1;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마지막 문자입력</a:t>
            </a:r>
            <a:r>
              <a:rPr lang="en-US" altLang="ko-KR" sz="1600" dirty="0"/>
              <a:t>: 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ch2;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 ch1;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&lt;= ch2;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tmp</a:t>
            </a:r>
            <a:r>
              <a:rPr lang="en-US" altLang="ko-KR" sz="1600" dirty="0" smtClean="0"/>
              <a:t>;  // </a:t>
            </a:r>
            <a:r>
              <a:rPr lang="ko-KR" altLang="en-US" sz="1600" dirty="0" smtClean="0"/>
              <a:t>문자 범위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292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0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문자열 범위 프로그램</a:t>
            </a:r>
            <a:r>
              <a:rPr lang="en-US" altLang="ko-KR" sz="1600" dirty="0" smtClean="0"/>
              <a:t>2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 smtClean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 smtClean="0"/>
              <a:t>using </a:t>
            </a:r>
            <a:r>
              <a:rPr lang="en-US" altLang="ko-KR" sz="1600" dirty="0"/>
              <a:t>namespace </a:t>
            </a:r>
            <a:r>
              <a:rPr lang="en-US" altLang="ko-KR" sz="1600" dirty="0" err="1"/>
              <a:t>std</a:t>
            </a:r>
            <a:r>
              <a:rPr lang="en-US" altLang="ko-KR" sz="1600" dirty="0" smtClean="0"/>
              <a:t>;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char </a:t>
            </a:r>
            <a:r>
              <a:rPr lang="en-US" altLang="ko-KR" sz="1600" dirty="0"/>
              <a:t>ch1, ch2;</a:t>
            </a:r>
          </a:p>
          <a:p>
            <a:pPr marL="109728" indent="0" latinLnBrk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a;    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첫 번째 문자입력</a:t>
            </a:r>
            <a:r>
              <a:rPr lang="en-US" altLang="ko-KR" sz="1600" dirty="0"/>
              <a:t>: ";</a:t>
            </a:r>
          </a:p>
          <a:p>
            <a:pPr marL="109728" indent="0" latinLnBrk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ch1;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ch2 = ch1;</a:t>
            </a:r>
          </a:p>
          <a:p>
            <a:pPr marL="109728" indent="0" latinLnBrk="0">
              <a:buNone/>
            </a:pPr>
            <a:r>
              <a:rPr lang="en-US" altLang="ko-KR" sz="1600" dirty="0"/>
              <a:t>    for (ch1; ch1 &lt;= 'z'; ch1++)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ch1;</a:t>
            </a:r>
          </a:p>
          <a:p>
            <a:pPr marL="109728" indent="0" latinLnBrk="0">
              <a:buNone/>
            </a:pPr>
            <a:r>
              <a:rPr lang="en-US" altLang="ko-KR" sz="1600" dirty="0"/>
              <a:t>    }</a:t>
            </a:r>
          </a:p>
          <a:p>
            <a:pPr marL="109728" indent="0" latinLnBrk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  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for (ch2; ch2 &lt;= 'z'; ch2++) </a:t>
            </a:r>
            <a:r>
              <a:rPr lang="en-US" altLang="ko-KR" sz="1600" dirty="0" smtClean="0"/>
              <a:t>{  // </a:t>
            </a:r>
            <a:r>
              <a:rPr lang="ko-KR" altLang="en-US" sz="1600" dirty="0" smtClean="0"/>
              <a:t>아스키 코드 값 출력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) ch2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    }</a:t>
            </a:r>
          </a:p>
          <a:p>
            <a:pPr marL="109728" indent="0" latinLnBrk="0"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    return 0</a:t>
            </a:r>
            <a:r>
              <a:rPr lang="en-US" altLang="ko-KR" sz="1600" dirty="0" smtClean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 smtClean="0"/>
              <a:t>}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4191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연속적인 </a:t>
            </a:r>
            <a:r>
              <a:rPr lang="en-US" altLang="ko-KR" sz="1600" dirty="0" smtClean="0"/>
              <a:t>10 </a:t>
            </a:r>
            <a:r>
              <a:rPr lang="ko-KR" altLang="en-US" sz="1600" dirty="0" smtClean="0"/>
              <a:t>이하 정수 합 프로그램</a:t>
            </a: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 smtClean="0"/>
              <a:t>using </a:t>
            </a:r>
            <a:r>
              <a:rPr lang="en-US" altLang="ko-KR" sz="1600" dirty="0"/>
              <a:t>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nm, sum;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sum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nm = -1;</a:t>
            </a:r>
          </a:p>
          <a:p>
            <a:pPr marL="109728" indent="0" latinLnBrk="0">
              <a:buNone/>
            </a:pPr>
            <a:r>
              <a:rPr lang="en-US" altLang="ko-KR" sz="1600" dirty="0"/>
              <a:t>	while (nm != 0) </a:t>
            </a:r>
            <a:r>
              <a:rPr lang="en-US" altLang="ko-KR" sz="1600" dirty="0" smtClean="0"/>
              <a:t>{   // 0 </a:t>
            </a:r>
            <a:r>
              <a:rPr lang="ko-KR" altLang="en-US" sz="1600" dirty="0" smtClean="0"/>
              <a:t>입력될 때까지 정수 입력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"10 </a:t>
            </a:r>
            <a:r>
              <a:rPr lang="ko-KR" altLang="en-US" sz="1600" dirty="0"/>
              <a:t>이하의 양의 정수 입력</a:t>
            </a:r>
            <a:r>
              <a:rPr lang="en-US" altLang="ko-KR" sz="1600" dirty="0"/>
              <a:t>: ";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nm;</a:t>
            </a:r>
          </a:p>
          <a:p>
            <a:pPr marL="109728" indent="0" latinLnBrk="0">
              <a:buNone/>
            </a:pPr>
            <a:r>
              <a:rPr lang="en-US" altLang="ko-KR" sz="1600" dirty="0"/>
              <a:t>		sum += nm;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("</a:t>
            </a:r>
            <a:r>
              <a:rPr lang="ko-KR" altLang="en-US" sz="1600" dirty="0"/>
              <a:t>총합 </a:t>
            </a:r>
            <a:r>
              <a:rPr lang="en-US" altLang="ko-KR" sz="1600" dirty="0"/>
              <a:t>: %d\n", sum);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</a:t>
            </a:r>
            <a:r>
              <a:rPr lang="en-US" altLang="ko-KR" sz="1600" dirty="0" smtClean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 smtClean="0"/>
              <a:t>}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5554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b="1" dirty="0" smtClean="0"/>
              <a:t>가위바위보 프로그램</a:t>
            </a:r>
            <a:endParaRPr lang="en-US" altLang="ko-KR" sz="1600" b="1" dirty="0" smtClean="0"/>
          </a:p>
          <a:p>
            <a:pPr lvl="1" latinLnBrk="0"/>
            <a:r>
              <a:rPr lang="ko-KR" altLang="en-US" sz="1600" b="1" dirty="0" smtClean="0"/>
              <a:t>컴퓨터와 가위바위보 게임</a:t>
            </a:r>
            <a:endParaRPr lang="en-US" altLang="ko-KR" sz="1600" b="1" dirty="0" smtClean="0"/>
          </a:p>
          <a:p>
            <a:pPr lvl="1" latinLnBrk="0"/>
            <a:r>
              <a:rPr lang="en-US" altLang="ko-KR" sz="1600" b="1" dirty="0"/>
              <a:t>r</a:t>
            </a:r>
            <a:r>
              <a:rPr lang="en-US" altLang="ko-KR" sz="1600" b="1" dirty="0" smtClean="0"/>
              <a:t>and() </a:t>
            </a:r>
            <a:r>
              <a:rPr lang="ko-KR" altLang="en-US" sz="1600" b="1" dirty="0" smtClean="0"/>
              <a:t>함수 사용 </a:t>
            </a:r>
            <a:endParaRPr lang="en-US" altLang="ko-KR" sz="1600" b="1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 smtClean="0"/>
              <a:t>연습 프로그램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723</TotalTime>
  <Words>982</Words>
  <Application>Microsoft Office PowerPoint</Application>
  <PresentationFormat>화면 슬라이드 쇼(4:3)</PresentationFormat>
  <Paragraphs>352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2" baseType="lpstr">
      <vt:lpstr>굴림</vt:lpstr>
      <vt:lpstr>맑은 고딕</vt:lpstr>
      <vt:lpstr>-윤고딕120</vt:lpstr>
      <vt:lpstr>-윤고딕130</vt:lpstr>
      <vt:lpstr>-윤고딕140</vt:lpstr>
      <vt:lpstr>-윤명조120</vt:lpstr>
      <vt:lpstr>-윤명조130</vt:lpstr>
      <vt:lpstr>Arial</vt:lpstr>
      <vt:lpstr>Lucida Sans Unicode</vt:lpstr>
      <vt:lpstr>Verdana</vt:lpstr>
      <vt:lpstr>Wingdings 2</vt:lpstr>
      <vt:lpstr>Wingdings 3</vt:lpstr>
      <vt:lpstr>광장</vt:lpstr>
      <vt:lpstr>개요, 입출력</vt:lpstr>
      <vt:lpstr>내용</vt:lpstr>
      <vt:lpstr>C++ 개요</vt:lpstr>
      <vt:lpstr>C++ 개요</vt:lpstr>
      <vt:lpstr>C++ 개요</vt:lpstr>
      <vt:lpstr>C++ 개요</vt:lpstr>
      <vt:lpstr>C++ 개요</vt:lpstr>
      <vt:lpstr>C++ 개요</vt:lpstr>
      <vt:lpstr>C++ 프로그램 구조</vt:lpstr>
      <vt:lpstr>C++ 프로그램 구조</vt:lpstr>
      <vt:lpstr>C++ 프로그램 구조</vt:lpstr>
      <vt:lpstr>C++ 프로그램 구조</vt:lpstr>
      <vt:lpstr>C++ 프로그램 구조</vt:lpstr>
      <vt:lpstr>C++ 프로그램 구조</vt:lpstr>
      <vt:lpstr>C++ 프로그램 구조</vt:lpstr>
      <vt:lpstr>입출력</vt:lpstr>
      <vt:lpstr>입출력 </vt:lpstr>
      <vt:lpstr>입출력 </vt:lpstr>
      <vt:lpstr>입출력 </vt:lpstr>
      <vt:lpstr>입출력 </vt:lpstr>
      <vt:lpstr>입출력 </vt:lpstr>
      <vt:lpstr>입출력 </vt:lpstr>
      <vt:lpstr>입출력 </vt:lpstr>
      <vt:lpstr>입출력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박상준</cp:lastModifiedBy>
  <cp:revision>102</cp:revision>
  <dcterms:created xsi:type="dcterms:W3CDTF">2015-04-10T01:14:42Z</dcterms:created>
  <dcterms:modified xsi:type="dcterms:W3CDTF">2024-09-07T00:09:55Z</dcterms:modified>
</cp:coreProperties>
</file>