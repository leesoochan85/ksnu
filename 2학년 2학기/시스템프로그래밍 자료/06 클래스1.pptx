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64" r:id="rId3"/>
    <p:sldId id="365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5" r:id="rId13"/>
    <p:sldId id="396" r:id="rId14"/>
    <p:sldId id="397" r:id="rId15"/>
    <p:sldId id="398" r:id="rId16"/>
    <p:sldId id="399" r:id="rId17"/>
    <p:sldId id="400" r:id="rId18"/>
    <p:sldId id="402" r:id="rId19"/>
    <p:sldId id="374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285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8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클래스</a:t>
            </a:r>
            <a:r>
              <a:rPr lang="en-US" altLang="ko-KR" sz="3200" dirty="0"/>
              <a:t>1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2000" dirty="0"/>
              <a:t>클래스 만들기</a:t>
            </a:r>
            <a:endParaRPr kumimoji="0"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/>
              <a:t>객체 </a:t>
            </a:r>
            <a:r>
              <a:rPr kumimoji="0" lang="en-US" altLang="ko-KR" sz="2000" dirty="0"/>
              <a:t>(</a:t>
            </a:r>
            <a:r>
              <a:rPr kumimoji="0" lang="ko-KR" altLang="en-US" sz="2000" dirty="0"/>
              <a:t>변수</a:t>
            </a:r>
            <a:r>
              <a:rPr kumimoji="0" lang="en-US" altLang="ko-KR" sz="2000" dirty="0"/>
              <a:t>) </a:t>
            </a:r>
            <a:r>
              <a:rPr kumimoji="0" lang="ko-KR" altLang="en-US" sz="2000" dirty="0"/>
              <a:t>지정</a:t>
            </a:r>
            <a:endParaRPr kumimoji="0"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/>
              <a:t>객체 사용</a:t>
            </a:r>
          </a:p>
        </p:txBody>
      </p:sp>
    </p:spTree>
    <p:extLst>
      <p:ext uri="{BB962C8B-B14F-4D97-AF65-F5344CB8AC3E}">
        <p14:creationId xmlns:p14="http://schemas.microsoft.com/office/powerpoint/2010/main" val="887665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클래스의 개념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기존 프로그래밍 언어의 한계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 err="1">
                <a:latin typeface="-윤고딕140"/>
                <a:ea typeface="-윤고딕140"/>
                <a:cs typeface="-윤고딕140"/>
              </a:rPr>
              <a:t>구조형을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 사용해 자동차를 모방하기 어렵다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 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* </a:t>
            </a:r>
            <a:r>
              <a:rPr lang="ko-KR" altLang="en-US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자동차의 속성은 표현 가능</a:t>
            </a: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* </a:t>
            </a:r>
            <a:r>
              <a:rPr lang="ko-KR" altLang="en-US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자동차의 기능은 표현 불가능</a:t>
            </a: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4" name="부제목 8"/>
          <p:cNvSpPr txBox="1">
            <a:spLocks/>
          </p:cNvSpPr>
          <p:nvPr/>
        </p:nvSpPr>
        <p:spPr>
          <a:xfrm>
            <a:off x="1043608" y="2601309"/>
            <a:ext cx="6357937" cy="1143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strcut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Car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number;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자동차 등록 번호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fuel;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남은 연료량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31026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클래스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클래스로 현실 세계 모방하기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클래스를 사용하면 현실 세계에 더 근접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클래스는 속성과 기능을 모두 구현할 수 있는 사용자 정의 </a:t>
            </a:r>
            <a:r>
              <a:rPr lang="ko-KR" altLang="en-US" sz="16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자료형</a:t>
            </a: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971600" y="2564904"/>
            <a:ext cx="6357937" cy="17859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class Car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public: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number;      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자동차 등록 번호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fuel;            </a:t>
            </a:r>
            <a:r>
              <a:rPr kumimoji="0" lang="en-US" altLang="ko-KR" sz="1600" spc="-1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자동차의 남은 연료량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자동차 등록 번호 표시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displayFuel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  </a:t>
            </a:r>
            <a:r>
              <a:rPr kumimoji="0" lang="en-US" altLang="ko-KR" sz="1600" spc="1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자동차의 연료량 표시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96051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클래스 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변수 항목과 함수 항목</a:t>
            </a:r>
            <a:endParaRPr lang="en-US" altLang="ko-KR" sz="12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971600" y="2276872"/>
            <a:ext cx="6357937" cy="23574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class Car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public: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</a:t>
            </a:r>
            <a:r>
              <a:rPr kumimoji="0"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-윤고딕140" pitchFamily="18" charset="-127"/>
                <a:ea typeface="-윤고딕140" pitchFamily="18" charset="-127"/>
              </a:rPr>
              <a:t>// </a:t>
            </a:r>
            <a:r>
              <a:rPr kumimoji="0" lang="ko-KR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-윤고딕140" pitchFamily="18" charset="-127"/>
                <a:ea typeface="-윤고딕140" pitchFamily="18" charset="-127"/>
              </a:rPr>
              <a:t>아래 두 개는 변수항목</a:t>
            </a:r>
            <a:r>
              <a:rPr kumimoji="0"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-윤고딕140" pitchFamily="18" charset="-127"/>
                <a:ea typeface="-윤고딕140" pitchFamily="18" charset="-127"/>
              </a:rPr>
              <a:t>(data member) = </a:t>
            </a:r>
            <a:r>
              <a:rPr kumimoji="0" lang="ko-KR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-윤고딕140" pitchFamily="18" charset="-127"/>
                <a:ea typeface="-윤고딕140" pitchFamily="18" charset="-127"/>
              </a:rPr>
              <a:t>속성 </a:t>
            </a:r>
            <a:r>
              <a:rPr kumimoji="0" lang="en-US" altLang="ko-KR" sz="1600" dirty="0">
                <a:solidFill>
                  <a:srgbClr val="00B050"/>
                </a:solidFill>
                <a:highlight>
                  <a:srgbClr val="FFFF00"/>
                </a:highlight>
                <a:latin typeface="-윤고딕140" pitchFamily="18" charset="-127"/>
                <a:ea typeface="-윤고딕140" pitchFamily="18" charset="-127"/>
              </a:rPr>
              <a:t>//</a:t>
            </a:r>
            <a:r>
              <a:rPr kumimoji="0" lang="ko-KR" altLang="en-US" sz="1600" dirty="0">
                <a:solidFill>
                  <a:srgbClr val="00B050"/>
                </a:solidFill>
                <a:highlight>
                  <a:srgbClr val="FFFF00"/>
                </a:highlight>
                <a:latin typeface="-윤고딕140" pitchFamily="18" charset="-127"/>
                <a:ea typeface="-윤고딕140" pitchFamily="18" charset="-127"/>
              </a:rPr>
              <a:t>전역변수</a:t>
            </a:r>
            <a:endParaRPr kumimoji="0" lang="en-US" altLang="ko-KR" sz="1600" dirty="0">
              <a:solidFill>
                <a:srgbClr val="00B050"/>
              </a:solidFill>
              <a:highlight>
                <a:srgbClr val="FFFF00"/>
              </a:highlight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number;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fuel;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아래 두 개는 함수항목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(function member) =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기능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displayFuel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*</a:t>
            </a:r>
            <a:r>
              <a:rPr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멤버변수리스트 이후 멤버함수리스트 순서를 지키자 </a:t>
            </a:r>
            <a:r>
              <a:rPr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: </a:t>
            </a:r>
            <a:r>
              <a:rPr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클래스는 항상 이렇게 사용한다</a:t>
            </a:r>
            <a:r>
              <a:rPr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30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클래스 정의 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 err="1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구조형과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유사한 클래스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 err="1">
                <a:latin typeface="-윤고딕140"/>
                <a:ea typeface="-윤고딕140"/>
                <a:cs typeface="-윤고딕140"/>
              </a:rPr>
              <a:t>구조형의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 문법과 클래스의 문법은 대동소이</a:t>
            </a: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* </a:t>
            </a:r>
            <a:r>
              <a:rPr lang="en-US" altLang="ko-KR" sz="16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struct</a:t>
            </a: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대신에 </a:t>
            </a: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class</a:t>
            </a:r>
            <a:r>
              <a:rPr lang="ko-KR" altLang="en-US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를 사용</a:t>
            </a: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* </a:t>
            </a:r>
            <a:r>
              <a:rPr lang="ko-KR" altLang="en-US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기능 정의 부분이 포함되는 것이 다름</a:t>
            </a: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8" name="부제목 8"/>
          <p:cNvSpPr txBox="1">
            <a:spLocks/>
          </p:cNvSpPr>
          <p:nvPr/>
        </p:nvSpPr>
        <p:spPr>
          <a:xfrm>
            <a:off x="899592" y="3429000"/>
            <a:ext cx="6357937" cy="18573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Class Car {               //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struct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Car {</a:t>
            </a: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public:</a:t>
            </a: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number;              // 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number;</a:t>
            </a: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fuel;                    // 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fuel;</a:t>
            </a: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displayNumber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();   //      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해당 없음</a:t>
            </a: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displayFuel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();      //      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해당 없음</a:t>
            </a: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78937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클래스 정의 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클래스 지정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변수 항목과 함수 항목을 나열하는 형태로 정의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1043608" y="2780928"/>
            <a:ext cx="6357937" cy="2286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class Car {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클래스 정의의 시작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public: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아래 두 개는 변수항목의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‘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선언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number;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fuel;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아래 두 개는 함수항목의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‘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선언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displayFue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2741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클래스 정의 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클래스의 함수 항목 정의하기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클래스 안의 함수 항목은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‘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선언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’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된 것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클래스 밖에서 함수 항목을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‘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정의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’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해 주어야 함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827584" y="2815621"/>
            <a:ext cx="6357937" cy="18573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</a:t>
            </a:r>
            <a:r>
              <a:rPr kumimoji="0"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-윤고딕140" pitchFamily="18" charset="-127"/>
                <a:ea typeface="-윤고딕140" pitchFamily="18" charset="-127"/>
              </a:rPr>
              <a:t>Car::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 {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 “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차량 번호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:”&lt;&lt; number &lt;&lt;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endl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</a:t>
            </a:r>
            <a:r>
              <a:rPr kumimoji="0"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-윤고딕140" pitchFamily="18" charset="-127"/>
                <a:ea typeface="-윤고딕140" pitchFamily="18" charset="-127"/>
              </a:rPr>
              <a:t>Car::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displayFuel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 “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남은 연료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:”&lt;&lt; fuel &lt;&lt;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endl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761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클래스 정의 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함수 항목을 정의할 때 반드시 클래스 이름을 붙일 것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lang="ko-KR" altLang="en-US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그렇지 않으면 함수 항목이 아닌 일반 함수로 취급</a:t>
            </a: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899592" y="2780928"/>
            <a:ext cx="6357937" cy="3571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Car::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 { … } // ::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은 유효 범위 연산자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4930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클래스 정의 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완성된 클래스</a:t>
            </a:r>
            <a:endParaRPr lang="en-US" altLang="ko-KR" sz="12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971600" y="1950434"/>
            <a:ext cx="6357937" cy="35877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class Car {</a:t>
            </a: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public:</a:t>
            </a: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int number;   int fuel;</a:t>
            </a: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void displayNumber();</a:t>
            </a: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void displayFuel();</a:t>
            </a: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};  // </a:t>
            </a:r>
            <a:r>
              <a:rPr kumimoji="0" lang="ko-KR" altLang="en-US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클래스 정의는 세미콜론으로 끝난다는 점에 주목</a:t>
            </a:r>
          </a:p>
          <a:p>
            <a:pPr>
              <a:defRPr/>
            </a:pPr>
            <a:endParaRPr kumimoji="0" lang="en-US" altLang="ko-KR" sz="160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void Car::displayNumber() {</a:t>
            </a: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cout &lt;&lt; “</a:t>
            </a:r>
            <a:r>
              <a:rPr kumimoji="0" lang="ko-KR" altLang="en-US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차량 번호 </a:t>
            </a: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:”&lt;&lt; number &lt;&lt; endl;</a:t>
            </a: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}  // </a:t>
            </a:r>
            <a:r>
              <a:rPr kumimoji="0" lang="ko-KR" altLang="en-US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함수 항목 정의는 세미콜론 없이 끝난다는 점에 주목</a:t>
            </a:r>
          </a:p>
          <a:p>
            <a:pPr>
              <a:defRPr/>
            </a:pPr>
            <a:endParaRPr kumimoji="0" lang="en-US" altLang="ko-KR" sz="160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void Car::displayFuel() {</a:t>
            </a: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cout &lt;&lt;“</a:t>
            </a:r>
            <a:r>
              <a:rPr kumimoji="0" lang="ko-KR" altLang="en-US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남은 연료 </a:t>
            </a: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:”&lt;&lt; fuel &lt;&lt; endl;</a:t>
            </a:r>
          </a:p>
          <a:p>
            <a:pPr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}</a:t>
            </a:r>
          </a:p>
          <a:p>
            <a:pPr>
              <a:defRPr/>
            </a:pPr>
            <a:endParaRPr kumimoji="0" lang="en-US" altLang="ko-KR" sz="160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1871954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 선언하기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객체 선언하기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클래스를 이용해 객체를 선언</a:t>
            </a: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* </a:t>
            </a:r>
            <a:r>
              <a:rPr lang="ko-KR" altLang="en-US" sz="16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자료형을</a:t>
            </a:r>
            <a:r>
              <a:rPr lang="ko-KR" altLang="en-US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사용해 변수를 선언하는 것과 같음</a:t>
            </a: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</a:t>
            </a: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6" y="3068960"/>
            <a:ext cx="6673850" cy="3571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Car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myCar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클래스로 생성한 변수는 객체라고 부른다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1701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 선언하기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클래스와 객체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클래스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=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설계도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,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객체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=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설계도로 생산한 물품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611560" y="2636912"/>
            <a:ext cx="6357937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1.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자동차 클래스를 정의합니다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설계도 만들기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2.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클래스로 객체를 선언합니다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자동차 제작하기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3.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선언된 객체를 사용합니다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자동차 사용하기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2976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 선언하기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클래스와 객체 사용 순서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ko-KR" altLang="en-US" sz="1600" b="1" dirty="0">
                <a:latin typeface="-윤고딕140" pitchFamily="18" charset="-127"/>
                <a:ea typeface="-윤고딕140" pitchFamily="18" charset="-127"/>
              </a:rPr>
              <a:t>① 클래스 정의하기와 함수 항목 정의하기</a:t>
            </a:r>
            <a:r>
              <a:rPr lang="en-US" altLang="ko-KR" sz="1600" b="1" dirty="0">
                <a:latin typeface="-윤고딕140" pitchFamily="18" charset="-127"/>
                <a:ea typeface="-윤고딕140" pitchFamily="18" charset="-127"/>
              </a:rPr>
              <a:t>(=</a:t>
            </a:r>
            <a:r>
              <a:rPr lang="ko-KR" altLang="en-US" sz="1600" b="1" dirty="0">
                <a:latin typeface="-윤고딕140" pitchFamily="18" charset="-127"/>
                <a:ea typeface="-윤고딕140" pitchFamily="18" charset="-127"/>
              </a:rPr>
              <a:t>설계도 만들기</a:t>
            </a:r>
            <a:r>
              <a:rPr lang="en-US" altLang="ko-KR" sz="1600" b="1" dirty="0">
                <a:latin typeface="-윤고딕140" pitchFamily="18" charset="-127"/>
                <a:ea typeface="-윤고딕140" pitchFamily="18" charset="-127"/>
              </a:rPr>
              <a:t>)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6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6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6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6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ko-KR" altLang="en-US" sz="1600" b="1" dirty="0">
                <a:latin typeface="-윤고딕140" pitchFamily="18" charset="-127"/>
                <a:ea typeface="-윤고딕140" pitchFamily="18" charset="-127"/>
              </a:rPr>
              <a:t>필요한 만큼 객체 선언하기</a:t>
            </a:r>
            <a:r>
              <a:rPr lang="en-US" altLang="ko-KR" sz="1600" b="1" dirty="0">
                <a:latin typeface="-윤고딕140" pitchFamily="18" charset="-127"/>
                <a:ea typeface="-윤고딕140" pitchFamily="18" charset="-127"/>
              </a:rPr>
              <a:t>(=</a:t>
            </a:r>
            <a:r>
              <a:rPr lang="ko-KR" altLang="en-US" sz="1600" b="1" dirty="0">
                <a:latin typeface="-윤고딕140" pitchFamily="18" charset="-127"/>
                <a:ea typeface="-윤고딕140" pitchFamily="18" charset="-127"/>
              </a:rPr>
              <a:t>자동차 제작</a:t>
            </a:r>
            <a:r>
              <a:rPr lang="en-US" altLang="ko-KR" sz="1600" b="1" dirty="0">
                <a:latin typeface="-윤고딕140" pitchFamily="18" charset="-127"/>
                <a:ea typeface="-윤고딕140" pitchFamily="18" charset="-127"/>
              </a:rPr>
              <a:t>)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6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6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6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ko-KR" altLang="en-US" sz="1600" b="1" dirty="0">
                <a:latin typeface="-윤고딕140" pitchFamily="18" charset="-127"/>
                <a:ea typeface="-윤고딕140" pitchFamily="18" charset="-127"/>
              </a:rPr>
              <a:t>객체 사용하기</a:t>
            </a:r>
            <a:r>
              <a:rPr lang="en-US" altLang="ko-KR" sz="1600" b="1" dirty="0">
                <a:latin typeface="-윤고딕140" pitchFamily="18" charset="-127"/>
                <a:ea typeface="-윤고딕140" pitchFamily="18" charset="-127"/>
              </a:rPr>
              <a:t>(=</a:t>
            </a:r>
            <a:r>
              <a:rPr lang="ko-KR" altLang="en-US" sz="1600" b="1" dirty="0">
                <a:latin typeface="-윤고딕140" pitchFamily="18" charset="-127"/>
                <a:ea typeface="-윤고딕140" pitchFamily="18" charset="-127"/>
              </a:rPr>
              <a:t>자동차 사용</a:t>
            </a:r>
            <a:r>
              <a:rPr lang="en-US" altLang="ko-KR" sz="1600" b="1" dirty="0">
                <a:latin typeface="-윤고딕140" pitchFamily="18" charset="-127"/>
                <a:ea typeface="-윤고딕140" pitchFamily="18" charset="-127"/>
              </a:rPr>
              <a:t>)</a:t>
            </a: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827584" y="2420888"/>
            <a:ext cx="6357937" cy="5715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class Car { …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};</a:t>
            </a: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797780" y="3574761"/>
            <a:ext cx="6357937" cy="357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Car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myCar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      Car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yourCar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     Car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ourCar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</p:txBody>
      </p:sp>
      <p:sp>
        <p:nvSpPr>
          <p:cNvPr id="8" name="부제목 8"/>
          <p:cNvSpPr txBox="1">
            <a:spLocks/>
          </p:cNvSpPr>
          <p:nvPr/>
        </p:nvSpPr>
        <p:spPr>
          <a:xfrm>
            <a:off x="788144" y="4514321"/>
            <a:ext cx="6357937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myCar.Number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1234;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yourCar.Fuel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55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ourCar.Speed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70;</a:t>
            </a:r>
          </a:p>
        </p:txBody>
      </p:sp>
    </p:spTree>
    <p:extLst>
      <p:ext uri="{BB962C8B-B14F-4D97-AF65-F5344CB8AC3E}">
        <p14:creationId xmlns:p14="http://schemas.microsoft.com/office/powerpoint/2010/main" val="3722075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 선언하기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클래스를 사용하는 이유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1.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추상적인 설계도를 상속해서 세부적인 설계도 작성 가능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452628" indent="-342900">
              <a:spcBef>
                <a:spcPct val="0"/>
              </a:spcBef>
              <a:buAutoNum type="arabicPeriod"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2.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한 설계도로 붕어빵 찍듯이 객체를 다량 생성 가능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3.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현실 세계에 가깝게 묘사가 가능</a:t>
            </a:r>
            <a:r>
              <a:rPr lang="en-US" altLang="ko-KR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7743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 사용하기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클래스가 가진 모든 항목을 가지고 있는 객체 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  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1)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객체는 클래스에 정의된 속성과 기능을 모두 갖게 됨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452628" indent="-342900">
              <a:spcBef>
                <a:spcPct val="0"/>
              </a:spcBef>
              <a:buAutoNum type="arabicParenR"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452628" indent="-342900">
              <a:spcBef>
                <a:spcPct val="0"/>
              </a:spcBef>
              <a:buAutoNum type="arabicParenR"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2)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자동차 설계도에 따라 만들어진 자동차가 설계도에서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 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의도한 속성과 기능을 모두 갖게 되는 것과 같은 이치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678440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 사용하기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객체를 이루는 항목을 지정하는 방법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객체에 항목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(member)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을 지정할 때도 점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(.)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연산자 사용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항목 지정 예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4" name="부제목 8"/>
          <p:cNvSpPr txBox="1">
            <a:spLocks/>
          </p:cNvSpPr>
          <p:nvPr/>
        </p:nvSpPr>
        <p:spPr>
          <a:xfrm>
            <a:off x="755576" y="2636912"/>
            <a:ext cx="6357937" cy="3571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객체 이름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항목 이름   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//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구조형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변수와 동일한 사용법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6" y="3744309"/>
            <a:ext cx="6357937" cy="64293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myCar.displayFuel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yourCar.number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4922;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413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 사용하기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ko-KR" altLang="en-US" sz="1700" b="1" dirty="0">
                <a:latin typeface="-윤고딕140"/>
                <a:ea typeface="-윤고딕140"/>
                <a:cs typeface="-윤고딕140"/>
              </a:rPr>
              <a:t>객체 지정 예</a:t>
            </a:r>
            <a:endParaRPr lang="en-US" altLang="ko-KR" sz="17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endParaRPr lang="en-US" altLang="ko-KR" sz="1600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endParaRPr lang="en-US" altLang="ko-KR" sz="1600" dirty="0"/>
          </a:p>
          <a:p>
            <a:pPr marL="109728" indent="0">
              <a:buNone/>
              <a:defRPr/>
            </a:pPr>
            <a:r>
              <a:rPr lang="en-US" altLang="ko-KR" sz="1600" dirty="0"/>
              <a:t> class Car {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public: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number;</a:t>
            </a:r>
            <a:r>
              <a:rPr lang="en-US" altLang="ko-KR" sz="1600" dirty="0">
                <a:latin typeface="Arial"/>
              </a:rPr>
              <a:t>                 </a:t>
            </a:r>
            <a:r>
              <a:rPr lang="en-US" altLang="ko-KR" sz="1600" dirty="0"/>
              <a:t>// </a:t>
            </a:r>
            <a:r>
              <a:rPr lang="ko-KR" altLang="en-US" sz="1600" dirty="0"/>
              <a:t>자동차 등록 번호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fuel;</a:t>
            </a:r>
            <a:r>
              <a:rPr lang="en-US" altLang="ko-KR" sz="1600" dirty="0">
                <a:latin typeface="Arial"/>
              </a:rPr>
              <a:t>                     </a:t>
            </a:r>
            <a:r>
              <a:rPr lang="en-US" altLang="ko-KR" sz="1600" dirty="0"/>
              <a:t>// </a:t>
            </a:r>
            <a:r>
              <a:rPr lang="ko-KR" altLang="en-US" sz="1600" dirty="0"/>
              <a:t>자동차의 남은 연료량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/>
              <a:t>void </a:t>
            </a:r>
            <a:r>
              <a:rPr lang="en-US" altLang="ko-KR" sz="1600" dirty="0" err="1"/>
              <a:t>displayNumber</a:t>
            </a:r>
            <a:r>
              <a:rPr lang="en-US" altLang="ko-KR" sz="1600" dirty="0"/>
              <a:t>(void);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/>
              <a:t>// </a:t>
            </a:r>
            <a:r>
              <a:rPr lang="ko-KR" altLang="en-US" sz="1600" dirty="0"/>
              <a:t>자동차 번호를 표시하는 기능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/>
              <a:t>void </a:t>
            </a:r>
            <a:r>
              <a:rPr lang="en-US" altLang="ko-KR" sz="1600" dirty="0" err="1"/>
              <a:t>displayFuel</a:t>
            </a:r>
            <a:r>
              <a:rPr lang="en-US" altLang="ko-KR" sz="1600" dirty="0"/>
              <a:t>(void);</a:t>
            </a:r>
            <a:r>
              <a:rPr lang="en-US" altLang="ko-KR" sz="1600" dirty="0">
                <a:latin typeface="Arial"/>
              </a:rPr>
              <a:t>      </a:t>
            </a:r>
            <a:r>
              <a:rPr lang="en-US" altLang="ko-KR" sz="1600" dirty="0"/>
              <a:t>// </a:t>
            </a:r>
            <a:r>
              <a:rPr lang="ko-KR" altLang="en-US" sz="1600" dirty="0"/>
              <a:t>자동차 연료량을 표시하는 기능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}; </a:t>
            </a:r>
          </a:p>
          <a:p>
            <a:pPr marL="109728" indent="0">
              <a:buNone/>
              <a:defRPr/>
            </a:pPr>
            <a:endParaRPr lang="en-US" altLang="ko-KR" sz="1600" dirty="0"/>
          </a:p>
          <a:p>
            <a:pPr marL="109728" indent="0">
              <a:buNone/>
              <a:defRPr/>
            </a:pPr>
            <a:r>
              <a:rPr lang="en-US" altLang="ko-KR" sz="1600" dirty="0"/>
              <a:t>// </a:t>
            </a:r>
            <a:r>
              <a:rPr lang="ko-KR" altLang="en-US" sz="1600" dirty="0"/>
              <a:t>클래스의 </a:t>
            </a:r>
            <a:r>
              <a:rPr lang="ko-KR" altLang="en-US" sz="1600" dirty="0" err="1"/>
              <a:t>함수항목은</a:t>
            </a:r>
            <a:r>
              <a:rPr lang="ko-KR" altLang="en-US" sz="1600" dirty="0"/>
              <a:t> 클래스에 바로 이어 정의하는 것 좋음</a:t>
            </a:r>
            <a:r>
              <a:rPr lang="en-US" altLang="ko-KR" sz="1600" dirty="0"/>
              <a:t>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void Car::</a:t>
            </a:r>
            <a:r>
              <a:rPr lang="en-US" altLang="ko-KR" sz="1600" dirty="0" err="1"/>
              <a:t>displayNumber</a:t>
            </a:r>
            <a:r>
              <a:rPr lang="en-US" altLang="ko-KR" sz="1600" dirty="0"/>
              <a:t>(void) {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차량 번호 </a:t>
            </a:r>
            <a:r>
              <a:rPr lang="en-US" altLang="ko-KR" sz="1600" dirty="0"/>
              <a:t>: " &lt;&lt; number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}</a:t>
            </a:r>
            <a:endParaRPr lang="en-US" altLang="ko-KR" sz="1600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472229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 사용하기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  <a:defRPr/>
            </a:pPr>
            <a:endParaRPr lang="en-US" altLang="ko-KR" sz="1600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Car::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displayFuel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(void)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남은 연료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: " &lt;&lt; fuel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Car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// Car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라는 클래스로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라는 객체를 선언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myCar.number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= 1234;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myCar.fuel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= 50;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myCar.displayNumber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myCar.displayFuel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1577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/>
              <a:t>// </a:t>
            </a:r>
            <a:r>
              <a:rPr lang="ko-KR" altLang="en-US" sz="1400" b="1" dirty="0"/>
              <a:t>클래스 만들기 프로그램 </a:t>
            </a:r>
            <a:r>
              <a:rPr lang="en-US" altLang="ko-KR" sz="1400" b="1" dirty="0"/>
              <a:t>1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>
              <a:lnSpc>
                <a:spcPct val="80000"/>
              </a:lnSpc>
              <a:buNone/>
            </a:pPr>
            <a:endParaRPr lang="en-US" altLang="ko-KR" sz="1600" dirty="0"/>
          </a:p>
          <a:p>
            <a:pPr>
              <a:lnSpc>
                <a:spcPct val="80000"/>
              </a:lnSpc>
              <a:buNone/>
            </a:pPr>
            <a:r>
              <a:rPr lang="en-US" altLang="ko-KR" sz="1600" dirty="0"/>
              <a:t>class CLA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600" dirty="0"/>
              <a:t>public: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num1, num2; // </a:t>
            </a:r>
            <a:r>
              <a:rPr lang="ko-KR" altLang="en-US" sz="1600" dirty="0"/>
              <a:t>변수</a:t>
            </a:r>
          </a:p>
          <a:p>
            <a:pPr>
              <a:lnSpc>
                <a:spcPct val="80000"/>
              </a:lnSpc>
              <a:buNone/>
            </a:pPr>
            <a:endParaRPr lang="ko-KR" altLang="en-US" sz="1600" dirty="0"/>
          </a:p>
          <a:p>
            <a:pPr>
              <a:lnSpc>
                <a:spcPct val="80000"/>
              </a:lnSpc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void 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();  // </a:t>
            </a:r>
            <a:r>
              <a:rPr lang="ko-KR" altLang="en-US" sz="1600" dirty="0"/>
              <a:t>함수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void </a:t>
            </a:r>
            <a:r>
              <a:rPr lang="en-US" altLang="ko-KR" sz="1600" dirty="0" err="1"/>
              <a:t>Num_Add</a:t>
            </a:r>
            <a:r>
              <a:rPr lang="en-US" altLang="ko-KR" sz="1600" dirty="0"/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Num_Sub</a:t>
            </a:r>
            <a:r>
              <a:rPr lang="en-US" altLang="ko-KR" sz="1600" dirty="0"/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600" dirty="0"/>
              <a:t>};</a:t>
            </a:r>
          </a:p>
          <a:p>
            <a:pPr>
              <a:lnSpc>
                <a:spcPct val="80000"/>
              </a:lnSpc>
              <a:buNone/>
            </a:pPr>
            <a:endParaRPr lang="en-US" altLang="ko-KR" sz="1600" dirty="0"/>
          </a:p>
          <a:p>
            <a:pPr>
              <a:lnSpc>
                <a:spcPct val="80000"/>
              </a:lnSpc>
              <a:buNone/>
            </a:pPr>
            <a:r>
              <a:rPr lang="pt-BR" altLang="ko-KR" sz="1600" dirty="0"/>
              <a:t>void CLA::Pro_Manage()</a:t>
            </a:r>
          </a:p>
          <a:p>
            <a:pPr>
              <a:lnSpc>
                <a:spcPct val="80000"/>
              </a:lnSpc>
              <a:buNone/>
            </a:pPr>
            <a:r>
              <a:rPr lang="pt-BR" altLang="ko-KR" sz="16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pt-BR" altLang="ko-KR" sz="1600" dirty="0"/>
              <a:t>	Num_Add();</a:t>
            </a:r>
          </a:p>
          <a:p>
            <a:pPr>
              <a:lnSpc>
                <a:spcPct val="80000"/>
              </a:lnSpc>
              <a:buNone/>
            </a:pPr>
            <a:r>
              <a:rPr lang="pt-BR" altLang="ko-KR" sz="1600" dirty="0"/>
              <a:t>	Num_Sub();</a:t>
            </a:r>
          </a:p>
          <a:p>
            <a:pPr>
              <a:lnSpc>
                <a:spcPct val="80000"/>
              </a:lnSpc>
              <a:buNone/>
            </a:pPr>
            <a:r>
              <a:rPr lang="pt-BR" altLang="ko-KR" sz="1600" dirty="0"/>
              <a:t>}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5922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void CLA::</a:t>
            </a:r>
            <a:r>
              <a:rPr lang="en-US" altLang="ko-KR" sz="1400" dirty="0" err="1"/>
              <a:t>Num_Add</a:t>
            </a:r>
            <a:r>
              <a:rPr lang="en-US" altLang="ko-KR" sz="1400" dirty="0"/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num1 = 100 + 200;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void CLA::</a:t>
            </a:r>
            <a:r>
              <a:rPr lang="en-US" altLang="ko-KR" sz="1400" dirty="0" err="1"/>
              <a:t>Num_Sub</a:t>
            </a:r>
            <a:r>
              <a:rPr lang="en-US" altLang="ko-KR" sz="1400" dirty="0"/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num2 = num1 - 100;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main() 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CLA nm;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nm.Pro_Manage</a:t>
            </a:r>
            <a:r>
              <a:rPr lang="en-US" altLang="ko-KR" sz="1400" dirty="0"/>
              <a:t>();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return 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9619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/>
              <a:t>// </a:t>
            </a:r>
            <a:r>
              <a:rPr lang="ko-KR" altLang="en-US" sz="1400" b="1" dirty="0"/>
              <a:t>외부 접근 프로그램</a:t>
            </a:r>
            <a:endParaRPr lang="en-US" altLang="ko-KR" sz="1400" b="1" dirty="0"/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#include&lt;</a:t>
            </a:r>
            <a:r>
              <a:rPr lang="en-US" altLang="ko-KR" sz="1400" dirty="0" err="1"/>
              <a:t>iostream</a:t>
            </a:r>
            <a:r>
              <a:rPr lang="en-US" altLang="ko-KR" sz="1400" dirty="0"/>
              <a:t>&gt;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using namespace </a:t>
            </a:r>
            <a:r>
              <a:rPr lang="en-US" altLang="ko-KR" sz="1400" dirty="0" err="1"/>
              <a:t>std</a:t>
            </a:r>
            <a:r>
              <a:rPr lang="en-US" altLang="ko-KR" sz="1400" dirty="0"/>
              <a:t>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class CLA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public: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num1, num2; // </a:t>
            </a:r>
            <a:r>
              <a:rPr lang="ko-KR" altLang="en-US" sz="1400" dirty="0"/>
              <a:t>변수</a:t>
            </a:r>
          </a:p>
          <a:p>
            <a:pPr>
              <a:lnSpc>
                <a:spcPct val="80000"/>
              </a:lnSpc>
              <a:buNone/>
            </a:pPr>
            <a:endParaRPr lang="ko-KR" altLang="en-US" sz="1400" dirty="0"/>
          </a:p>
          <a:p>
            <a:pPr>
              <a:lnSpc>
                <a:spcPct val="80000"/>
              </a:lnSpc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Pro_Manage</a:t>
            </a:r>
            <a:r>
              <a:rPr lang="en-US" altLang="ko-KR" sz="1400" dirty="0"/>
              <a:t>();  // </a:t>
            </a:r>
            <a:r>
              <a:rPr lang="ko-KR" altLang="en-US" sz="1400" dirty="0"/>
              <a:t>함수	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void CLA::</a:t>
            </a:r>
            <a:r>
              <a:rPr lang="en-US" altLang="ko-KR" sz="1400" dirty="0" err="1"/>
              <a:t>Pro_Manage</a:t>
            </a:r>
            <a:r>
              <a:rPr lang="en-US" altLang="ko-KR" sz="1400" dirty="0"/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num1 = 100;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num2 = 200;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num1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num2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7691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main() 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CLA nm;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nm.Pro_Manage</a:t>
            </a:r>
            <a:r>
              <a:rPr lang="en-US" altLang="ko-KR" sz="1400" dirty="0"/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nm.num1 = 500;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nm.num2 = 1000;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nm.num1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nm.num2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return 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37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/>
              <a:t>// </a:t>
            </a:r>
            <a:r>
              <a:rPr lang="ko-KR" altLang="en-US" sz="1400" b="1" dirty="0"/>
              <a:t>맵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그리기 프로그램 </a:t>
            </a:r>
            <a:endParaRPr lang="en-US" altLang="ko-KR" sz="1400" b="1" dirty="0"/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#include&lt;</a:t>
            </a:r>
            <a:r>
              <a:rPr lang="en-US" altLang="ko-KR" sz="1400" dirty="0" err="1"/>
              <a:t>iostream</a:t>
            </a:r>
            <a:r>
              <a:rPr lang="en-US" altLang="ko-KR" sz="1400" dirty="0"/>
              <a:t>&gt;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#include&lt;</a:t>
            </a:r>
            <a:r>
              <a:rPr lang="en-US" altLang="ko-KR" sz="1400" dirty="0" err="1"/>
              <a:t>stdlib.h</a:t>
            </a:r>
            <a:r>
              <a:rPr lang="en-US" altLang="ko-KR" sz="1400" dirty="0"/>
              <a:t>&gt;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time.h</a:t>
            </a:r>
            <a:r>
              <a:rPr lang="en-US" altLang="ko-KR" sz="1400" dirty="0"/>
              <a:t>&gt;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Windows.h</a:t>
            </a:r>
            <a:r>
              <a:rPr lang="en-US" altLang="ko-KR" sz="1400" dirty="0"/>
              <a:t>&gt;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conio.h</a:t>
            </a:r>
            <a:r>
              <a:rPr lang="en-US" altLang="ko-KR" sz="1400" dirty="0"/>
              <a:t>&gt;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using namespace </a:t>
            </a:r>
            <a:r>
              <a:rPr lang="en-US" altLang="ko-KR" sz="1400" dirty="0" err="1"/>
              <a:t>std</a:t>
            </a:r>
            <a:r>
              <a:rPr lang="en-US" altLang="ko-KR" sz="1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51055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class CLA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public: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map[8][8] = </a:t>
            </a:r>
            <a:r>
              <a:rPr lang="en-US" altLang="ko-KR" sz="1400"/>
              <a:t>// </a:t>
            </a:r>
            <a:r>
              <a:rPr lang="ko-KR" altLang="en-US" sz="1400" dirty="0" err="1"/>
              <a:t>맵</a:t>
            </a:r>
            <a:r>
              <a:rPr lang="ko-KR" altLang="en-US" sz="1400"/>
              <a:t> </a:t>
            </a:r>
            <a:r>
              <a:rPr lang="ko-KR" altLang="en-US" sz="1400" dirty="0"/>
              <a:t>변수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1, 1, 1, 1, 1, 1,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1, 1, 1, 1, 1, 1, 1}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};	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Pro_Manage</a:t>
            </a:r>
            <a:r>
              <a:rPr lang="en-US" altLang="ko-KR" sz="1400" dirty="0"/>
              <a:t>();  // </a:t>
            </a:r>
            <a:r>
              <a:rPr lang="ko-KR" altLang="en-US" sz="1400" dirty="0"/>
              <a:t>함수	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Draw_Map</a:t>
            </a:r>
            <a:r>
              <a:rPr lang="en-US" altLang="ko-KR" sz="1400" dirty="0"/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80809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void CLA::</a:t>
            </a:r>
            <a:r>
              <a:rPr lang="en-US" altLang="ko-KR" sz="1400" dirty="0" err="1"/>
              <a:t>Pro_Manage</a:t>
            </a:r>
            <a:r>
              <a:rPr lang="en-US" altLang="ko-KR" sz="1400" dirty="0"/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Draw_Map</a:t>
            </a:r>
            <a:r>
              <a:rPr lang="en-US" altLang="ko-KR" sz="1400" dirty="0"/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void CLA::</a:t>
            </a:r>
            <a:r>
              <a:rPr lang="en-US" altLang="ko-KR" sz="1400" dirty="0" err="1"/>
              <a:t>Draw_Map</a:t>
            </a:r>
            <a:r>
              <a:rPr lang="en-US" altLang="ko-KR" sz="1400" dirty="0"/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a, b;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for (a = 0; a &lt; 8; a++)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for (b = 0; b &lt; 8; b++)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	if (map[a][b] == 0)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		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"  ";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	if (map[a][b] == 1)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		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"■";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9310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main() 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CLA nm;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nm.Pro_Manage</a:t>
            </a:r>
            <a:r>
              <a:rPr lang="en-US" altLang="ko-KR" sz="1400" dirty="0"/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return 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065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600" dirty="0"/>
              <a:t>맵 그리기  </a:t>
            </a:r>
            <a:endParaRPr lang="en-US" altLang="ko-KR" sz="1600" dirty="0"/>
          </a:p>
          <a:p>
            <a:pPr lvl="1" latinLnBrk="0"/>
            <a:r>
              <a:rPr lang="ko-KR" altLang="en-US" sz="1600" dirty="0"/>
              <a:t>임의의 랜덤 위치에 별 </a:t>
            </a:r>
            <a:r>
              <a:rPr lang="en-US" altLang="ko-KR" sz="1600" dirty="0"/>
              <a:t>(</a:t>
            </a:r>
            <a:r>
              <a:rPr lang="ko-KR" altLang="en-US" dirty="0"/>
              <a:t>★</a:t>
            </a:r>
            <a:r>
              <a:rPr lang="en-US" altLang="ko-KR" sz="1600" dirty="0"/>
              <a:t>) </a:t>
            </a:r>
            <a:r>
              <a:rPr lang="ko-KR" altLang="en-US" sz="1600" dirty="0"/>
              <a:t>집어넣기 추가</a:t>
            </a:r>
            <a:endParaRPr lang="ko-KR" altLang="ko-KR" sz="16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/>
              <a:t>연습 프로그램</a:t>
            </a:r>
            <a:br>
              <a:rPr lang="en-US" altLang="ko-KR" sz="2800" dirty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186504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869</TotalTime>
  <Words>1543</Words>
  <Application>Microsoft Office PowerPoint</Application>
  <PresentationFormat>화면 슬라이드 쇼(4:3)</PresentationFormat>
  <Paragraphs>356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굴림</vt:lpstr>
      <vt:lpstr>-윤고딕140</vt:lpstr>
      <vt:lpstr>Arial</vt:lpstr>
      <vt:lpstr>Lucida Sans Unicode</vt:lpstr>
      <vt:lpstr>Verdana</vt:lpstr>
      <vt:lpstr>Wingdings 2</vt:lpstr>
      <vt:lpstr>Wingdings 3</vt:lpstr>
      <vt:lpstr>광장</vt:lpstr>
      <vt:lpstr>클래스1</vt:lpstr>
      <vt:lpstr>내용</vt:lpstr>
      <vt:lpstr>클래스의 개념</vt:lpstr>
      <vt:lpstr>클래스</vt:lpstr>
      <vt:lpstr>클래스 </vt:lpstr>
      <vt:lpstr>클래스 정의 </vt:lpstr>
      <vt:lpstr>클래스 정의 </vt:lpstr>
      <vt:lpstr>클래스 정의 </vt:lpstr>
      <vt:lpstr>클래스 정의 </vt:lpstr>
      <vt:lpstr>클래스 정의 </vt:lpstr>
      <vt:lpstr>객체 선언하기</vt:lpstr>
      <vt:lpstr>객체 선언하기</vt:lpstr>
      <vt:lpstr>객체 선언하기</vt:lpstr>
      <vt:lpstr>객체 선언하기</vt:lpstr>
      <vt:lpstr>객체 사용하기</vt:lpstr>
      <vt:lpstr>객체 사용하기</vt:lpstr>
      <vt:lpstr>객체 사용하기</vt:lpstr>
      <vt:lpstr>객체 사용하기</vt:lpstr>
      <vt:lpstr>실습 프로그램</vt:lpstr>
      <vt:lpstr>실습 프로그램</vt:lpstr>
      <vt:lpstr>실습 프로그램</vt:lpstr>
      <vt:lpstr>실습 프로그램</vt:lpstr>
      <vt:lpstr>실습 프로그램</vt:lpstr>
      <vt:lpstr>실습 프로그램</vt:lpstr>
      <vt:lpstr>실습 프로그램</vt:lpstr>
      <vt:lpstr>실습 프로그램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수찬 이</cp:lastModifiedBy>
  <cp:revision>103</cp:revision>
  <dcterms:created xsi:type="dcterms:W3CDTF">2015-04-10T01:14:42Z</dcterms:created>
  <dcterms:modified xsi:type="dcterms:W3CDTF">2024-10-16T01:51:28Z</dcterms:modified>
</cp:coreProperties>
</file>