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353" r:id="rId3"/>
    <p:sldId id="297" r:id="rId4"/>
    <p:sldId id="354" r:id="rId5"/>
    <p:sldId id="355" r:id="rId6"/>
    <p:sldId id="356" r:id="rId7"/>
    <p:sldId id="357" r:id="rId8"/>
    <p:sldId id="361" r:id="rId9"/>
    <p:sldId id="358" r:id="rId10"/>
    <p:sldId id="359" r:id="rId11"/>
    <p:sldId id="360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77" r:id="rId28"/>
    <p:sldId id="257" r:id="rId29"/>
    <p:sldId id="378" r:id="rId30"/>
    <p:sldId id="379" r:id="rId31"/>
    <p:sldId id="380" r:id="rId32"/>
    <p:sldId id="381" r:id="rId33"/>
    <p:sldId id="382" r:id="rId34"/>
    <p:sldId id="383" r:id="rId35"/>
    <p:sldId id="384" r:id="rId36"/>
    <p:sldId id="385" r:id="rId37"/>
    <p:sldId id="386" r:id="rId3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6D359F-9A96-4952-A86C-3E81D78107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5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상속</a:t>
            </a:r>
            <a:r>
              <a:rPr lang="en-US" altLang="ko-KR" sz="3200" dirty="0"/>
              <a:t>1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내용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000" dirty="0"/>
              <a:t>상속</a:t>
            </a:r>
            <a:r>
              <a:rPr kumimoji="0" lang="ko-KR" altLang="en-US" sz="2000" dirty="0"/>
              <a:t> 개요</a:t>
            </a:r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/>
              <a:t>상속 접근 지정자</a:t>
            </a:r>
            <a:endParaRPr kumimoji="0"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lang="en-US" altLang="ko-KR" sz="2000" dirty="0" err="1"/>
              <a:t>Protectd</a:t>
            </a:r>
            <a:r>
              <a:rPr lang="en-US" altLang="ko-KR" sz="2000" dirty="0"/>
              <a:t> ; </a:t>
            </a:r>
            <a:r>
              <a:rPr lang="ko-KR" altLang="en-US" sz="2000" dirty="0"/>
              <a:t>내부에서 상속</a:t>
            </a:r>
            <a:r>
              <a:rPr lang="en-US" altLang="ko-KR" sz="2000" dirty="0"/>
              <a:t>(?)</a:t>
            </a:r>
            <a:endParaRPr kumimoji="0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74386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상속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+mn-ea"/>
                <a:cs typeface="-윤고딕140"/>
              </a:rPr>
              <a:t>클래스 상속</a:t>
            </a:r>
            <a:endParaRPr lang="en-US" altLang="ko-KR" sz="1800" b="1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b="1" dirty="0">
                <a:latin typeface="+mn-ea"/>
                <a:cs typeface="-윤고딕140"/>
              </a:rPr>
              <a:t>객체의 자산 상속</a:t>
            </a: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b="1" dirty="0">
                <a:latin typeface="+mn-ea"/>
                <a:cs typeface="-윤고딕140"/>
              </a:rPr>
              <a:t>부모 클래스의 자산</a:t>
            </a:r>
            <a:r>
              <a:rPr lang="en-US" altLang="ko-KR" sz="1800" b="1" dirty="0">
                <a:latin typeface="+mn-ea"/>
                <a:cs typeface="-윤고딕140"/>
              </a:rPr>
              <a:t>(</a:t>
            </a:r>
            <a:r>
              <a:rPr lang="ko-KR" altLang="en-US" sz="1800" b="1" dirty="0">
                <a:latin typeface="+mn-ea"/>
                <a:cs typeface="-윤고딕140"/>
              </a:rPr>
              <a:t>내부 변수와 함수</a:t>
            </a:r>
            <a:r>
              <a:rPr lang="en-US" altLang="ko-KR" sz="1800" b="1" dirty="0">
                <a:latin typeface="+mn-ea"/>
                <a:cs typeface="-윤고딕140"/>
              </a:rPr>
              <a:t>)</a:t>
            </a:r>
            <a:r>
              <a:rPr lang="ko-KR" altLang="en-US" sz="1800" b="1" dirty="0">
                <a:latin typeface="+mn-ea"/>
                <a:cs typeface="-윤고딕140"/>
              </a:rPr>
              <a:t>을 자식 클래스에 승계</a:t>
            </a: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b="1" dirty="0">
                <a:latin typeface="+mn-ea"/>
                <a:cs typeface="-윤고딕140"/>
              </a:rPr>
              <a:t>자식 클래스는 부모 클래스의 자산을 넘겨받으면서 또 다른 자산을 추가</a:t>
            </a: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b="1" dirty="0">
                <a:latin typeface="+mn-ea"/>
                <a:cs typeface="-윤고딕140"/>
              </a:rPr>
              <a:t>상속은 </a:t>
            </a:r>
            <a:r>
              <a:rPr lang="en-US" altLang="ko-KR" sz="1800" b="1" dirty="0">
                <a:latin typeface="+mn-ea"/>
                <a:cs typeface="-윤고딕140"/>
              </a:rPr>
              <a:t>(</a:t>
            </a:r>
            <a:r>
              <a:rPr lang="ko-KR" altLang="en-US" sz="1800" b="1" dirty="0">
                <a:latin typeface="+mn-ea"/>
                <a:cs typeface="-윤고딕140"/>
              </a:rPr>
              <a:t>자손 클래스 생성</a:t>
            </a:r>
            <a:r>
              <a:rPr lang="en-US" altLang="ko-KR" sz="1800" b="1" dirty="0">
                <a:latin typeface="+mn-ea"/>
                <a:cs typeface="-윤고딕140"/>
              </a:rPr>
              <a:t>) </a:t>
            </a:r>
            <a:r>
              <a:rPr lang="ko-KR" altLang="en-US" sz="1800" b="1" dirty="0">
                <a:latin typeface="+mn-ea"/>
                <a:cs typeface="-윤고딕140"/>
              </a:rPr>
              <a:t>계속해서 이루어질 수 있음</a:t>
            </a:r>
            <a:endParaRPr lang="en-US" altLang="ko-KR" sz="1800" b="1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975030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상속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+mn-ea"/>
                <a:cs typeface="-윤고딕140"/>
              </a:rPr>
              <a:t>클래스 상속</a:t>
            </a:r>
            <a:endParaRPr lang="en-US" altLang="ko-KR" sz="1800" b="1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</a:pPr>
            <a:endParaRPr lang="en-US" altLang="ko-KR" sz="1800" b="1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2000" dirty="0">
                <a:latin typeface="+mn-ea"/>
                <a:cs typeface="-윤고딕140"/>
              </a:rPr>
              <a:t>설계도 상속의 개념</a:t>
            </a:r>
            <a:endParaRPr lang="en-US" altLang="ko-KR" sz="20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1.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자동차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2.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승용차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(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자동차의 기본 설게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+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승용차의 특성 설계 보강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3.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트럭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(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자동차의 기본 설계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+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트럭의 특성 설계 보강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4.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버스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(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자동차의 기본 설계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+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버스의 특성 설계 보강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5.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스포츠카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(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승용차의 기본설계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+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스포츠카 특성 설계 보강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)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2000" dirty="0">
                <a:latin typeface="+mn-ea"/>
                <a:cs typeface="-윤고딕140"/>
              </a:rPr>
              <a:t>클래스 상속의 개념</a:t>
            </a:r>
            <a:r>
              <a:rPr lang="en-US" altLang="ko-KR" sz="2000" dirty="0">
                <a:latin typeface="+mn-ea"/>
                <a:cs typeface="-윤고딕140"/>
              </a:rPr>
              <a:t>(</a:t>
            </a:r>
            <a:r>
              <a:rPr lang="ko-KR" altLang="en-US" sz="2000" dirty="0">
                <a:latin typeface="+mn-ea"/>
                <a:cs typeface="-윤고딕140"/>
              </a:rPr>
              <a:t>클래스 </a:t>
            </a:r>
            <a:r>
              <a:rPr lang="en-US" altLang="ko-KR" sz="2000" dirty="0">
                <a:latin typeface="+mn-ea"/>
                <a:cs typeface="-윤고딕140"/>
              </a:rPr>
              <a:t>= </a:t>
            </a:r>
            <a:r>
              <a:rPr lang="ko-KR" altLang="en-US" sz="2000" dirty="0">
                <a:latin typeface="+mn-ea"/>
                <a:cs typeface="-윤고딕140"/>
              </a:rPr>
              <a:t>객체의 설계도</a:t>
            </a:r>
            <a:r>
              <a:rPr lang="en-US" altLang="ko-KR" sz="2000" dirty="0">
                <a:latin typeface="+mn-ea"/>
                <a:cs typeface="-윤고딕14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1. class Car { … };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2. class Motorcar : Car { … };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3. class Truck : Motorcar { … };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4. class Bus :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LargeCar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{ … } 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5. class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sportsCar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: Motorcar { … };</a:t>
            </a: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337465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상속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+mn-ea"/>
                <a:cs typeface="-윤고딕140"/>
              </a:rPr>
              <a:t>클래스 상속</a:t>
            </a:r>
            <a:endParaRPr lang="en-US" altLang="ko-KR" sz="1800" b="1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</a:pPr>
            <a:endParaRPr lang="en-US" altLang="ko-KR" sz="1800" b="1" dirty="0">
              <a:latin typeface="+mn-ea"/>
              <a:cs typeface="-윤고딕14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707904" y="1916831"/>
            <a:ext cx="1656184" cy="399373"/>
          </a:xfrm>
          <a:prstGeom prst="rect">
            <a:avLst/>
          </a:prstGeom>
          <a:noFill/>
          <a:ln cmpd="sng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Vehicle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707904" y="2319117"/>
            <a:ext cx="1656184" cy="533819"/>
          </a:xfrm>
          <a:prstGeom prst="rect">
            <a:avLst/>
          </a:prstGeom>
          <a:noFill/>
          <a:ln cmpd="sng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187624" y="3429000"/>
            <a:ext cx="1656184" cy="399373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Motorcar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187624" y="3831286"/>
            <a:ext cx="1656184" cy="533819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707904" y="3484534"/>
            <a:ext cx="1656184" cy="399373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Truck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07904" y="3886820"/>
            <a:ext cx="1656184" cy="533819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6372200" y="3401112"/>
            <a:ext cx="1656184" cy="399373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Bus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372200" y="3803398"/>
            <a:ext cx="1656184" cy="533819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1194714" y="4941168"/>
            <a:ext cx="1656184" cy="399373"/>
          </a:xfrm>
          <a:prstGeom prst="rect">
            <a:avLst/>
          </a:prstGeom>
          <a:noFill/>
          <a:ln cmpd="sng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</a:rPr>
              <a:t>SportsCar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194714" y="5343454"/>
            <a:ext cx="1656184" cy="533819"/>
          </a:xfrm>
          <a:prstGeom prst="rect">
            <a:avLst/>
          </a:prstGeom>
          <a:noFill/>
          <a:ln cmpd="sng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" name="직선 화살표 연결선 4"/>
          <p:cNvCxnSpPr>
            <a:stCxn id="6" idx="2"/>
            <a:endCxn id="7" idx="0"/>
          </p:cNvCxnSpPr>
          <p:nvPr/>
        </p:nvCxnSpPr>
        <p:spPr>
          <a:xfrm flipH="1">
            <a:off x="2015716" y="2852936"/>
            <a:ext cx="2520280" cy="576064"/>
          </a:xfrm>
          <a:prstGeom prst="straightConnector1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6" idx="2"/>
            <a:endCxn id="9" idx="0"/>
          </p:cNvCxnSpPr>
          <p:nvPr/>
        </p:nvCxnSpPr>
        <p:spPr>
          <a:xfrm>
            <a:off x="4535996" y="2852936"/>
            <a:ext cx="0" cy="631598"/>
          </a:xfrm>
          <a:prstGeom prst="straightConnector1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6" idx="2"/>
            <a:endCxn id="11" idx="0"/>
          </p:cNvCxnSpPr>
          <p:nvPr/>
        </p:nvCxnSpPr>
        <p:spPr>
          <a:xfrm>
            <a:off x="4535996" y="2852936"/>
            <a:ext cx="2664296" cy="548176"/>
          </a:xfrm>
          <a:prstGeom prst="straightConnector1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8" idx="2"/>
            <a:endCxn id="13" idx="0"/>
          </p:cNvCxnSpPr>
          <p:nvPr/>
        </p:nvCxnSpPr>
        <p:spPr>
          <a:xfrm>
            <a:off x="2015716" y="4365105"/>
            <a:ext cx="7090" cy="576063"/>
          </a:xfrm>
          <a:prstGeom prst="straightConnector1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719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6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상속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+mn-ea"/>
                <a:cs typeface="-윤고딕140"/>
              </a:rPr>
              <a:t>클래스 상속</a:t>
            </a:r>
            <a:endParaRPr lang="en-US" altLang="ko-KR" sz="1800" b="1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b="1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2000" dirty="0">
                <a:latin typeface="+mn-ea"/>
                <a:cs typeface="-윤고딕140"/>
              </a:rPr>
              <a:t>Class </a:t>
            </a:r>
            <a:r>
              <a:rPr lang="ko-KR" altLang="en-US" sz="2000" dirty="0" err="1">
                <a:latin typeface="+mn-ea"/>
                <a:cs typeface="-윤고딕140"/>
              </a:rPr>
              <a:t>클래스명</a:t>
            </a:r>
            <a:r>
              <a:rPr lang="en-US" altLang="ko-KR" sz="2000" dirty="0">
                <a:latin typeface="+mn-ea"/>
                <a:cs typeface="-윤고딕140"/>
              </a:rPr>
              <a:t> : </a:t>
            </a:r>
            <a:r>
              <a:rPr lang="ko-KR" altLang="en-US" sz="2000" dirty="0" err="1">
                <a:latin typeface="+mn-ea"/>
                <a:cs typeface="-윤고딕140"/>
              </a:rPr>
              <a:t>접근지정자</a:t>
            </a:r>
            <a:r>
              <a:rPr lang="en-US" altLang="ko-KR" sz="2000" dirty="0">
                <a:latin typeface="+mn-ea"/>
                <a:cs typeface="-윤고딕140"/>
              </a:rPr>
              <a:t>(</a:t>
            </a:r>
            <a:r>
              <a:rPr lang="ko-KR" altLang="en-US" sz="2000" dirty="0">
                <a:latin typeface="+mn-ea"/>
                <a:cs typeface="-윤고딕140"/>
              </a:rPr>
              <a:t>상속지정자</a:t>
            </a:r>
            <a:r>
              <a:rPr lang="en-US" altLang="ko-KR" sz="2000" dirty="0">
                <a:latin typeface="+mn-ea"/>
                <a:cs typeface="-윤고딕140"/>
              </a:rPr>
              <a:t>=(</a:t>
            </a:r>
            <a:r>
              <a:rPr lang="ko-KR" altLang="en-US" sz="2000" dirty="0">
                <a:latin typeface="+mn-ea"/>
                <a:cs typeface="-윤고딕140"/>
              </a:rPr>
              <a:t>거의 </a:t>
            </a:r>
            <a:r>
              <a:rPr lang="en-US" altLang="ko-KR" sz="2000" dirty="0">
                <a:latin typeface="+mn-ea"/>
                <a:cs typeface="-윤고딕140"/>
              </a:rPr>
              <a:t>public)) </a:t>
            </a:r>
            <a:r>
              <a:rPr lang="ko-KR" altLang="en-US" sz="2000" dirty="0">
                <a:latin typeface="+mn-ea"/>
                <a:cs typeface="-윤고딕140"/>
              </a:rPr>
              <a:t>부모클래스 명 </a:t>
            </a:r>
            <a:r>
              <a:rPr lang="en-US" altLang="ko-KR" sz="2000" dirty="0">
                <a:latin typeface="+mn-ea"/>
                <a:cs typeface="-윤고딕140"/>
              </a:rPr>
              <a:t>{</a:t>
            </a:r>
          </a:p>
          <a:p>
            <a:pPr>
              <a:spcBef>
                <a:spcPct val="0"/>
              </a:spcBef>
              <a:buNone/>
            </a:pPr>
            <a:endParaRPr lang="en-US" altLang="ko-KR" sz="20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2000" dirty="0">
                <a:latin typeface="+mn-ea"/>
                <a:cs typeface="-윤고딕140"/>
              </a:rPr>
              <a:t>… </a:t>
            </a:r>
            <a:r>
              <a:rPr lang="ko-KR" altLang="en-US" sz="2000" b="1" dirty="0">
                <a:latin typeface="+mn-ea"/>
                <a:cs typeface="-윤고딕140"/>
              </a:rPr>
              <a:t>자식 클래스의 자산</a:t>
            </a:r>
            <a:endParaRPr lang="en-US" altLang="ko-KR" sz="2000" b="1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20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2000" dirty="0">
                <a:latin typeface="+mn-ea"/>
                <a:cs typeface="-윤고딕140"/>
              </a:rPr>
              <a:t>};</a:t>
            </a:r>
          </a:p>
          <a:p>
            <a:pPr>
              <a:spcBef>
                <a:spcPct val="0"/>
              </a:spcBef>
              <a:buNone/>
            </a:pPr>
            <a:endParaRPr lang="en-US" altLang="ko-KR" sz="20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2000" dirty="0">
                <a:latin typeface="+mn-ea"/>
                <a:cs typeface="-윤고딕140"/>
              </a:rPr>
              <a:t>Ex) class</a:t>
            </a:r>
            <a:r>
              <a:rPr lang="ko-KR" altLang="en-US" sz="2000" dirty="0">
                <a:latin typeface="+mn-ea"/>
                <a:cs typeface="-윤고딕140"/>
              </a:rPr>
              <a:t> </a:t>
            </a:r>
            <a:r>
              <a:rPr lang="en-US" altLang="ko-KR" sz="2000" dirty="0" err="1">
                <a:latin typeface="+mn-ea"/>
                <a:cs typeface="-윤고딕140"/>
              </a:rPr>
              <a:t>cla_cs:</a:t>
            </a:r>
            <a:r>
              <a:rPr lang="en-US" altLang="ko-KR" sz="2000" b="1" dirty="0" err="1">
                <a:latin typeface="+mn-ea"/>
                <a:cs typeface="-윤고딕140"/>
              </a:rPr>
              <a:t>public</a:t>
            </a:r>
            <a:r>
              <a:rPr lang="en-US" altLang="ko-KR" sz="2000" b="1" dirty="0">
                <a:latin typeface="+mn-ea"/>
                <a:cs typeface="-윤고딕140"/>
              </a:rPr>
              <a:t> ”(</a:t>
            </a:r>
            <a:r>
              <a:rPr lang="ko-KR" altLang="en-US" sz="2000" b="1" dirty="0">
                <a:latin typeface="+mn-ea"/>
                <a:cs typeface="-윤고딕140"/>
              </a:rPr>
              <a:t>거의 </a:t>
            </a:r>
            <a:r>
              <a:rPr lang="en-US" altLang="ko-KR" sz="2000" b="1" dirty="0">
                <a:latin typeface="+mn-ea"/>
                <a:cs typeface="-윤고딕140"/>
              </a:rPr>
              <a:t>public)</a:t>
            </a:r>
            <a:r>
              <a:rPr lang="ko-KR" altLang="en-US" sz="2000" b="1" dirty="0">
                <a:latin typeface="+mn-ea"/>
                <a:cs typeface="-윤고딕140"/>
              </a:rPr>
              <a:t>으로 사용</a:t>
            </a:r>
            <a:r>
              <a:rPr lang="en-US" altLang="ko-KR" sz="2000" b="1" dirty="0">
                <a:latin typeface="+mn-ea"/>
                <a:cs typeface="-윤고딕140"/>
              </a:rPr>
              <a:t>”</a:t>
            </a:r>
            <a:r>
              <a:rPr lang="en-US" altLang="ko-KR" sz="2000" dirty="0">
                <a:latin typeface="+mn-ea"/>
                <a:cs typeface="-윤고딕140"/>
              </a:rPr>
              <a:t> // “protected</a:t>
            </a:r>
            <a:r>
              <a:rPr lang="ko-KR" altLang="en-US" sz="2000" dirty="0">
                <a:latin typeface="+mn-ea"/>
                <a:cs typeface="-윤고딕140"/>
              </a:rPr>
              <a:t> 사용시 마무리가 결정됨</a:t>
            </a:r>
            <a:r>
              <a:rPr lang="en-US" altLang="ko-KR" sz="2000" dirty="0">
                <a:latin typeface="+mn-ea"/>
                <a:cs typeface="-윤고딕140"/>
              </a:rPr>
              <a:t>”</a:t>
            </a:r>
            <a:r>
              <a:rPr lang="en-US" altLang="ko-KR" sz="2000" dirty="0" err="1">
                <a:latin typeface="+mn-ea"/>
                <a:cs typeface="-윤고딕140"/>
              </a:rPr>
              <a:t>cla</a:t>
            </a:r>
            <a:r>
              <a:rPr lang="en-US" altLang="ko-KR" sz="2000" dirty="0">
                <a:latin typeface="+mn-ea"/>
                <a:cs typeface="-윤고딕140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2000" dirty="0">
                <a:latin typeface="+mn-ea"/>
                <a:cs typeface="-윤고딕140"/>
              </a:rPr>
              <a:t>Private: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2000" dirty="0">
                <a:latin typeface="+mn-ea"/>
                <a:cs typeface="-윤고딕140"/>
              </a:rPr>
              <a:t> int nm4; // </a:t>
            </a:r>
            <a:r>
              <a:rPr lang="ko-KR" altLang="en-US" sz="2000" dirty="0">
                <a:latin typeface="+mn-ea"/>
                <a:cs typeface="-윤고딕140"/>
              </a:rPr>
              <a:t>부모에게 상속받은 자식</a:t>
            </a:r>
            <a:endParaRPr lang="en-US" altLang="ko-KR" sz="20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2000" dirty="0">
                <a:latin typeface="+mn-ea"/>
                <a:cs typeface="-윤고딕140"/>
              </a:rPr>
              <a:t>Public: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2000" dirty="0">
                <a:latin typeface="+mn-ea"/>
                <a:cs typeface="-윤고딕140"/>
              </a:rPr>
              <a:t> void ~(){} // </a:t>
            </a:r>
            <a:r>
              <a:rPr lang="ko-KR" altLang="en-US" sz="2000" dirty="0">
                <a:latin typeface="+mn-ea"/>
                <a:cs typeface="-윤고딕140"/>
              </a:rPr>
              <a:t>없어도 됨</a:t>
            </a:r>
            <a:endParaRPr lang="en-US" altLang="ko-KR" sz="20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2000" dirty="0">
                <a:latin typeface="+mn-ea"/>
                <a:cs typeface="-윤고딕14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53255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7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상속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+mn-ea"/>
                <a:cs typeface="-윤고딕140"/>
              </a:rPr>
              <a:t>클래스 상속</a:t>
            </a:r>
            <a:endParaRPr lang="en-US" altLang="ko-KR" sz="1800" b="1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latin typeface="+mn-ea"/>
                <a:cs typeface="-윤고딕140"/>
              </a:rPr>
              <a:t>클래스 상속은 기본</a:t>
            </a:r>
            <a:r>
              <a:rPr lang="en-US" altLang="ko-KR" sz="1800" dirty="0">
                <a:latin typeface="+mn-ea"/>
                <a:cs typeface="-윤고딕140"/>
              </a:rPr>
              <a:t>(</a:t>
            </a:r>
            <a:r>
              <a:rPr lang="ko-KR" altLang="en-US" sz="1800" dirty="0">
                <a:latin typeface="+mn-ea"/>
                <a:cs typeface="-윤고딕140"/>
              </a:rPr>
              <a:t>루트</a:t>
            </a:r>
            <a:r>
              <a:rPr lang="en-US" altLang="ko-KR" sz="1800" dirty="0">
                <a:latin typeface="+mn-ea"/>
                <a:cs typeface="-윤고딕140"/>
              </a:rPr>
              <a:t>)</a:t>
            </a:r>
            <a:r>
              <a:rPr lang="ko-KR" altLang="en-US" sz="1800" dirty="0">
                <a:latin typeface="+mn-ea"/>
                <a:cs typeface="-윤고딕140"/>
              </a:rPr>
              <a:t> 클래스와 파생</a:t>
            </a:r>
            <a:r>
              <a:rPr lang="en-US" altLang="ko-KR" sz="1800" dirty="0">
                <a:latin typeface="+mn-ea"/>
                <a:cs typeface="-윤고딕140"/>
              </a:rPr>
              <a:t>(</a:t>
            </a:r>
            <a:r>
              <a:rPr lang="ko-KR" altLang="en-US" sz="1800" dirty="0">
                <a:latin typeface="+mn-ea"/>
                <a:cs typeface="-윤고딕140"/>
              </a:rPr>
              <a:t>자식</a:t>
            </a:r>
            <a:r>
              <a:rPr lang="en-US" altLang="ko-KR" sz="1800" dirty="0">
                <a:latin typeface="+mn-ea"/>
                <a:cs typeface="-윤고딕140"/>
              </a:rPr>
              <a:t>)</a:t>
            </a:r>
            <a:r>
              <a:rPr lang="ko-KR" altLang="en-US" sz="1800" dirty="0">
                <a:latin typeface="+mn-ea"/>
                <a:cs typeface="-윤고딕140"/>
              </a:rPr>
              <a:t> 클래스로 구성</a:t>
            </a:r>
            <a:endParaRPr lang="en-US" altLang="ko-KR" sz="1800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latin typeface="+mn-ea"/>
                <a:cs typeface="-윤고딕140"/>
              </a:rPr>
              <a:t>기본 클래스</a:t>
            </a:r>
            <a:r>
              <a:rPr lang="en-US" altLang="ko-KR" sz="1800" dirty="0">
                <a:latin typeface="+mn-ea"/>
                <a:cs typeface="-윤고딕140"/>
              </a:rPr>
              <a:t>(base class, root class) : </a:t>
            </a:r>
            <a:r>
              <a:rPr lang="ko-KR" altLang="en-US" sz="1800" dirty="0">
                <a:latin typeface="+mn-ea"/>
                <a:cs typeface="-윤고딕140"/>
              </a:rPr>
              <a:t>처음으로 정의된 클래스</a:t>
            </a:r>
            <a:endParaRPr lang="en-US" altLang="ko-KR" sz="1800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class Car { … };     //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상속 받은 바 없음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파생 클래스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: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기본 클래스를 상속 받은 클래스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class Motorcar : public Car { … },public car2,public car3 … ;         // Car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클래스를 상속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class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sportscar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: public Motorcar { … };   // Motorcar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클래스를 상속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class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bumpercar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: public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sportscar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{ … };  //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sportscar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클래스를 상속</a:t>
            </a:r>
            <a:endParaRPr lang="en-US" altLang="ko-KR" sz="1800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885310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8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상속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+mn-ea"/>
                <a:cs typeface="-윤고딕140"/>
              </a:rPr>
              <a:t>클래스 상속</a:t>
            </a:r>
            <a:endParaRPr lang="en-US" altLang="ko-KR" sz="1800" b="1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b="1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클래스를 상속한다는 것은 함수항목과 변수항목을 상속 받는 것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ko-KR" altLang="en-US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파생 클래스는 부모 클래스의 모든 항목 상속</a:t>
            </a: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solidFill>
                <a:srgbClr val="E46C0A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함수 항목 상속 </a:t>
            </a:r>
            <a:r>
              <a:rPr lang="en-US" altLang="ko-KR" sz="1800" dirty="0">
                <a:latin typeface="+mn-ea"/>
                <a:cs typeface="-윤고딕140"/>
              </a:rPr>
              <a:t>: </a:t>
            </a:r>
            <a:r>
              <a:rPr lang="ko-KR" altLang="en-US" sz="1800" dirty="0">
                <a:latin typeface="+mn-ea"/>
                <a:cs typeface="-윤고딕140"/>
              </a:rPr>
              <a:t>기능을 닮게 됨</a:t>
            </a: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변수 항목 상속 </a:t>
            </a:r>
            <a:r>
              <a:rPr lang="en-US" altLang="ko-KR" sz="1800" dirty="0">
                <a:latin typeface="+mn-ea"/>
                <a:cs typeface="-윤고딕140"/>
              </a:rPr>
              <a:t>: </a:t>
            </a:r>
            <a:r>
              <a:rPr lang="ko-KR" altLang="en-US" sz="1800" dirty="0">
                <a:latin typeface="+mn-ea"/>
                <a:cs typeface="-윤고딕140"/>
              </a:rPr>
              <a:t>속성을 닮게 됨</a:t>
            </a: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상속 항목 </a:t>
            </a:r>
            <a:r>
              <a:rPr lang="en-US" altLang="ko-KR" sz="1800" dirty="0">
                <a:latin typeface="+mn-ea"/>
                <a:cs typeface="-윤고딕140"/>
              </a:rPr>
              <a:t>+ </a:t>
            </a:r>
            <a:r>
              <a:rPr lang="ko-KR" altLang="en-US" sz="1800" dirty="0">
                <a:latin typeface="+mn-ea"/>
                <a:cs typeface="-윤고딕140"/>
              </a:rPr>
              <a:t>고유 항목 </a:t>
            </a:r>
            <a:r>
              <a:rPr lang="en-US" altLang="ko-KR" sz="1800" dirty="0">
                <a:latin typeface="+mn-ea"/>
                <a:cs typeface="-윤고딕140"/>
              </a:rPr>
              <a:t>: </a:t>
            </a:r>
            <a:r>
              <a:rPr lang="ko-KR" altLang="en-US" sz="1800" dirty="0">
                <a:latin typeface="+mn-ea"/>
                <a:cs typeface="-윤고딕140"/>
              </a:rPr>
              <a:t>고유함을 지니게 됨</a:t>
            </a: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385902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9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상속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+mn-ea"/>
                <a:cs typeface="-윤고딕140"/>
              </a:rPr>
              <a:t>클래스 상속 예</a:t>
            </a:r>
            <a:endParaRPr lang="en-US" altLang="ko-KR" sz="1800" b="1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b="1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#include &lt;</a:t>
            </a:r>
            <a:r>
              <a:rPr lang="en-US" altLang="ko-KR" sz="1800" dirty="0" err="1">
                <a:latin typeface="+mn-ea"/>
              </a:rPr>
              <a:t>iostream</a:t>
            </a:r>
            <a:r>
              <a:rPr lang="en-US" altLang="ko-KR" sz="1800" dirty="0">
                <a:latin typeface="+mn-ea"/>
              </a:rPr>
              <a:t>&gt;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using namespace </a:t>
            </a:r>
            <a:r>
              <a:rPr lang="en-US" altLang="ko-KR" sz="1800" dirty="0" err="1">
                <a:latin typeface="+mn-ea"/>
              </a:rPr>
              <a:t>std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class Car {// </a:t>
            </a:r>
            <a:r>
              <a:rPr lang="ko-KR" altLang="en-US" sz="1800" dirty="0">
                <a:latin typeface="+mn-ea"/>
              </a:rPr>
              <a:t>기본 클래스인 </a:t>
            </a:r>
            <a:r>
              <a:rPr lang="en-US" altLang="ko-KR" sz="1800" dirty="0">
                <a:latin typeface="+mn-ea"/>
              </a:rPr>
              <a:t>Car </a:t>
            </a:r>
            <a:r>
              <a:rPr lang="ko-KR" altLang="en-US" sz="1800" dirty="0">
                <a:latin typeface="+mn-ea"/>
              </a:rPr>
              <a:t>클래스를 정의</a:t>
            </a: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private :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number;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fuel;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public :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cNum</a:t>
            </a:r>
            <a:r>
              <a:rPr lang="en-US" altLang="ko-KR" sz="1800" dirty="0">
                <a:latin typeface="+mn-ea"/>
              </a:rPr>
              <a:t> = 0,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cFuel</a:t>
            </a:r>
            <a:r>
              <a:rPr lang="en-US" altLang="ko-KR" sz="1800" dirty="0">
                <a:latin typeface="+mn-ea"/>
              </a:rPr>
              <a:t> = 0);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void </a:t>
            </a:r>
            <a:r>
              <a:rPr lang="en-US" altLang="ko-KR" sz="1800" dirty="0" err="1">
                <a:latin typeface="+mn-ea"/>
              </a:rPr>
              <a:t>displayNumber</a:t>
            </a:r>
            <a:r>
              <a:rPr lang="en-US" altLang="ko-KR" sz="1800" dirty="0">
                <a:latin typeface="+mn-ea"/>
              </a:rPr>
              <a:t>(void) 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       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차량 번호 </a:t>
            </a:r>
            <a:r>
              <a:rPr lang="en-US" altLang="ko-KR" sz="1800" dirty="0">
                <a:latin typeface="+mn-ea"/>
              </a:rPr>
              <a:t>: " &lt;&lt; number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;}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void </a:t>
            </a:r>
            <a:r>
              <a:rPr lang="en-US" altLang="ko-KR" sz="1800" dirty="0" err="1">
                <a:latin typeface="+mn-ea"/>
              </a:rPr>
              <a:t>displayFuel</a:t>
            </a:r>
            <a:r>
              <a:rPr lang="en-US" altLang="ko-KR" sz="1800" dirty="0">
                <a:latin typeface="+mn-ea"/>
              </a:rPr>
              <a:t>(void){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남은 연료 </a:t>
            </a:r>
            <a:r>
              <a:rPr lang="en-US" altLang="ko-KR" sz="1800" dirty="0">
                <a:latin typeface="+mn-ea"/>
              </a:rPr>
              <a:t>: " &lt;&lt; fuel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;}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};</a:t>
            </a:r>
          </a:p>
        </p:txBody>
      </p:sp>
    </p:spTree>
    <p:extLst>
      <p:ext uri="{BB962C8B-B14F-4D97-AF65-F5344CB8AC3E}">
        <p14:creationId xmlns:p14="http://schemas.microsoft.com/office/powerpoint/2010/main" val="3266192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10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상속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Car::Car(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cNum</a:t>
            </a:r>
            <a:r>
              <a:rPr lang="en-US" altLang="ko-KR" sz="1800" dirty="0">
                <a:latin typeface="+mn-ea"/>
              </a:rPr>
              <a:t>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cFuel</a:t>
            </a:r>
            <a:r>
              <a:rPr lang="en-US" altLang="ko-KR" sz="1800" dirty="0">
                <a:latin typeface="+mn-ea"/>
              </a:rPr>
              <a:t>) 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number = </a:t>
            </a:r>
            <a:r>
              <a:rPr lang="en-US" altLang="ko-KR" sz="1800" dirty="0" err="1">
                <a:latin typeface="+mn-ea"/>
              </a:rPr>
              <a:t>cNum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fuel = </a:t>
            </a:r>
            <a:r>
              <a:rPr lang="en-US" altLang="ko-KR" sz="1800" dirty="0" err="1">
                <a:latin typeface="+mn-ea"/>
              </a:rPr>
              <a:t>cFuel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class Motorcar : public Car 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private :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temp;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public :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Motorcar(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cTemp</a:t>
            </a:r>
            <a:r>
              <a:rPr lang="en-US" altLang="ko-KR" sz="1800" dirty="0">
                <a:latin typeface="+mn-ea"/>
              </a:rPr>
              <a:t> = 0,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cNum</a:t>
            </a:r>
            <a:r>
              <a:rPr lang="en-US" altLang="ko-KR" sz="1800" dirty="0">
                <a:latin typeface="+mn-ea"/>
              </a:rPr>
              <a:t> = 0,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cFuel</a:t>
            </a:r>
            <a:r>
              <a:rPr lang="en-US" altLang="ko-KR" sz="1800" dirty="0">
                <a:latin typeface="+mn-ea"/>
              </a:rPr>
              <a:t> = 0);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void </a:t>
            </a:r>
            <a:r>
              <a:rPr lang="en-US" altLang="ko-KR" sz="1800" dirty="0" err="1">
                <a:latin typeface="+mn-ea"/>
              </a:rPr>
              <a:t>display_temp</a:t>
            </a:r>
            <a:r>
              <a:rPr lang="en-US" altLang="ko-KR" sz="1800" dirty="0">
                <a:latin typeface="+mn-ea"/>
              </a:rPr>
              <a:t>(void) {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설정 온도 </a:t>
            </a:r>
            <a:r>
              <a:rPr lang="en-US" altLang="ko-KR" sz="1800" dirty="0">
                <a:latin typeface="+mn-ea"/>
              </a:rPr>
              <a:t>: " &lt;&lt; temp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;}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};  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38021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11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상속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Motorcar::Motorcar(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cTemp</a:t>
            </a:r>
            <a:r>
              <a:rPr lang="en-US" altLang="ko-KR" sz="1800" dirty="0">
                <a:latin typeface="+mn-ea"/>
              </a:rPr>
              <a:t>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cNum</a:t>
            </a:r>
            <a:r>
              <a:rPr lang="en-US" altLang="ko-KR" sz="1800" dirty="0">
                <a:latin typeface="+mn-ea"/>
              </a:rPr>
              <a:t>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cFuel</a:t>
            </a:r>
            <a:r>
              <a:rPr lang="en-US" altLang="ko-KR" sz="1800" dirty="0">
                <a:latin typeface="+mn-ea"/>
              </a:rPr>
              <a:t>):Car(</a:t>
            </a:r>
            <a:r>
              <a:rPr lang="en-US" altLang="ko-KR" sz="1800" dirty="0" err="1">
                <a:latin typeface="+mn-ea"/>
              </a:rPr>
              <a:t>cNum</a:t>
            </a:r>
            <a:r>
              <a:rPr lang="en-US" altLang="ko-KR" sz="1800" dirty="0">
                <a:latin typeface="+mn-ea"/>
              </a:rPr>
              <a:t>, </a:t>
            </a:r>
            <a:r>
              <a:rPr lang="en-US" altLang="ko-KR" sz="1800" dirty="0" err="1">
                <a:latin typeface="+mn-ea"/>
              </a:rPr>
              <a:t>cFuel</a:t>
            </a:r>
            <a:r>
              <a:rPr lang="en-US" altLang="ko-KR" sz="1800" dirty="0">
                <a:latin typeface="+mn-ea"/>
              </a:rPr>
              <a:t>) 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이 차는 승용차입니다</a:t>
            </a:r>
            <a:r>
              <a:rPr lang="en-US" altLang="ko-KR" sz="1800" dirty="0">
                <a:latin typeface="+mn-ea"/>
              </a:rPr>
              <a:t>."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temp = </a:t>
            </a:r>
            <a:r>
              <a:rPr lang="en-US" altLang="ko-KR" sz="1800" dirty="0" err="1">
                <a:latin typeface="+mn-ea"/>
              </a:rPr>
              <a:t>cTemp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}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 main(){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Motorcar </a:t>
            </a:r>
            <a:r>
              <a:rPr lang="en-US" altLang="ko-KR" sz="1800" dirty="0" err="1">
                <a:latin typeface="+mn-ea"/>
              </a:rPr>
              <a:t>myMotorcar</a:t>
            </a:r>
            <a:r>
              <a:rPr lang="en-US" altLang="ko-KR" sz="1800" dirty="0">
                <a:latin typeface="+mn-ea"/>
              </a:rPr>
              <a:t>(25, 1234, 7);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myMotorcar.displayNumber</a:t>
            </a:r>
            <a:r>
              <a:rPr lang="en-US" altLang="ko-KR" sz="1800" dirty="0">
                <a:latin typeface="+mn-ea"/>
              </a:rPr>
              <a:t>();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myMotorcar.displayFuel</a:t>
            </a:r>
            <a:r>
              <a:rPr lang="en-US" altLang="ko-KR" sz="1800" dirty="0">
                <a:latin typeface="+mn-ea"/>
              </a:rPr>
              <a:t>();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myMotorcar.display_temp</a:t>
            </a:r>
            <a:r>
              <a:rPr lang="en-US" altLang="ko-KR" sz="1800" dirty="0">
                <a:latin typeface="+mn-ea"/>
              </a:rPr>
              <a:t>();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65644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12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+mn-ea"/>
                <a:cs typeface="-윤고딕140"/>
              </a:rPr>
              <a:t>접근 지정자를 통한 상속</a:t>
            </a:r>
            <a:endParaRPr lang="en-US" altLang="ko-KR" sz="1800" b="1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b="1" dirty="0">
                <a:latin typeface="+mn-ea"/>
                <a:cs typeface="-윤고딕140"/>
              </a:rPr>
              <a:t>클래스 내부 접근 지정자</a:t>
            </a: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b="1" dirty="0">
                <a:latin typeface="+mn-ea"/>
                <a:cs typeface="-윤고딕140"/>
              </a:rPr>
              <a:t>클래스 상속 시 접근</a:t>
            </a:r>
            <a:r>
              <a:rPr lang="en-US" altLang="ko-KR" sz="1800" b="1" dirty="0">
                <a:latin typeface="+mn-ea"/>
                <a:cs typeface="-윤고딕140"/>
              </a:rPr>
              <a:t>(</a:t>
            </a:r>
            <a:r>
              <a:rPr lang="ko-KR" altLang="en-US" sz="1800" b="1" dirty="0">
                <a:latin typeface="+mn-ea"/>
                <a:cs typeface="-윤고딕140"/>
              </a:rPr>
              <a:t>상속</a:t>
            </a:r>
            <a:r>
              <a:rPr lang="en-US" altLang="ko-KR" sz="1800" b="1" dirty="0">
                <a:latin typeface="+mn-ea"/>
                <a:cs typeface="-윤고딕140"/>
              </a:rPr>
              <a:t>)</a:t>
            </a:r>
            <a:r>
              <a:rPr lang="ko-KR" altLang="en-US" sz="1800" b="1" dirty="0">
                <a:latin typeface="+mn-ea"/>
                <a:cs typeface="-윤고딕140"/>
              </a:rPr>
              <a:t> 지정자</a:t>
            </a: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b="1" dirty="0">
                <a:latin typeface="+mn-ea"/>
                <a:cs typeface="-윤고딕140"/>
              </a:rPr>
              <a:t>접근</a:t>
            </a:r>
            <a:r>
              <a:rPr lang="en-US" altLang="ko-KR" sz="1800" b="1" dirty="0">
                <a:latin typeface="+mn-ea"/>
                <a:cs typeface="-윤고딕140"/>
              </a:rPr>
              <a:t>(</a:t>
            </a:r>
            <a:r>
              <a:rPr lang="ko-KR" altLang="en-US" sz="1800" b="1" dirty="0">
                <a:latin typeface="+mn-ea"/>
                <a:cs typeface="-윤고딕140"/>
              </a:rPr>
              <a:t>상속 지정자</a:t>
            </a:r>
            <a:r>
              <a:rPr lang="en-US" altLang="ko-KR" sz="1800" b="1" dirty="0">
                <a:latin typeface="+mn-ea"/>
                <a:cs typeface="-윤고딕140"/>
              </a:rPr>
              <a:t>): private, protected, public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b="1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20900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+mn-ea"/>
                <a:cs typeface="-윤고딕140"/>
              </a:rPr>
              <a:t>접근 지정자를 통한 상속</a:t>
            </a:r>
            <a:endParaRPr lang="en-US" altLang="ko-KR" sz="1800" b="1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b="1" dirty="0">
              <a:latin typeface="+mn-ea"/>
              <a:cs typeface="-윤고딕14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424048" y="2276872"/>
            <a:ext cx="1800200" cy="399373"/>
          </a:xfrm>
          <a:prstGeom prst="rect">
            <a:avLst/>
          </a:prstGeom>
          <a:noFill/>
          <a:ln cmpd="sng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Public</a:t>
            </a:r>
            <a:r>
              <a:rPr lang="ko-KR" altLang="en-US" sz="1600" dirty="0">
                <a:solidFill>
                  <a:schemeClr val="tx1"/>
                </a:solidFill>
              </a:rPr>
              <a:t>으로 상속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220072" y="2279395"/>
            <a:ext cx="1800200" cy="399373"/>
          </a:xfrm>
          <a:prstGeom prst="rect">
            <a:avLst/>
          </a:prstGeom>
          <a:noFill/>
          <a:ln cmpd="sng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Protected</a:t>
            </a:r>
            <a:r>
              <a:rPr lang="ko-KR" altLang="en-US" sz="1600" dirty="0">
                <a:solidFill>
                  <a:schemeClr val="tx1"/>
                </a:solidFill>
              </a:rPr>
              <a:t>로 상속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7020272" y="2276872"/>
            <a:ext cx="1800200" cy="399373"/>
          </a:xfrm>
          <a:prstGeom prst="rect">
            <a:avLst/>
          </a:prstGeom>
          <a:noFill/>
          <a:ln cmpd="sng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Private</a:t>
            </a:r>
            <a:r>
              <a:rPr lang="ko-KR" altLang="en-US" sz="1600" dirty="0">
                <a:solidFill>
                  <a:schemeClr val="tx1"/>
                </a:solidFill>
              </a:rPr>
              <a:t>로 상속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457200" y="2686635"/>
            <a:ext cx="2966848" cy="399373"/>
          </a:xfrm>
          <a:prstGeom prst="rect">
            <a:avLst/>
          </a:prstGeom>
          <a:noFill/>
          <a:ln cmpd="sng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부모 클래스의 </a:t>
            </a:r>
            <a:r>
              <a:rPr lang="en-US" altLang="ko-KR" sz="1600" dirty="0">
                <a:solidFill>
                  <a:schemeClr val="tx1"/>
                </a:solidFill>
              </a:rPr>
              <a:t>Public</a:t>
            </a:r>
            <a:r>
              <a:rPr lang="ko-KR" altLang="en-US" sz="1600" dirty="0">
                <a:solidFill>
                  <a:schemeClr val="tx1"/>
                </a:solidFill>
              </a:rPr>
              <a:t> 멤버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57200" y="3072416"/>
            <a:ext cx="2966848" cy="399373"/>
          </a:xfrm>
          <a:prstGeom prst="rect">
            <a:avLst/>
          </a:prstGeom>
          <a:noFill/>
          <a:ln cmpd="sng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부모 클래스의 </a:t>
            </a:r>
            <a:r>
              <a:rPr lang="en-US" altLang="ko-KR" sz="1600" dirty="0">
                <a:solidFill>
                  <a:schemeClr val="tx1"/>
                </a:solidFill>
              </a:rPr>
              <a:t>protected</a:t>
            </a:r>
            <a:r>
              <a:rPr lang="ko-KR" altLang="en-US" sz="1600" dirty="0">
                <a:solidFill>
                  <a:schemeClr val="tx1"/>
                </a:solidFill>
              </a:rPr>
              <a:t> 멤버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57200" y="3482179"/>
            <a:ext cx="2966848" cy="399373"/>
          </a:xfrm>
          <a:prstGeom prst="rect">
            <a:avLst/>
          </a:prstGeom>
          <a:noFill/>
          <a:ln cmpd="sng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부모 클래스의 </a:t>
            </a:r>
            <a:r>
              <a:rPr lang="en-US" altLang="ko-KR" sz="1600" dirty="0">
                <a:solidFill>
                  <a:schemeClr val="tx1"/>
                </a:solidFill>
              </a:rPr>
              <a:t>private</a:t>
            </a:r>
            <a:r>
              <a:rPr lang="ko-KR" altLang="en-US" sz="1600" dirty="0">
                <a:solidFill>
                  <a:schemeClr val="tx1"/>
                </a:solidFill>
              </a:rPr>
              <a:t> 멤버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419872" y="2678768"/>
            <a:ext cx="1800200" cy="399373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Public </a:t>
            </a:r>
            <a:r>
              <a:rPr lang="ko-KR" altLang="en-US" sz="1600" dirty="0">
                <a:solidFill>
                  <a:schemeClr val="tx1"/>
                </a:solidFill>
              </a:rPr>
              <a:t>상속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419872" y="3082806"/>
            <a:ext cx="1800200" cy="399373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Protected </a:t>
            </a:r>
            <a:r>
              <a:rPr lang="ko-KR" altLang="en-US" sz="1600" dirty="0">
                <a:solidFill>
                  <a:schemeClr val="tx1"/>
                </a:solidFill>
              </a:rPr>
              <a:t>상속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419872" y="3492569"/>
            <a:ext cx="1800200" cy="399373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접근</a:t>
            </a:r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상속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r>
              <a:rPr lang="ko-KR" altLang="en-US" sz="1600" dirty="0">
                <a:solidFill>
                  <a:schemeClr val="tx1"/>
                </a:solidFill>
              </a:rPr>
              <a:t> 안됨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228424" y="2680048"/>
            <a:ext cx="1800200" cy="399373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Protected</a:t>
            </a:r>
            <a:r>
              <a:rPr lang="ko-KR" altLang="en-US" sz="1600" dirty="0">
                <a:solidFill>
                  <a:schemeClr val="tx1"/>
                </a:solidFill>
              </a:rPr>
              <a:t> 상속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5220072" y="3072415"/>
            <a:ext cx="1800200" cy="399373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Protected</a:t>
            </a:r>
            <a:r>
              <a:rPr lang="ko-KR" altLang="en-US" sz="1600" dirty="0">
                <a:solidFill>
                  <a:schemeClr val="tx1"/>
                </a:solidFill>
              </a:rPr>
              <a:t> 상속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220072" y="3492568"/>
            <a:ext cx="1800200" cy="399373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접근</a:t>
            </a:r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상속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r>
              <a:rPr lang="ko-KR" altLang="en-US" sz="1600" dirty="0">
                <a:solidFill>
                  <a:schemeClr val="tx1"/>
                </a:solidFill>
              </a:rPr>
              <a:t> 안됨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7028624" y="2672742"/>
            <a:ext cx="1800200" cy="399373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Private</a:t>
            </a:r>
            <a:r>
              <a:rPr lang="ko-KR" altLang="en-US" sz="1600" dirty="0">
                <a:solidFill>
                  <a:schemeClr val="tx1"/>
                </a:solidFill>
              </a:rPr>
              <a:t> 상속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7033429" y="3093195"/>
            <a:ext cx="1800200" cy="399373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Private</a:t>
            </a:r>
            <a:r>
              <a:rPr lang="ko-KR" altLang="en-US" sz="1600" dirty="0">
                <a:solidFill>
                  <a:schemeClr val="tx1"/>
                </a:solidFill>
              </a:rPr>
              <a:t> 상속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7030140" y="3492567"/>
            <a:ext cx="1800200" cy="399373"/>
          </a:xfrm>
          <a:prstGeom prst="rect">
            <a:avLst/>
          </a:prstGeom>
          <a:noFill/>
          <a:ln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접근</a:t>
            </a:r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상속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r>
              <a:rPr lang="ko-KR" altLang="en-US" sz="1600" dirty="0">
                <a:solidFill>
                  <a:schemeClr val="tx1"/>
                </a:solidFill>
              </a:rPr>
              <a:t> 안됨</a:t>
            </a:r>
          </a:p>
        </p:txBody>
      </p:sp>
    </p:spTree>
    <p:extLst>
      <p:ext uri="{BB962C8B-B14F-4D97-AF65-F5344CB8AC3E}">
        <p14:creationId xmlns:p14="http://schemas.microsoft.com/office/powerpoint/2010/main" val="1242686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접근 지정자를 통한 상속 예</a:t>
            </a:r>
            <a:r>
              <a:rPr lang="en-US" altLang="ko-KR" sz="1800" dirty="0">
                <a:latin typeface="+mn-ea"/>
                <a:cs typeface="-윤고딕140"/>
              </a:rPr>
              <a:t>1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#include &lt;</a:t>
            </a:r>
            <a:r>
              <a:rPr lang="en-US" altLang="ko-KR" sz="1800" dirty="0" err="1">
                <a:latin typeface="+mn-ea"/>
                <a:cs typeface="-윤고딕140"/>
              </a:rPr>
              <a:t>iostream</a:t>
            </a:r>
            <a:r>
              <a:rPr lang="en-US" altLang="ko-KR" sz="1800" dirty="0">
                <a:latin typeface="+mn-ea"/>
                <a:cs typeface="-윤고딕140"/>
              </a:rPr>
              <a:t>&gt; // </a:t>
            </a:r>
            <a:r>
              <a:rPr lang="ko-KR" altLang="en-US" sz="1800" dirty="0">
                <a:latin typeface="+mn-ea"/>
                <a:cs typeface="-윤고딕140"/>
              </a:rPr>
              <a:t>정상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ko-KR" altLang="en-US" sz="1800" dirty="0">
                <a:latin typeface="+mn-ea"/>
                <a:cs typeface="-윤고딕140"/>
              </a:rPr>
              <a:t>실행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using namespace </a:t>
            </a:r>
            <a:r>
              <a:rPr lang="en-US" altLang="ko-KR" sz="1800" dirty="0" err="1">
                <a:latin typeface="+mn-ea"/>
                <a:cs typeface="-윤고딕140"/>
              </a:rPr>
              <a:t>std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Car 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private: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pri_car</a:t>
            </a:r>
            <a:r>
              <a:rPr lang="en-US" altLang="ko-KR" sz="1800" dirty="0">
                <a:latin typeface="+mn-ea"/>
                <a:cs typeface="-윤고딕140"/>
              </a:rPr>
              <a:t>;  //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private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자산은 상속되지 않음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protected: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void </a:t>
            </a:r>
            <a:r>
              <a:rPr lang="en-US" altLang="ko-KR" sz="1800" dirty="0" err="1">
                <a:latin typeface="+mn-ea"/>
                <a:cs typeface="-윤고딕140"/>
              </a:rPr>
              <a:t>C_Print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  <a:p>
            <a:pPr>
              <a:spcBef>
                <a:spcPct val="0"/>
              </a:spcBef>
            </a:pP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433458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접근 지정자를 통한 상속 예</a:t>
            </a:r>
            <a:r>
              <a:rPr lang="en-US" altLang="ko-KR" sz="1800" dirty="0">
                <a:latin typeface="+mn-ea"/>
                <a:cs typeface="-윤고딕140"/>
              </a:rPr>
              <a:t>1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void Car::</a:t>
            </a:r>
            <a:r>
              <a:rPr lang="en-US" altLang="ko-KR" sz="1800" dirty="0" err="1">
                <a:latin typeface="+mn-ea"/>
                <a:cs typeface="-윤고딕140"/>
              </a:rPr>
              <a:t>C_Print</a:t>
            </a:r>
            <a:r>
              <a:rPr lang="en-US" altLang="ko-KR" sz="1800" dirty="0">
                <a:latin typeface="+mn-ea"/>
                <a:cs typeface="-윤고딕140"/>
              </a:rPr>
              <a:t>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pri_car</a:t>
            </a:r>
            <a:r>
              <a:rPr lang="en-US" altLang="ko-KR" sz="1800" dirty="0">
                <a:latin typeface="+mn-ea"/>
                <a:cs typeface="-윤고딕140"/>
              </a:rPr>
              <a:t> = 100;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= 200;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= 300;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pri_car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4411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16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접근 지정자를 통한 상속 예</a:t>
            </a:r>
            <a:r>
              <a:rPr lang="en-US" altLang="ko-KR" sz="1800" dirty="0">
                <a:latin typeface="+mn-ea"/>
                <a:cs typeface="-윤고딕140"/>
              </a:rPr>
              <a:t>1 (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정상실행</a:t>
            </a:r>
            <a:r>
              <a:rPr lang="en-US" altLang="ko-KR" sz="1800" dirty="0">
                <a:latin typeface="+mn-ea"/>
                <a:cs typeface="-윤고딕140"/>
              </a:rPr>
              <a:t>)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 : public Car {  //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public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상속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void </a:t>
            </a:r>
            <a:r>
              <a:rPr lang="en-US" altLang="ko-KR" sz="1800" dirty="0" err="1">
                <a:latin typeface="+mn-ea"/>
                <a:cs typeface="-윤고딕140"/>
              </a:rPr>
              <a:t>Moto_Print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void 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::</a:t>
            </a:r>
            <a:r>
              <a:rPr lang="en-US" altLang="ko-KR" sz="1800" dirty="0" err="1">
                <a:latin typeface="+mn-ea"/>
                <a:cs typeface="-윤고딕140"/>
              </a:rPr>
              <a:t>Moto_Print</a:t>
            </a:r>
            <a:r>
              <a:rPr lang="en-US" altLang="ko-KR" sz="1800" dirty="0">
                <a:latin typeface="+mn-ea"/>
                <a:cs typeface="-윤고딕140"/>
              </a:rPr>
              <a:t>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main()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mn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mn.Moto_Print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return 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310079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17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접근 지정자를 통한 상속 예</a:t>
            </a:r>
            <a:r>
              <a:rPr lang="en-US" altLang="ko-KR" sz="1800" dirty="0">
                <a:latin typeface="+mn-ea"/>
                <a:cs typeface="-윤고딕140"/>
              </a:rPr>
              <a:t>2 (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에러발생</a:t>
            </a:r>
            <a:r>
              <a:rPr lang="en-US" altLang="ko-KR" sz="1800" dirty="0">
                <a:latin typeface="+mn-ea"/>
                <a:cs typeface="-윤고딕140"/>
              </a:rPr>
              <a:t>)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#include &lt;</a:t>
            </a:r>
            <a:r>
              <a:rPr lang="en-US" altLang="ko-KR" sz="1800" dirty="0" err="1">
                <a:latin typeface="+mn-ea"/>
                <a:cs typeface="-윤고딕140"/>
              </a:rPr>
              <a:t>iostream</a:t>
            </a:r>
            <a:r>
              <a:rPr lang="en-US" altLang="ko-KR" sz="1800" dirty="0">
                <a:latin typeface="+mn-ea"/>
                <a:cs typeface="-윤고딕140"/>
              </a:rPr>
              <a:t>&gt; //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에러 발생 예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using namespace </a:t>
            </a:r>
            <a:r>
              <a:rPr lang="en-US" altLang="ko-KR" sz="1800" dirty="0" err="1">
                <a:latin typeface="+mn-ea"/>
                <a:cs typeface="-윤고딕140"/>
              </a:rPr>
              <a:t>std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Car 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private: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pri_car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protected: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void </a:t>
            </a:r>
            <a:r>
              <a:rPr lang="en-US" altLang="ko-KR" sz="1800" dirty="0" err="1">
                <a:latin typeface="+mn-ea"/>
                <a:cs typeface="-윤고딕140"/>
              </a:rPr>
              <a:t>C_Print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  <a:p>
            <a:pPr>
              <a:spcBef>
                <a:spcPct val="0"/>
              </a:spcBef>
            </a:pPr>
            <a:endParaRPr lang="en-US" altLang="ko-KR" sz="1800" b="1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638753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18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접근 지정자를 통한 상속 예</a:t>
            </a:r>
            <a:r>
              <a:rPr lang="en-US" altLang="ko-KR" sz="1800" dirty="0">
                <a:latin typeface="+mn-ea"/>
                <a:cs typeface="-윤고딕140"/>
              </a:rPr>
              <a:t>2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void Car::</a:t>
            </a:r>
            <a:r>
              <a:rPr lang="en-US" altLang="ko-KR" sz="1800" dirty="0" err="1">
                <a:latin typeface="+mn-ea"/>
                <a:cs typeface="-윤고딕140"/>
              </a:rPr>
              <a:t>C_Print</a:t>
            </a:r>
            <a:r>
              <a:rPr lang="en-US" altLang="ko-KR" sz="1800" dirty="0">
                <a:latin typeface="+mn-ea"/>
                <a:cs typeface="-윤고딕140"/>
              </a:rPr>
              <a:t>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pri_car</a:t>
            </a:r>
            <a:r>
              <a:rPr lang="en-US" altLang="ko-KR" sz="1800" dirty="0">
                <a:latin typeface="+mn-ea"/>
                <a:cs typeface="-윤고딕140"/>
              </a:rPr>
              <a:t> = 100;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= 200;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= 300;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pri_car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0638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19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접근 지정자를 통한 상속 예</a:t>
            </a:r>
            <a:r>
              <a:rPr lang="en-US" altLang="ko-KR" sz="1800" dirty="0">
                <a:latin typeface="+mn-ea"/>
                <a:cs typeface="-윤고딕140"/>
              </a:rPr>
              <a:t>2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 : public Car {//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public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상속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void </a:t>
            </a:r>
            <a:r>
              <a:rPr lang="en-US" altLang="ko-KR" sz="1800" dirty="0" err="1">
                <a:latin typeface="+mn-ea"/>
                <a:cs typeface="-윤고딕140"/>
              </a:rPr>
              <a:t>Moto_Print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void </a:t>
            </a:r>
            <a:r>
              <a:rPr lang="en-US" altLang="ko-KR" sz="1800" dirty="0" err="1">
                <a:latin typeface="+mn-ea"/>
                <a:cs typeface="-윤고딕140"/>
              </a:rPr>
              <a:t>In_Print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void 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::</a:t>
            </a:r>
            <a:r>
              <a:rPr lang="en-US" altLang="ko-KR" sz="1800" dirty="0" err="1">
                <a:latin typeface="+mn-ea"/>
                <a:cs typeface="-윤고딕140"/>
              </a:rPr>
              <a:t>Moto_Print</a:t>
            </a:r>
            <a:r>
              <a:rPr lang="en-US" altLang="ko-KR" sz="1800" dirty="0">
                <a:latin typeface="+mn-ea"/>
                <a:cs typeface="-윤고딕140"/>
              </a:rPr>
              <a:t>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void 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::</a:t>
            </a:r>
            <a:r>
              <a:rPr lang="en-US" altLang="ko-KR" sz="1800" dirty="0" err="1">
                <a:latin typeface="+mn-ea"/>
                <a:cs typeface="-윤고딕140"/>
              </a:rPr>
              <a:t>In_Print</a:t>
            </a:r>
            <a:r>
              <a:rPr lang="en-US" altLang="ko-KR" sz="1800" dirty="0">
                <a:latin typeface="+mn-ea"/>
                <a:cs typeface="-윤고딕140"/>
              </a:rPr>
              <a:t>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pri_car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= 400;</a:t>
            </a:r>
            <a:r>
              <a:rPr lang="en-US" altLang="ko-KR" sz="1800" dirty="0">
                <a:latin typeface="+mn-ea"/>
                <a:cs typeface="-윤고딕140"/>
              </a:rPr>
              <a:t>      //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private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상속 불가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= 500;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= 600;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pri_car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3372569"/>
            <a:ext cx="5227409" cy="74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216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20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접근 지정자를 통한 상속 예</a:t>
            </a:r>
            <a:r>
              <a:rPr lang="en-US" altLang="ko-KR" sz="1800" dirty="0">
                <a:latin typeface="+mn-ea"/>
                <a:cs typeface="-윤고딕140"/>
              </a:rPr>
              <a:t>2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main()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mn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mn.In_Print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return 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676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21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접근 지정자를 통한 상속 예</a:t>
            </a:r>
            <a:r>
              <a:rPr lang="en-US" altLang="ko-KR" sz="1800" dirty="0">
                <a:latin typeface="+mn-ea"/>
                <a:cs typeface="-윤고딕140"/>
              </a:rPr>
              <a:t>3 (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정상실행</a:t>
            </a:r>
            <a:r>
              <a:rPr lang="en-US" altLang="ko-KR" sz="1800" dirty="0">
                <a:latin typeface="+mn-ea"/>
                <a:cs typeface="-윤고딕140"/>
              </a:rPr>
              <a:t>)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… // </a:t>
            </a:r>
            <a:r>
              <a:rPr lang="ko-KR" altLang="en-US" sz="1800" dirty="0">
                <a:latin typeface="+mn-ea"/>
                <a:cs typeface="-윤고딕140"/>
              </a:rPr>
              <a:t>예</a:t>
            </a:r>
            <a:r>
              <a:rPr lang="en-US" altLang="ko-KR" sz="1800" dirty="0">
                <a:latin typeface="+mn-ea"/>
                <a:cs typeface="-윤고딕140"/>
              </a:rPr>
              <a:t>2</a:t>
            </a:r>
            <a:r>
              <a:rPr lang="ko-KR" altLang="en-US" sz="1800" dirty="0">
                <a:latin typeface="+mn-ea"/>
                <a:cs typeface="-윤고딕140"/>
              </a:rPr>
              <a:t>와 동일 코드</a:t>
            </a:r>
            <a:r>
              <a:rPr lang="en-US" altLang="ko-KR" sz="1800" dirty="0">
                <a:latin typeface="+mn-ea"/>
                <a:cs typeface="-윤고딕140"/>
              </a:rPr>
              <a:t>, </a:t>
            </a:r>
            <a:r>
              <a:rPr lang="ko-KR" altLang="en-US" sz="1800" dirty="0">
                <a:latin typeface="+mn-ea"/>
                <a:cs typeface="-윤고딕140"/>
              </a:rPr>
              <a:t>이하 수정 </a:t>
            </a:r>
            <a:r>
              <a:rPr lang="en-US" altLang="ko-KR" sz="1800" dirty="0">
                <a:latin typeface="+mn-ea"/>
                <a:cs typeface="-윤고딕140"/>
              </a:rPr>
              <a:t>(</a:t>
            </a:r>
            <a:r>
              <a:rPr lang="ko-KR" altLang="en-US" sz="1800" dirty="0">
                <a:latin typeface="+mn-ea"/>
                <a:cs typeface="-윤고딕140"/>
              </a:rPr>
              <a:t>자식 클래스 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ko-KR" altLang="en-US" sz="1800" dirty="0">
                <a:latin typeface="+mn-ea"/>
                <a:cs typeface="-윤고딕140"/>
              </a:rPr>
              <a:t>클래스만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ko-KR" altLang="en-US" sz="1800" dirty="0">
                <a:latin typeface="+mn-ea"/>
                <a:cs typeface="-윤고딕140"/>
              </a:rPr>
              <a:t>수정</a:t>
            </a:r>
            <a:r>
              <a:rPr lang="en-US" altLang="ko-KR" sz="1800" dirty="0">
                <a:latin typeface="+mn-ea"/>
                <a:cs typeface="-윤고딕140"/>
              </a:rPr>
              <a:t>)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 : public Car {  //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정상 실행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void </a:t>
            </a:r>
            <a:r>
              <a:rPr lang="en-US" altLang="ko-KR" sz="1800" dirty="0" err="1">
                <a:latin typeface="+mn-ea"/>
                <a:cs typeface="-윤고딕140"/>
              </a:rPr>
              <a:t>Moto_Print</a:t>
            </a:r>
            <a:r>
              <a:rPr lang="en-US" altLang="ko-KR" sz="1800" dirty="0">
                <a:latin typeface="+mn-ea"/>
                <a:cs typeface="-윤고딕140"/>
              </a:rPr>
              <a:t>();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void 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::</a:t>
            </a:r>
            <a:r>
              <a:rPr lang="en-US" altLang="ko-KR" sz="1800" dirty="0" err="1">
                <a:latin typeface="+mn-ea"/>
                <a:cs typeface="-윤고딕140"/>
              </a:rPr>
              <a:t>Moto_Print</a:t>
            </a:r>
            <a:r>
              <a:rPr lang="en-US" altLang="ko-KR" sz="1800" dirty="0">
                <a:latin typeface="+mn-ea"/>
                <a:cs typeface="-윤고딕140"/>
              </a:rPr>
              <a:t>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pro_car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= 400;   //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정상 상속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pub_car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= 500;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main()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mn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mn.Moto_Print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return 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5772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22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접근 지정자를 통한 상속 예</a:t>
            </a:r>
            <a:r>
              <a:rPr lang="en-US" altLang="ko-KR" sz="1800" dirty="0">
                <a:latin typeface="+mn-ea"/>
                <a:cs typeface="-윤고딕140"/>
              </a:rPr>
              <a:t>4 (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에러 발생</a:t>
            </a:r>
            <a:r>
              <a:rPr lang="en-US" altLang="ko-KR" sz="1800" dirty="0">
                <a:latin typeface="+mn-ea"/>
                <a:cs typeface="-윤고딕140"/>
              </a:rPr>
              <a:t>)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// </a:t>
            </a:r>
            <a:r>
              <a:rPr lang="ko-KR" altLang="en-US" sz="1800" dirty="0">
                <a:latin typeface="+mn-ea"/>
                <a:cs typeface="-윤고딕140"/>
              </a:rPr>
              <a:t>상속 자산에 대한 외부 접근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… // </a:t>
            </a:r>
            <a:r>
              <a:rPr lang="ko-KR" altLang="en-US" sz="1800" dirty="0">
                <a:latin typeface="+mn-ea"/>
                <a:cs typeface="-윤고딕140"/>
              </a:rPr>
              <a:t>예</a:t>
            </a:r>
            <a:r>
              <a:rPr lang="en-US" altLang="ko-KR" sz="1800" dirty="0">
                <a:latin typeface="+mn-ea"/>
                <a:cs typeface="-윤고딕140"/>
              </a:rPr>
              <a:t>2</a:t>
            </a:r>
            <a:r>
              <a:rPr lang="ko-KR" altLang="en-US" sz="1800" dirty="0">
                <a:latin typeface="+mn-ea"/>
                <a:cs typeface="-윤고딕140"/>
              </a:rPr>
              <a:t>와 동일 코드</a:t>
            </a:r>
            <a:r>
              <a:rPr lang="en-US" altLang="ko-KR" sz="1800" dirty="0">
                <a:latin typeface="+mn-ea"/>
                <a:cs typeface="-윤고딕140"/>
              </a:rPr>
              <a:t>, </a:t>
            </a:r>
            <a:r>
              <a:rPr lang="ko-KR" altLang="en-US" sz="1800" dirty="0">
                <a:latin typeface="+mn-ea"/>
                <a:cs typeface="-윤고딕140"/>
              </a:rPr>
              <a:t>이하 수정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main()  //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외부 접근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(protected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상속 자산은 외부 접근 불가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mn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mn.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= 600;  //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protected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자산 상속 외부 접근 에러 발생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mn.pub_car</a:t>
            </a:r>
            <a:r>
              <a:rPr lang="en-US" altLang="ko-KR" sz="1800" dirty="0">
                <a:latin typeface="+mn-ea"/>
                <a:cs typeface="-윤고딕140"/>
              </a:rPr>
              <a:t> = 700;  // </a:t>
            </a:r>
            <a:r>
              <a:rPr lang="ko-KR" altLang="en-US" sz="1800" dirty="0">
                <a:latin typeface="+mn-ea"/>
                <a:cs typeface="-윤고딕140"/>
              </a:rPr>
              <a:t>정상 접근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mn.Moto_Print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return 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8814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접근 지정자를 통한 상속 예</a:t>
            </a:r>
            <a:r>
              <a:rPr lang="en-US" altLang="ko-KR" sz="1800" dirty="0">
                <a:latin typeface="+mn-ea"/>
                <a:cs typeface="-윤고딕140"/>
              </a:rPr>
              <a:t>5 (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에러 발생</a:t>
            </a:r>
            <a:r>
              <a:rPr lang="en-US" altLang="ko-KR" sz="1800" dirty="0">
                <a:latin typeface="+mn-ea"/>
                <a:cs typeface="-윤고딕140"/>
              </a:rPr>
              <a:t>)</a:t>
            </a:r>
          </a:p>
          <a:p>
            <a:pPr>
              <a:spcBef>
                <a:spcPct val="0"/>
              </a:spcBef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// </a:t>
            </a:r>
            <a:r>
              <a:rPr lang="ko-KR" altLang="en-US" sz="1800" dirty="0">
                <a:latin typeface="+mn-ea"/>
                <a:cs typeface="-윤고딕140"/>
              </a:rPr>
              <a:t>상속 자산에 대한 외부 접근 </a:t>
            </a:r>
            <a:r>
              <a:rPr lang="en-US" altLang="ko-KR" sz="1800" dirty="0">
                <a:latin typeface="+mn-ea"/>
                <a:cs typeface="-윤고딕140"/>
              </a:rPr>
              <a:t>(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protected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상속</a:t>
            </a:r>
            <a:r>
              <a:rPr lang="en-US" altLang="ko-KR" sz="1800" dirty="0">
                <a:latin typeface="+mn-ea"/>
                <a:cs typeface="-윤고딕140"/>
              </a:rPr>
              <a:t>)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… // </a:t>
            </a:r>
            <a:r>
              <a:rPr lang="ko-KR" altLang="en-US" sz="1800" dirty="0">
                <a:latin typeface="+mn-ea"/>
                <a:cs typeface="-윤고딕140"/>
              </a:rPr>
              <a:t>예</a:t>
            </a:r>
            <a:r>
              <a:rPr lang="en-US" altLang="ko-KR" sz="1800" dirty="0">
                <a:latin typeface="+mn-ea"/>
                <a:cs typeface="-윤고딕140"/>
              </a:rPr>
              <a:t>2</a:t>
            </a:r>
            <a:r>
              <a:rPr lang="ko-KR" altLang="en-US" sz="1800" dirty="0">
                <a:latin typeface="+mn-ea"/>
                <a:cs typeface="-윤고딕140"/>
              </a:rPr>
              <a:t>와 동일 코드</a:t>
            </a:r>
            <a:r>
              <a:rPr lang="en-US" altLang="ko-KR" sz="1800" dirty="0">
                <a:latin typeface="+mn-ea"/>
                <a:cs typeface="-윤고딕140"/>
              </a:rPr>
              <a:t>, </a:t>
            </a:r>
            <a:r>
              <a:rPr lang="ko-KR" altLang="en-US" sz="1800" dirty="0">
                <a:latin typeface="+mn-ea"/>
                <a:cs typeface="-윤고딕140"/>
              </a:rPr>
              <a:t>이하 수정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 :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protected</a:t>
            </a:r>
            <a:r>
              <a:rPr lang="en-US" altLang="ko-KR" sz="1800" dirty="0">
                <a:latin typeface="+mn-ea"/>
                <a:cs typeface="-윤고딕140"/>
              </a:rPr>
              <a:t> Car {  //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protected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상속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void </a:t>
            </a:r>
            <a:r>
              <a:rPr lang="en-US" altLang="ko-KR" sz="1800" dirty="0" err="1">
                <a:latin typeface="+mn-ea"/>
                <a:cs typeface="-윤고딕140"/>
              </a:rPr>
              <a:t>Moto_Print</a:t>
            </a:r>
            <a:r>
              <a:rPr lang="en-US" altLang="ko-KR" sz="1800" dirty="0">
                <a:latin typeface="+mn-ea"/>
                <a:cs typeface="-윤고딕140"/>
              </a:rPr>
              <a:t>();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void 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::</a:t>
            </a:r>
            <a:r>
              <a:rPr lang="en-US" altLang="ko-KR" sz="1800" dirty="0" err="1">
                <a:latin typeface="+mn-ea"/>
                <a:cs typeface="-윤고딕140"/>
              </a:rPr>
              <a:t>Moto_Print</a:t>
            </a:r>
            <a:r>
              <a:rPr lang="en-US" altLang="ko-KR" sz="1800" dirty="0">
                <a:latin typeface="+mn-ea"/>
                <a:cs typeface="-윤고딕140"/>
              </a:rPr>
              <a:t>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= 400;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= 500;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586664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spcBef>
                <a:spcPct val="0"/>
              </a:spcBef>
              <a:buNone/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main()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mn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		   //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pub_car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도 이제부터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protected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상속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mn.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= 700; //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protected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상속 외부 접근 에러 발생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mn.Moto_Print</a:t>
            </a:r>
            <a:r>
              <a:rPr lang="en-US" altLang="ko-KR" sz="1800" dirty="0">
                <a:latin typeface="+mn-ea"/>
                <a:cs typeface="-윤고딕140"/>
              </a:rPr>
              <a:t>();    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return 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4293096"/>
            <a:ext cx="640245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46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접근 지정자를 통한 상속 예</a:t>
            </a:r>
            <a:r>
              <a:rPr lang="en-US" altLang="ko-KR" sz="1800" dirty="0">
                <a:latin typeface="+mn-ea"/>
                <a:cs typeface="-윤고딕140"/>
              </a:rPr>
              <a:t>6 (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정상실행</a:t>
            </a:r>
            <a:r>
              <a:rPr lang="en-US" altLang="ko-KR" sz="1800" dirty="0">
                <a:latin typeface="+mn-ea"/>
                <a:cs typeface="-윤고딕140"/>
              </a:rPr>
              <a:t>)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//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자식 클래스 내에서는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protected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상속</a:t>
            </a:r>
            <a:r>
              <a:rPr lang="ko-KR" altLang="en-US" sz="1800" dirty="0">
                <a:latin typeface="+mn-ea"/>
                <a:cs typeface="-윤고딕140"/>
              </a:rPr>
              <a:t>에 대해 접근 사용 가능 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#include &lt;</a:t>
            </a:r>
            <a:r>
              <a:rPr lang="en-US" altLang="ko-KR" sz="1800" dirty="0" err="1">
                <a:latin typeface="+mn-ea"/>
                <a:cs typeface="-윤고딕140"/>
              </a:rPr>
              <a:t>iostream</a:t>
            </a:r>
            <a:r>
              <a:rPr lang="en-US" altLang="ko-KR" sz="1800" dirty="0">
                <a:latin typeface="+mn-ea"/>
                <a:cs typeface="-윤고딕140"/>
              </a:rPr>
              <a:t>&gt;  // </a:t>
            </a:r>
            <a:r>
              <a:rPr lang="ko-KR" altLang="en-US" sz="1800" dirty="0">
                <a:latin typeface="+mn-ea"/>
                <a:cs typeface="-윤고딕140"/>
              </a:rPr>
              <a:t>정상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ko-KR" altLang="en-US" sz="1800" dirty="0">
                <a:latin typeface="+mn-ea"/>
                <a:cs typeface="-윤고딕140"/>
              </a:rPr>
              <a:t>실행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using namespace </a:t>
            </a:r>
            <a:r>
              <a:rPr lang="en-US" altLang="ko-KR" sz="1800" dirty="0" err="1">
                <a:latin typeface="+mn-ea"/>
                <a:cs typeface="-윤고딕140"/>
              </a:rPr>
              <a:t>std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Car 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private: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pri_car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protected: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void </a:t>
            </a:r>
            <a:r>
              <a:rPr lang="en-US" altLang="ko-KR" sz="1800" dirty="0" err="1">
                <a:latin typeface="+mn-ea"/>
                <a:cs typeface="-윤고딕140"/>
              </a:rPr>
              <a:t>C_Print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95692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26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void Car::</a:t>
            </a:r>
            <a:r>
              <a:rPr lang="en-US" altLang="ko-KR" sz="1800" dirty="0" err="1">
                <a:latin typeface="+mn-ea"/>
                <a:cs typeface="-윤고딕140"/>
              </a:rPr>
              <a:t>C_Print</a:t>
            </a:r>
            <a:r>
              <a:rPr lang="en-US" altLang="ko-KR" sz="1800" dirty="0">
                <a:latin typeface="+mn-ea"/>
                <a:cs typeface="-윤고딕140"/>
              </a:rPr>
              <a:t>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pri_car</a:t>
            </a:r>
            <a:r>
              <a:rPr lang="en-US" altLang="ko-KR" sz="1800" dirty="0">
                <a:latin typeface="+mn-ea"/>
                <a:cs typeface="-윤고딕140"/>
              </a:rPr>
              <a:t> = 100;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= 200;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= 300;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pri_car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 :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protected</a:t>
            </a:r>
            <a:r>
              <a:rPr lang="en-US" altLang="ko-KR" sz="1800" dirty="0">
                <a:latin typeface="+mn-ea"/>
                <a:cs typeface="-윤고딕140"/>
              </a:rPr>
              <a:t> Car 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void </a:t>
            </a:r>
            <a:r>
              <a:rPr lang="en-US" altLang="ko-KR" sz="1800" dirty="0" err="1">
                <a:latin typeface="+mn-ea"/>
                <a:cs typeface="-윤고딕140"/>
              </a:rPr>
              <a:t>Moto_Print</a:t>
            </a:r>
            <a:r>
              <a:rPr lang="en-US" altLang="ko-KR" sz="1800" dirty="0">
                <a:latin typeface="+mn-ea"/>
                <a:cs typeface="-윤고딕140"/>
              </a:rPr>
              <a:t>();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  <a:endParaRPr lang="ko-KR" altLang="en-US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147933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27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접근 지정자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void 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::</a:t>
            </a:r>
            <a:r>
              <a:rPr lang="en-US" altLang="ko-KR" sz="1800" dirty="0" err="1">
                <a:latin typeface="+mn-ea"/>
                <a:cs typeface="-윤고딕140"/>
              </a:rPr>
              <a:t>Moto_Print</a:t>
            </a:r>
            <a:r>
              <a:rPr lang="en-US" altLang="ko-KR" sz="1800" dirty="0">
                <a:latin typeface="+mn-ea"/>
                <a:cs typeface="-윤고딕140"/>
              </a:rPr>
              <a:t>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= 400;   //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정상 접근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= 500;  //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정상 접근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pro_car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pub_car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main()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MotoCar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mn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mn.Moto_Print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return 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  <a:endParaRPr lang="ko-KR" altLang="en-US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4147294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// </a:t>
            </a:r>
            <a:r>
              <a:rPr lang="ko-KR" altLang="en-US" sz="1600" dirty="0"/>
              <a:t>스페이스 키로 벽 생성</a:t>
            </a:r>
            <a:endParaRPr lang="en-US" altLang="ko-KR" sz="1600" dirty="0"/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stdlib.h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time.h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Windows.h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conio.h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ko-KR" altLang="en-US" sz="1600" dirty="0"/>
              <a:t> 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881256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class CLA {</a:t>
            </a:r>
          </a:p>
          <a:p>
            <a:pPr marL="109728" indent="0" latinLnBrk="0">
              <a:buNone/>
            </a:pPr>
            <a:r>
              <a:rPr lang="en-US" altLang="ko-KR" sz="1600" dirty="0"/>
              <a:t>private: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map[8][8] = // </a:t>
            </a:r>
            <a:r>
              <a:rPr lang="ko-KR" altLang="en-US" sz="1600" dirty="0"/>
              <a:t>변수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	{1, 1, 1, 1, 1, 1, 1, 1},</a:t>
            </a:r>
          </a:p>
          <a:p>
            <a:pPr marL="109728" indent="0" latinLnBrk="0">
              <a:buNone/>
            </a:pPr>
            <a:r>
              <a:rPr lang="en-US" altLang="ko-KR" sz="1600" dirty="0"/>
              <a:t>		{1, 0, 0, 0, 0, 0, 0, 1},</a:t>
            </a:r>
          </a:p>
          <a:p>
            <a:pPr marL="109728" indent="0" latinLnBrk="0">
              <a:buNone/>
            </a:pPr>
            <a:r>
              <a:rPr lang="en-US" altLang="ko-KR" sz="1600" dirty="0"/>
              <a:t>		{1, 0, 0, 0, 0, 0, 0, 1},</a:t>
            </a:r>
          </a:p>
          <a:p>
            <a:pPr marL="109728" indent="0" latinLnBrk="0">
              <a:buNone/>
            </a:pPr>
            <a:r>
              <a:rPr lang="en-US" altLang="ko-KR" sz="1600" dirty="0"/>
              <a:t>		{1, 0, 0, 0, 0, 0, 0, 1},</a:t>
            </a:r>
          </a:p>
          <a:p>
            <a:pPr marL="109728" indent="0" latinLnBrk="0">
              <a:buNone/>
            </a:pPr>
            <a:r>
              <a:rPr lang="en-US" altLang="ko-KR" sz="1600" dirty="0"/>
              <a:t>		{1, 0, 0, 0, 0, 0, 0, 1},</a:t>
            </a:r>
          </a:p>
          <a:p>
            <a:pPr marL="109728" indent="0" latinLnBrk="0">
              <a:buNone/>
            </a:pPr>
            <a:r>
              <a:rPr lang="en-US" altLang="ko-KR" sz="1600" dirty="0"/>
              <a:t>		{1, 0, 0, 0, 0, 0, 0, 1},</a:t>
            </a:r>
          </a:p>
          <a:p>
            <a:pPr marL="109728" indent="0" latinLnBrk="0">
              <a:buNone/>
            </a:pPr>
            <a:r>
              <a:rPr lang="en-US" altLang="ko-KR" sz="1600" dirty="0"/>
              <a:t>		{1, 0, 0, 0, 0, 0, 0, 1},</a:t>
            </a:r>
          </a:p>
          <a:p>
            <a:pPr marL="109728" indent="0" latinLnBrk="0">
              <a:buNone/>
            </a:pPr>
            <a:r>
              <a:rPr lang="en-US" altLang="ko-KR" sz="1600" dirty="0"/>
              <a:t>		{1, 1, 1, 1, 1, 1, 1, 1}</a:t>
            </a:r>
          </a:p>
          <a:p>
            <a:pPr marL="109728" indent="0" latinLnBrk="0">
              <a:buNone/>
            </a:pPr>
            <a:r>
              <a:rPr lang="en-US" altLang="ko-KR" sz="1600" dirty="0"/>
              <a:t>	};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char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222723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public: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Pro_Manage</a:t>
            </a:r>
            <a:r>
              <a:rPr lang="en-US" altLang="ko-KR" sz="1600" dirty="0"/>
              <a:t>();  // </a:t>
            </a:r>
            <a:r>
              <a:rPr lang="ko-KR" altLang="en-US" sz="1600" dirty="0"/>
              <a:t>함수	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void </a:t>
            </a:r>
            <a:r>
              <a:rPr lang="en-US" altLang="ko-KR" sz="1600" dirty="0" err="1"/>
              <a:t>Make_St</a:t>
            </a:r>
            <a:r>
              <a:rPr lang="en-US" altLang="ko-KR" sz="1600" dirty="0"/>
              <a:t>(); // </a:t>
            </a:r>
            <a:r>
              <a:rPr lang="ko-KR" altLang="en-US" sz="1600" dirty="0"/>
              <a:t>캐릭터 생성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void </a:t>
            </a:r>
            <a:r>
              <a:rPr lang="en-US" altLang="ko-KR" sz="1600" dirty="0" err="1"/>
              <a:t>St_Walk</a:t>
            </a:r>
            <a:r>
              <a:rPr lang="en-US" altLang="ko-KR" sz="1600" dirty="0"/>
              <a:t>();  // </a:t>
            </a:r>
            <a:r>
              <a:rPr lang="ko-KR" altLang="en-US" sz="1600" dirty="0"/>
              <a:t>이동 관리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void </a:t>
            </a:r>
            <a:r>
              <a:rPr lang="en-US" altLang="ko-KR" sz="1600" dirty="0" err="1"/>
              <a:t>St_Up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St_Down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St_Left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St_Right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Make_Wall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Draw_Map</a:t>
            </a:r>
            <a:r>
              <a:rPr lang="en-US" altLang="ko-KR" sz="1600" dirty="0"/>
              <a:t>(); // </a:t>
            </a:r>
            <a:r>
              <a:rPr lang="ko-KR" altLang="en-US" sz="1600" dirty="0" err="1"/>
              <a:t>맵</a:t>
            </a:r>
            <a:r>
              <a:rPr lang="ko-KR" altLang="en-US" sz="1600" dirty="0"/>
              <a:t> 출력</a:t>
            </a:r>
          </a:p>
          <a:p>
            <a:pPr marL="109728" indent="0" latinLnBrk="0">
              <a:buNone/>
            </a:pPr>
            <a:endParaRPr lang="ko-KR" altLang="en-US" sz="1600" dirty="0"/>
          </a:p>
          <a:p>
            <a:pPr marL="109728" indent="0" latinLnBrk="0">
              <a:buNone/>
            </a:pPr>
            <a:r>
              <a:rPr lang="en-US" altLang="ko-KR" sz="1600" dirty="0"/>
              <a:t>};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Pro_Manage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Make_St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Draw_Map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St_Walk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93122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Make_St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srand</a:t>
            </a:r>
            <a:r>
              <a:rPr lang="en-US" altLang="ko-KR" sz="1600" dirty="0"/>
              <a:t>(time(NULL));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 = (rand() % 6) + 1;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 = (rand() % 6) + 1;</a:t>
            </a:r>
          </a:p>
          <a:p>
            <a:pPr marL="109728" indent="0" latinLnBrk="0">
              <a:buNone/>
            </a:pPr>
            <a:r>
              <a:rPr lang="en-US" altLang="ko-KR" sz="1600" dirty="0"/>
              <a:t>	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= 2;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52992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775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St_Walk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while 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!= 27) {	// ESC </a:t>
            </a:r>
            <a:r>
              <a:rPr lang="ko-KR" altLang="en-US" sz="1600" dirty="0"/>
              <a:t>키 탈출	</a:t>
            </a:r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_</a:t>
            </a:r>
            <a:r>
              <a:rPr lang="en-US" altLang="ko-KR" sz="1600" dirty="0" err="1"/>
              <a:t>getch</a:t>
            </a:r>
            <a:r>
              <a:rPr lang="en-US" altLang="ko-KR" sz="1600" dirty="0"/>
              <a:t>(); // </a:t>
            </a:r>
            <a:r>
              <a:rPr lang="ko-KR" altLang="en-US" sz="1600" dirty="0"/>
              <a:t>방향키 입력			</a:t>
            </a:r>
          </a:p>
          <a:p>
            <a:pPr marL="109728" indent="0" latinLnBrk="0">
              <a:buNone/>
            </a:pPr>
            <a:endParaRPr lang="ko-KR" altLang="en-US" sz="1600" dirty="0"/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/>
              <a:t>switch 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case 72: </a:t>
            </a:r>
            <a:r>
              <a:rPr lang="en-US" altLang="ko-KR" sz="1600" dirty="0" err="1"/>
              <a:t>St_Up</a:t>
            </a:r>
            <a:r>
              <a:rPr lang="en-US" altLang="ko-KR" sz="1600" dirty="0"/>
              <a:t>(); // </a:t>
            </a:r>
            <a:r>
              <a:rPr lang="ko-KR" altLang="en-US" sz="1600" dirty="0"/>
              <a:t>위</a:t>
            </a:r>
          </a:p>
          <a:p>
            <a:pPr marL="109728" indent="0" latinLnBrk="0">
              <a:buNone/>
            </a:pPr>
            <a:r>
              <a:rPr lang="ko-KR" altLang="en-US" sz="1600" dirty="0"/>
              <a:t>			</a:t>
            </a:r>
            <a:r>
              <a:rPr lang="en-US" altLang="ko-KR" sz="1600" dirty="0"/>
              <a:t>break;</a:t>
            </a:r>
          </a:p>
          <a:p>
            <a:pPr marL="109728" indent="0" latinLnBrk="0">
              <a:buNone/>
            </a:pPr>
            <a:r>
              <a:rPr lang="en-US" altLang="ko-KR" sz="1600" dirty="0"/>
              <a:t>		case 80: </a:t>
            </a:r>
            <a:r>
              <a:rPr lang="en-US" altLang="ko-KR" sz="1600" dirty="0" err="1"/>
              <a:t>St_Down</a:t>
            </a:r>
            <a:r>
              <a:rPr lang="en-US" altLang="ko-KR" sz="1600" dirty="0"/>
              <a:t>(); // </a:t>
            </a:r>
            <a:r>
              <a:rPr lang="ko-KR" altLang="en-US" sz="1600" dirty="0"/>
              <a:t>아래</a:t>
            </a:r>
          </a:p>
          <a:p>
            <a:pPr marL="109728" indent="0" latinLnBrk="0">
              <a:buNone/>
            </a:pPr>
            <a:r>
              <a:rPr lang="ko-KR" altLang="en-US" sz="1600" dirty="0"/>
              <a:t>			</a:t>
            </a:r>
            <a:r>
              <a:rPr lang="en-US" altLang="ko-KR" sz="1600" dirty="0"/>
              <a:t>break;</a:t>
            </a:r>
          </a:p>
          <a:p>
            <a:pPr marL="109728" indent="0" latinLnBrk="0">
              <a:buNone/>
            </a:pPr>
            <a:r>
              <a:rPr lang="en-US" altLang="ko-KR" sz="1600" dirty="0"/>
              <a:t>		case 75: </a:t>
            </a:r>
            <a:r>
              <a:rPr lang="en-US" altLang="ko-KR" sz="1600" dirty="0" err="1"/>
              <a:t>St_Left</a:t>
            </a:r>
            <a:r>
              <a:rPr lang="en-US" altLang="ko-KR" sz="1600" dirty="0"/>
              <a:t>(); // </a:t>
            </a:r>
            <a:r>
              <a:rPr lang="ko-KR" altLang="en-US" sz="1600" dirty="0"/>
              <a:t>왼쪽</a:t>
            </a:r>
          </a:p>
          <a:p>
            <a:pPr marL="109728" indent="0" latinLnBrk="0">
              <a:buNone/>
            </a:pPr>
            <a:r>
              <a:rPr lang="ko-KR" altLang="en-US" sz="1600" dirty="0"/>
              <a:t>			</a:t>
            </a:r>
            <a:r>
              <a:rPr lang="en-US" altLang="ko-KR" sz="1600" dirty="0"/>
              <a:t>break;</a:t>
            </a:r>
          </a:p>
          <a:p>
            <a:pPr marL="109728" indent="0" latinLnBrk="0">
              <a:buNone/>
            </a:pPr>
            <a:r>
              <a:rPr lang="en-US" altLang="ko-KR" sz="1600" dirty="0"/>
              <a:t>		case 77: </a:t>
            </a:r>
            <a:r>
              <a:rPr lang="en-US" altLang="ko-KR" sz="1600" dirty="0" err="1"/>
              <a:t>St_Right</a:t>
            </a:r>
            <a:r>
              <a:rPr lang="en-US" altLang="ko-KR" sz="1600" dirty="0"/>
              <a:t>(); // </a:t>
            </a:r>
            <a:r>
              <a:rPr lang="ko-KR" altLang="en-US" sz="1600" dirty="0"/>
              <a:t>오른쪽</a:t>
            </a:r>
          </a:p>
          <a:p>
            <a:pPr marL="109728" indent="0" latinLnBrk="0">
              <a:buNone/>
            </a:pPr>
            <a:r>
              <a:rPr lang="ko-KR" altLang="en-US" sz="1600" dirty="0"/>
              <a:t>			</a:t>
            </a:r>
            <a:r>
              <a:rPr lang="en-US" altLang="ko-KR" sz="1600" dirty="0"/>
              <a:t>break;</a:t>
            </a:r>
          </a:p>
          <a:p>
            <a:pPr marL="109728" indent="0" latinLnBrk="0">
              <a:buNone/>
            </a:pPr>
            <a:r>
              <a:rPr lang="en-US" altLang="ko-KR" sz="1600" dirty="0"/>
              <a:t>		case 32: </a:t>
            </a:r>
            <a:r>
              <a:rPr lang="en-US" altLang="ko-KR" sz="1600" dirty="0" err="1"/>
              <a:t>Make_Wall</a:t>
            </a:r>
            <a:r>
              <a:rPr lang="en-US" altLang="ko-KR" sz="1600" dirty="0"/>
              <a:t>();  // </a:t>
            </a:r>
            <a:r>
              <a:rPr lang="ko-KR" altLang="en-US" sz="1600" dirty="0"/>
              <a:t>벽 생성</a:t>
            </a:r>
          </a:p>
          <a:p>
            <a:pPr marL="109728" indent="0" latinLnBrk="0">
              <a:buNone/>
            </a:pPr>
            <a:r>
              <a:rPr lang="ko-KR" altLang="en-US" sz="1600" dirty="0"/>
              <a:t>			</a:t>
            </a:r>
            <a:r>
              <a:rPr lang="en-US" altLang="ko-KR" sz="1600" dirty="0"/>
              <a:t>break;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system("</a:t>
            </a:r>
            <a:r>
              <a:rPr lang="en-US" altLang="ko-KR" sz="1600" dirty="0" err="1"/>
              <a:t>cls</a:t>
            </a:r>
            <a:r>
              <a:rPr lang="en-US" altLang="ko-KR" sz="1600" dirty="0"/>
              <a:t>");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Draw_Map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4030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850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St_Up</a:t>
            </a:r>
            <a:r>
              <a:rPr lang="en-US" altLang="ko-KR" sz="1600" dirty="0"/>
              <a:t>() // </a:t>
            </a:r>
            <a:r>
              <a:rPr lang="ko-KR" altLang="en-US" sz="1600" dirty="0"/>
              <a:t>위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--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if (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 == 0) 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 = 1; // </a:t>
            </a:r>
            <a:r>
              <a:rPr lang="ko-KR" altLang="en-US" sz="1600" dirty="0"/>
              <a:t>한계치 지정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else { // </a:t>
            </a:r>
            <a:r>
              <a:rPr lang="ko-KR" altLang="en-US" sz="1600" dirty="0"/>
              <a:t>이전 다음 </a:t>
            </a:r>
            <a:r>
              <a:rPr lang="en-US" altLang="ko-KR" sz="1600" dirty="0"/>
              <a:t>1</a:t>
            </a:r>
            <a:r>
              <a:rPr lang="ko-KR" altLang="en-US" sz="1600" dirty="0"/>
              <a:t>이 있는지 체크</a:t>
            </a:r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/>
              <a:t>if (map[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 + 1][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!= 1) 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 + 1][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	if (map[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!= 1) 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= 2;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St_Down</a:t>
            </a:r>
            <a:r>
              <a:rPr lang="en-US" altLang="ko-KR" sz="1600" dirty="0"/>
              <a:t>() // </a:t>
            </a:r>
            <a:r>
              <a:rPr lang="ko-KR" altLang="en-US" sz="1600" dirty="0"/>
              <a:t>아래</a:t>
            </a:r>
          </a:p>
          <a:p>
            <a:pPr marL="109728" indent="0" latinLnBrk="0">
              <a:buNone/>
            </a:pPr>
            <a:r>
              <a:rPr lang="en-US" altLang="ko-KR" sz="1600" dirty="0"/>
              <a:t>{ </a:t>
            </a:r>
          </a:p>
          <a:p>
            <a:pPr marL="109728" indent="0" latinLnBrk="0">
              <a:buNone/>
            </a:pPr>
            <a:r>
              <a:rPr lang="en-US" altLang="ko-KR" sz="1600" dirty="0"/>
              <a:t>	++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if (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 == 7) 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 = 6; // </a:t>
            </a:r>
            <a:r>
              <a:rPr lang="ko-KR" altLang="en-US" sz="1600" dirty="0"/>
              <a:t>한계치 지정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else { // </a:t>
            </a:r>
            <a:r>
              <a:rPr lang="ko-KR" altLang="en-US" sz="1600" dirty="0"/>
              <a:t>이전 다음 </a:t>
            </a:r>
            <a:r>
              <a:rPr lang="en-US" altLang="ko-KR" sz="1600" dirty="0"/>
              <a:t>1</a:t>
            </a:r>
            <a:r>
              <a:rPr lang="ko-KR" altLang="en-US" sz="1600" dirty="0"/>
              <a:t>이 있는지 체크</a:t>
            </a:r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/>
              <a:t>if (map[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 - 1][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!= 1) 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 - 1][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	if (map[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!= 1) 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= 2;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4928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850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St_Left</a:t>
            </a:r>
            <a:r>
              <a:rPr lang="en-US" altLang="ko-KR" sz="1600" dirty="0"/>
              <a:t>() // </a:t>
            </a:r>
            <a:r>
              <a:rPr lang="ko-KR" altLang="en-US" sz="1600" dirty="0"/>
              <a:t>왼쪽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--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if (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 == 0) 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 = 1; // </a:t>
            </a:r>
            <a:r>
              <a:rPr lang="ko-KR" altLang="en-US" sz="1600" dirty="0"/>
              <a:t>한계치 지정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else { // </a:t>
            </a:r>
            <a:r>
              <a:rPr lang="ko-KR" altLang="en-US" sz="1600" dirty="0"/>
              <a:t>이전 다음 </a:t>
            </a:r>
            <a:r>
              <a:rPr lang="en-US" altLang="ko-KR" sz="1600" dirty="0"/>
              <a:t>1</a:t>
            </a:r>
            <a:r>
              <a:rPr lang="ko-KR" altLang="en-US" sz="1600" dirty="0"/>
              <a:t>이 있는지 체크</a:t>
            </a:r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/>
              <a:t>if (map[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 + 1] != 1) 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 + 1]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	if (map[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!= 1) 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= 2;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St_Right</a:t>
            </a:r>
            <a:r>
              <a:rPr lang="en-US" altLang="ko-KR" sz="1600" dirty="0"/>
              <a:t>() // </a:t>
            </a:r>
            <a:r>
              <a:rPr lang="ko-KR" altLang="en-US" sz="1600" dirty="0"/>
              <a:t>오른쪽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++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if (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 == 7) 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 = 6; // </a:t>
            </a:r>
            <a:r>
              <a:rPr lang="ko-KR" altLang="en-US" sz="1600" dirty="0"/>
              <a:t>한계치 지정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else { // </a:t>
            </a:r>
            <a:r>
              <a:rPr lang="ko-KR" altLang="en-US" sz="1600" dirty="0"/>
              <a:t>이전 다음 </a:t>
            </a:r>
            <a:r>
              <a:rPr lang="en-US" altLang="ko-KR" sz="1600" dirty="0"/>
              <a:t>1</a:t>
            </a:r>
            <a:r>
              <a:rPr lang="ko-KR" altLang="en-US" sz="1600" dirty="0"/>
              <a:t>이 있는지 체크</a:t>
            </a:r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/>
              <a:t>if (map[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 - 1] != 1) 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 - 1]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	if (map[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!= 1) 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= 2;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6781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700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Make_Wall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map[</a:t>
            </a:r>
            <a:r>
              <a:rPr lang="en-US" altLang="ko-KR" sz="1600" dirty="0" err="1"/>
              <a:t>sy</a:t>
            </a:r>
            <a:r>
              <a:rPr lang="en-US" altLang="ko-KR" sz="1600" dirty="0"/>
              <a:t>][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] = 1; // </a:t>
            </a:r>
            <a:r>
              <a:rPr lang="ko-KR" altLang="en-US" sz="1600" dirty="0"/>
              <a:t>벽 생성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Draw_Map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a, b;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for (a = 0; a &lt; 8; a++)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for (b = 0; b &lt; 8; b++)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	if (map[a][b] == 0)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  ";</a:t>
            </a:r>
          </a:p>
          <a:p>
            <a:pPr marL="109728" indent="0" latinLnBrk="0">
              <a:buNone/>
            </a:pPr>
            <a:r>
              <a:rPr lang="en-US" altLang="ko-KR" sz="1600" dirty="0"/>
              <a:t>	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	if (map[a][b] == 1)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"■";</a:t>
            </a:r>
          </a:p>
          <a:p>
            <a:pPr marL="109728" indent="0" latinLnBrk="0">
              <a:buNone/>
            </a:pPr>
            <a:r>
              <a:rPr lang="en-US" altLang="ko-KR" sz="1600" dirty="0"/>
              <a:t>	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	if (map[a][b] == 2)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"■";</a:t>
            </a:r>
          </a:p>
          <a:p>
            <a:pPr marL="109728" indent="0" latinLnBrk="0">
              <a:buNone/>
            </a:pPr>
            <a:r>
              <a:rPr lang="en-US" altLang="ko-KR" sz="1600" dirty="0"/>
              <a:t>	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15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class Move: public CLA {  // </a:t>
            </a:r>
            <a:r>
              <a:rPr lang="ko-KR" altLang="en-US" sz="1600" dirty="0">
                <a:solidFill>
                  <a:srgbClr val="FF0000"/>
                </a:solidFill>
              </a:rPr>
              <a:t>클래스 상속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marL="109728" indent="0" latinLnBrk="0">
              <a:buNone/>
            </a:pPr>
            <a:r>
              <a:rPr lang="en-US" altLang="ko-KR" sz="1600" dirty="0"/>
              <a:t>public: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Move_Manage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};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Move::</a:t>
            </a:r>
            <a:r>
              <a:rPr lang="en-US" altLang="ko-KR" sz="1600" dirty="0" err="1"/>
              <a:t>Move_Manage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Pro_Manage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Move nm;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nm.Move_Manage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return 0;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42949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1600" dirty="0"/>
              <a:t>스페이스 키로 벽 생성 </a:t>
            </a:r>
            <a:r>
              <a:rPr lang="en-US" altLang="ko-KR" sz="1600" dirty="0"/>
              <a:t>(</a:t>
            </a:r>
            <a:r>
              <a:rPr lang="ko-KR" altLang="en-US" sz="1600" dirty="0"/>
              <a:t>계속</a:t>
            </a:r>
            <a:r>
              <a:rPr lang="en-US" altLang="ko-KR" sz="1600" dirty="0"/>
              <a:t>)</a:t>
            </a:r>
          </a:p>
          <a:p>
            <a:pPr lvl="1" latinLnBrk="0"/>
            <a:r>
              <a:rPr lang="ko-KR" altLang="en-US" sz="1600" dirty="0"/>
              <a:t>자식 클래스에서 한 개의 캐릭터 추가 생성 </a:t>
            </a:r>
            <a:r>
              <a:rPr lang="en-US" altLang="ko-KR" sz="1600" dirty="0"/>
              <a:t>(</a:t>
            </a:r>
            <a:r>
              <a:rPr lang="ko-KR" altLang="en-US" sz="1600" dirty="0"/>
              <a:t>☆</a:t>
            </a:r>
            <a:r>
              <a:rPr lang="en-US" altLang="ko-KR" sz="1600" dirty="0"/>
              <a:t>)</a:t>
            </a:r>
          </a:p>
          <a:p>
            <a:pPr lvl="1" latinLnBrk="0"/>
            <a:r>
              <a:rPr lang="ko-KR" altLang="en-US" sz="1600" dirty="0"/>
              <a:t>캐릭터 </a:t>
            </a:r>
            <a:r>
              <a:rPr lang="en-US" altLang="ko-KR" sz="1600" dirty="0"/>
              <a:t>(</a:t>
            </a:r>
            <a:r>
              <a:rPr lang="ko-KR" altLang="en-US" sz="1600" dirty="0"/>
              <a:t>☆</a:t>
            </a:r>
            <a:r>
              <a:rPr lang="en-US" altLang="ko-KR" sz="1600" dirty="0"/>
              <a:t>)  </a:t>
            </a:r>
            <a:r>
              <a:rPr lang="ko-KR" altLang="en-US" sz="1600" dirty="0"/>
              <a:t>자동 이동 구현</a:t>
            </a:r>
            <a:endParaRPr lang="en-US" altLang="ko-KR" sz="16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ko-KR" altLang="en-US" sz="2800" dirty="0"/>
              <a:t>연습 프로그램</a:t>
            </a:r>
            <a:br>
              <a:rPr lang="en-US" altLang="ko-KR" sz="2800" dirty="0"/>
            </a:b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456785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861</TotalTime>
  <Words>2865</Words>
  <Application>Microsoft Office PowerPoint</Application>
  <PresentationFormat>화면 슬라이드 쇼(4:3)</PresentationFormat>
  <Paragraphs>578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3" baseType="lpstr">
      <vt:lpstr>Lucida Sans Unicode</vt:lpstr>
      <vt:lpstr>Tahoma</vt:lpstr>
      <vt:lpstr>Verdana</vt:lpstr>
      <vt:lpstr>Wingdings 2</vt:lpstr>
      <vt:lpstr>Wingdings 3</vt:lpstr>
      <vt:lpstr>광장</vt:lpstr>
      <vt:lpstr>상속1</vt:lpstr>
      <vt:lpstr>내용</vt:lpstr>
      <vt:lpstr>상속 개요</vt:lpstr>
      <vt:lpstr>상속 개요</vt:lpstr>
      <vt:lpstr>상속 개요</vt:lpstr>
      <vt:lpstr>상속 개요</vt:lpstr>
      <vt:lpstr>상속 개요</vt:lpstr>
      <vt:lpstr>상속 개요</vt:lpstr>
      <vt:lpstr>상속 개요</vt:lpstr>
      <vt:lpstr>상속 개요</vt:lpstr>
      <vt:lpstr>상속 개요</vt:lpstr>
      <vt:lpstr>접근 지정자</vt:lpstr>
      <vt:lpstr>접근 지정자</vt:lpstr>
      <vt:lpstr>접근 지정자</vt:lpstr>
      <vt:lpstr>접근 지정자</vt:lpstr>
      <vt:lpstr>접근 지정자</vt:lpstr>
      <vt:lpstr>접근 지정자</vt:lpstr>
      <vt:lpstr>접근 지정자</vt:lpstr>
      <vt:lpstr>접근 지정자</vt:lpstr>
      <vt:lpstr>접근 지정자</vt:lpstr>
      <vt:lpstr>접근 지정자</vt:lpstr>
      <vt:lpstr>접근 지정자</vt:lpstr>
      <vt:lpstr>접근 지정자</vt:lpstr>
      <vt:lpstr>접근 지정자</vt:lpstr>
      <vt:lpstr>접근 지정자</vt:lpstr>
      <vt:lpstr>접근 지정자</vt:lpstr>
      <vt:lpstr>접근 지정자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수찬 이</cp:lastModifiedBy>
  <cp:revision>106</cp:revision>
  <dcterms:created xsi:type="dcterms:W3CDTF">2015-04-10T01:14:42Z</dcterms:created>
  <dcterms:modified xsi:type="dcterms:W3CDTF">2024-12-03T06:14:47Z</dcterms:modified>
</cp:coreProperties>
</file>