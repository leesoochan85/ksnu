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9" r:id="rId2"/>
    <p:sldId id="353" r:id="rId3"/>
    <p:sldId id="297" r:id="rId4"/>
    <p:sldId id="327" r:id="rId5"/>
    <p:sldId id="354" r:id="rId6"/>
    <p:sldId id="355" r:id="rId7"/>
    <p:sldId id="356" r:id="rId8"/>
    <p:sldId id="357" r:id="rId9"/>
    <p:sldId id="358" r:id="rId10"/>
    <p:sldId id="359" r:id="rId11"/>
    <p:sldId id="360" r:id="rId12"/>
    <p:sldId id="361" r:id="rId13"/>
    <p:sldId id="363" r:id="rId14"/>
    <p:sldId id="364" r:id="rId15"/>
    <p:sldId id="365" r:id="rId16"/>
    <p:sldId id="366" r:id="rId17"/>
    <p:sldId id="367" r:id="rId18"/>
    <p:sldId id="368" r:id="rId19"/>
    <p:sldId id="369" r:id="rId20"/>
    <p:sldId id="379" r:id="rId21"/>
    <p:sldId id="378" r:id="rId22"/>
    <p:sldId id="257" r:id="rId23"/>
    <p:sldId id="370" r:id="rId24"/>
    <p:sldId id="371" r:id="rId25"/>
    <p:sldId id="372" r:id="rId26"/>
    <p:sldId id="373" r:id="rId27"/>
    <p:sldId id="374" r:id="rId28"/>
    <p:sldId id="375" r:id="rId29"/>
    <p:sldId id="376" r:id="rId30"/>
    <p:sldId id="377" r:id="rId31"/>
    <p:sldId id="326" r:id="rId3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102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0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grpSp>
        <p:nvGrpSpPr>
          <p:cNvPr id="2" name="그룹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자유형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자유형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자유형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갈매기형 수장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갈매기형 수장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FDC3ACBB-4309-45E7-A0CE-9D4E9C4CF5F6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각 삼각형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갈매기형 수장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갈매기형 수장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46D359F-9A96-4952-A86C-3E81D78107E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3526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자유형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직각 삼각형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1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1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1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1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배열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2505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 smtClean="0"/>
              <a:t>내용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0" lang="ko-KR" altLang="en-US" sz="2000" dirty="0" smtClean="0"/>
              <a:t>배열 개요</a:t>
            </a:r>
            <a:endParaRPr lang="en-US" altLang="ko-KR" sz="2000" dirty="0" smtClean="0"/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kumimoji="0" lang="ko-KR" altLang="en-US" sz="2000" dirty="0" smtClean="0"/>
              <a:t>배열 초기화 </a:t>
            </a:r>
            <a:endParaRPr kumimoji="0" lang="en-US" altLang="ko-KR" sz="2000" dirty="0" smtClean="0"/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kumimoji="0" lang="ko-KR" altLang="en-US" sz="2000" dirty="0" smtClean="0"/>
              <a:t>문자열과 </a:t>
            </a:r>
            <a:r>
              <a:rPr kumimoji="0" lang="en-US" altLang="ko-KR" sz="2000" dirty="0" smtClean="0"/>
              <a:t>String </a:t>
            </a:r>
            <a:r>
              <a:rPr kumimoji="0" lang="ko-KR" altLang="en-US" sz="2000" dirty="0" smtClean="0"/>
              <a:t>클래스</a:t>
            </a:r>
          </a:p>
        </p:txBody>
      </p:sp>
    </p:spTree>
    <p:extLst>
      <p:ext uri="{BB962C8B-B14F-4D97-AF65-F5344CB8AC3E}">
        <p14:creationId xmlns:p14="http://schemas.microsoft.com/office/powerpoint/2010/main" val="407438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3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smtClean="0"/>
              <a:t>배열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  <a:defRPr/>
            </a:pPr>
            <a:r>
              <a:rPr lang="ko-KR" altLang="en-US" sz="1800" b="1" dirty="0">
                <a:solidFill>
                  <a:srgbClr val="E46C0A"/>
                </a:solidFill>
                <a:latin typeface="맑은 고딕" pitchFamily="50" charset="-127"/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배열이란 변수의 집합이다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  <a:defRPr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  <a:defRPr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변수 천 개를 한 번에 선언하기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  <a:defRPr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  <a:defRPr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  <a:defRPr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  <a:defRPr/>
            </a:pPr>
            <a:endParaRPr lang="ko-KR" altLang="en-US" sz="18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  <a:defRPr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배열 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=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변수의 집합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  <a:defRPr/>
            </a:pP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*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변수들을 관리하기 쉽게 만든 자료구조</a:t>
            </a: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683568" y="2708920"/>
            <a:ext cx="6786562" cy="35718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</a:t>
            </a:r>
            <a:r>
              <a:rPr kumimoji="0" lang="en-US" altLang="ko-KR" sz="1600" dirty="0" err="1" smtClean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nt</a:t>
            </a:r>
            <a:r>
              <a:rPr kumimoji="0" lang="en-US" altLang="ko-KR" sz="1600" dirty="0" smtClean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korean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[1000];  //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korean001; …;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korean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1000;</a:t>
            </a:r>
            <a:r>
              <a:rPr kumimoji="0" lang="ko-KR" altLang="en-US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보다편리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5030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4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배열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첨자를 사용해 배열을 이루는 원소를 지정한다</a:t>
            </a:r>
            <a:r>
              <a:rPr lang="en-US" altLang="ko-KR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   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원소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(element) :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배열을 이루는 낱낱의 변수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첨자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(index) :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배열 중에 몇 번째 변수인가를 나타내는 번호 배열의 첨자는 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0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부터 시작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899592" y="3494277"/>
            <a:ext cx="6572250" cy="50006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korean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[10];</a:t>
            </a:r>
          </a:p>
        </p:txBody>
      </p:sp>
      <p:sp>
        <p:nvSpPr>
          <p:cNvPr id="6" name="부제목 8"/>
          <p:cNvSpPr txBox="1">
            <a:spLocks/>
          </p:cNvSpPr>
          <p:nvPr/>
        </p:nvSpPr>
        <p:spPr>
          <a:xfrm>
            <a:off x="899592" y="4143565"/>
            <a:ext cx="6572250" cy="8572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 smtClean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korean</a:t>
            </a:r>
            <a:r>
              <a:rPr kumimoji="0" lang="en-US" altLang="ko-KR" sz="1600" dirty="0" smtClean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[0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],  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korean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[1],  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korean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[3],   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korean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[4],   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korean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[5],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korean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[6],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korean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[7],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korean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[8],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korean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[9]  </a:t>
            </a:r>
          </a:p>
        </p:txBody>
      </p:sp>
    </p:spTree>
    <p:extLst>
      <p:ext uri="{BB962C8B-B14F-4D97-AF65-F5344CB8AC3E}">
        <p14:creationId xmlns:p14="http://schemas.microsoft.com/office/powerpoint/2010/main" val="337252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5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배열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 err="1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반복문을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 통해 효과적으로 배열 사용하기</a:t>
            </a:r>
            <a:endParaRPr lang="en-US" altLang="ko-KR" sz="14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7" name="부제목 8"/>
          <p:cNvSpPr txBox="1">
            <a:spLocks/>
          </p:cNvSpPr>
          <p:nvPr/>
        </p:nvSpPr>
        <p:spPr>
          <a:xfrm>
            <a:off x="896433" y="2276872"/>
            <a:ext cx="6786563" cy="121443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for 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row = 0; row &lt; 3; row++) {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cin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&gt;&gt;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korean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[row];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60518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6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배열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 smtClean="0">
                <a:latin typeface="-윤고딕140"/>
                <a:ea typeface="-윤고딕140"/>
                <a:cs typeface="-윤고딕140"/>
              </a:rPr>
              <a:t>배열</a:t>
            </a:r>
            <a:r>
              <a:rPr lang="en-US" altLang="ko-KR" sz="1800" b="1" dirty="0" smtClean="0">
                <a:latin typeface="-윤고딕140"/>
                <a:ea typeface="-윤고딕140"/>
                <a:cs typeface="-윤고딕140"/>
              </a:rPr>
              <a:t> </a:t>
            </a:r>
            <a:r>
              <a:rPr lang="ko-KR" altLang="en-US" sz="1800" b="1" dirty="0" smtClean="0">
                <a:latin typeface="-윤고딕140"/>
                <a:ea typeface="-윤고딕140"/>
                <a:cs typeface="-윤고딕140"/>
              </a:rPr>
              <a:t>변수 예</a:t>
            </a:r>
            <a:endParaRPr lang="en-US" altLang="ko-KR" sz="1800" b="1" dirty="0" smtClean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40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#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include &lt;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iostream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&gt;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using namespace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std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main()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{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400" b="1" dirty="0">
                <a:latin typeface="Arial" panose="020B0604020202020204" pitchFamily="34" charset="0"/>
                <a:ea typeface="굴림" panose="020B0600000101010101" pitchFamily="50" charset="-127"/>
              </a:rPr>
              <a:t>  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korean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[3];</a:t>
            </a:r>
            <a:r>
              <a:rPr lang="en-US" altLang="ko-KR" sz="1400" b="1" dirty="0">
                <a:latin typeface="Arial" panose="020B0604020202020204" pitchFamily="34" charset="0"/>
                <a:ea typeface="굴림" panose="020B0600000101010101" pitchFamily="50" charset="-127"/>
              </a:rPr>
              <a:t> </a:t>
            </a:r>
            <a:endParaRPr lang="en-US" altLang="ko-KR" sz="1400" b="1" dirty="0" smtClean="0"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400" b="1" dirty="0">
                <a:latin typeface="Arial" panose="020B0604020202020204" pitchFamily="34" charset="0"/>
                <a:ea typeface="굴림" panose="020B0600000101010101" pitchFamily="50" charset="-127"/>
              </a:rPr>
              <a:t>              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4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for (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row = 0; row &lt; 3; row++) </a:t>
            </a:r>
            <a:endParaRPr lang="en-US" altLang="ko-KR" sz="1400" b="1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{ </a:t>
            </a:r>
            <a:endParaRPr lang="en-US" altLang="ko-KR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400" b="1" dirty="0">
                <a:latin typeface="Arial" panose="020B0604020202020204" pitchFamily="34" charset="0"/>
                <a:ea typeface="굴림" panose="020B0600000101010101" pitchFamily="50" charset="-127"/>
              </a:rPr>
              <a:t>        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row &lt;&lt; "</a:t>
            </a: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번째 국어 성적은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? ";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400" b="1" dirty="0">
                <a:latin typeface="Arial" panose="020B0604020202020204" pitchFamily="34" charset="0"/>
                <a:ea typeface="굴림" panose="020B0600000101010101" pitchFamily="50" charset="-127"/>
              </a:rPr>
              <a:t>        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cin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&gt;&gt;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korean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[row];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4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}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4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for (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col = 0; col &lt; 3; col++) </a:t>
            </a:r>
            <a:endParaRPr lang="en-US" altLang="ko-KR" sz="1400" b="1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{ </a:t>
            </a:r>
            <a:endParaRPr lang="en-US" altLang="ko-KR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400" b="1" dirty="0">
                <a:latin typeface="Arial" panose="020B0604020202020204" pitchFamily="34" charset="0"/>
                <a:ea typeface="굴림" panose="020B0600000101010101" pitchFamily="50" charset="-127"/>
              </a:rPr>
              <a:t>        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korean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[" &lt;&lt; col &lt;&lt; "] = " &lt;&lt;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korean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[col];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4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}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return 0;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  <a:endParaRPr lang="en-US" altLang="ko-KR" sz="14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1729359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7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smtClean="0"/>
              <a:t>다차원 배열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배열의 차원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(dimension) :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선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,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면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,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입체의 개념과 </a:t>
            </a:r>
            <a:r>
              <a:rPr lang="ko-KR" altLang="en-US" sz="1800" b="1" dirty="0" err="1">
                <a:latin typeface="-윤고딕140"/>
                <a:ea typeface="-윤고딕140"/>
                <a:cs typeface="-윤고딕140"/>
              </a:rPr>
              <a:t>비슷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2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차원 배열을 선언한 예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3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차원 배열을 선언한 예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6" name="부제목 8"/>
          <p:cNvSpPr txBox="1">
            <a:spLocks/>
          </p:cNvSpPr>
          <p:nvPr/>
        </p:nvSpPr>
        <p:spPr>
          <a:xfrm>
            <a:off x="755576" y="2420888"/>
            <a:ext cx="6572250" cy="50006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result [5</a:t>
            </a:r>
            <a:r>
              <a:rPr kumimoji="0" lang="en-US" altLang="ko-KR" sz="1600" dirty="0" smtClean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][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3];</a:t>
            </a:r>
          </a:p>
        </p:txBody>
      </p:sp>
      <p:sp>
        <p:nvSpPr>
          <p:cNvPr id="8" name="부제목 8"/>
          <p:cNvSpPr txBox="1">
            <a:spLocks/>
          </p:cNvSpPr>
          <p:nvPr/>
        </p:nvSpPr>
        <p:spPr>
          <a:xfrm>
            <a:off x="755576" y="3610479"/>
            <a:ext cx="6572250" cy="50006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result [5</a:t>
            </a:r>
            <a:r>
              <a:rPr kumimoji="0" lang="en-US" altLang="ko-KR" sz="1600" dirty="0" smtClean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][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3</a:t>
            </a:r>
            <a:r>
              <a:rPr kumimoji="0" lang="en-US" altLang="ko-KR" sz="1600" dirty="0" smtClean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][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10];</a:t>
            </a:r>
          </a:p>
        </p:txBody>
      </p:sp>
    </p:spTree>
    <p:extLst>
      <p:ext uri="{BB962C8B-B14F-4D97-AF65-F5344CB8AC3E}">
        <p14:creationId xmlns:p14="http://schemas.microsoft.com/office/powerpoint/2010/main" val="1275413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8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smtClean="0"/>
              <a:t>배열 초기화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배열을 선언하면서 초기화하기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 err="1">
                <a:latin typeface="-윤고딕140"/>
                <a:ea typeface="-윤고딕140"/>
                <a:cs typeface="-윤고딕140"/>
              </a:rPr>
              <a:t>일차원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 배열을 선언하면서 초기화하는 사례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이차원 배열을 선언하면서 초기화하는 사례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7" name="부제목 8"/>
          <p:cNvSpPr txBox="1">
            <a:spLocks/>
          </p:cNvSpPr>
          <p:nvPr/>
        </p:nvSpPr>
        <p:spPr>
          <a:xfrm>
            <a:off x="683568" y="2612573"/>
            <a:ext cx="6357938" cy="35718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korean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[5] = {77, 58, 32, 45, 55];</a:t>
            </a:r>
          </a:p>
        </p:txBody>
      </p:sp>
      <p:sp>
        <p:nvSpPr>
          <p:cNvPr id="9" name="부제목 8"/>
          <p:cNvSpPr txBox="1">
            <a:spLocks/>
          </p:cNvSpPr>
          <p:nvPr/>
        </p:nvSpPr>
        <p:spPr>
          <a:xfrm>
            <a:off x="683568" y="3645024"/>
            <a:ext cx="6357938" cy="135731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result[5] [3] = { {78, 55, 68},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               {87, 88, 88}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               {83, 58, 68}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               {87, 78, 78},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               {87, 98, 66} };</a:t>
            </a:r>
          </a:p>
        </p:txBody>
      </p:sp>
    </p:spTree>
    <p:extLst>
      <p:ext uri="{BB962C8B-B14F-4D97-AF65-F5344CB8AC3E}">
        <p14:creationId xmlns:p14="http://schemas.microsoft.com/office/powerpoint/2010/main" val="169849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9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smtClean="0"/>
              <a:t>배열 초기화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 smtClean="0">
                <a:latin typeface="-윤고딕140"/>
                <a:ea typeface="-윤고딕140"/>
                <a:cs typeface="-윤고딕140"/>
              </a:rPr>
              <a:t>배열 초기화 예</a:t>
            </a:r>
            <a:endParaRPr lang="en-US" altLang="ko-KR" sz="1800" b="1" dirty="0" smtClean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 smtClean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  <a:defRPr/>
            </a:pPr>
            <a:r>
              <a:rPr lang="en-US" altLang="ko-KR" sz="1800" dirty="0"/>
              <a:t>#include &lt;</a:t>
            </a:r>
            <a:r>
              <a:rPr lang="en-US" altLang="ko-KR" sz="1800" dirty="0" err="1"/>
              <a:t>iostream</a:t>
            </a:r>
            <a:r>
              <a:rPr lang="en-US" altLang="ko-KR" sz="1800" dirty="0"/>
              <a:t>&gt; 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 using namespace </a:t>
            </a:r>
            <a:r>
              <a:rPr lang="en-US" altLang="ko-KR" sz="1800" dirty="0" err="1"/>
              <a:t>std</a:t>
            </a:r>
            <a:r>
              <a:rPr lang="en-US" altLang="ko-KR" sz="1800" dirty="0"/>
              <a:t>; </a:t>
            </a:r>
            <a:endParaRPr lang="en-US" altLang="ko-KR" sz="1800" dirty="0" smtClean="0"/>
          </a:p>
          <a:p>
            <a:pPr marL="109728" indent="0">
              <a:buNone/>
              <a:defRPr/>
            </a:pPr>
            <a:r>
              <a:rPr lang="en-US" altLang="ko-KR" sz="1800" dirty="0" err="1"/>
              <a:t>int</a:t>
            </a:r>
            <a:r>
              <a:rPr lang="en-US" altLang="ko-KR" sz="1800" dirty="0"/>
              <a:t> main() </a:t>
            </a:r>
          </a:p>
          <a:p>
            <a:pPr marL="109728" indent="0">
              <a:buNone/>
              <a:defRPr/>
            </a:pPr>
            <a:r>
              <a:rPr lang="en-US" altLang="ko-KR" sz="1800" dirty="0" smtClean="0"/>
              <a:t>{</a:t>
            </a:r>
            <a:endParaRPr lang="en-US" altLang="ko-KR" sz="1800" dirty="0"/>
          </a:p>
          <a:p>
            <a:pPr marL="109728" indent="0">
              <a:buNone/>
              <a:defRPr/>
            </a:pPr>
            <a:r>
              <a:rPr lang="en-US" altLang="ko-KR" sz="1800" dirty="0" smtClean="0"/>
              <a:t> 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result[5][3] = { 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 </a:t>
            </a:r>
            <a:r>
              <a:rPr lang="en-US" altLang="ko-KR" sz="1800" dirty="0">
                <a:latin typeface="Arial"/>
              </a:rPr>
              <a:t>        </a:t>
            </a:r>
            <a:r>
              <a:rPr lang="en-US" altLang="ko-KR" sz="1800" dirty="0"/>
              <a:t>{78, 55, 68}, 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 </a:t>
            </a:r>
            <a:r>
              <a:rPr lang="en-US" altLang="ko-KR" sz="1800" dirty="0">
                <a:latin typeface="Arial"/>
              </a:rPr>
              <a:t>        </a:t>
            </a:r>
            <a:r>
              <a:rPr lang="en-US" altLang="ko-KR" sz="1800" dirty="0"/>
              <a:t>{87, 88, 88}, 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 </a:t>
            </a:r>
            <a:r>
              <a:rPr lang="en-US" altLang="ko-KR" sz="1800" dirty="0">
                <a:latin typeface="Arial"/>
              </a:rPr>
              <a:t>        </a:t>
            </a:r>
            <a:r>
              <a:rPr lang="en-US" altLang="ko-KR" sz="1800" dirty="0"/>
              <a:t>{83, 58, 68}, 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 </a:t>
            </a:r>
            <a:r>
              <a:rPr lang="en-US" altLang="ko-KR" sz="1800" dirty="0">
                <a:latin typeface="Arial"/>
              </a:rPr>
              <a:t>       </a:t>
            </a:r>
            <a:r>
              <a:rPr lang="en-US" altLang="ko-KR" sz="1800" dirty="0"/>
              <a:t>{87, 78, 78}, 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 </a:t>
            </a:r>
            <a:r>
              <a:rPr lang="en-US" altLang="ko-KR" sz="1800" dirty="0">
                <a:latin typeface="Arial"/>
              </a:rPr>
              <a:t>       </a:t>
            </a:r>
            <a:r>
              <a:rPr lang="en-US" altLang="ko-KR" sz="1800" dirty="0"/>
              <a:t>{87, 98, 66} 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 </a:t>
            </a:r>
            <a:r>
              <a:rPr lang="en-US" altLang="ko-KR" sz="1800" dirty="0">
                <a:latin typeface="Arial"/>
              </a:rPr>
              <a:t>    </a:t>
            </a:r>
            <a:r>
              <a:rPr lang="en-US" altLang="ko-KR" sz="1800" dirty="0"/>
              <a:t>}; 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Arial"/>
              </a:rPr>
              <a:t>    </a:t>
            </a:r>
            <a:r>
              <a:rPr lang="en-US" altLang="ko-KR" sz="1800" dirty="0"/>
              <a:t>for (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col = 0; col &lt; 5; col++) { 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  </a:t>
            </a:r>
            <a:r>
              <a:rPr lang="en-US" altLang="ko-KR" sz="1800" dirty="0">
                <a:latin typeface="Arial"/>
              </a:rPr>
              <a:t>        </a:t>
            </a:r>
            <a:r>
              <a:rPr lang="en-US" altLang="ko-KR" sz="1800" dirty="0" err="1"/>
              <a:t>cout</a:t>
            </a:r>
            <a:r>
              <a:rPr lang="en-US" altLang="ko-KR" sz="1800" dirty="0"/>
              <a:t> &lt;&lt; col &lt;&lt; "</a:t>
            </a:r>
            <a:r>
              <a:rPr lang="ko-KR" altLang="en-US" sz="1800" dirty="0"/>
              <a:t>번 국어 성적 </a:t>
            </a:r>
            <a:r>
              <a:rPr lang="en-US" altLang="ko-KR" sz="1800" dirty="0"/>
              <a:t>= " &lt;&lt; result[col][0] &lt;&lt; </a:t>
            </a:r>
            <a:r>
              <a:rPr lang="en-US" altLang="ko-KR" sz="1800" dirty="0" err="1"/>
              <a:t>endl</a:t>
            </a:r>
            <a:r>
              <a:rPr lang="en-US" altLang="ko-KR" sz="1800" dirty="0"/>
              <a:t>; 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  </a:t>
            </a:r>
            <a:r>
              <a:rPr lang="en-US" altLang="ko-KR" sz="1800" dirty="0">
                <a:latin typeface="Arial"/>
              </a:rPr>
              <a:t>        </a:t>
            </a:r>
            <a:r>
              <a:rPr lang="en-US" altLang="ko-KR" sz="1800" dirty="0" err="1"/>
              <a:t>cout</a:t>
            </a:r>
            <a:r>
              <a:rPr lang="en-US" altLang="ko-KR" sz="1800" dirty="0"/>
              <a:t> &lt;&lt; col &lt;&lt; "</a:t>
            </a:r>
            <a:r>
              <a:rPr lang="ko-KR" altLang="en-US" sz="1800" dirty="0"/>
              <a:t>번 영어 성적 </a:t>
            </a:r>
            <a:r>
              <a:rPr lang="en-US" altLang="ko-KR" sz="1800" dirty="0"/>
              <a:t>= " &lt;&lt; result[col][1] &lt;&lt; </a:t>
            </a:r>
            <a:r>
              <a:rPr lang="en-US" altLang="ko-KR" sz="1800" dirty="0" err="1"/>
              <a:t>endl</a:t>
            </a:r>
            <a:r>
              <a:rPr lang="en-US" altLang="ko-KR" sz="1800" dirty="0"/>
              <a:t>; 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  </a:t>
            </a:r>
            <a:r>
              <a:rPr lang="en-US" altLang="ko-KR" sz="1800" dirty="0">
                <a:latin typeface="Arial"/>
              </a:rPr>
              <a:t>        </a:t>
            </a:r>
            <a:r>
              <a:rPr lang="en-US" altLang="ko-KR" sz="1800" dirty="0" err="1"/>
              <a:t>cout</a:t>
            </a:r>
            <a:r>
              <a:rPr lang="en-US" altLang="ko-KR" sz="1800" dirty="0"/>
              <a:t> &lt;&lt; col &lt;&lt; "</a:t>
            </a:r>
            <a:r>
              <a:rPr lang="ko-KR" altLang="en-US" sz="1800" dirty="0"/>
              <a:t>번 수학 성적 </a:t>
            </a:r>
            <a:r>
              <a:rPr lang="en-US" altLang="ko-KR" sz="1800" dirty="0"/>
              <a:t>= " &lt;&lt; result[col][2] &lt;&lt; </a:t>
            </a:r>
            <a:r>
              <a:rPr lang="en-US" altLang="ko-KR" sz="1800" dirty="0" err="1"/>
              <a:t>endl</a:t>
            </a:r>
            <a:r>
              <a:rPr lang="en-US" altLang="ko-KR" sz="1800" dirty="0"/>
              <a:t>; 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 </a:t>
            </a:r>
            <a:r>
              <a:rPr lang="en-US" altLang="ko-KR" sz="1800" dirty="0">
                <a:latin typeface="Arial"/>
              </a:rPr>
              <a:t>   </a:t>
            </a:r>
            <a:r>
              <a:rPr lang="en-US" altLang="ko-KR" sz="1800" dirty="0"/>
              <a:t>} </a:t>
            </a:r>
          </a:p>
          <a:p>
            <a:pPr marL="109728" indent="0">
              <a:buNone/>
              <a:defRPr/>
            </a:pPr>
            <a:r>
              <a:rPr lang="en-US" altLang="ko-KR" sz="1800" dirty="0" smtClean="0"/>
              <a:t> return 0</a:t>
            </a:r>
            <a:r>
              <a:rPr lang="en-US" altLang="ko-KR" sz="1800" dirty="0"/>
              <a:t>;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}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1546627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10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smtClean="0"/>
              <a:t>배열 초기화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배열의 크기를 정하지 않고 초기화하기</a:t>
            </a:r>
            <a:endParaRPr lang="en-US" altLang="ko-KR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초기값의 개수가 배열의 크기를 결정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 smtClean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 smtClean="0">
                <a:latin typeface="-윤고딕140"/>
                <a:ea typeface="-윤고딕140"/>
                <a:cs typeface="-윤고딕140"/>
              </a:rPr>
              <a:t>다음과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같이 선언한 것과 동일한 효과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8" name="부제목 8"/>
          <p:cNvSpPr txBox="1">
            <a:spLocks/>
          </p:cNvSpPr>
          <p:nvPr/>
        </p:nvSpPr>
        <p:spPr>
          <a:xfrm>
            <a:off x="755576" y="2564904"/>
            <a:ext cx="6572250" cy="50006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kumimoji="0" lang="en-US" altLang="ko-KR" sz="160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int korean[] = {58, 29, 49, 23};   // []</a:t>
            </a:r>
            <a:r>
              <a:rPr kumimoji="0" lang="ko-KR" altLang="en-US" sz="160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안이 비었음</a:t>
            </a:r>
            <a:endParaRPr kumimoji="0" lang="en-US" altLang="ko-KR" sz="160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10" name="부제목 8"/>
          <p:cNvSpPr txBox="1">
            <a:spLocks/>
          </p:cNvSpPr>
          <p:nvPr/>
        </p:nvSpPr>
        <p:spPr>
          <a:xfrm>
            <a:off x="755576" y="3898510"/>
            <a:ext cx="6572250" cy="50006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korean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[4] = {58, 29, 49, 23};</a:t>
            </a:r>
          </a:p>
        </p:txBody>
      </p:sp>
    </p:spTree>
    <p:extLst>
      <p:ext uri="{BB962C8B-B14F-4D97-AF65-F5344CB8AC3E}">
        <p14:creationId xmlns:p14="http://schemas.microsoft.com/office/powerpoint/2010/main" val="4249824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11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smtClean="0"/>
              <a:t>문자열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문자열 배열을 선언하고 출력하기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문자열은 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char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형 값의 배열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문자열의 끝에는 </a:t>
            </a:r>
            <a:r>
              <a:rPr lang="en-US" altLang="ko-KR" sz="1800" b="1" dirty="0" smtClean="0">
                <a:latin typeface="-윤고딕140"/>
                <a:ea typeface="-윤고딕140"/>
                <a:cs typeface="-윤고딕140"/>
              </a:rPr>
              <a:t>null </a:t>
            </a:r>
            <a:r>
              <a:rPr lang="ko-KR" altLang="en-US" sz="1800" b="1" dirty="0" smtClean="0">
                <a:latin typeface="-윤고딕140"/>
                <a:ea typeface="-윤고딕140"/>
                <a:cs typeface="-윤고딕140"/>
              </a:rPr>
              <a:t>널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값</a:t>
            </a:r>
            <a:r>
              <a:rPr lang="ko-KR" altLang="en-US" sz="1800" b="1" dirty="0" smtClean="0">
                <a:latin typeface="-윤고딕140"/>
                <a:ea typeface="-윤고딕140"/>
                <a:cs typeface="-윤고딕140"/>
              </a:rPr>
              <a:t>이 들어감</a:t>
            </a:r>
            <a:endParaRPr lang="en-US" altLang="ko-KR" sz="1800" b="1" dirty="0" smtClean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 smtClean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 smtClean="0">
                <a:latin typeface="-윤고딕140"/>
                <a:ea typeface="-윤고딕140"/>
                <a:cs typeface="-윤고딕140"/>
              </a:rPr>
              <a:t>문자열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배열을 출력할 때에는 배열의 이름만 사용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7" name="부제목 8"/>
          <p:cNvSpPr txBox="1">
            <a:spLocks/>
          </p:cNvSpPr>
          <p:nvPr/>
        </p:nvSpPr>
        <p:spPr>
          <a:xfrm>
            <a:off x="683568" y="2492896"/>
            <a:ext cx="6357938" cy="35718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char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str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[6] = “Good!”; 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자동으로 널 값 포함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  <p:sp>
        <p:nvSpPr>
          <p:cNvPr id="9" name="부제목 8"/>
          <p:cNvSpPr txBox="1">
            <a:spLocks/>
          </p:cNvSpPr>
          <p:nvPr/>
        </p:nvSpPr>
        <p:spPr>
          <a:xfrm>
            <a:off x="683568" y="3683057"/>
            <a:ext cx="6357938" cy="35718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char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str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[6] = {‘G’, ‘o’, ‘o’, ‘d’, ‘!’, ‘</a:t>
            </a:r>
            <a:r>
              <a:rPr kumimoji="0" lang="ko-KR" altLang="en-US" sz="1600" dirty="0">
                <a:solidFill>
                  <a:srgbClr val="FF0000"/>
                </a:solidFill>
                <a:latin typeface="+mn-lt"/>
                <a:ea typeface="+mn-ea"/>
              </a:rPr>
              <a:t>＼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0’};</a:t>
            </a:r>
            <a:endParaRPr kumimoji="0" lang="ko-KR" altLang="en-US" sz="1600" dirty="0">
              <a:latin typeface="+mn-lt"/>
              <a:ea typeface="+mn-ea"/>
            </a:endParaRPr>
          </a:p>
        </p:txBody>
      </p:sp>
      <p:sp>
        <p:nvSpPr>
          <p:cNvPr id="11" name="부제목 8"/>
          <p:cNvSpPr txBox="1">
            <a:spLocks/>
          </p:cNvSpPr>
          <p:nvPr/>
        </p:nvSpPr>
        <p:spPr>
          <a:xfrm>
            <a:off x="683568" y="4694625"/>
            <a:ext cx="6643688" cy="35718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cout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&lt;&lt;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str_a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&lt;&lt;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endl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2787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12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smtClean="0"/>
              <a:t>문자열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 smtClean="0">
                <a:latin typeface="-윤고딕140"/>
                <a:ea typeface="-윤고딕140"/>
                <a:cs typeface="-윤고딕140"/>
              </a:rPr>
              <a:t>문자열 예</a:t>
            </a:r>
            <a:endParaRPr lang="en-US" altLang="ko-KR" sz="1800" b="1" dirty="0" smtClean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#include &lt;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iostream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&gt;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using namespace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std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main()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{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char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str_a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[4] = "Do ";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char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str_b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[4] = {'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', 't', ' ', ‘\0'};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char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str_c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[] = "yourself! ";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char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str_d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[] = {'O', 'k', '?', ‘\0’};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str_a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str_b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str_c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str_d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return 0;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79796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13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800" spc="-250" dirty="0"/>
              <a:t>String </a:t>
            </a:r>
            <a:r>
              <a:rPr lang="ko-KR" altLang="en-US" sz="2800" spc="-250" dirty="0"/>
              <a:t>클래스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en-US" altLang="ko-KR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C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스타일 문자열 처리의 문제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‘C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스타일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’(C Language Style)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문자열 처리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* 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문자열 배열을 이용하여 문자열을 처리하는 방식</a:t>
            </a: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* 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배열의 크기를 초과해 문자열 저장 불가</a:t>
            </a: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</a:pP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문자열 조작이 까다로움</a:t>
            </a: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C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스타일 문자열 처리에는 함수가 필수적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8" name="부제목 8"/>
          <p:cNvSpPr txBox="1">
            <a:spLocks/>
          </p:cNvSpPr>
          <p:nvPr/>
        </p:nvSpPr>
        <p:spPr>
          <a:xfrm>
            <a:off x="683568" y="3933056"/>
            <a:ext cx="6786563" cy="64293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문자열 대입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: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strcpy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ss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, “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abcde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”);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문자열 연결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: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strcat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ss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, “12345);</a:t>
            </a:r>
          </a:p>
        </p:txBody>
      </p:sp>
    </p:spTree>
    <p:extLst>
      <p:ext uri="{BB962C8B-B14F-4D97-AF65-F5344CB8AC3E}">
        <p14:creationId xmlns:p14="http://schemas.microsoft.com/office/powerpoint/2010/main" val="3028471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14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800" spc="-250" dirty="0"/>
              <a:t>String </a:t>
            </a:r>
            <a:r>
              <a:rPr lang="ko-KR" altLang="en-US" sz="2800" spc="-250" dirty="0"/>
              <a:t>클래스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en-US" altLang="ko-KR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string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클래스로 문자열을 저장할 변수</a:t>
            </a:r>
            <a:endParaRPr lang="en-US" altLang="ko-KR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 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선언하기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C++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에서는 스트링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(string)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클래스로 문자열 처리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 </a:t>
            </a:r>
            <a:r>
              <a:rPr lang="ko-KR" altLang="en-US" sz="1800" b="1" dirty="0" err="1">
                <a:latin typeface="-윤고딕140"/>
                <a:ea typeface="-윤고딕140"/>
                <a:cs typeface="-윤고딕140"/>
              </a:rPr>
              <a:t>간단화</a:t>
            </a: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문자열 변수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(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객체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)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를 선언하는 예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6" name="부제목 8"/>
          <p:cNvSpPr txBox="1">
            <a:spLocks/>
          </p:cNvSpPr>
          <p:nvPr/>
        </p:nvSpPr>
        <p:spPr>
          <a:xfrm>
            <a:off x="683568" y="2708920"/>
            <a:ext cx="6643688" cy="35718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#include &lt;string&gt;  // </a:t>
            </a:r>
            <a:r>
              <a:rPr kumimoji="0" lang="ko-KR" altLang="en-US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스트링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클래스 이용에 필수적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  <p:sp>
        <p:nvSpPr>
          <p:cNvPr id="7" name="부제목 8"/>
          <p:cNvSpPr txBox="1">
            <a:spLocks/>
          </p:cNvSpPr>
          <p:nvPr/>
        </p:nvSpPr>
        <p:spPr>
          <a:xfrm>
            <a:off x="683568" y="3893761"/>
            <a:ext cx="6643688" cy="64293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string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str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                    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문자열 변수만 선언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string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mysting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=“Just Do It!”;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문자열 변수 선언과 초기화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3831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15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800" spc="-250" dirty="0"/>
              <a:t>String </a:t>
            </a:r>
            <a:r>
              <a:rPr lang="ko-KR" altLang="en-US" sz="2800" spc="-250" dirty="0"/>
              <a:t>클래스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en-US" altLang="ko-KR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string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형 변수를 사용한 문자열 병합과 비교</a:t>
            </a:r>
            <a:endParaRPr lang="en-US" altLang="ko-KR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   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문자열 초기화</a:t>
            </a: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문자열 병합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문자열 비교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8" name="부제목 8"/>
          <p:cNvSpPr txBox="1">
            <a:spLocks/>
          </p:cNvSpPr>
          <p:nvPr/>
        </p:nvSpPr>
        <p:spPr>
          <a:xfrm>
            <a:off x="755576" y="2708920"/>
            <a:ext cx="6643688" cy="35718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str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= “ABCDE”;</a:t>
            </a:r>
          </a:p>
        </p:txBody>
      </p:sp>
      <p:sp>
        <p:nvSpPr>
          <p:cNvPr id="9" name="부제목 8"/>
          <p:cNvSpPr txBox="1">
            <a:spLocks/>
          </p:cNvSpPr>
          <p:nvPr/>
        </p:nvSpPr>
        <p:spPr>
          <a:xfrm>
            <a:off x="755576" y="3936511"/>
            <a:ext cx="6643688" cy="35718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str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=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str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+ “EFGH”;//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str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+=“EFGH”;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으로 써도 됨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.</a:t>
            </a:r>
          </a:p>
        </p:txBody>
      </p:sp>
      <p:sp>
        <p:nvSpPr>
          <p:cNvPr id="10" name="부제목 8"/>
          <p:cNvSpPr txBox="1">
            <a:spLocks/>
          </p:cNvSpPr>
          <p:nvPr/>
        </p:nvSpPr>
        <p:spPr>
          <a:xfrm>
            <a:off x="755576" y="4988271"/>
            <a:ext cx="6643688" cy="35718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if 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str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== “ABCDE”)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그 밖의 다른 관계 연산자 사용 가능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6134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16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800" spc="-250" dirty="0"/>
              <a:t>String </a:t>
            </a:r>
            <a:r>
              <a:rPr lang="ko-KR" altLang="en-US" sz="2800" spc="-250" dirty="0"/>
              <a:t>클래스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en-US" altLang="ko-KR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string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형 변수와 </a:t>
            </a:r>
            <a:r>
              <a:rPr lang="en-US" altLang="ko-KR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char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형 문자열 </a:t>
            </a:r>
            <a:r>
              <a:rPr lang="ko-KR" altLang="en-US" sz="1800" b="1" dirty="0" smtClean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배열의 혼합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처리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 smtClean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string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형 변수에 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char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형 문자열을 대입 가능</a:t>
            </a: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11" name="부제목 8"/>
          <p:cNvSpPr txBox="1">
            <a:spLocks/>
          </p:cNvSpPr>
          <p:nvPr/>
        </p:nvSpPr>
        <p:spPr>
          <a:xfrm>
            <a:off x="827584" y="2861585"/>
            <a:ext cx="6643688" cy="8572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char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ch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[80] = “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abcd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”;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string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str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= “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ef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”;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str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=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ch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 // char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형 배열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ch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의 이름만 쓴다는 점에 주의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051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17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800" spc="-250" dirty="0"/>
              <a:t>String </a:t>
            </a:r>
            <a:r>
              <a:rPr lang="ko-KR" altLang="en-US" sz="2800" spc="-250" dirty="0"/>
              <a:t>클래스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en-US" altLang="ko-KR" sz="2000" b="1" dirty="0">
                <a:latin typeface="-윤고딕140"/>
                <a:ea typeface="-윤고딕140"/>
                <a:cs typeface="-윤고딕140"/>
              </a:rPr>
              <a:t>char</a:t>
            </a:r>
            <a:r>
              <a:rPr lang="ko-KR" altLang="en-US" sz="2000" b="1" dirty="0">
                <a:latin typeface="-윤고딕140"/>
                <a:ea typeface="-윤고딕140"/>
                <a:cs typeface="-윤고딕140"/>
              </a:rPr>
              <a:t>형 문자열에 </a:t>
            </a:r>
            <a:r>
              <a:rPr lang="en-US" altLang="ko-KR" sz="2000" b="1" dirty="0">
                <a:latin typeface="-윤고딕140"/>
                <a:ea typeface="-윤고딕140"/>
                <a:cs typeface="-윤고딕140"/>
              </a:rPr>
              <a:t>string</a:t>
            </a:r>
            <a:r>
              <a:rPr lang="ko-KR" altLang="en-US" sz="2000" b="1" dirty="0">
                <a:latin typeface="-윤고딕140"/>
                <a:ea typeface="-윤고딕140"/>
                <a:cs typeface="-윤고딕140"/>
              </a:rPr>
              <a:t>형 변수를 저장하는 방법</a:t>
            </a:r>
            <a:endParaRPr lang="en-US" altLang="ko-KR" sz="20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 err="1" smtClean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strcpy</a:t>
            </a:r>
            <a:r>
              <a:rPr lang="en-US" altLang="ko-KR" sz="1800" b="1" dirty="0" smtClean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함수를 사용한다</a:t>
            </a: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.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 err="1" smtClean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c_str</a:t>
            </a: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()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는  </a:t>
            </a: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string 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형의 문자열을 기존의 </a:t>
            </a: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char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로 변환</a:t>
            </a: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7" name="부제목 8"/>
          <p:cNvSpPr txBox="1">
            <a:spLocks/>
          </p:cNvSpPr>
          <p:nvPr/>
        </p:nvSpPr>
        <p:spPr>
          <a:xfrm>
            <a:off x="683568" y="2852936"/>
            <a:ext cx="6429375" cy="6477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strcpy_s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ch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,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siezof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ch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),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str.c_str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());     //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str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객체의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c_str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()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함수 항목 사용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1441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18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800" spc="-250" dirty="0"/>
              <a:t>String </a:t>
            </a:r>
            <a:r>
              <a:rPr lang="ko-KR" altLang="en-US" sz="2800" spc="-250" dirty="0"/>
              <a:t>클래스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s</a:t>
            </a:r>
            <a:r>
              <a:rPr lang="en-US" altLang="ko-KR" sz="1800" b="1" dirty="0" smtClean="0">
                <a:latin typeface="-윤고딕140"/>
                <a:ea typeface="-윤고딕140"/>
                <a:cs typeface="-윤고딕140"/>
              </a:rPr>
              <a:t>tring</a:t>
            </a:r>
            <a:r>
              <a:rPr lang="ko-KR" altLang="en-US" sz="1800" b="1" dirty="0" smtClean="0">
                <a:latin typeface="-윤고딕140"/>
                <a:ea typeface="-윤고딕140"/>
                <a:cs typeface="-윤고딕140"/>
              </a:rPr>
              <a:t> 변수 예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#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include &lt;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iostream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&gt;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#include &lt;string&gt;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         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#include &lt;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cstring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&gt;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       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using namespace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std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main()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{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string str1, str2, str3,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myString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char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ch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[80] = "Just do it.";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 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str1 = "Good ";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                    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str2 = "morning.";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str3 = str1 + str2;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          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str3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if (str1 == str2)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"Same."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else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"Different."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myString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=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ch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</a:t>
            </a: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47520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19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800" spc="-250" dirty="0"/>
              <a:t>String </a:t>
            </a:r>
            <a:r>
              <a:rPr lang="ko-KR" altLang="en-US" sz="2800" spc="-250" dirty="0"/>
              <a:t>클래스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s</a:t>
            </a:r>
            <a:r>
              <a:rPr lang="en-US" altLang="ko-KR" sz="1800" b="1" dirty="0" smtClean="0">
                <a:latin typeface="-윤고딕140"/>
                <a:ea typeface="-윤고딕140"/>
                <a:cs typeface="-윤고딕140"/>
              </a:rPr>
              <a:t>tring</a:t>
            </a:r>
            <a:r>
              <a:rPr lang="ko-KR" altLang="en-US" sz="1800" b="1" dirty="0" smtClean="0">
                <a:latin typeface="-윤고딕140"/>
                <a:ea typeface="-윤고딕140"/>
                <a:cs typeface="-윤고딕140"/>
              </a:rPr>
              <a:t> 변수 예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myString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= "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myString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ch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= "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ch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myString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= "Good luck to you.";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                    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strcpy_s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(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ch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sizeof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ch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),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myString.c_str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());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myString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= "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myString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ch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= "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ch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 return 0;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} </a:t>
            </a: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45823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20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800" spc="-250" dirty="0"/>
              <a:t>String </a:t>
            </a:r>
            <a:r>
              <a:rPr lang="ko-KR" altLang="en-US" sz="2800" spc="-250" dirty="0"/>
              <a:t>클래스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en-US" altLang="ko-KR" sz="1400" b="1" dirty="0">
                <a:latin typeface="-윤고딕140"/>
                <a:ea typeface="-윤고딕140"/>
                <a:cs typeface="-윤고딕140"/>
              </a:rPr>
              <a:t>s</a:t>
            </a:r>
            <a:r>
              <a:rPr lang="en-US" altLang="ko-KR" sz="1400" b="1" dirty="0" smtClean="0">
                <a:latin typeface="-윤고딕140"/>
                <a:ea typeface="-윤고딕140"/>
                <a:cs typeface="-윤고딕140"/>
              </a:rPr>
              <a:t>tring</a:t>
            </a:r>
            <a:r>
              <a:rPr lang="ko-KR" altLang="en-US" sz="1400" b="1" dirty="0" smtClean="0">
                <a:latin typeface="-윤고딕140"/>
                <a:ea typeface="-윤고딕140"/>
                <a:cs typeface="-윤고딕140"/>
              </a:rPr>
              <a:t> </a:t>
            </a:r>
            <a:r>
              <a:rPr lang="ko-KR" altLang="en-US" sz="1400" b="1" dirty="0" smtClean="0">
                <a:latin typeface="-윤고딕140"/>
                <a:ea typeface="-윤고딕140"/>
                <a:cs typeface="-윤고딕140"/>
              </a:rPr>
              <a:t>내부 멤버함수 </a:t>
            </a:r>
            <a:endParaRPr lang="en-US" altLang="ko-KR" sz="1400" b="1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>
              <a:spcBef>
                <a:spcPct val="0"/>
              </a:spcBef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append(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str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  <a:p>
            <a:pPr lvl="2">
              <a:spcBef>
                <a:spcPct val="0"/>
              </a:spcBef>
            </a:pP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문자열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str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추가</a:t>
            </a:r>
            <a:endParaRPr lang="en-US" altLang="ko-KR" sz="1400" b="1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630936" lvl="2" indent="0">
              <a:spcBef>
                <a:spcPct val="0"/>
              </a:spcBef>
              <a:buNone/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// string 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tmp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= “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abcd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”; </a:t>
            </a: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혹은 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string 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tmp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(“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abc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”); </a:t>
            </a:r>
          </a:p>
          <a:p>
            <a:pPr marL="630936" lvl="2" indent="0">
              <a:spcBef>
                <a:spcPct val="0"/>
              </a:spcBef>
              <a:buNone/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// 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tmp.append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(‘Hi”);</a:t>
            </a:r>
            <a:endParaRPr lang="en-US" altLang="ko-KR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>
              <a:spcBef>
                <a:spcPct val="0"/>
              </a:spcBef>
            </a:pPr>
            <a:endParaRPr lang="en-US" altLang="ko-KR" sz="1400" b="1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>
              <a:spcBef>
                <a:spcPct val="0"/>
              </a:spcBef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insert(index, 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str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en-US" altLang="ko-KR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2">
              <a:spcBef>
                <a:spcPct val="0"/>
              </a:spcBef>
            </a:pP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기존 문자열의 특정 위치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(index)</a:t>
            </a: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에 문자열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str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삽입</a:t>
            </a:r>
            <a:endParaRPr lang="en-US" altLang="ko-KR" sz="1400" b="1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630936" lvl="2" indent="0">
              <a:spcBef>
                <a:spcPct val="0"/>
              </a:spcBef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// string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tmp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= “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abcd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”;</a:t>
            </a:r>
          </a:p>
          <a:p>
            <a:pPr marL="630936" lvl="2" indent="0">
              <a:spcBef>
                <a:spcPct val="0"/>
              </a:spcBef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// 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tmp.insert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(2, ‘Hello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”);</a:t>
            </a:r>
          </a:p>
          <a:p>
            <a:pPr lvl="1">
              <a:spcBef>
                <a:spcPct val="0"/>
              </a:spcBef>
            </a:pPr>
            <a:endParaRPr lang="en-US" altLang="ko-KR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>
              <a:spcBef>
                <a:spcPct val="0"/>
              </a:spcBef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Replace(index, n, 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str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  <a:p>
            <a:pPr lvl="2">
              <a:spcBef>
                <a:spcPct val="0"/>
              </a:spcBef>
            </a:pP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기</a:t>
            </a: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존 문자열의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특정 위치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(index)</a:t>
            </a: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에서부터 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n</a:t>
            </a: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개 문자를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다른 문자열 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str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로 대치</a:t>
            </a:r>
            <a:endParaRPr lang="en-US" altLang="ko-KR" sz="1400" b="1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630936" lvl="2" indent="0">
              <a:spcBef>
                <a:spcPct val="0"/>
              </a:spcBef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// string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tmp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= “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abcd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”;</a:t>
            </a:r>
          </a:p>
          <a:p>
            <a:pPr marL="630936" lvl="2" indent="0">
              <a:spcBef>
                <a:spcPct val="0"/>
              </a:spcBef>
              <a:buNone/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//  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tmp.replace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(0, 2, ‘hello”);</a:t>
            </a:r>
            <a:endParaRPr lang="en-US" altLang="ko-KR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2">
              <a:spcBef>
                <a:spcPct val="0"/>
              </a:spcBef>
            </a:pPr>
            <a:endParaRPr lang="en-US" altLang="ko-KR" sz="1400" b="1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>
              <a:spcBef>
                <a:spcPct val="0"/>
              </a:spcBef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length()</a:t>
            </a:r>
          </a:p>
          <a:p>
            <a:pPr lvl="2">
              <a:spcBef>
                <a:spcPct val="0"/>
              </a:spcBef>
            </a:pP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문자열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길이 체크</a:t>
            </a:r>
            <a:endParaRPr lang="en-US" altLang="ko-KR" sz="1400" b="1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630936" lvl="2" indent="0">
              <a:spcBef>
                <a:spcPct val="0"/>
              </a:spcBef>
              <a:buNone/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//  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string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tmp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= “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abcd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”;</a:t>
            </a:r>
          </a:p>
          <a:p>
            <a:pPr marL="630936" lvl="2" indent="0">
              <a:spcBef>
                <a:spcPct val="0"/>
              </a:spcBef>
              <a:buNone/>
            </a:pP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// 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&lt;&lt; 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tmp.length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() &lt;&lt; 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  <a:endParaRPr lang="en-US" altLang="ko-KR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>
              <a:spcBef>
                <a:spcPct val="0"/>
              </a:spcBef>
            </a:pPr>
            <a:endParaRPr lang="en-US" altLang="ko-KR" sz="1400" b="1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>
              <a:spcBef>
                <a:spcPct val="0"/>
              </a:spcBef>
            </a:pPr>
            <a:endParaRPr lang="en-US" altLang="ko-KR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>
              <a:spcBef>
                <a:spcPct val="0"/>
              </a:spcBef>
            </a:pPr>
            <a:endParaRPr lang="en-US" altLang="ko-KR" sz="1400" b="1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617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21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800" spc="-250" dirty="0"/>
              <a:t>String </a:t>
            </a:r>
            <a:r>
              <a:rPr lang="ko-KR" altLang="en-US" sz="2800" spc="-250" dirty="0"/>
              <a:t>클래스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en-US" altLang="ko-KR" sz="1400" b="1" dirty="0">
                <a:latin typeface="-윤고딕140"/>
                <a:ea typeface="-윤고딕140"/>
                <a:cs typeface="-윤고딕140"/>
              </a:rPr>
              <a:t>s</a:t>
            </a:r>
            <a:r>
              <a:rPr lang="en-US" altLang="ko-KR" sz="1400" b="1" dirty="0" smtClean="0">
                <a:latin typeface="-윤고딕140"/>
                <a:ea typeface="-윤고딕140"/>
                <a:cs typeface="-윤고딕140"/>
              </a:rPr>
              <a:t>tring</a:t>
            </a:r>
            <a:r>
              <a:rPr lang="ko-KR" altLang="en-US" sz="1400" b="1" dirty="0" smtClean="0">
                <a:latin typeface="-윤고딕140"/>
                <a:ea typeface="-윤고딕140"/>
                <a:cs typeface="-윤고딕140"/>
              </a:rPr>
              <a:t> </a:t>
            </a:r>
            <a:r>
              <a:rPr lang="ko-KR" altLang="en-US" sz="1400" b="1" dirty="0" smtClean="0">
                <a:latin typeface="-윤고딕140"/>
                <a:ea typeface="-윤고딕140"/>
                <a:cs typeface="-윤고딕140"/>
              </a:rPr>
              <a:t>외부 전역함수 </a:t>
            </a:r>
            <a:endParaRPr lang="en-US" altLang="ko-KR" sz="1400" b="1" dirty="0">
              <a:latin typeface="-윤고딕140"/>
              <a:ea typeface="-윤고딕140"/>
              <a:cs typeface="-윤고딕140"/>
            </a:endParaRPr>
          </a:p>
          <a:p>
            <a:pPr lvl="1">
              <a:spcBef>
                <a:spcPct val="0"/>
              </a:spcBef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400" b="1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stoi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() </a:t>
            </a: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함수</a:t>
            </a:r>
            <a:endParaRPr lang="en-US" altLang="ko-KR" sz="1400" b="1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>
              <a:spcBef>
                <a:spcPct val="0"/>
              </a:spcBef>
            </a:pPr>
            <a:r>
              <a:rPr lang="ko-KR" altLang="en-US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문자열의 숫자변환 함수</a:t>
            </a:r>
            <a:r>
              <a:rPr lang="en-US" altLang="ko-KR" sz="14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400" b="1" dirty="0" smtClean="0"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#include&lt;</a:t>
            </a:r>
            <a:r>
              <a:rPr lang="en-US" altLang="ko-KR" sz="1400" dirty="0" err="1">
                <a:latin typeface="Arial" panose="020B0604020202020204" pitchFamily="34" charset="0"/>
                <a:ea typeface="굴림" panose="020B0600000101010101" pitchFamily="50" charset="-127"/>
              </a:rPr>
              <a:t>iostream</a:t>
            </a: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&gt;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#include &lt;string&gt;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400" dirty="0"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using namespace </a:t>
            </a:r>
            <a:r>
              <a:rPr lang="en-US" altLang="ko-KR" sz="1400" dirty="0" err="1">
                <a:latin typeface="Arial" panose="020B0604020202020204" pitchFamily="34" charset="0"/>
                <a:ea typeface="굴림" panose="020B0600000101010101" pitchFamily="50" charset="-127"/>
              </a:rPr>
              <a:t>std</a:t>
            </a: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400" dirty="0"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400" dirty="0" err="1">
                <a:latin typeface="Arial" panose="020B0604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 main() 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	string str1 = "1234";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400" dirty="0" err="1">
                <a:latin typeface="Arial" panose="020B0604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400" dirty="0" err="1">
                <a:latin typeface="Arial" panose="020B0604020202020204" pitchFamily="34" charset="0"/>
                <a:ea typeface="굴림" panose="020B0600000101010101" pitchFamily="50" charset="-127"/>
              </a:rPr>
              <a:t>tmp</a:t>
            </a: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400" dirty="0"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400" dirty="0" err="1">
                <a:latin typeface="Arial" panose="020B0604020202020204" pitchFamily="34" charset="0"/>
                <a:ea typeface="굴림" panose="020B0600000101010101" pitchFamily="50" charset="-127"/>
              </a:rPr>
              <a:t>cout</a:t>
            </a: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 &lt;&lt; str1 &lt;&lt; </a:t>
            </a:r>
            <a:r>
              <a:rPr lang="en-US" altLang="ko-KR" sz="1400" dirty="0" err="1">
                <a:latin typeface="Arial" panose="020B0604020202020204" pitchFamily="34" charset="0"/>
                <a:ea typeface="굴림" panose="020B0600000101010101" pitchFamily="50" charset="-127"/>
              </a:rPr>
              <a:t>endl</a:t>
            </a: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400" dirty="0" err="1">
                <a:latin typeface="Arial" panose="020B0604020202020204" pitchFamily="34" charset="0"/>
                <a:ea typeface="굴림" panose="020B0600000101010101" pitchFamily="50" charset="-127"/>
              </a:rPr>
              <a:t>tmp</a:t>
            </a: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 = </a:t>
            </a:r>
            <a:r>
              <a:rPr lang="en-US" altLang="ko-KR" sz="1400" dirty="0" err="1">
                <a:latin typeface="Arial" panose="020B0604020202020204" pitchFamily="34" charset="0"/>
                <a:ea typeface="굴림" panose="020B0600000101010101" pitchFamily="50" charset="-127"/>
              </a:rPr>
              <a:t>stoi</a:t>
            </a: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(str1);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400" dirty="0" err="1">
                <a:latin typeface="Arial" panose="020B0604020202020204" pitchFamily="34" charset="0"/>
                <a:ea typeface="굴림" panose="020B0600000101010101" pitchFamily="50" charset="-127"/>
              </a:rPr>
              <a:t>cout</a:t>
            </a: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 &lt;&lt; </a:t>
            </a:r>
            <a:r>
              <a:rPr lang="en-US" altLang="ko-KR" sz="1400" dirty="0" err="1">
                <a:latin typeface="Arial" panose="020B0604020202020204" pitchFamily="34" charset="0"/>
                <a:ea typeface="굴림" panose="020B0600000101010101" pitchFamily="50" charset="-127"/>
              </a:rPr>
              <a:t>tmp</a:t>
            </a: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 &lt;&lt; </a:t>
            </a:r>
            <a:r>
              <a:rPr lang="en-US" altLang="ko-KR" sz="1400" dirty="0" err="1">
                <a:latin typeface="Arial" panose="020B0604020202020204" pitchFamily="34" charset="0"/>
                <a:ea typeface="굴림" panose="020B0600000101010101" pitchFamily="50" charset="-127"/>
              </a:rPr>
              <a:t>endl</a:t>
            </a: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400" dirty="0" err="1">
                <a:latin typeface="Arial" panose="020B0604020202020204" pitchFamily="34" charset="0"/>
                <a:ea typeface="굴림" panose="020B0600000101010101" pitchFamily="50" charset="-127"/>
              </a:rPr>
              <a:t>tmp</a:t>
            </a: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 += 100;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400" dirty="0" err="1">
                <a:latin typeface="Arial" panose="020B0604020202020204" pitchFamily="34" charset="0"/>
                <a:ea typeface="굴림" panose="020B0600000101010101" pitchFamily="50" charset="-127"/>
              </a:rPr>
              <a:t>cout</a:t>
            </a: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 &lt;&lt; </a:t>
            </a:r>
            <a:r>
              <a:rPr lang="en-US" altLang="ko-KR" sz="1400" dirty="0" err="1">
                <a:latin typeface="Arial" panose="020B0604020202020204" pitchFamily="34" charset="0"/>
                <a:ea typeface="굴림" panose="020B0600000101010101" pitchFamily="50" charset="-127"/>
              </a:rPr>
              <a:t>tmp</a:t>
            </a: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 &lt;&lt; </a:t>
            </a:r>
            <a:r>
              <a:rPr lang="en-US" altLang="ko-KR" sz="1400" dirty="0" err="1">
                <a:latin typeface="Arial" panose="020B0604020202020204" pitchFamily="34" charset="0"/>
                <a:ea typeface="굴림" panose="020B0600000101010101" pitchFamily="50" charset="-127"/>
              </a:rPr>
              <a:t>endl</a:t>
            </a: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	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	return 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}</a:t>
            </a:r>
            <a:r>
              <a:rPr lang="en-US" altLang="ko-KR" sz="1400" dirty="0">
                <a:latin typeface="Arial" panose="020B0604020202020204" pitchFamily="34" charset="0"/>
                <a:ea typeface="굴림" panose="020B0600000101010101" pitchFamily="50" charset="-127"/>
              </a:rPr>
              <a:t>  </a:t>
            </a:r>
            <a:endParaRPr lang="en-US" altLang="ko-KR" sz="1400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2512149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775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 smtClean="0"/>
              <a:t>// </a:t>
            </a:r>
            <a:r>
              <a:rPr lang="ko-KR" altLang="en-US" sz="1600" dirty="0" smtClean="0"/>
              <a:t>중복 없는</a:t>
            </a:r>
            <a:r>
              <a:rPr lang="en-US" altLang="ko-KR" sz="1600" dirty="0" smtClean="0"/>
              <a:t> 10 </a:t>
            </a:r>
            <a:r>
              <a:rPr lang="ko-KR" altLang="en-US" sz="1600" dirty="0" smtClean="0"/>
              <a:t>미만의 </a:t>
            </a:r>
            <a:r>
              <a:rPr lang="ko-KR" altLang="en-US" sz="1600" dirty="0" err="1" smtClean="0"/>
              <a:t>난수</a:t>
            </a:r>
            <a:r>
              <a:rPr lang="ko-KR" altLang="en-US" sz="1600" dirty="0" smtClean="0"/>
              <a:t> 발생 프로그램</a:t>
            </a:r>
            <a:endParaRPr lang="en-US" altLang="ko-KR" sz="1600" dirty="0" smtClean="0"/>
          </a:p>
          <a:p>
            <a:pPr marL="109728" indent="0" latinLnBrk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iostream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stdlib.h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time.h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Windows.h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conio.h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Make_Num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Print_Num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using namespace </a:t>
            </a:r>
            <a:r>
              <a:rPr lang="en-US" altLang="ko-KR" sz="1600" dirty="0" err="1"/>
              <a:t>std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 err="1"/>
              <a:t>int</a:t>
            </a:r>
            <a:r>
              <a:rPr lang="en-US" altLang="ko-KR" sz="1600" dirty="0"/>
              <a:t> nm[5] = { -</a:t>
            </a:r>
            <a:r>
              <a:rPr lang="en-US" altLang="ko-KR" sz="1600" dirty="0" smtClean="0"/>
              <a:t>1,-1,-1,-1,-1 </a:t>
            </a:r>
            <a:r>
              <a:rPr lang="en-US" altLang="ko-KR" sz="1600" dirty="0"/>
              <a:t>};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 err="1"/>
              <a:t>int</a:t>
            </a:r>
            <a:r>
              <a:rPr lang="en-US" altLang="ko-KR" sz="1600" dirty="0"/>
              <a:t> main()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srand</a:t>
            </a:r>
            <a:r>
              <a:rPr lang="en-US" altLang="ko-KR" sz="1600" dirty="0"/>
              <a:t>(time(NULL));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Make_Num</a:t>
            </a:r>
            <a:r>
              <a:rPr lang="en-US" altLang="ko-KR" sz="1600" dirty="0"/>
              <a:t>();  // </a:t>
            </a:r>
            <a:r>
              <a:rPr lang="ko-KR" altLang="en-US" sz="1600" dirty="0"/>
              <a:t>단일수 테이블 만들기</a:t>
            </a:r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 err="1"/>
              <a:t>Print_Num</a:t>
            </a:r>
            <a:r>
              <a:rPr lang="en-US" altLang="ko-KR" sz="1600" dirty="0" smtClean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 return 0</a:t>
            </a:r>
            <a:r>
              <a:rPr lang="en-US" altLang="ko-KR" sz="1600" dirty="0" smtClean="0"/>
              <a:t>;</a:t>
            </a: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8125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850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Make_Num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tmp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cn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nm1;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cn</a:t>
            </a:r>
            <a:r>
              <a:rPr lang="en-US" altLang="ko-KR" sz="1600" dirty="0"/>
              <a:t> = 0;</a:t>
            </a:r>
          </a:p>
          <a:p>
            <a:pPr marL="109728" indent="0" latinLnBrk="0">
              <a:buNone/>
            </a:pPr>
            <a:r>
              <a:rPr lang="en-US" altLang="ko-KR" sz="1600" dirty="0"/>
              <a:t>	while (</a:t>
            </a:r>
            <a:r>
              <a:rPr lang="en-US" altLang="ko-KR" sz="1600" dirty="0" err="1"/>
              <a:t>cn</a:t>
            </a:r>
            <a:r>
              <a:rPr lang="en-US" altLang="ko-KR" sz="1600" dirty="0"/>
              <a:t> &lt;= 4)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tmp</a:t>
            </a:r>
            <a:r>
              <a:rPr lang="en-US" altLang="ko-KR" sz="1600" dirty="0"/>
              <a:t> = 0;</a:t>
            </a:r>
          </a:p>
          <a:p>
            <a:pPr marL="109728" indent="0" latinLnBrk="0">
              <a:buNone/>
            </a:pPr>
            <a:r>
              <a:rPr lang="en-US" altLang="ko-KR" sz="1600" dirty="0"/>
              <a:t>		nm1 = rand() % 10;</a:t>
            </a:r>
          </a:p>
          <a:p>
            <a:pPr marL="109728" indent="0" latinLnBrk="0">
              <a:buNone/>
            </a:pPr>
            <a:r>
              <a:rPr lang="en-US" altLang="ko-KR" sz="1600" dirty="0"/>
              <a:t>		for (</a:t>
            </a:r>
            <a:r>
              <a:rPr lang="en-US" altLang="ko-KR" sz="1600" dirty="0" err="1"/>
              <a:t>i</a:t>
            </a:r>
            <a:r>
              <a:rPr lang="en-US" altLang="ko-KR" sz="1600" dirty="0"/>
              <a:t> = 0;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 &lt; 5;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++) {  // </a:t>
            </a:r>
            <a:r>
              <a:rPr lang="ko-KR" altLang="en-US" sz="1600" dirty="0" err="1"/>
              <a:t>중복수</a:t>
            </a:r>
            <a:r>
              <a:rPr lang="ko-KR" altLang="en-US" sz="1600" dirty="0"/>
              <a:t> 판별</a:t>
            </a:r>
          </a:p>
          <a:p>
            <a:pPr marL="109728" indent="0" latinLnBrk="0">
              <a:buNone/>
            </a:pPr>
            <a:r>
              <a:rPr lang="ko-KR" altLang="en-US" sz="1600" dirty="0"/>
              <a:t>			</a:t>
            </a:r>
            <a:r>
              <a:rPr lang="en-US" altLang="ko-KR" sz="1600" dirty="0"/>
              <a:t>if (nm[</a:t>
            </a:r>
            <a:r>
              <a:rPr lang="en-US" altLang="ko-KR" sz="1600" dirty="0" err="1"/>
              <a:t>i</a:t>
            </a:r>
            <a:r>
              <a:rPr lang="en-US" altLang="ko-KR" sz="1600" dirty="0"/>
              <a:t>] == nm1) ++</a:t>
            </a:r>
            <a:r>
              <a:rPr lang="en-US" altLang="ko-KR" sz="1600" dirty="0" err="1"/>
              <a:t>tmp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	}</a:t>
            </a:r>
          </a:p>
          <a:p>
            <a:pPr marL="109728" indent="0" latinLnBrk="0">
              <a:buNone/>
            </a:pPr>
            <a:r>
              <a:rPr lang="en-US" altLang="ko-KR" sz="1600" dirty="0"/>
              <a:t>		if (</a:t>
            </a:r>
            <a:r>
              <a:rPr lang="en-US" altLang="ko-KR" sz="1600" dirty="0" err="1"/>
              <a:t>tmp</a:t>
            </a:r>
            <a:r>
              <a:rPr lang="en-US" altLang="ko-KR" sz="1600" dirty="0"/>
              <a:t> == 0) {  // </a:t>
            </a:r>
            <a:r>
              <a:rPr lang="ko-KR" altLang="en-US" sz="1600" dirty="0"/>
              <a:t>단일 수이면 입력</a:t>
            </a:r>
          </a:p>
          <a:p>
            <a:pPr marL="109728" indent="0" latinLnBrk="0">
              <a:buNone/>
            </a:pPr>
            <a:r>
              <a:rPr lang="ko-KR" altLang="en-US" sz="1600" dirty="0"/>
              <a:t>			</a:t>
            </a:r>
            <a:r>
              <a:rPr lang="en-US" altLang="ko-KR" sz="1600" dirty="0"/>
              <a:t>nm[</a:t>
            </a:r>
            <a:r>
              <a:rPr lang="en-US" altLang="ko-KR" sz="1600" dirty="0" err="1"/>
              <a:t>cn</a:t>
            </a:r>
            <a:r>
              <a:rPr lang="en-US" altLang="ko-KR" sz="1600" dirty="0"/>
              <a:t>] = nm1;</a:t>
            </a:r>
          </a:p>
          <a:p>
            <a:pPr marL="109728" indent="0" latinLnBrk="0">
              <a:buNone/>
            </a:pPr>
            <a:r>
              <a:rPr lang="en-US" altLang="ko-KR" sz="1600" dirty="0"/>
              <a:t>			++</a:t>
            </a:r>
            <a:r>
              <a:rPr lang="en-US" altLang="ko-KR" sz="1600" dirty="0" err="1"/>
              <a:t>cn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	}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86765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r>
              <a:rPr lang="nn-NO" altLang="ko-KR" sz="1600" dirty="0"/>
              <a:t>void Print_Num()</a:t>
            </a:r>
          </a:p>
          <a:p>
            <a:pPr marL="109728" indent="0" latinLnBrk="0">
              <a:buNone/>
            </a:pPr>
            <a:r>
              <a:rPr lang="nn-NO" altLang="ko-KR" sz="1600" dirty="0"/>
              <a:t>{</a:t>
            </a:r>
          </a:p>
          <a:p>
            <a:pPr marL="109728" indent="0" latinLnBrk="0">
              <a:buNone/>
            </a:pPr>
            <a:r>
              <a:rPr lang="nn-NO" altLang="ko-KR" sz="1600" dirty="0"/>
              <a:t>	int i;</a:t>
            </a:r>
          </a:p>
          <a:p>
            <a:pPr marL="109728" indent="0" latinLnBrk="0">
              <a:buNone/>
            </a:pPr>
            <a:endParaRPr lang="nn-NO" altLang="ko-KR" sz="1600" dirty="0"/>
          </a:p>
          <a:p>
            <a:pPr marL="109728" indent="0" latinLnBrk="0">
              <a:buNone/>
            </a:pPr>
            <a:r>
              <a:rPr lang="nn-NO" altLang="ko-KR" sz="1600" dirty="0"/>
              <a:t>	for (i = 0; i &lt; 5; i++) {</a:t>
            </a:r>
          </a:p>
          <a:p>
            <a:pPr marL="109728" indent="0" latinLnBrk="0">
              <a:buNone/>
            </a:pPr>
            <a:r>
              <a:rPr lang="nn-NO" altLang="ko-KR" sz="1600" dirty="0"/>
              <a:t>		cout &lt;&lt; nm[i] &lt;&lt; endl;</a:t>
            </a:r>
          </a:p>
          <a:p>
            <a:pPr marL="109728" indent="0" latinLnBrk="0">
              <a:buNone/>
            </a:pPr>
            <a:r>
              <a:rPr lang="nn-NO" altLang="ko-KR" sz="1600" dirty="0"/>
              <a:t>	}</a:t>
            </a:r>
          </a:p>
          <a:p>
            <a:pPr marL="109728" indent="0" latinLnBrk="0">
              <a:buNone/>
            </a:pPr>
            <a:endParaRPr lang="nn-NO" altLang="ko-KR" sz="1600" dirty="0"/>
          </a:p>
          <a:p>
            <a:pPr marL="109728" indent="0" latinLnBrk="0">
              <a:buNone/>
            </a:pPr>
            <a:r>
              <a:rPr lang="nn-NO" altLang="ko-KR" sz="1600" dirty="0"/>
              <a:t>}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420989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92500" lnSpcReduction="10000"/>
          </a:bodyPr>
          <a:lstStyle/>
          <a:p>
            <a:pPr marL="109728" indent="0" latinLnBrk="0">
              <a:buNone/>
            </a:pPr>
            <a:r>
              <a:rPr lang="en-US" altLang="ko-KR" sz="1600" dirty="0" smtClean="0"/>
              <a:t>// </a:t>
            </a:r>
            <a:r>
              <a:rPr lang="ko-KR" altLang="en-US" sz="1600" dirty="0" smtClean="0"/>
              <a:t>캐릭터 좌우 이동 프로그램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한 번만 이동</a:t>
            </a:r>
            <a:r>
              <a:rPr lang="en-US" altLang="ko-KR" sz="1600" dirty="0" smtClean="0"/>
              <a:t>)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iostream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stdlib.h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time.h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Windows.h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conio.h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&lt;string&gt;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Pro_Manage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void Left();</a:t>
            </a:r>
          </a:p>
          <a:p>
            <a:pPr marL="109728" indent="0" latinLnBrk="0">
              <a:buNone/>
            </a:pPr>
            <a:r>
              <a:rPr lang="en-US" altLang="ko-KR" sz="1600" dirty="0"/>
              <a:t>void Right();</a:t>
            </a:r>
          </a:p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Num_Print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using namespace </a:t>
            </a:r>
            <a:r>
              <a:rPr lang="en-US" altLang="ko-KR" sz="1600" dirty="0" err="1"/>
              <a:t>std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num</a:t>
            </a:r>
            <a:r>
              <a:rPr lang="en-US" altLang="ko-KR" sz="1600" dirty="0"/>
              <a:t>[5] = { 1,2,0,3,4 }; // </a:t>
            </a:r>
            <a:r>
              <a:rPr lang="ko-KR" altLang="en-US" sz="1600" dirty="0"/>
              <a:t>숫자 배치</a:t>
            </a:r>
          </a:p>
          <a:p>
            <a:pPr marL="109728" indent="0" latinLnBrk="0">
              <a:buNone/>
            </a:pP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rx</a:t>
            </a:r>
            <a:r>
              <a:rPr lang="en-US" altLang="ko-KR" sz="1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56308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r>
              <a:rPr lang="en-US" altLang="ko-KR" sz="1600" dirty="0" err="1"/>
              <a:t>int</a:t>
            </a:r>
            <a:r>
              <a:rPr lang="en-US" altLang="ko-KR" sz="1600" dirty="0"/>
              <a:t> main()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Num_Print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Pro_Manage</a:t>
            </a:r>
            <a:r>
              <a:rPr lang="en-US" altLang="ko-KR" sz="1600" dirty="0" smtClean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 return 0</a:t>
            </a:r>
            <a:r>
              <a:rPr lang="en-US" altLang="ko-KR" sz="1600" dirty="0" smtClean="0"/>
              <a:t>;</a:t>
            </a: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  <a:p>
            <a:pPr marL="109728" indent="0" latinLnBrk="0">
              <a:buNone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75539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850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 smtClean="0"/>
              <a:t>void </a:t>
            </a:r>
            <a:r>
              <a:rPr lang="en-US" altLang="ko-KR" sz="1600" dirty="0" err="1"/>
              <a:t>Pro_Manage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char 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= 0;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rx</a:t>
            </a:r>
            <a:r>
              <a:rPr lang="en-US" altLang="ko-KR" sz="1600" dirty="0"/>
              <a:t> = 2;	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= _</a:t>
            </a:r>
            <a:r>
              <a:rPr lang="en-US" altLang="ko-KR" sz="1600" dirty="0" err="1"/>
              <a:t>getch</a:t>
            </a:r>
            <a:r>
              <a:rPr lang="en-US" altLang="ko-KR" sz="1600" dirty="0"/>
              <a:t>();	// </a:t>
            </a:r>
            <a:r>
              <a:rPr lang="ko-KR" altLang="en-US" sz="1600" dirty="0" err="1"/>
              <a:t>좌우키</a:t>
            </a:r>
            <a:r>
              <a:rPr lang="ko-KR" altLang="en-US" sz="1600" dirty="0"/>
              <a:t> 입력	</a:t>
            </a:r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if (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== 0x00 || 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== 0xE0) 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= _</a:t>
            </a:r>
            <a:r>
              <a:rPr lang="en-US" altLang="ko-KR" sz="1600" dirty="0" err="1"/>
              <a:t>getch</a:t>
            </a:r>
            <a:r>
              <a:rPr lang="en-US" altLang="ko-KR" sz="1600" dirty="0" smtClean="0"/>
              <a:t>();  // </a:t>
            </a:r>
            <a:r>
              <a:rPr lang="ko-KR" altLang="en-US" sz="1600" dirty="0"/>
              <a:t>입력 키 값 </a:t>
            </a:r>
            <a:r>
              <a:rPr lang="ko-KR" altLang="en-US" sz="1600" dirty="0" smtClean="0"/>
              <a:t>처리</a:t>
            </a: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else 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= _</a:t>
            </a:r>
            <a:r>
              <a:rPr lang="en-US" altLang="ko-KR" sz="1600" dirty="0" err="1"/>
              <a:t>getch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if (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== 75) </a:t>
            </a:r>
            <a:r>
              <a:rPr lang="en-US" altLang="ko-KR" sz="1600" dirty="0" smtClean="0"/>
              <a:t>{     // </a:t>
            </a:r>
            <a:r>
              <a:rPr lang="ko-KR" altLang="en-US" sz="1600" dirty="0" err="1"/>
              <a:t>좌키</a:t>
            </a:r>
            <a:r>
              <a:rPr lang="ko-KR" altLang="en-US" sz="1600" dirty="0"/>
              <a:t>	</a:t>
            </a:r>
          </a:p>
          <a:p>
            <a:pPr marL="109728" indent="0" latinLnBrk="0">
              <a:buNone/>
            </a:pPr>
            <a:r>
              <a:rPr lang="ko-KR" altLang="en-US" sz="1600" dirty="0"/>
              <a:t>		</a:t>
            </a:r>
            <a:r>
              <a:rPr lang="en-US" altLang="ko-KR" sz="1600" dirty="0"/>
              <a:t>Left();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r>
              <a:rPr lang="en-US" altLang="ko-KR" sz="1600" dirty="0"/>
              <a:t>	if (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== 77) { </a:t>
            </a:r>
            <a:r>
              <a:rPr lang="en-US" altLang="ko-KR" sz="1600" dirty="0" smtClean="0"/>
              <a:t>    // </a:t>
            </a:r>
            <a:r>
              <a:rPr lang="ko-KR" altLang="en-US" sz="1600" dirty="0" err="1"/>
              <a:t>우키</a:t>
            </a:r>
            <a:endParaRPr lang="ko-KR" altLang="en-US" sz="1600" dirty="0"/>
          </a:p>
          <a:p>
            <a:pPr marL="109728" indent="0" latinLnBrk="0">
              <a:buNone/>
            </a:pPr>
            <a:r>
              <a:rPr lang="ko-KR" altLang="en-US" sz="1600" dirty="0"/>
              <a:t>		</a:t>
            </a:r>
            <a:r>
              <a:rPr lang="en-US" altLang="ko-KR" sz="1600" dirty="0"/>
              <a:t>Right();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Num_Print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24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void Left()  // </a:t>
            </a:r>
            <a:r>
              <a:rPr lang="ko-KR" altLang="en-US" sz="1600" dirty="0"/>
              <a:t>좌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tmp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tmp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num</a:t>
            </a:r>
            <a:r>
              <a:rPr lang="en-US" altLang="ko-KR" sz="1600" dirty="0"/>
              <a:t>[rx-1];  // </a:t>
            </a:r>
            <a:r>
              <a:rPr lang="ko-KR" altLang="en-US" sz="1600" dirty="0"/>
              <a:t>좌측 이동</a:t>
            </a:r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 err="1"/>
              <a:t>num</a:t>
            </a:r>
            <a:r>
              <a:rPr lang="en-US" altLang="ko-KR" sz="1600" dirty="0"/>
              <a:t>[</a:t>
            </a:r>
            <a:r>
              <a:rPr lang="en-US" altLang="ko-KR" sz="1600" dirty="0" err="1"/>
              <a:t>rx</a:t>
            </a:r>
            <a:r>
              <a:rPr lang="en-US" altLang="ko-KR" sz="1600" dirty="0"/>
              <a:t> - 1] = </a:t>
            </a:r>
            <a:r>
              <a:rPr lang="en-US" altLang="ko-KR" sz="1600" dirty="0" err="1"/>
              <a:t>num</a:t>
            </a:r>
            <a:r>
              <a:rPr lang="en-US" altLang="ko-KR" sz="1600" dirty="0"/>
              <a:t>[</a:t>
            </a:r>
            <a:r>
              <a:rPr lang="en-US" altLang="ko-KR" sz="1600" dirty="0" err="1"/>
              <a:t>rx</a:t>
            </a:r>
            <a:r>
              <a:rPr lang="en-US" altLang="ko-KR" sz="1600" dirty="0"/>
              <a:t>];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num</a:t>
            </a:r>
            <a:r>
              <a:rPr lang="en-US" altLang="ko-KR" sz="1600" dirty="0"/>
              <a:t>[</a:t>
            </a:r>
            <a:r>
              <a:rPr lang="en-US" altLang="ko-KR" sz="1600" dirty="0" err="1"/>
              <a:t>rx</a:t>
            </a:r>
            <a:r>
              <a:rPr lang="en-US" altLang="ko-KR" sz="1600" dirty="0"/>
              <a:t>] = </a:t>
            </a:r>
            <a:r>
              <a:rPr lang="en-US" altLang="ko-KR" sz="1600" dirty="0" err="1"/>
              <a:t>tmp</a:t>
            </a:r>
            <a:r>
              <a:rPr lang="en-US" altLang="ko-KR" sz="1600" dirty="0" smtClean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 smtClean="0"/>
              <a:t>}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221665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void Right()  // </a:t>
            </a:r>
            <a:r>
              <a:rPr lang="ko-KR" altLang="en-US" sz="1600" dirty="0"/>
              <a:t>우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tmp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tmp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num</a:t>
            </a:r>
            <a:r>
              <a:rPr lang="en-US" altLang="ko-KR" sz="1600" dirty="0"/>
              <a:t>[</a:t>
            </a:r>
            <a:r>
              <a:rPr lang="en-US" altLang="ko-KR" sz="1600" dirty="0" err="1"/>
              <a:t>rx</a:t>
            </a:r>
            <a:r>
              <a:rPr lang="en-US" altLang="ko-KR" sz="1600" dirty="0"/>
              <a:t> + 1]; // </a:t>
            </a:r>
            <a:r>
              <a:rPr lang="ko-KR" altLang="en-US" sz="1600" dirty="0"/>
              <a:t>우측 이동</a:t>
            </a:r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 err="1"/>
              <a:t>num</a:t>
            </a:r>
            <a:r>
              <a:rPr lang="en-US" altLang="ko-KR" sz="1600" dirty="0"/>
              <a:t>[</a:t>
            </a:r>
            <a:r>
              <a:rPr lang="en-US" altLang="ko-KR" sz="1600" dirty="0" err="1"/>
              <a:t>rx</a:t>
            </a:r>
            <a:r>
              <a:rPr lang="en-US" altLang="ko-KR" sz="1600" dirty="0"/>
              <a:t> + 1] = </a:t>
            </a:r>
            <a:r>
              <a:rPr lang="en-US" altLang="ko-KR" sz="1600" dirty="0" err="1"/>
              <a:t>num</a:t>
            </a:r>
            <a:r>
              <a:rPr lang="en-US" altLang="ko-KR" sz="1600" dirty="0"/>
              <a:t>[</a:t>
            </a:r>
            <a:r>
              <a:rPr lang="en-US" altLang="ko-KR" sz="1600" dirty="0" err="1"/>
              <a:t>rx</a:t>
            </a:r>
            <a:r>
              <a:rPr lang="en-US" altLang="ko-KR" sz="1600" dirty="0"/>
              <a:t>];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num</a:t>
            </a:r>
            <a:r>
              <a:rPr lang="en-US" altLang="ko-KR" sz="1600" dirty="0"/>
              <a:t>[</a:t>
            </a:r>
            <a:r>
              <a:rPr lang="en-US" altLang="ko-KR" sz="1600" dirty="0" err="1"/>
              <a:t>rx</a:t>
            </a:r>
            <a:r>
              <a:rPr lang="en-US" altLang="ko-KR" sz="1600" dirty="0"/>
              <a:t>] = </a:t>
            </a:r>
            <a:r>
              <a:rPr lang="en-US" altLang="ko-KR" sz="1600" dirty="0" err="1"/>
              <a:t>tmp</a:t>
            </a:r>
            <a:r>
              <a:rPr lang="en-US" altLang="ko-KR" sz="1600" dirty="0" smtClean="0"/>
              <a:t>;</a:t>
            </a:r>
            <a:r>
              <a:rPr lang="en-US" altLang="ko-KR" sz="1600" dirty="0"/>
              <a:t>		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445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92500" lnSpcReduction="10000"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Num_Print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a;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for (a = 0; a &lt; 5; a++) {  // </a:t>
            </a:r>
            <a:r>
              <a:rPr lang="ko-KR" altLang="en-US" sz="1600" dirty="0"/>
              <a:t>전체 출력</a:t>
            </a:r>
          </a:p>
          <a:p>
            <a:pPr marL="109728" indent="0" latinLnBrk="0">
              <a:buNone/>
            </a:pPr>
            <a:r>
              <a:rPr lang="ko-KR" altLang="en-US" sz="1600" dirty="0"/>
              <a:t>		</a:t>
            </a:r>
            <a:r>
              <a:rPr lang="en-US" altLang="ko-KR" sz="1600" dirty="0"/>
              <a:t>if (</a:t>
            </a:r>
            <a:r>
              <a:rPr lang="en-US" altLang="ko-KR" sz="1600" dirty="0" err="1"/>
              <a:t>num</a:t>
            </a:r>
            <a:r>
              <a:rPr lang="en-US" altLang="ko-KR" sz="1600" dirty="0"/>
              <a:t>[a] &gt;= 3)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"○";</a:t>
            </a:r>
          </a:p>
          <a:p>
            <a:pPr marL="109728" indent="0" latinLnBrk="0">
              <a:buNone/>
            </a:pPr>
            <a:r>
              <a:rPr lang="en-US" altLang="ko-KR" sz="1600" dirty="0"/>
              <a:t>		}</a:t>
            </a:r>
          </a:p>
          <a:p>
            <a:pPr marL="109728" indent="0" latinLnBrk="0">
              <a:buNone/>
            </a:pPr>
            <a:r>
              <a:rPr lang="en-US" altLang="ko-KR" sz="1600" dirty="0"/>
              <a:t>		else if (</a:t>
            </a:r>
            <a:r>
              <a:rPr lang="en-US" altLang="ko-KR" sz="1600" dirty="0" err="1"/>
              <a:t>num</a:t>
            </a:r>
            <a:r>
              <a:rPr lang="en-US" altLang="ko-KR" sz="1600" dirty="0"/>
              <a:t>[a] == 0) {  // 0</a:t>
            </a:r>
            <a:r>
              <a:rPr lang="ko-KR" altLang="en-US" sz="1600" dirty="0"/>
              <a:t>은 검은 별</a:t>
            </a:r>
          </a:p>
          <a:p>
            <a:pPr marL="109728" indent="0" latinLnBrk="0">
              <a:buNone/>
            </a:pPr>
            <a:r>
              <a:rPr lang="ko-KR" altLang="en-US" sz="1600" dirty="0"/>
              <a:t>		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"★";</a:t>
            </a:r>
          </a:p>
          <a:p>
            <a:pPr marL="109728" indent="0" latinLnBrk="0">
              <a:buNone/>
            </a:pPr>
            <a:r>
              <a:rPr lang="en-US" altLang="ko-KR" sz="1600" dirty="0"/>
              <a:t>		}</a:t>
            </a:r>
          </a:p>
          <a:p>
            <a:pPr marL="109728" indent="0" latinLnBrk="0">
              <a:buNone/>
            </a:pPr>
            <a:r>
              <a:rPr lang="en-US" altLang="ko-KR" sz="1600" dirty="0"/>
              <a:t>		else {</a:t>
            </a:r>
          </a:p>
          <a:p>
            <a:pPr marL="109728" indent="0" latinLnBrk="0">
              <a:buNone/>
            </a:pPr>
            <a:r>
              <a:rPr lang="en-US" altLang="ko-KR" sz="1600" dirty="0"/>
              <a:t>		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"☆";</a:t>
            </a:r>
          </a:p>
          <a:p>
            <a:pPr marL="109728" indent="0" latinLnBrk="0">
              <a:buNone/>
            </a:pPr>
            <a:r>
              <a:rPr lang="en-US" altLang="ko-KR" sz="1600" dirty="0"/>
              <a:t>		}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23940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1600" dirty="0"/>
              <a:t>중복 없는</a:t>
            </a:r>
            <a:r>
              <a:rPr lang="en-US" altLang="ko-KR" sz="1600" dirty="0"/>
              <a:t> 10 </a:t>
            </a:r>
            <a:r>
              <a:rPr lang="ko-KR" altLang="en-US" sz="1600" dirty="0"/>
              <a:t>미만의 </a:t>
            </a:r>
            <a:r>
              <a:rPr lang="ko-KR" altLang="en-US" sz="1600" dirty="0" err="1"/>
              <a:t>난수</a:t>
            </a:r>
            <a:r>
              <a:rPr lang="ko-KR" altLang="en-US" sz="1600" dirty="0"/>
              <a:t> 발생 프로그램</a:t>
            </a:r>
            <a:endParaRPr lang="en-US" altLang="ko-KR" sz="1600" dirty="0"/>
          </a:p>
          <a:p>
            <a:pPr lvl="1" latinLnBrk="0"/>
            <a:r>
              <a:rPr lang="en-US" altLang="ko-KR" sz="1600" dirty="0" err="1" smtClean="0"/>
              <a:t>spc</a:t>
            </a:r>
            <a:r>
              <a:rPr lang="en-US" altLang="ko-KR" sz="1600" dirty="0" smtClean="0"/>
              <a:t>(32) </a:t>
            </a:r>
            <a:r>
              <a:rPr lang="ko-KR" altLang="en-US" sz="1600" dirty="0" smtClean="0"/>
              <a:t>키 입력에 따라 계속 패 섞기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추가 완성</a:t>
            </a:r>
            <a:endParaRPr lang="en-US" altLang="ko-KR" sz="1600" dirty="0" smtClean="0"/>
          </a:p>
          <a:p>
            <a:pPr lvl="1" latinLnBrk="0"/>
            <a:r>
              <a:rPr lang="en-US" altLang="ko-KR" sz="1600" dirty="0" smtClean="0"/>
              <a:t>ESC(27)</a:t>
            </a:r>
            <a:r>
              <a:rPr lang="ko-KR" altLang="en-US" sz="1600" dirty="0" smtClean="0"/>
              <a:t>이면 프로그램 종료 유도</a:t>
            </a:r>
            <a:endParaRPr lang="en-US" altLang="ko-KR" sz="1600" dirty="0" smtClean="0"/>
          </a:p>
          <a:p>
            <a:pPr lvl="1" latinLnBrk="0"/>
            <a:endParaRPr lang="en-US" altLang="ko-KR" sz="1600" dirty="0"/>
          </a:p>
          <a:p>
            <a:pPr latinLnBrk="0"/>
            <a:endParaRPr lang="en-US" altLang="ko-KR" sz="1600" dirty="0" smtClean="0"/>
          </a:p>
          <a:p>
            <a:pPr latinLnBrk="0"/>
            <a:r>
              <a:rPr lang="ko-KR" altLang="en-US" sz="1600" dirty="0"/>
              <a:t>캐릭터 좌우 이동 프로그램</a:t>
            </a:r>
            <a:endParaRPr lang="en-US" altLang="ko-KR" sz="1600" dirty="0" smtClean="0"/>
          </a:p>
          <a:p>
            <a:pPr lvl="1" latinLnBrk="0"/>
            <a:r>
              <a:rPr lang="ko-KR" altLang="en-US" sz="1600" dirty="0" smtClean="0"/>
              <a:t>좌우 키에 따라 연속적인 별 이동 추가 완성</a:t>
            </a:r>
            <a:endParaRPr lang="en-US" altLang="ko-KR" sz="1600" dirty="0" smtClean="0"/>
          </a:p>
          <a:p>
            <a:pPr lvl="1" latinLnBrk="0"/>
            <a:r>
              <a:rPr lang="en-US" altLang="ko-KR" sz="1600" dirty="0"/>
              <a:t>ESC(27)</a:t>
            </a:r>
            <a:r>
              <a:rPr lang="ko-KR" altLang="en-US" sz="1600" dirty="0"/>
              <a:t>이면 프로그램 종료 유도</a:t>
            </a:r>
            <a:endParaRPr lang="en-US" altLang="ko-KR" sz="1600" dirty="0"/>
          </a:p>
          <a:p>
            <a:pPr lvl="1" latinLnBrk="0"/>
            <a:endParaRPr lang="en-US" altLang="ko-KR" sz="16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ko-KR" altLang="en-US" sz="2800" dirty="0" smtClean="0"/>
              <a:t>연습 프로그램</a:t>
            </a:r>
            <a:r>
              <a:rPr lang="en-US" altLang="ko-KR" sz="2800" dirty="0" smtClean="0"/>
              <a:t/>
            </a:r>
            <a:br>
              <a:rPr lang="en-US" altLang="ko-KR" sz="2800" dirty="0" smtClean="0"/>
            </a:b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9303629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광장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광장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광장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753</TotalTime>
  <Words>1084</Words>
  <Application>Microsoft Office PowerPoint</Application>
  <PresentationFormat>화면 슬라이드 쇼(4:3)</PresentationFormat>
  <Paragraphs>429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1" baseType="lpstr">
      <vt:lpstr>굴림</vt:lpstr>
      <vt:lpstr>맑은 고딕</vt:lpstr>
      <vt:lpstr>-윤고딕140</vt:lpstr>
      <vt:lpstr>Arial</vt:lpstr>
      <vt:lpstr>Lucida Sans Unicode</vt:lpstr>
      <vt:lpstr>Tahoma</vt:lpstr>
      <vt:lpstr>Verdana</vt:lpstr>
      <vt:lpstr>Wingdings 2</vt:lpstr>
      <vt:lpstr>Wingdings 3</vt:lpstr>
      <vt:lpstr>광장</vt:lpstr>
      <vt:lpstr>배열</vt:lpstr>
      <vt:lpstr>내용</vt:lpstr>
      <vt:lpstr>배열</vt:lpstr>
      <vt:lpstr>배열</vt:lpstr>
      <vt:lpstr>배열</vt:lpstr>
      <vt:lpstr>배열</vt:lpstr>
      <vt:lpstr>다차원 배열</vt:lpstr>
      <vt:lpstr>배열 초기화</vt:lpstr>
      <vt:lpstr>배열 초기화</vt:lpstr>
      <vt:lpstr>배열 초기화</vt:lpstr>
      <vt:lpstr>문자열</vt:lpstr>
      <vt:lpstr>문자열</vt:lpstr>
      <vt:lpstr>String 클래스</vt:lpstr>
      <vt:lpstr>String 클래스</vt:lpstr>
      <vt:lpstr>String 클래스</vt:lpstr>
      <vt:lpstr>String 클래스</vt:lpstr>
      <vt:lpstr>String 클래스</vt:lpstr>
      <vt:lpstr>String 클래스</vt:lpstr>
      <vt:lpstr>String 클래스</vt:lpstr>
      <vt:lpstr>String 클래스</vt:lpstr>
      <vt:lpstr>String 클래스</vt:lpstr>
      <vt:lpstr>실습 프로그램 </vt:lpstr>
      <vt:lpstr>실습 프로그램 </vt:lpstr>
      <vt:lpstr>실습 프로그램 </vt:lpstr>
      <vt:lpstr>실습 프로그램 </vt:lpstr>
      <vt:lpstr>실습 프로그램 </vt:lpstr>
      <vt:lpstr>실습 프로그램 </vt:lpstr>
      <vt:lpstr>실습 프로그램 </vt:lpstr>
      <vt:lpstr>실습 프로그램 </vt:lpstr>
      <vt:lpstr>실습 프로그램 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프로그램 문제</dc:title>
  <dc:creator>Lub</dc:creator>
  <cp:lastModifiedBy>박상준</cp:lastModifiedBy>
  <cp:revision>94</cp:revision>
  <dcterms:created xsi:type="dcterms:W3CDTF">2015-04-10T01:14:42Z</dcterms:created>
  <dcterms:modified xsi:type="dcterms:W3CDTF">2024-09-24T04:09:19Z</dcterms:modified>
</cp:coreProperties>
</file>