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9" r:id="rId2"/>
    <p:sldId id="353" r:id="rId3"/>
    <p:sldId id="336" r:id="rId4"/>
    <p:sldId id="339" r:id="rId5"/>
    <p:sldId id="340" r:id="rId6"/>
    <p:sldId id="341" r:id="rId7"/>
    <p:sldId id="342" r:id="rId8"/>
    <p:sldId id="343" r:id="rId9"/>
    <p:sldId id="344" r:id="rId10"/>
    <p:sldId id="345" r:id="rId11"/>
    <p:sldId id="346" r:id="rId12"/>
    <p:sldId id="347" r:id="rId13"/>
    <p:sldId id="348" r:id="rId14"/>
    <p:sldId id="349" r:id="rId15"/>
    <p:sldId id="257" r:id="rId16"/>
    <p:sldId id="351" r:id="rId17"/>
    <p:sldId id="350" r:id="rId18"/>
    <p:sldId id="352" r:id="rId19"/>
    <p:sldId id="326" r:id="rId2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98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각 삼각형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제목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grpSp>
        <p:nvGrpSpPr>
          <p:cNvPr id="2" name="그룹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자유형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자유형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자유형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직선 연결선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날짜 개체 틀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19" name="바닥글 개체 틀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갈매기형 수장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갈매기형 수장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FDC3ACBB-4309-45E7-A0CE-9D4E9C4CF5F6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8" name="자유형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자유형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직각 삼각형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직선 연결선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갈매기형 수장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갈매기형 수장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ACBB-4309-45E7-A0CE-9D4E9C4CF5F6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246D359F-9A96-4952-A86C-3E81D78107E0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83526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자유형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직각 삼각형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직선 연결선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제목 개체 틀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0" name="텍스트 개체 틀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DC3ACBB-4309-45E7-A0CE-9D4E9C4CF5F6}" type="datetimeFigureOut">
              <a:rPr lang="ko-KR" altLang="en-US" smtClean="0"/>
              <a:t>2024-10-05</a:t>
            </a:fld>
            <a:endParaRPr lang="ko-KR" altLang="en-US"/>
          </a:p>
        </p:txBody>
      </p:sp>
      <p:sp>
        <p:nvSpPr>
          <p:cNvPr id="22" name="바닥글 개체 틀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18" name="슬라이드 번호 개체 틀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6DD4A251-C6C2-42AA-82F3-4D3174E227E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rtl="0" eaLnBrk="1" latinLnBrk="1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1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1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1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1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1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3200" dirty="0" smtClean="0"/>
              <a:t>함수와 포인터</a:t>
            </a:r>
            <a:r>
              <a:rPr lang="en-US" altLang="ko-KR" sz="3200" dirty="0" smtClean="0"/>
              <a:t>1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2505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ko-KR" altLang="en-US" sz="2800" dirty="0" smtClean="0"/>
              <a:t>내용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kumimoji="0" lang="ko-KR" altLang="en-US" sz="2000" dirty="0" smtClean="0"/>
              <a:t>함수 개요</a:t>
            </a:r>
            <a:endParaRPr lang="en-US" altLang="ko-KR" sz="2000" dirty="0" smtClean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 smtClean="0"/>
              <a:t>함수 정의</a:t>
            </a:r>
            <a:endParaRPr lang="en-US" altLang="ko-KR" sz="2000" dirty="0" smtClean="0"/>
          </a:p>
          <a:p>
            <a:pPr eaLnBrk="1" hangingPunct="1"/>
            <a:endParaRPr lang="en-US" altLang="ko-KR" sz="2000" dirty="0"/>
          </a:p>
          <a:p>
            <a:pPr eaLnBrk="1" hangingPunct="1"/>
            <a:r>
              <a:rPr kumimoji="0" lang="ko-KR" altLang="en-US" sz="2000" dirty="0" smtClean="0"/>
              <a:t>함수의 </a:t>
            </a:r>
            <a:r>
              <a:rPr kumimoji="0" lang="ko-KR" altLang="en-US" sz="2000" dirty="0" err="1" smtClean="0"/>
              <a:t>다중정의</a:t>
            </a:r>
            <a:endParaRPr kumimoji="0" lang="ko-KR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407438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함수의 다중 </a:t>
            </a:r>
            <a:r>
              <a:rPr lang="ko-KR" altLang="en-US" sz="2800" spc="-250" dirty="0"/>
              <a:t>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다중 정의의 개념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함수의 기능은 같지만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,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취급하는 </a:t>
            </a:r>
            <a:r>
              <a:rPr lang="ko-KR" altLang="en-US" sz="1800" b="1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자료형이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다를 때</a:t>
            </a:r>
            <a:endParaRPr lang="en-US" altLang="ko-KR" sz="1800" b="1" dirty="0">
              <a:solidFill>
                <a:srgbClr val="FF0000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C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언어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: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함수의 </a:t>
            </a:r>
            <a:r>
              <a:rPr lang="ko-KR" altLang="en-US" sz="1800" b="1" dirty="0" err="1">
                <a:latin typeface="-윤고딕140"/>
                <a:ea typeface="-윤고딕140"/>
                <a:cs typeface="-윤고딕140"/>
              </a:rPr>
              <a:t>다중정의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(overloading)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불가능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C++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언어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: 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함수의 </a:t>
            </a:r>
            <a:r>
              <a:rPr lang="ko-KR" altLang="en-US" sz="1800" b="1" dirty="0" err="1">
                <a:latin typeface="-윤고딕140"/>
                <a:ea typeface="-윤고딕140"/>
                <a:cs typeface="-윤고딕140"/>
              </a:rPr>
              <a:t>다중정의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 가능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*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이럴 때 함수 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Abs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는 </a:t>
            </a:r>
            <a:r>
              <a:rPr lang="ko-KR" altLang="en-US" sz="1800" b="1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다형성을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지녔다고 말한다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.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827584" y="2852936"/>
            <a:ext cx="6286500" cy="64293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intTypeAbsolute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x);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함수 이름이 달라야 함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double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doubleTypeAbsolute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(double x);</a:t>
            </a:r>
          </a:p>
        </p:txBody>
      </p:sp>
      <p:sp>
        <p:nvSpPr>
          <p:cNvPr id="7" name="부제목 8"/>
          <p:cNvSpPr txBox="1">
            <a:spLocks/>
          </p:cNvSpPr>
          <p:nvPr/>
        </p:nvSpPr>
        <p:spPr>
          <a:xfrm>
            <a:off x="827584" y="4077072"/>
            <a:ext cx="6286500" cy="57150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Abs(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x);         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함수 이름이 같아도 됨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Double Abs(double x);   // </a:t>
            </a:r>
          </a:p>
        </p:txBody>
      </p:sp>
    </p:spTree>
    <p:extLst>
      <p:ext uri="{BB962C8B-B14F-4D97-AF65-F5344CB8AC3E}">
        <p14:creationId xmlns:p14="http://schemas.microsoft.com/office/powerpoint/2010/main" val="2512128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4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함수의 다중 </a:t>
            </a:r>
            <a:r>
              <a:rPr lang="ko-KR" altLang="en-US" sz="2800" spc="-250" dirty="0"/>
              <a:t>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함수의 다중 정의 방법</a:t>
            </a: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한 프로그램에서 이름이 같은 함수를 정의 할 수 있음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 smtClean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 smtClean="0">
                <a:latin typeface="-윤고딕140"/>
                <a:ea typeface="-윤고딕140"/>
                <a:cs typeface="-윤고딕140"/>
              </a:rPr>
              <a:t>덕분에 </a:t>
            </a:r>
            <a:r>
              <a:rPr lang="en-US" altLang="ko-KR" sz="1800" b="1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형과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double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형의 인수를 동시에 취급 가능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8" name="부제목 8"/>
          <p:cNvSpPr txBox="1">
            <a:spLocks/>
          </p:cNvSpPr>
          <p:nvPr/>
        </p:nvSpPr>
        <p:spPr>
          <a:xfrm>
            <a:off x="755576" y="2518863"/>
            <a:ext cx="6286500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x) { return x +3; }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double F(double x) { return x +3.0; }</a:t>
            </a:r>
          </a:p>
        </p:txBody>
      </p:sp>
      <p:sp>
        <p:nvSpPr>
          <p:cNvPr id="9" name="부제목 8"/>
          <p:cNvSpPr txBox="1">
            <a:spLocks/>
          </p:cNvSpPr>
          <p:nvPr/>
        </p:nvSpPr>
        <p:spPr>
          <a:xfrm>
            <a:off x="755576" y="4149080"/>
            <a:ext cx="6286500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y = F(3);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double z = F(3.1);</a:t>
            </a:r>
          </a:p>
        </p:txBody>
      </p:sp>
    </p:spTree>
    <p:extLst>
      <p:ext uri="{BB962C8B-B14F-4D97-AF65-F5344CB8AC3E}">
        <p14:creationId xmlns:p14="http://schemas.microsoft.com/office/powerpoint/2010/main" val="391744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5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함수의 다중 </a:t>
            </a:r>
            <a:r>
              <a:rPr lang="ko-KR" altLang="en-US" sz="2800" spc="-250" dirty="0"/>
              <a:t>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 smtClean="0">
                <a:latin typeface="-윤고딕140"/>
                <a:ea typeface="-윤고딕140"/>
                <a:cs typeface="-윤고딕140"/>
              </a:rPr>
              <a:t>다중정의 예 </a:t>
            </a:r>
            <a:r>
              <a:rPr lang="en-US" altLang="ko-KR" sz="1600" b="1" dirty="0" smtClean="0">
                <a:latin typeface="-윤고딕140"/>
                <a:ea typeface="-윤고딕140"/>
                <a:cs typeface="-윤고딕140"/>
              </a:rPr>
              <a:t>1</a:t>
            </a:r>
            <a:endParaRPr lang="ko-KR" altLang="en-US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 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using namespace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F(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x);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double F(double x);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main()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y; double z;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y = F(3);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 z = F(3.1);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"F(3)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의 값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= " &lt;&lt; y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"F(3.1)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의 값은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" &lt;&lt; z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return 0;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1627950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6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함수의 다중 </a:t>
            </a:r>
            <a:r>
              <a:rPr lang="ko-KR" altLang="en-US" sz="2800" spc="-250" dirty="0"/>
              <a:t>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 err="1" smtClean="0">
                <a:latin typeface="-윤고딕140"/>
                <a:ea typeface="-윤고딕140"/>
                <a:cs typeface="-윤고딕140"/>
              </a:rPr>
              <a:t>다중정의</a:t>
            </a:r>
            <a:r>
              <a:rPr lang="ko-KR" altLang="en-US" sz="1600" b="1" dirty="0" smtClean="0">
                <a:latin typeface="-윤고딕140"/>
                <a:ea typeface="-윤고딕140"/>
                <a:cs typeface="-윤고딕140"/>
              </a:rPr>
              <a:t> 예</a:t>
            </a:r>
            <a:endParaRPr lang="ko-KR" altLang="en-US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F(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x) // 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정수형 자료를 취급하는 함수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F()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를 정의합니다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return x + 3;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 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double F(double x) // </a:t>
            </a:r>
            <a:r>
              <a:rPr lang="ko-KR" altLang="en-US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실수형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자료를 취급하는 함수 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F()</a:t>
            </a:r>
            <a:r>
              <a:rPr lang="ko-KR" altLang="en-US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를 정의합니다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{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return x + 3.0;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} </a:t>
            </a:r>
          </a:p>
        </p:txBody>
      </p:sp>
    </p:spTree>
    <p:extLst>
      <p:ext uri="{BB962C8B-B14F-4D97-AF65-F5344CB8AC3E}">
        <p14:creationId xmlns:p14="http://schemas.microsoft.com/office/powerpoint/2010/main" val="2104931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7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함수의 다중 </a:t>
            </a:r>
            <a:r>
              <a:rPr lang="ko-KR" altLang="en-US" sz="2800" spc="-250" dirty="0"/>
              <a:t>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함수의 용법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함수 구분을 위한 용법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(signature)=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다중 정의된 함수들의 독특한 꼴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827584" y="2636912"/>
            <a:ext cx="6286500" cy="157162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x) { … }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F(double x) { … }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x, double y) { … }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F(double x, double y) { … }</a:t>
            </a:r>
          </a:p>
        </p:txBody>
      </p:sp>
    </p:spTree>
    <p:extLst>
      <p:ext uri="{BB962C8B-B14F-4D97-AF65-F5344CB8AC3E}">
        <p14:creationId xmlns:p14="http://schemas.microsoft.com/office/powerpoint/2010/main" val="417318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8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함수의 다중 </a:t>
            </a:r>
            <a:r>
              <a:rPr lang="ko-KR" altLang="en-US" sz="2800" spc="-250" dirty="0"/>
              <a:t>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함수의 용법을 구분하는 기준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기본적인 구분법 두 가지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1.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인수의 개수가 다르다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2.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인수의 </a:t>
            </a:r>
            <a:r>
              <a:rPr lang="ko-KR" altLang="en-US" sz="1800" b="1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자료형이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다르다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. 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기본적인 구분법을 확장한 구분법 네 가지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3.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인수의 개수가 같더라도 </a:t>
            </a:r>
            <a:r>
              <a:rPr lang="ko-KR" altLang="en-US" sz="1800" b="1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자료형이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다르다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4.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인수의 </a:t>
            </a:r>
            <a:r>
              <a:rPr lang="ko-KR" altLang="en-US" sz="1800" b="1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자료형이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같더라도 인수의 개수가 다르다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5.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반환 </a:t>
            </a:r>
            <a:r>
              <a:rPr lang="ko-KR" altLang="en-US" sz="1800" b="1" dirty="0" err="1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자료형은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 용법을 구분하는 데에 쓰이지 않는다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.</a:t>
            </a:r>
          </a:p>
          <a:p>
            <a:pPr>
              <a:lnSpc>
                <a:spcPct val="150000"/>
              </a:lnSpc>
              <a:spcBef>
                <a:spcPct val="0"/>
              </a:spcBef>
              <a:buNone/>
            </a:pP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6. </a:t>
            </a:r>
            <a:r>
              <a:rPr lang="ko-KR" altLang="en-US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인수의 이름 또한 용법을 구분하는 데에 쓰이지 않는다</a:t>
            </a:r>
            <a:r>
              <a:rPr lang="en-US" altLang="ko-KR" sz="1800" b="1" dirty="0">
                <a:solidFill>
                  <a:srgbClr val="FF0000"/>
                </a:solidFill>
                <a:latin typeface="-윤고딕140"/>
                <a:ea typeface="-윤고딕140"/>
                <a:cs typeface="-윤고딕14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4141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9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함수의 다중 </a:t>
            </a:r>
            <a:r>
              <a:rPr lang="ko-KR" altLang="en-US" sz="2800" spc="-250" dirty="0"/>
              <a:t>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함수의 용법을 구분하는 예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다중 정의된 것이 아닌 예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 smtClean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 err="1" smtClean="0">
                <a:latin typeface="-윤고딕140"/>
                <a:ea typeface="-윤고딕140"/>
                <a:cs typeface="-윤고딕140"/>
              </a:rPr>
              <a:t>const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나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&amp;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도 용법 구분에 무의미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755576" y="2564904"/>
            <a:ext cx="6286500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x, double y) { … }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인수의 개수와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자료형이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void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p, double q) { … }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같기 때문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755576" y="4135916"/>
            <a:ext cx="6286500" cy="128587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x, double y) { … }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&amp;x, double&amp; y) { … }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F(const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x, const double y) { … }</a:t>
            </a:r>
          </a:p>
        </p:txBody>
      </p:sp>
    </p:spTree>
    <p:extLst>
      <p:ext uri="{BB962C8B-B14F-4D97-AF65-F5344CB8AC3E}">
        <p14:creationId xmlns:p14="http://schemas.microsoft.com/office/powerpoint/2010/main" val="3542216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10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함수의 다중 </a:t>
            </a:r>
            <a:r>
              <a:rPr lang="ko-KR" altLang="en-US" sz="2800" spc="-250" dirty="0"/>
              <a:t>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solidFill>
                  <a:srgbClr val="E46C0A"/>
                </a:solidFill>
              </a:rPr>
              <a:t>● </a:t>
            </a:r>
            <a:r>
              <a:rPr lang="ko-KR" altLang="en-US" sz="1800" b="1" dirty="0">
                <a:solidFill>
                  <a:srgbClr val="E46C0A"/>
                </a:solidFill>
                <a:latin typeface="-윤고딕140"/>
                <a:ea typeface="-윤고딕140"/>
                <a:cs typeface="-윤고딕140"/>
              </a:rPr>
              <a:t>함수의 용법을 구분하는 예</a:t>
            </a:r>
            <a:endParaRPr lang="en-US" altLang="ko-KR" sz="1800" b="1" dirty="0">
              <a:solidFill>
                <a:srgbClr val="E46C0A"/>
              </a:solidFill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다중 정의된 것이 아닌 예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endParaRPr lang="en-US" altLang="ko-KR" sz="1800" b="1" dirty="0" smtClean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800" b="1" dirty="0" err="1" smtClean="0">
                <a:latin typeface="-윤고딕140"/>
                <a:ea typeface="-윤고딕140"/>
                <a:cs typeface="-윤고딕140"/>
              </a:rPr>
              <a:t>const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나 </a:t>
            </a:r>
            <a:r>
              <a:rPr lang="en-US" altLang="ko-KR" sz="1800" b="1" dirty="0">
                <a:latin typeface="-윤고딕140"/>
                <a:ea typeface="-윤고딕140"/>
                <a:cs typeface="-윤고딕140"/>
              </a:rPr>
              <a:t>&amp;</a:t>
            </a:r>
            <a:r>
              <a:rPr lang="ko-KR" altLang="en-US" sz="1800" b="1" dirty="0">
                <a:latin typeface="-윤고딕140"/>
                <a:ea typeface="-윤고딕140"/>
                <a:cs typeface="-윤고딕140"/>
              </a:rPr>
              <a:t>도 용법 구분에 무의미</a:t>
            </a:r>
            <a:endParaRPr lang="en-US" altLang="ko-KR" sz="1800" b="1" dirty="0">
              <a:latin typeface="-윤고딕140"/>
              <a:ea typeface="-윤고딕140"/>
              <a:cs typeface="-윤고딕140"/>
            </a:endParaRPr>
          </a:p>
        </p:txBody>
      </p:sp>
      <p:sp>
        <p:nvSpPr>
          <p:cNvPr id="5" name="부제목 8"/>
          <p:cNvSpPr txBox="1">
            <a:spLocks/>
          </p:cNvSpPr>
          <p:nvPr/>
        </p:nvSpPr>
        <p:spPr>
          <a:xfrm>
            <a:off x="755576" y="2564904"/>
            <a:ext cx="6286500" cy="857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x, double y) { … }  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인수의 개수와 </a:t>
            </a:r>
            <a:r>
              <a:rPr kumimoji="0" lang="ko-KR" altLang="en-US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자료형이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void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p, double q) { … } // </a:t>
            </a:r>
            <a:r>
              <a:rPr kumimoji="0" lang="ko-KR" altLang="en-US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같기 때문</a:t>
            </a:r>
            <a:endParaRPr kumimoji="0" lang="en-US" altLang="ko-KR" sz="1600" dirty="0">
              <a:solidFill>
                <a:srgbClr val="FF0000"/>
              </a:solidFill>
              <a:latin typeface="-윤고딕140" pitchFamily="18" charset="-127"/>
              <a:ea typeface="-윤고딕140" pitchFamily="18" charset="-127"/>
            </a:endParaRPr>
          </a:p>
        </p:txBody>
      </p:sp>
      <p:sp>
        <p:nvSpPr>
          <p:cNvPr id="6" name="부제목 8"/>
          <p:cNvSpPr txBox="1">
            <a:spLocks/>
          </p:cNvSpPr>
          <p:nvPr/>
        </p:nvSpPr>
        <p:spPr>
          <a:xfrm>
            <a:off x="755576" y="4135916"/>
            <a:ext cx="6286500" cy="128587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x, double y) { … }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&amp;x, double&amp; y) { … }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F(const </a:t>
            </a:r>
            <a:r>
              <a:rPr kumimoji="0" lang="en-US" altLang="ko-KR" sz="1600" dirty="0" err="1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int</a:t>
            </a:r>
            <a:r>
              <a:rPr kumimoji="0" lang="en-US" altLang="ko-KR" sz="1600" dirty="0">
                <a:solidFill>
                  <a:srgbClr val="FF0000"/>
                </a:solidFill>
                <a:latin typeface="-윤고딕140" pitchFamily="18" charset="-127"/>
                <a:ea typeface="-윤고딕140" pitchFamily="18" charset="-127"/>
              </a:rPr>
              <a:t> x, const double y) { … }</a:t>
            </a:r>
          </a:p>
        </p:txBody>
      </p:sp>
    </p:spTree>
    <p:extLst>
      <p:ext uri="{BB962C8B-B14F-4D97-AF65-F5344CB8AC3E}">
        <p14:creationId xmlns:p14="http://schemas.microsoft.com/office/powerpoint/2010/main" val="230590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11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함수의 다중 </a:t>
            </a:r>
            <a:r>
              <a:rPr lang="ko-KR" altLang="en-US" sz="2800" spc="-250" dirty="0"/>
              <a:t>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 err="1" smtClean="0">
                <a:latin typeface="-윤고딕140"/>
                <a:ea typeface="-윤고딕140"/>
                <a:cs typeface="-윤고딕140"/>
              </a:rPr>
              <a:t>다중정의</a:t>
            </a:r>
            <a:r>
              <a:rPr lang="ko-KR" altLang="en-US" sz="1600" b="1" dirty="0" smtClean="0">
                <a:latin typeface="-윤고딕140"/>
                <a:ea typeface="-윤고딕140"/>
                <a:cs typeface="-윤고딕140"/>
              </a:rPr>
              <a:t> 예 </a:t>
            </a:r>
            <a:r>
              <a:rPr lang="en-US" altLang="ko-KR" sz="1600" b="1" dirty="0" smtClean="0">
                <a:latin typeface="-윤고딕140"/>
                <a:ea typeface="-윤고딕140"/>
                <a:cs typeface="-윤고딕140"/>
              </a:rPr>
              <a:t>2 (</a:t>
            </a:r>
            <a:r>
              <a:rPr lang="ko-KR" altLang="en-US" sz="1600" b="1" dirty="0" smtClean="0">
                <a:latin typeface="-윤고딕140"/>
                <a:ea typeface="-윤고딕140"/>
                <a:cs typeface="-윤고딕140"/>
              </a:rPr>
              <a:t>에러 발생</a:t>
            </a:r>
            <a:r>
              <a:rPr lang="en-US" altLang="ko-KR" sz="1600" b="1" dirty="0" smtClean="0">
                <a:latin typeface="-윤고딕140"/>
                <a:ea typeface="-윤고딕140"/>
                <a:cs typeface="-윤고딕140"/>
              </a:rPr>
              <a:t>)</a:t>
            </a:r>
            <a:endParaRPr lang="ko-KR" altLang="en-US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 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  <a:endParaRPr lang="en-US" altLang="ko-KR" sz="16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Sam(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a,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b);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Sam(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c,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d);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using namespace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std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main()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num1, num2;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num1 = 100;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num2 = 200;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Sam(num1, num2);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return 0;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152731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12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함수의 다중 </a:t>
            </a:r>
            <a:r>
              <a:rPr lang="ko-KR" altLang="en-US" sz="2800" spc="-250" dirty="0"/>
              <a:t>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en-US" altLang="ko-KR" sz="1600" b="1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Sam(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a,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b)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nm;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nm = a + b;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nm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Sam(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c,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d)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int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nm;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nm = c - d;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cout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&lt;&lt; nm &lt;&lt; 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endl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262002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13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함수의 다중 </a:t>
            </a:r>
            <a:r>
              <a:rPr lang="ko-KR" altLang="en-US" sz="2800" spc="-250" dirty="0"/>
              <a:t>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ct val="0"/>
              </a:spcBef>
              <a:buNone/>
            </a:pPr>
            <a:r>
              <a:rPr lang="ko-KR" altLang="en-US" sz="1600" b="1" dirty="0" err="1" smtClean="0">
                <a:latin typeface="-윤고딕140"/>
                <a:ea typeface="-윤고딕140"/>
                <a:cs typeface="-윤고딕140"/>
              </a:rPr>
              <a:t>다중정의</a:t>
            </a:r>
            <a:r>
              <a:rPr lang="ko-KR" altLang="en-US" sz="1600" b="1" dirty="0" smtClean="0">
                <a:latin typeface="-윤고딕140"/>
                <a:ea typeface="-윤고딕140"/>
                <a:cs typeface="-윤고딕140"/>
              </a:rPr>
              <a:t> 예 </a:t>
            </a:r>
            <a:r>
              <a:rPr lang="en-US" altLang="ko-KR" sz="1600" b="1" dirty="0" smtClean="0">
                <a:latin typeface="-윤고딕140"/>
                <a:ea typeface="-윤고딕140"/>
                <a:cs typeface="-윤고딕140"/>
              </a:rPr>
              <a:t>3</a:t>
            </a:r>
            <a:endParaRPr lang="ko-KR" altLang="en-US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#include &lt;</a:t>
            </a:r>
            <a:r>
              <a:rPr lang="en-US" altLang="ko-KR" sz="1600" b="1" dirty="0" err="1">
                <a:latin typeface="굴림" panose="020B0600000101010101" pitchFamily="50" charset="-127"/>
                <a:ea typeface="굴림" panose="020B0600000101010101" pitchFamily="50" charset="-127"/>
              </a:rPr>
              <a:t>iostream</a:t>
            </a:r>
            <a:r>
              <a:rPr lang="en-US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&gt; </a:t>
            </a:r>
            <a:endParaRPr lang="en-US" altLang="ko-KR" sz="1600" b="1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pt-BR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Sam(int a, int b);</a:t>
            </a:r>
          </a:p>
          <a:p>
            <a:pPr>
              <a:spcBef>
                <a:spcPct val="0"/>
              </a:spcBef>
              <a:buNone/>
            </a:pPr>
            <a:r>
              <a:rPr lang="pt-BR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void Sam(int c, int d, int e);</a:t>
            </a:r>
          </a:p>
          <a:p>
            <a:pPr>
              <a:spcBef>
                <a:spcPct val="0"/>
              </a:spcBef>
              <a:buNone/>
            </a:pPr>
            <a:endParaRPr lang="pt-BR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pt-BR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using namespace std;</a:t>
            </a:r>
          </a:p>
          <a:p>
            <a:pPr>
              <a:spcBef>
                <a:spcPct val="0"/>
              </a:spcBef>
              <a:buNone/>
            </a:pPr>
            <a:endParaRPr lang="pt-BR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pt-BR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int main()</a:t>
            </a:r>
          </a:p>
          <a:p>
            <a:pPr>
              <a:spcBef>
                <a:spcPct val="0"/>
              </a:spcBef>
              <a:buNone/>
            </a:pPr>
            <a:r>
              <a:rPr lang="pt-BR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pt-BR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int num1, num2, num3;</a:t>
            </a:r>
          </a:p>
          <a:p>
            <a:pPr>
              <a:spcBef>
                <a:spcPct val="0"/>
              </a:spcBef>
              <a:buNone/>
            </a:pPr>
            <a:endParaRPr lang="pt-BR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pt-BR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num1 = 100;</a:t>
            </a:r>
          </a:p>
          <a:p>
            <a:pPr>
              <a:spcBef>
                <a:spcPct val="0"/>
              </a:spcBef>
              <a:buNone/>
            </a:pPr>
            <a:r>
              <a:rPr lang="pt-BR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num2 = 200;</a:t>
            </a:r>
          </a:p>
          <a:p>
            <a:pPr>
              <a:spcBef>
                <a:spcPct val="0"/>
              </a:spcBef>
              <a:buNone/>
            </a:pPr>
            <a:r>
              <a:rPr lang="pt-BR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num3 = 300;</a:t>
            </a:r>
          </a:p>
          <a:p>
            <a:pPr>
              <a:spcBef>
                <a:spcPct val="0"/>
              </a:spcBef>
              <a:buNone/>
            </a:pPr>
            <a:r>
              <a:rPr lang="pt-BR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Sam(num1, num2, num3);</a:t>
            </a:r>
          </a:p>
          <a:p>
            <a:pPr>
              <a:spcBef>
                <a:spcPct val="0"/>
              </a:spcBef>
              <a:buNone/>
            </a:pPr>
            <a:endParaRPr lang="pt-BR" altLang="ko-KR" sz="1600" b="1" dirty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>
              <a:spcBef>
                <a:spcPct val="0"/>
              </a:spcBef>
              <a:buNone/>
            </a:pPr>
            <a:r>
              <a:rPr lang="pt-BR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	return 0;</a:t>
            </a:r>
          </a:p>
          <a:p>
            <a:pPr>
              <a:spcBef>
                <a:spcPct val="0"/>
              </a:spcBef>
              <a:buNone/>
            </a:pPr>
            <a:r>
              <a:rPr lang="pt-BR" altLang="ko-KR" sz="1600" b="1" dirty="0">
                <a:latin typeface="굴림" panose="020B0600000101010101" pitchFamily="50" charset="-127"/>
                <a:ea typeface="굴림" panose="020B0600000101010101" pitchFamily="50" charset="-127"/>
              </a:rPr>
              <a:t>}</a:t>
            </a: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</p:txBody>
      </p:sp>
    </p:spTree>
    <p:extLst>
      <p:ext uri="{BB962C8B-B14F-4D97-AF65-F5344CB8AC3E}">
        <p14:creationId xmlns:p14="http://schemas.microsoft.com/office/powerpoint/2010/main" val="4006860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/>
            <a:fld id="{9B8B2A36-B655-4D08-AE39-65CAF13F933B}" type="slidenum">
              <a:rPr lang="en-US" altLang="ko-KR" sz="1200">
                <a:solidFill>
                  <a:schemeClr val="bg1"/>
                </a:solidFill>
                <a:latin typeface="Tahoma" panose="020B0604030504040204" pitchFamily="34" charset="0"/>
              </a:rPr>
              <a:pPr eaLnBrk="1" hangingPunct="1"/>
              <a:t>14</a:t>
            </a:fld>
            <a:endParaRPr lang="en-US" altLang="ko-KR" sz="1200">
              <a:solidFill>
                <a:schemeClr val="bg1"/>
              </a:solidFill>
              <a:latin typeface="Tahoma" panose="020B0604030504040204" pitchFamily="34" charset="0"/>
            </a:endParaRPr>
          </a:p>
        </p:txBody>
      </p:sp>
      <p:sp>
        <p:nvSpPr>
          <p:cNvPr id="2621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ko-KR" altLang="en-US" sz="2800" spc="-250" dirty="0" smtClean="0"/>
              <a:t>함수의 다중 </a:t>
            </a:r>
            <a:r>
              <a:rPr lang="ko-KR" altLang="en-US" sz="2800" spc="-250" dirty="0"/>
              <a:t>정의</a:t>
            </a:r>
            <a:endParaRPr lang="en-US" altLang="ko-KR" sz="2800" spc="-250" dirty="0"/>
          </a:p>
        </p:txBody>
      </p:sp>
      <p:sp>
        <p:nvSpPr>
          <p:cNvPr id="15364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void Sam(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a, 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b)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nm;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	nm = a + b;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cout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&lt;&lt; nm &lt;&lt; 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endl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}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void Sam(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c, 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d, 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e)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{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int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nm;</a:t>
            </a:r>
          </a:p>
          <a:p>
            <a:pPr>
              <a:spcBef>
                <a:spcPct val="0"/>
              </a:spcBef>
              <a:buNone/>
            </a:pPr>
            <a:endParaRPr lang="en-US" altLang="ko-KR" sz="1600" b="1" dirty="0">
              <a:latin typeface="-윤고딕140"/>
              <a:ea typeface="-윤고딕140"/>
              <a:cs typeface="-윤고딕140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	nm = c - d + e;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	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cout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 &lt;&lt; nm &lt;&lt; </a:t>
            </a:r>
            <a:r>
              <a:rPr lang="en-US" altLang="ko-KR" sz="1600" b="1" dirty="0" err="1">
                <a:latin typeface="-윤고딕140"/>
                <a:ea typeface="-윤고딕140"/>
                <a:cs typeface="-윤고딕140"/>
              </a:rPr>
              <a:t>endl</a:t>
            </a: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;</a:t>
            </a:r>
          </a:p>
          <a:p>
            <a:pPr>
              <a:spcBef>
                <a:spcPct val="0"/>
              </a:spcBef>
              <a:buNone/>
            </a:pPr>
            <a:r>
              <a:rPr lang="en-US" altLang="ko-KR" sz="1600" b="1" dirty="0">
                <a:latin typeface="-윤고딕140"/>
                <a:ea typeface="-윤고딕140"/>
                <a:cs typeface="-윤고딕14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983351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85000" lnSpcReduction="20000"/>
          </a:bodyPr>
          <a:lstStyle/>
          <a:p>
            <a:pPr marL="109728" indent="0" latinLnBrk="0">
              <a:buNone/>
            </a:pPr>
            <a:r>
              <a:rPr lang="en-US" altLang="ko-KR" sz="1600" dirty="0" smtClean="0"/>
              <a:t>// </a:t>
            </a:r>
            <a:r>
              <a:rPr lang="ko-KR" altLang="en-US" sz="1600" dirty="0" smtClean="0"/>
              <a:t>양의 정수 </a:t>
            </a:r>
            <a:r>
              <a:rPr lang="ko-KR" altLang="en-US" sz="1600" dirty="0" smtClean="0"/>
              <a:t>실수를 판별하여 합 계산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두 수의 합 프로그램</a:t>
            </a:r>
            <a:r>
              <a:rPr lang="en-US" altLang="ko-KR" sz="1600" dirty="0" smtClean="0"/>
              <a:t>)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iostream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#include&lt;</a:t>
            </a:r>
            <a:r>
              <a:rPr lang="en-US" altLang="ko-KR" sz="1600" dirty="0" err="1"/>
              <a:t>stdlib.h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time.h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Windows.h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r>
              <a:rPr lang="en-US" altLang="ko-KR" sz="1600" dirty="0"/>
              <a:t>#include &lt;</a:t>
            </a:r>
            <a:r>
              <a:rPr lang="en-US" altLang="ko-KR" sz="1600" dirty="0" err="1"/>
              <a:t>conio.h</a:t>
            </a:r>
            <a:r>
              <a:rPr lang="en-US" altLang="ko-KR" sz="1600" dirty="0"/>
              <a:t>&gt;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Pro_Manage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Input_Num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void Add(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a, double b);</a:t>
            </a:r>
          </a:p>
          <a:p>
            <a:pPr marL="109728" indent="0" latinLnBrk="0">
              <a:buNone/>
            </a:pPr>
            <a:r>
              <a:rPr lang="en-US" altLang="ko-KR" sz="1600" dirty="0"/>
              <a:t>void Add(double b, double d);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using namespace </a:t>
            </a:r>
            <a:r>
              <a:rPr lang="en-US" altLang="ko-KR" sz="1600" dirty="0" err="1"/>
              <a:t>std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 err="1"/>
              <a:t>int</a:t>
            </a:r>
            <a:r>
              <a:rPr lang="en-US" altLang="ko-KR" sz="1600" dirty="0"/>
              <a:t> main()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Pro_Manage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return 0;</a:t>
            </a:r>
          </a:p>
          <a:p>
            <a:pPr marL="109728" indent="0" latinLnBrk="0">
              <a:buNone/>
            </a:pPr>
            <a:r>
              <a:rPr lang="en-US" altLang="ko-KR" sz="1600" dirty="0" smtClean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81256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/>
          </a:bodyPr>
          <a:lstStyle/>
          <a:p>
            <a:pPr marL="109728" indent="0" latinLnBrk="0">
              <a:buNone/>
            </a:pPr>
            <a:endParaRPr lang="en-US" altLang="ko-KR" sz="1600" dirty="0" smtClean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Pro_Manage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Input_Num</a:t>
            </a:r>
            <a:r>
              <a:rPr lang="en-US" altLang="ko-KR" sz="1600" dirty="0"/>
              <a:t>();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27779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85000" lnSpcReduction="20000"/>
          </a:bodyPr>
          <a:lstStyle/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</a:t>
            </a:r>
            <a:r>
              <a:rPr lang="en-US" altLang="ko-KR" sz="1600" dirty="0" err="1"/>
              <a:t>Input_Num</a:t>
            </a:r>
            <a:r>
              <a:rPr lang="en-US" altLang="ko-KR" sz="1600" dirty="0"/>
              <a:t>()</a:t>
            </a:r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double num1, num2;</a:t>
            </a:r>
          </a:p>
          <a:p>
            <a:pPr marL="109728" indent="0" latinLnBrk="0">
              <a:buNone/>
            </a:pPr>
            <a:r>
              <a:rPr lang="en-US" altLang="ko-KR" sz="1600" dirty="0"/>
              <a:t>	double </a:t>
            </a:r>
            <a:r>
              <a:rPr lang="en-US" altLang="ko-KR" sz="1600" dirty="0" err="1"/>
              <a:t>rst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nm;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"Input Two Number"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cin</a:t>
            </a:r>
            <a:r>
              <a:rPr lang="en-US" altLang="ko-KR" sz="1600" dirty="0"/>
              <a:t> &gt;&gt; num1 &gt;&gt; num2</a:t>
            </a:r>
            <a:r>
              <a:rPr lang="en-US" altLang="ko-KR" sz="1600" dirty="0" smtClean="0"/>
              <a:t>;</a:t>
            </a:r>
            <a:endParaRPr lang="en-US" altLang="ko-KR" sz="1600" dirty="0"/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nm = </a:t>
            </a:r>
            <a:r>
              <a:rPr lang="en-US" altLang="ko-KR" sz="1600" dirty="0" err="1" smtClean="0"/>
              <a:t>int</a:t>
            </a:r>
            <a:r>
              <a:rPr lang="en-US" altLang="ko-KR" sz="1600" dirty="0" smtClean="0"/>
              <a:t>(num1</a:t>
            </a:r>
            <a:r>
              <a:rPr lang="en-US" altLang="ko-KR" sz="1600" dirty="0" smtClean="0"/>
              <a:t>);  // </a:t>
            </a:r>
            <a:r>
              <a:rPr lang="ko-KR" altLang="en-US" sz="1600" dirty="0" smtClean="0"/>
              <a:t>첫 번째 수가 실수인지 정수인지 판별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rst</a:t>
            </a:r>
            <a:r>
              <a:rPr lang="en-US" altLang="ko-KR" sz="1600" dirty="0"/>
              <a:t> = num1 - nm; // </a:t>
            </a:r>
            <a:r>
              <a:rPr lang="ko-KR" altLang="en-US" sz="1600" dirty="0"/>
              <a:t>소수점 이하 판단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if (</a:t>
            </a:r>
            <a:r>
              <a:rPr lang="en-US" altLang="ko-KR" sz="1600" dirty="0" err="1"/>
              <a:t>rst</a:t>
            </a:r>
            <a:r>
              <a:rPr lang="en-US" altLang="ko-KR" sz="1600" dirty="0"/>
              <a:t> &gt; 0) {</a:t>
            </a:r>
          </a:p>
          <a:p>
            <a:pPr marL="109728" indent="0" latinLnBrk="0">
              <a:buNone/>
            </a:pPr>
            <a:r>
              <a:rPr lang="en-US" altLang="ko-KR" sz="1600" dirty="0"/>
              <a:t>		Add(num1, num2);  // </a:t>
            </a:r>
            <a:r>
              <a:rPr lang="ko-KR" altLang="en-US" sz="1600" dirty="0"/>
              <a:t>실수 합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r>
              <a:rPr lang="en-US" altLang="ko-KR" sz="1600" dirty="0"/>
              <a:t>	else {</a:t>
            </a:r>
          </a:p>
          <a:p>
            <a:pPr marL="109728" indent="0" latinLnBrk="0">
              <a:buNone/>
            </a:pPr>
            <a:r>
              <a:rPr lang="en-US" altLang="ko-KR" sz="1600" dirty="0"/>
              <a:t>		Add(nm, num2); // </a:t>
            </a:r>
            <a:r>
              <a:rPr lang="ko-KR" altLang="en-US" sz="1600" dirty="0"/>
              <a:t>정수 합</a:t>
            </a:r>
          </a:p>
          <a:p>
            <a:pPr marL="109728" indent="0" latinLnBrk="0">
              <a:buNone/>
            </a:pPr>
            <a:r>
              <a:rPr lang="ko-KR" altLang="en-US" sz="1600" dirty="0"/>
              <a:t>	</a:t>
            </a: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34511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실습 프로그램 </a:t>
            </a:r>
          </a:p>
        </p:txBody>
      </p:sp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92500" lnSpcReduction="20000"/>
          </a:bodyPr>
          <a:lstStyle/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Add(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a, double b</a:t>
            </a:r>
            <a:r>
              <a:rPr lang="en-US" altLang="ko-KR" sz="1600" dirty="0" smtClean="0"/>
              <a:t>)  // </a:t>
            </a:r>
            <a:r>
              <a:rPr lang="ko-KR" altLang="en-US" sz="1600" dirty="0" smtClean="0"/>
              <a:t>앞 수가 정수일 때 합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int</a:t>
            </a:r>
            <a:r>
              <a:rPr lang="en-US" altLang="ko-KR" sz="1600" dirty="0"/>
              <a:t> nm1;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</a:p>
          <a:p>
            <a:pPr marL="109728" indent="0" latinLnBrk="0">
              <a:buNone/>
            </a:pPr>
            <a:r>
              <a:rPr lang="en-US" altLang="ko-KR" sz="1600" dirty="0"/>
              <a:t>	nm1 = a + b;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"Two 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 Add: ";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nm1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void Add(double b, double d</a:t>
            </a:r>
            <a:r>
              <a:rPr lang="en-US" altLang="ko-KR" sz="1600" dirty="0" smtClean="0"/>
              <a:t>) // </a:t>
            </a:r>
            <a:r>
              <a:rPr lang="ko-KR" altLang="en-US" sz="1600" dirty="0" smtClean="0"/>
              <a:t>앞 수가 실수일 때 합</a:t>
            </a: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{</a:t>
            </a:r>
          </a:p>
          <a:p>
            <a:pPr marL="109728" indent="0" latinLnBrk="0">
              <a:buNone/>
            </a:pPr>
            <a:r>
              <a:rPr lang="en-US" altLang="ko-KR" sz="1600" dirty="0"/>
              <a:t>	double nm1;</a:t>
            </a:r>
          </a:p>
          <a:p>
            <a:pPr marL="109728" indent="0" latinLnBrk="0">
              <a:buNone/>
            </a:pPr>
            <a:endParaRPr lang="en-US" altLang="ko-KR" sz="1600" dirty="0"/>
          </a:p>
          <a:p>
            <a:pPr marL="109728" indent="0" latinLnBrk="0">
              <a:buNone/>
            </a:pPr>
            <a:r>
              <a:rPr lang="en-US" altLang="ko-KR" sz="1600" dirty="0"/>
              <a:t>	nm1 = b + d;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"Two </a:t>
            </a:r>
            <a:r>
              <a:rPr lang="en-US" altLang="ko-KR" sz="1600" dirty="0" err="1"/>
              <a:t>num</a:t>
            </a:r>
            <a:r>
              <a:rPr lang="en-US" altLang="ko-KR" sz="1600" dirty="0"/>
              <a:t> Add: ";</a:t>
            </a:r>
          </a:p>
          <a:p>
            <a:pPr marL="109728" indent="0" latinLnBrk="0">
              <a:buNone/>
            </a:pPr>
            <a:r>
              <a:rPr lang="en-US" altLang="ko-KR" sz="1600" dirty="0"/>
              <a:t>	</a:t>
            </a:r>
            <a:r>
              <a:rPr lang="en-US" altLang="ko-KR" sz="1600" dirty="0" err="1"/>
              <a:t>cout</a:t>
            </a:r>
            <a:r>
              <a:rPr lang="en-US" altLang="ko-KR" sz="1600" dirty="0"/>
              <a:t> &lt;&lt; nm1 &lt;&lt; </a:t>
            </a:r>
            <a:r>
              <a:rPr lang="en-US" altLang="ko-KR" sz="1600" dirty="0" err="1"/>
              <a:t>endl</a:t>
            </a:r>
            <a:r>
              <a:rPr lang="en-US" altLang="ko-KR" sz="1600" dirty="0"/>
              <a:t>;</a:t>
            </a:r>
          </a:p>
          <a:p>
            <a:pPr marL="109728" indent="0" latinLnBrk="0">
              <a:buNone/>
            </a:pPr>
            <a:r>
              <a:rPr lang="en-US" altLang="ko-KR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9312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7354888" cy="4525963"/>
          </a:xfrm>
        </p:spPr>
        <p:txBody>
          <a:bodyPr>
            <a:normAutofit fontScale="92500" lnSpcReduction="10000"/>
          </a:bodyPr>
          <a:lstStyle/>
          <a:p>
            <a:pPr latinLnBrk="0"/>
            <a:r>
              <a:rPr lang="ko-KR" altLang="en-US" sz="1600" dirty="0"/>
              <a:t>실습 </a:t>
            </a:r>
            <a:r>
              <a:rPr lang="ko-KR" altLang="en-US" sz="1600" dirty="0" smtClean="0"/>
              <a:t>프로그램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 </a:t>
            </a:r>
            <a:endParaRPr lang="en-US" altLang="ko-KR" sz="1600" dirty="0" smtClean="0"/>
          </a:p>
          <a:p>
            <a:pPr lvl="1" latinLnBrk="0"/>
            <a:r>
              <a:rPr lang="ko-KR" altLang="en-US" sz="1600" dirty="0" smtClean="0"/>
              <a:t>나머지 사칙연산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추가 완성</a:t>
            </a:r>
            <a:endParaRPr lang="en-US" altLang="ko-KR" sz="1600" dirty="0" smtClean="0"/>
          </a:p>
          <a:p>
            <a:pPr lvl="1" latinLnBrk="0"/>
            <a:endParaRPr lang="en-US" altLang="ko-KR" sz="1600" dirty="0"/>
          </a:p>
          <a:p>
            <a:pPr latinLnBrk="0"/>
            <a:r>
              <a:rPr lang="ko-KR" altLang="en-US" sz="1600" dirty="0" smtClean="0"/>
              <a:t>연속 사칙연산 프로그램 작성</a:t>
            </a:r>
            <a:endParaRPr lang="en-US" altLang="ko-KR" sz="1600" dirty="0" smtClean="0"/>
          </a:p>
          <a:p>
            <a:pPr lvl="1" latinLnBrk="0"/>
            <a:r>
              <a:rPr lang="ko-KR" altLang="en-US" sz="1600" dirty="0" smtClean="0"/>
              <a:t>첫 번째 수가 정수이면 정수 계산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정수 함수 호출</a:t>
            </a:r>
            <a:r>
              <a:rPr lang="en-US" altLang="ko-KR" sz="1600" dirty="0" smtClean="0"/>
              <a:t>)</a:t>
            </a:r>
          </a:p>
          <a:p>
            <a:pPr lvl="1" latinLnBrk="0"/>
            <a:r>
              <a:rPr lang="ko-KR" altLang="en-US" sz="1600" dirty="0" smtClean="0"/>
              <a:t>첫 번째 수가 실수이면 실수 계산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실수 함수 호출</a:t>
            </a:r>
            <a:r>
              <a:rPr lang="en-US" altLang="ko-KR" sz="1600" dirty="0" smtClean="0"/>
              <a:t>)</a:t>
            </a:r>
          </a:p>
          <a:p>
            <a:pPr lvl="1" latinLnBrk="0"/>
            <a:r>
              <a:rPr lang="ko-KR" altLang="en-US" sz="1600" dirty="0" smtClean="0"/>
              <a:t>입력 방식은 다음과 같이 </a:t>
            </a:r>
            <a:r>
              <a:rPr lang="en-US" altLang="ko-KR" sz="1600" dirty="0" smtClean="0"/>
              <a:t>(‘=‘</a:t>
            </a:r>
            <a:r>
              <a:rPr lang="ko-KR" altLang="en-US" sz="1600" dirty="0" smtClean="0"/>
              <a:t>가 입력될 때까지 계속 입력</a:t>
            </a:r>
            <a:r>
              <a:rPr lang="en-US" altLang="ko-KR" sz="1600" dirty="0" smtClean="0"/>
              <a:t>)</a:t>
            </a:r>
          </a:p>
          <a:p>
            <a:pPr lvl="1" latinLnBrk="0"/>
            <a:endParaRPr lang="en-US" altLang="ko-KR" sz="1600" dirty="0"/>
          </a:p>
          <a:p>
            <a:pPr marL="393192" lvl="1" indent="0" latinLnBrk="0">
              <a:buNone/>
            </a:pPr>
            <a:r>
              <a:rPr lang="en-US" altLang="ko-KR" sz="1600" dirty="0" smtClean="0"/>
              <a:t>3.2</a:t>
            </a:r>
          </a:p>
          <a:p>
            <a:pPr marL="393192" lvl="1" indent="0" latinLnBrk="0">
              <a:buNone/>
            </a:pPr>
            <a:r>
              <a:rPr lang="en-US" altLang="ko-KR" sz="1600" dirty="0" smtClean="0"/>
              <a:t>+</a:t>
            </a:r>
          </a:p>
          <a:p>
            <a:pPr marL="393192" lvl="1" indent="0" latinLnBrk="0">
              <a:buNone/>
            </a:pPr>
            <a:r>
              <a:rPr lang="en-US" altLang="ko-KR" sz="1600" dirty="0" smtClean="0"/>
              <a:t>5.5</a:t>
            </a:r>
          </a:p>
          <a:p>
            <a:pPr marL="393192" lvl="1" indent="0" latinLnBrk="0">
              <a:buNone/>
            </a:pPr>
            <a:r>
              <a:rPr lang="en-US" altLang="ko-KR" sz="1600" dirty="0" smtClean="0"/>
              <a:t>*</a:t>
            </a:r>
          </a:p>
          <a:p>
            <a:pPr marL="393192" lvl="1" indent="0" latinLnBrk="0">
              <a:buNone/>
            </a:pPr>
            <a:r>
              <a:rPr lang="en-US" altLang="ko-KR" sz="1600" dirty="0" smtClean="0"/>
              <a:t>7</a:t>
            </a:r>
          </a:p>
          <a:p>
            <a:pPr marL="393192" lvl="1" indent="0" latinLnBrk="0">
              <a:buNone/>
            </a:pPr>
            <a:r>
              <a:rPr lang="en-US" altLang="ko-KR" sz="1600" dirty="0" smtClean="0"/>
              <a:t>-</a:t>
            </a:r>
          </a:p>
          <a:p>
            <a:pPr marL="393192" lvl="1" indent="0" latinLnBrk="0">
              <a:buNone/>
            </a:pPr>
            <a:r>
              <a:rPr lang="en-US" altLang="ko-KR" sz="1600" dirty="0" smtClean="0"/>
              <a:t>5.6</a:t>
            </a:r>
          </a:p>
          <a:p>
            <a:pPr marL="393192" lvl="1" indent="0" latinLnBrk="0">
              <a:buNone/>
            </a:pPr>
            <a:r>
              <a:rPr lang="en-US" altLang="ko-KR" sz="1600" dirty="0" smtClean="0"/>
              <a:t>…</a:t>
            </a:r>
          </a:p>
          <a:p>
            <a:pPr marL="393192" lvl="1" indent="0" latinLnBrk="0">
              <a:buNone/>
            </a:pPr>
            <a:r>
              <a:rPr lang="en-US" altLang="ko-KR" sz="1600" dirty="0" smtClean="0"/>
              <a:t>=</a:t>
            </a:r>
          </a:p>
          <a:p>
            <a:pPr marL="393192" lvl="1" indent="0" latinLnBrk="0">
              <a:buNone/>
            </a:pPr>
            <a:r>
              <a:rPr lang="en-US" altLang="ko-KR" sz="1600" dirty="0" smtClean="0"/>
              <a:t>10.1</a:t>
            </a:r>
          </a:p>
          <a:p>
            <a:pPr lvl="1" latinLnBrk="0"/>
            <a:endParaRPr lang="ko-KR" altLang="ko-KR" sz="1600" dirty="0"/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4270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1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r>
              <a:rPr lang="ko-KR" altLang="en-US" sz="2800" dirty="0" smtClean="0"/>
              <a:t>연습 프로그램</a:t>
            </a:r>
            <a:r>
              <a:rPr lang="en-US" altLang="ko-KR" sz="2800" dirty="0" smtClean="0"/>
              <a:t/>
            </a:r>
            <a:br>
              <a:rPr lang="en-US" altLang="ko-KR" sz="2800" dirty="0" smtClean="0"/>
            </a:b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9303629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광장">
  <a:themeElements>
    <a:clrScheme name="광장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광장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광장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579</TotalTime>
  <Words>809</Words>
  <Application>Microsoft Office PowerPoint</Application>
  <PresentationFormat>화면 슬라이드 쇼(4:3)</PresentationFormat>
  <Paragraphs>290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8" baseType="lpstr">
      <vt:lpstr>굴림</vt:lpstr>
      <vt:lpstr>맑은 고딕</vt:lpstr>
      <vt:lpstr>-윤고딕140</vt:lpstr>
      <vt:lpstr>Lucida Sans Unicode</vt:lpstr>
      <vt:lpstr>Tahoma</vt:lpstr>
      <vt:lpstr>Verdana</vt:lpstr>
      <vt:lpstr>Wingdings 2</vt:lpstr>
      <vt:lpstr>Wingdings 3</vt:lpstr>
      <vt:lpstr>광장</vt:lpstr>
      <vt:lpstr>함수와 포인터1</vt:lpstr>
      <vt:lpstr>내용</vt:lpstr>
      <vt:lpstr>함수의 다중 정의</vt:lpstr>
      <vt:lpstr>함수의 다중 정의</vt:lpstr>
      <vt:lpstr>함수의 다중 정의</vt:lpstr>
      <vt:lpstr>함수의 다중 정의</vt:lpstr>
      <vt:lpstr>함수의 다중 정의</vt:lpstr>
      <vt:lpstr>함수의 다중 정의</vt:lpstr>
      <vt:lpstr>함수의 다중 정의</vt:lpstr>
      <vt:lpstr>함수의 다중 정의</vt:lpstr>
      <vt:lpstr>함수의 다중 정의</vt:lpstr>
      <vt:lpstr>함수의 다중 정의</vt:lpstr>
      <vt:lpstr>함수의 다중 정의</vt:lpstr>
      <vt:lpstr>함수의 다중 정의</vt:lpstr>
      <vt:lpstr>실습 프로그램 </vt:lpstr>
      <vt:lpstr>실습 프로그램 </vt:lpstr>
      <vt:lpstr>실습 프로그램 </vt:lpstr>
      <vt:lpstr>실습 프로그램 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프로그램 문제</dc:title>
  <dc:creator>Lub</dc:creator>
  <cp:lastModifiedBy>Owner</cp:lastModifiedBy>
  <cp:revision>72</cp:revision>
  <dcterms:created xsi:type="dcterms:W3CDTF">2015-04-10T01:14:42Z</dcterms:created>
  <dcterms:modified xsi:type="dcterms:W3CDTF">2024-10-04T23:32:47Z</dcterms:modified>
</cp:coreProperties>
</file>