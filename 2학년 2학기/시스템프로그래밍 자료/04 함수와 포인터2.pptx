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9" r:id="rId3"/>
    <p:sldId id="297" r:id="rId4"/>
    <p:sldId id="353" r:id="rId5"/>
    <p:sldId id="354" r:id="rId6"/>
    <p:sldId id="355" r:id="rId7"/>
    <p:sldId id="356" r:id="rId8"/>
    <p:sldId id="357" r:id="rId9"/>
    <p:sldId id="358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257" r:id="rId23"/>
    <p:sldId id="351" r:id="rId24"/>
    <p:sldId id="350" r:id="rId25"/>
    <p:sldId id="352" r:id="rId26"/>
    <p:sldId id="372" r:id="rId27"/>
    <p:sldId id="326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함수와 포인터</a:t>
            </a:r>
            <a:r>
              <a:rPr lang="en-US" altLang="ko-KR" sz="3200" dirty="0"/>
              <a:t>2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/>
              <a:t>인수의 초기화</a:t>
            </a:r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템플릿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인라인 함수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함수의 데이터 전달</a:t>
            </a:r>
          </a:p>
        </p:txBody>
      </p:sp>
    </p:spTree>
    <p:extLst>
      <p:ext uri="{BB962C8B-B14F-4D97-AF65-F5344CB8AC3E}">
        <p14:creationId xmlns:p14="http://schemas.microsoft.com/office/powerpoint/2010/main" val="362052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인수의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기본 값의 개념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기본 값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(default value,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디폴트 값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매개변수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(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가인수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)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에 기본적으로 들어가는 값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매개변수로 자료가 전달되지 않았을 때 유효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97503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인수의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인수의 기본 값 지정하기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기본 값을 지정한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2064242"/>
            <a:ext cx="6429375" cy="41433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summayOfSchool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sum, 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grade = 0); // </a:t>
            </a:r>
            <a:r>
              <a:rPr kumimoji="0" lang="ko-KR" altLang="en-US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기본값 지정</a:t>
            </a:r>
            <a:endParaRPr kumimoji="0" lang="en-US" altLang="ko-KR" sz="1600" b="1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main( … 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summaryOfSchool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(summary, 50); // </a:t>
            </a:r>
            <a:r>
              <a:rPr kumimoji="0" lang="ko-KR" altLang="en-US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 전달 가능</a:t>
            </a:r>
            <a:endParaRPr kumimoji="0" lang="en-US" altLang="ko-KR" sz="1600" b="1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summaryOfSchool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(summary); // </a:t>
            </a:r>
            <a:r>
              <a:rPr kumimoji="0" lang="ko-KR" altLang="en-US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인수 생략 가능</a:t>
            </a:r>
            <a:endParaRPr kumimoji="0" lang="en-US" altLang="ko-KR" sz="1600" b="1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summaryOfSchool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sum, 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grade)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sum += grade;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b="1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retrun</a:t>
            </a: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sum;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28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인수의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함수의 </a:t>
            </a:r>
            <a:r>
              <a:rPr lang="ko-KR" altLang="en-US" sz="1800" b="1" dirty="0" err="1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다중정의와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닮은 점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매개변수의 기본 값 지정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다중정의에서 인수의 개수를 다르게 한 것과 동일한 효과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2996952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summaryOfSchool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(total);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summaryOfSchool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(total, 50);</a:t>
            </a:r>
          </a:p>
        </p:txBody>
      </p:sp>
    </p:spTree>
    <p:extLst>
      <p:ext uri="{BB962C8B-B14F-4D97-AF65-F5344CB8AC3E}">
        <p14:creationId xmlns:p14="http://schemas.microsoft.com/office/powerpoint/2010/main" val="154675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인수의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초기화된 인수의 위치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기본값이 지정된 매개변수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초기화된 매개변수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초기화된 매개변수가 그렇지 않은 것보다 앞에 오면 오류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모든 매개변수가 기본값을 가지면 순서에 상관없음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초기화 된 매개변수가 뒤로 가야 됨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99592" y="2780928"/>
            <a:ext cx="6357938" cy="5000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myFunction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10, double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) { … }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오류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899592" y="3863349"/>
            <a:ext cx="6357938" cy="5000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myFunction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10, double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11,12) { … }</a:t>
            </a: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899592" y="5085184"/>
            <a:ext cx="6357938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myFunction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, double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11,12) { … }</a:t>
            </a:r>
          </a:p>
        </p:txBody>
      </p:sp>
    </p:spTree>
    <p:extLst>
      <p:ext uri="{BB962C8B-B14F-4D97-AF65-F5344CB8AC3E}">
        <p14:creationId xmlns:p14="http://schemas.microsoft.com/office/powerpoint/2010/main" val="274950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인수의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초기화된 인수가 포함된 함수의 위치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초기화된 매개변수가 포함된 함수의 정의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-&gt;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반드시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main()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 앞에 나와야 한다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.</a:t>
            </a: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755576" y="2779902"/>
            <a:ext cx="6357938" cy="192881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오류가 있는 코드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main() 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initializedFunction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y = 100,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z = 200)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871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인수의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함수의 원형에서 기본값을 지정하면 오류를 피할 수 있다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.</a:t>
            </a: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683568" y="2060848"/>
            <a:ext cx="6357938" cy="3786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initializedFunction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y = 100,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z = 200);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main()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initializedFunction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y,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z)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18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다중 정의를 간단하게 해 주는 템플릿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다기능이 같은 함수들을 쉽게 쓸 수 있게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해주는 템플릿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인수의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자료형만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다르고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,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인수의 개수와 내부 처리 과정까지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같은 함수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-&gt;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다중정의조차 불편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이럴 때는 템플릿을 사용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827584" y="2996952"/>
            <a:ext cx="6286500" cy="5715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return x + 3;}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double F(double x) { return x + 3.0; }</a:t>
            </a:r>
          </a:p>
        </p:txBody>
      </p:sp>
    </p:spTree>
    <p:extLst>
      <p:ext uri="{BB962C8B-B14F-4D97-AF65-F5344CB8AC3E}">
        <p14:creationId xmlns:p14="http://schemas.microsoft.com/office/powerpoint/2010/main" val="148407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템플릿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 템플릿 사용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b="1" dirty="0">
                <a:latin typeface="-윤고딕140" pitchFamily="18" charset="-127"/>
                <a:ea typeface="-윤고딕140" pitchFamily="18" charset="-127"/>
              </a:rPr>
              <a:t>1. </a:t>
            </a:r>
            <a:r>
              <a:rPr lang="ko-KR" altLang="en-US" sz="1800" b="1" dirty="0">
                <a:latin typeface="-윤고딕140" pitchFamily="18" charset="-127"/>
                <a:ea typeface="-윤고딕140" pitchFamily="18" charset="-127"/>
              </a:rPr>
              <a:t>임시 </a:t>
            </a:r>
            <a:r>
              <a:rPr lang="ko-KR" altLang="en-US" sz="1800" b="1" dirty="0" err="1">
                <a:latin typeface="-윤고딕140" pitchFamily="18" charset="-127"/>
                <a:ea typeface="-윤고딕140" pitchFamily="18" charset="-127"/>
              </a:rPr>
              <a:t>자료형의</a:t>
            </a:r>
            <a:r>
              <a:rPr lang="ko-KR" altLang="en-US" sz="1800" b="1" dirty="0">
                <a:latin typeface="-윤고딕140" pitchFamily="18" charset="-127"/>
                <a:ea typeface="-윤고딕140" pitchFamily="18" charset="-127"/>
              </a:rPr>
              <a:t> 이름을 지정한다</a:t>
            </a:r>
            <a:r>
              <a:rPr lang="en-US" altLang="ko-KR" sz="1800" b="1" dirty="0">
                <a:latin typeface="-윤고딕140" pitchFamily="18" charset="-127"/>
                <a:ea typeface="-윤고딕140" pitchFamily="18" charset="-127"/>
              </a:rPr>
              <a:t>.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b="1" dirty="0">
                <a:latin typeface="-윤고딕140" pitchFamily="18" charset="-127"/>
                <a:ea typeface="-윤고딕140" pitchFamily="18" charset="-127"/>
              </a:rPr>
              <a:t>2. </a:t>
            </a:r>
            <a:r>
              <a:rPr lang="ko-KR" altLang="en-US" sz="1800" b="1" dirty="0">
                <a:latin typeface="-윤고딕140" pitchFamily="18" charset="-127"/>
                <a:ea typeface="-윤고딕140" pitchFamily="18" charset="-127"/>
              </a:rPr>
              <a:t>함수 템플릿을 정의한다</a:t>
            </a:r>
            <a:r>
              <a:rPr lang="en-US" altLang="ko-KR" sz="1800" b="1" dirty="0">
                <a:latin typeface="-윤고딕140" pitchFamily="18" charset="-127"/>
                <a:ea typeface="-윤고딕140" pitchFamily="18" charset="-127"/>
              </a:rPr>
              <a:t>.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b="1" dirty="0"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b="1" dirty="0">
                <a:latin typeface="-윤고딕140" pitchFamily="18" charset="-127"/>
                <a:ea typeface="-윤고딕140" pitchFamily="18" charset="-127"/>
              </a:rPr>
              <a:t>3. </a:t>
            </a:r>
            <a:r>
              <a:rPr lang="ko-KR" altLang="en-US" sz="1800" b="1" dirty="0">
                <a:latin typeface="-윤고딕140" pitchFamily="18" charset="-127"/>
                <a:ea typeface="-윤고딕140" pitchFamily="18" charset="-127"/>
              </a:rPr>
              <a:t>함수 템플릿을 호출한다</a:t>
            </a:r>
            <a:r>
              <a:rPr lang="en-US" altLang="ko-KR" sz="1800" b="1" dirty="0">
                <a:latin typeface="-윤고딕140" pitchFamily="18" charset="-127"/>
                <a:ea typeface="-윤고딕140" pitchFamily="18" charset="-127"/>
              </a:rPr>
              <a:t>.</a:t>
            </a: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29152" y="2420888"/>
            <a:ext cx="68580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형식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: template &lt;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typename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임시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자료형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&gt;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사례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: template &lt;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typename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T&gt; // T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대신 어떤 이름도 사용가능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829152" y="3892621"/>
            <a:ext cx="6858000" cy="5000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T F(T x) { return x + 3; }</a:t>
            </a: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829152" y="4921743"/>
            <a:ext cx="68580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Y = F(3);  //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return x + 3; }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의 꼴로 자동 변환됨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Z = F(3.1);//double F(double x) { return x + 3.0; }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의 꼴로 변환됨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086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템플릿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b="1" dirty="0">
                <a:latin typeface="-윤고딕140"/>
                <a:ea typeface="-윤고딕140"/>
                <a:cs typeface="-윤고딕140"/>
              </a:rPr>
              <a:t>템플릿 사용 예</a:t>
            </a: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en-US" sz="1400" b="1" dirty="0">
                <a:latin typeface="-윤고딕140"/>
                <a:ea typeface="-윤고딕140"/>
                <a:cs typeface="-윤고딕140"/>
              </a:rPr>
              <a:t>템플릿 역시 함수의 한 종류</a:t>
            </a: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en-US" sz="1400" b="1" dirty="0">
                <a:latin typeface="-윤고딕140"/>
                <a:ea typeface="-윤고딕140"/>
                <a:cs typeface="-윤고딕140"/>
              </a:rPr>
              <a:t>템플릿을 정의한 뒤에 호출해서 사용</a:t>
            </a: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400" dirty="0"/>
              <a:t> #include &lt;</a:t>
            </a:r>
            <a:r>
              <a:rPr lang="en-US" altLang="ko-KR" sz="1400" dirty="0" err="1"/>
              <a:t>iostream</a:t>
            </a:r>
            <a:r>
              <a:rPr lang="en-US" altLang="ko-KR" sz="14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using namespace </a:t>
            </a:r>
            <a:r>
              <a:rPr lang="en-US" altLang="ko-KR" sz="1400" dirty="0" err="1"/>
              <a:t>std</a:t>
            </a:r>
            <a:r>
              <a:rPr lang="en-US" altLang="ko-KR" sz="1400" dirty="0"/>
              <a:t>; </a:t>
            </a:r>
          </a:p>
          <a:p>
            <a:pPr marL="109728" indent="0">
              <a:buNone/>
              <a:defRPr/>
            </a:pPr>
            <a:endParaRPr lang="en-US" altLang="ko-KR" sz="1400" dirty="0"/>
          </a:p>
          <a:p>
            <a:pPr marL="109728" indent="0">
              <a:buNone/>
              <a:defRPr/>
            </a:pPr>
            <a:r>
              <a:rPr lang="en-US" altLang="ko-KR" sz="1400" dirty="0"/>
              <a:t> template &lt;</a:t>
            </a:r>
            <a:r>
              <a:rPr lang="en-US" altLang="ko-KR" sz="1400" dirty="0" err="1"/>
              <a:t>typename</a:t>
            </a:r>
            <a:r>
              <a:rPr lang="en-US" altLang="ko-KR" sz="1400" dirty="0"/>
              <a:t> T&gt;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T F(T x) { return x + 3; } </a:t>
            </a:r>
          </a:p>
          <a:p>
            <a:pPr marL="109728" indent="0">
              <a:buNone/>
              <a:defRPr/>
            </a:pPr>
            <a:endParaRPr lang="en-US" altLang="ko-KR" sz="1400" dirty="0"/>
          </a:p>
          <a:p>
            <a:pPr marL="109728" indent="0">
              <a:buNone/>
              <a:defRPr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main()</a:t>
            </a:r>
            <a:r>
              <a:rPr lang="en-US" altLang="ko-KR" sz="1400" dirty="0">
                <a:latin typeface="Arial"/>
              </a:rPr>
              <a:t> </a:t>
            </a:r>
            <a:r>
              <a:rPr lang="en-US" altLang="ko-KR" sz="1400" dirty="0"/>
              <a:t> {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</a:t>
            </a:r>
            <a:r>
              <a:rPr lang="en-US" altLang="ko-KR" sz="1400" dirty="0">
                <a:latin typeface="Arial"/>
              </a:rPr>
              <a:t>    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y = F(3);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</a:t>
            </a:r>
            <a:r>
              <a:rPr lang="en-US" altLang="ko-KR" sz="1400" dirty="0">
                <a:latin typeface="Arial"/>
              </a:rPr>
              <a:t>    </a:t>
            </a:r>
            <a:r>
              <a:rPr lang="en-US" altLang="ko-KR" sz="1400" dirty="0"/>
              <a:t>double z = F(3.1);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</a:t>
            </a:r>
            <a:r>
              <a:rPr lang="en-US" altLang="ko-KR" sz="1400" dirty="0">
                <a:latin typeface="Arial"/>
              </a:rPr>
              <a:t>    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"F(3)</a:t>
            </a:r>
            <a:r>
              <a:rPr lang="ko-KR" altLang="en-US" sz="1400" dirty="0"/>
              <a:t>의 값 </a:t>
            </a:r>
            <a:r>
              <a:rPr lang="en-US" altLang="ko-KR" sz="1400" dirty="0"/>
              <a:t>= " &lt;&lt; y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</a:t>
            </a:r>
            <a:r>
              <a:rPr lang="en-US" altLang="ko-KR" sz="1400" dirty="0">
                <a:latin typeface="Arial"/>
              </a:rPr>
              <a:t>    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"F(3.1)</a:t>
            </a:r>
            <a:r>
              <a:rPr lang="ko-KR" altLang="en-US" sz="1400" dirty="0"/>
              <a:t>의 값 </a:t>
            </a:r>
            <a:r>
              <a:rPr lang="en-US" altLang="ko-KR" sz="1400" dirty="0"/>
              <a:t>= " &lt;&lt; z &lt;&lt;</a:t>
            </a:r>
            <a:r>
              <a:rPr lang="en-US" altLang="ko-KR" sz="1400" dirty="0">
                <a:latin typeface="Arial"/>
              </a:rPr>
              <a:t>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 marL="109728" indent="0">
              <a:buNone/>
              <a:defRPr/>
            </a:pPr>
            <a:endParaRPr lang="en-US" altLang="ko-KR" sz="1400" dirty="0"/>
          </a:p>
          <a:p>
            <a:pPr marL="109728" indent="0">
              <a:buNone/>
              <a:defRPr/>
            </a:pPr>
            <a:r>
              <a:rPr lang="en-US" altLang="ko-KR" sz="1400" dirty="0"/>
              <a:t>     return 0;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}</a:t>
            </a:r>
            <a:endParaRPr lang="en-US" altLang="ko-KR" sz="1400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23595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템플릿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 marL="109728" indent="0">
              <a:buNone/>
              <a:defRPr/>
            </a:pPr>
            <a:r>
              <a:rPr lang="ko-KR" altLang="en-US" sz="1800" b="1" dirty="0">
                <a:solidFill>
                  <a:srgbClr val="E46C0A"/>
                </a:solidFill>
                <a:latin typeface="맑은 고딕" pitchFamily="50" charset="-127"/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알고리즘 추상화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en-US" altLang="ko-KR" sz="14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lnSpc>
                <a:spcPct val="150000"/>
              </a:lnSpc>
              <a:buNone/>
              <a:defRPr/>
            </a:pPr>
            <a:r>
              <a:rPr lang="ko-KR" altLang="en-US" sz="1400" b="1" dirty="0">
                <a:latin typeface="-윤고딕140"/>
                <a:ea typeface="-윤고딕140"/>
                <a:cs typeface="-윤고딕140"/>
              </a:rPr>
              <a:t>템플릿 사용하면 함수가 무척 추상화된 것처럼 보임</a:t>
            </a: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lnSpc>
                <a:spcPct val="150000"/>
              </a:lnSpc>
              <a:buNone/>
              <a:defRPr/>
            </a:pPr>
            <a:r>
              <a:rPr lang="en-US" altLang="ko-KR" sz="12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-&gt; </a:t>
            </a:r>
            <a:r>
              <a:rPr lang="ko-KR" altLang="en-US" sz="12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알고리즘 추상화</a:t>
            </a:r>
            <a:r>
              <a:rPr lang="en-US" altLang="ko-KR" sz="12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(algorithm abstraction)</a:t>
            </a:r>
            <a:r>
              <a:rPr lang="ko-KR" altLang="en-US" sz="12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라고 한다</a:t>
            </a:r>
            <a:r>
              <a:rPr lang="en-US" altLang="ko-KR" sz="12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#include &lt;</a:t>
            </a:r>
            <a:r>
              <a:rPr lang="en-US" altLang="ko-KR" sz="1400" dirty="0" err="1"/>
              <a:t>iostream</a:t>
            </a:r>
            <a:r>
              <a:rPr lang="en-US" altLang="ko-KR" sz="14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using namespace </a:t>
            </a:r>
            <a:r>
              <a:rPr lang="en-US" altLang="ko-KR" sz="1400" dirty="0" err="1"/>
              <a:t>std</a:t>
            </a:r>
            <a:r>
              <a:rPr lang="en-US" altLang="ko-KR" sz="1400" dirty="0"/>
              <a:t>; </a:t>
            </a:r>
          </a:p>
          <a:p>
            <a:pPr marL="109728" indent="0">
              <a:buNone/>
              <a:defRPr/>
            </a:pPr>
            <a:endParaRPr lang="en-US" altLang="ko-KR" sz="1400" dirty="0"/>
          </a:p>
          <a:p>
            <a:pPr marL="109728" indent="0">
              <a:buNone/>
              <a:defRPr/>
            </a:pPr>
            <a:r>
              <a:rPr lang="en-US" altLang="ko-KR" sz="1400" dirty="0"/>
              <a:t> // </a:t>
            </a:r>
            <a:r>
              <a:rPr lang="ko-KR" altLang="en-US" sz="1400" dirty="0"/>
              <a:t>템플릿 함수의 원형을 선언할 때에도 </a:t>
            </a:r>
            <a:r>
              <a:rPr lang="en-US" altLang="ko-KR" sz="1400" dirty="0"/>
              <a:t>template</a:t>
            </a:r>
            <a:r>
              <a:rPr lang="ko-KR" altLang="en-US" sz="1400" dirty="0"/>
              <a:t>을 함께 선언할 것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template &lt;</a:t>
            </a:r>
            <a:r>
              <a:rPr lang="en-US" altLang="ko-KR" sz="1400" dirty="0" err="1"/>
              <a:t>typename</a:t>
            </a:r>
            <a:r>
              <a:rPr lang="en-US" altLang="ko-KR" sz="1400" dirty="0"/>
              <a:t> T&gt;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T Abs(T value); </a:t>
            </a:r>
            <a:r>
              <a:rPr lang="en-US" altLang="ko-KR" sz="1400" dirty="0">
                <a:latin typeface="Arial"/>
              </a:rPr>
              <a:t> </a:t>
            </a:r>
            <a:r>
              <a:rPr lang="en-US" altLang="ko-KR" sz="1400" dirty="0"/>
              <a:t> </a:t>
            </a:r>
          </a:p>
          <a:p>
            <a:pPr marL="109728" indent="0">
              <a:buNone/>
              <a:defRPr/>
            </a:pPr>
            <a:endParaRPr lang="en-US" altLang="ko-KR" sz="1400" dirty="0"/>
          </a:p>
          <a:p>
            <a:pPr marL="109728" indent="0">
              <a:buNone/>
              <a:defRPr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main()</a:t>
            </a:r>
            <a:r>
              <a:rPr lang="en-US" altLang="ko-KR" sz="1400" dirty="0">
                <a:latin typeface="Arial"/>
              </a:rPr>
              <a:t> </a:t>
            </a:r>
            <a:r>
              <a:rPr lang="en-US" altLang="ko-KR" sz="1400" dirty="0"/>
              <a:t> { </a:t>
            </a:r>
          </a:p>
          <a:p>
            <a:pPr marL="109728" indent="0">
              <a:buNone/>
              <a:defRPr/>
            </a:pPr>
            <a:r>
              <a:rPr lang="en-US" altLang="ko-KR" sz="1400" dirty="0"/>
              <a:t> </a:t>
            </a:r>
            <a:r>
              <a:rPr lang="en-US" altLang="ko-KR" sz="1400" dirty="0">
                <a:latin typeface="Arial"/>
              </a:rPr>
              <a:t>  	</a:t>
            </a:r>
            <a:r>
              <a:rPr lang="fr-FR" altLang="ko-KR" sz="1400" dirty="0">
                <a:latin typeface="Arial"/>
              </a:rPr>
              <a:t>int intval = -10;</a:t>
            </a:r>
          </a:p>
          <a:p>
            <a:pPr marL="109728" indent="0">
              <a:buNone/>
              <a:defRPr/>
            </a:pPr>
            <a:r>
              <a:rPr lang="fr-FR" altLang="ko-KR" sz="1400" dirty="0">
                <a:latin typeface="Arial"/>
              </a:rPr>
              <a:t>	double douval = -123.456;</a:t>
            </a:r>
            <a:endParaRPr lang="en-US" altLang="ko-KR" sz="1400" dirty="0"/>
          </a:p>
          <a:p>
            <a:pPr marL="109728" indent="0">
              <a:buNone/>
              <a:defRPr/>
            </a:pPr>
            <a:r>
              <a:rPr lang="en-US" altLang="ko-KR" sz="1400" dirty="0"/>
              <a:t> </a:t>
            </a:r>
            <a:r>
              <a:rPr lang="en-US" altLang="ko-KR" sz="1400" dirty="0">
                <a:latin typeface="Arial"/>
              </a:rPr>
              <a:t>   </a:t>
            </a:r>
            <a:endParaRPr lang="en-US" altLang="ko-KR" sz="1800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55127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템플릿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&lt;&lt; Abs(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intval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) &lt;&lt;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endl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&lt;&lt; Abs(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douval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) &lt;&lt;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endl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  <a:defRPr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return 0;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}</a:t>
            </a:r>
          </a:p>
          <a:p>
            <a:pPr marL="109728" indent="0">
              <a:buNone/>
              <a:defRPr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template &lt;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typename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T&gt;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T Abs(T value)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{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if (value &lt; 0)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	return -value;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else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	return value;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6991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인라인 함수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인라인 함수 사용하기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인라인 함수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(inline function) 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본문 코드 안에 삽입된 함수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 이름 앞에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inline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이라는 키워드를 붙여주면 끝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.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inline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키워드를 사용하여 함수를 정의해 두면 컴파일러가 함수를 호출하는 자리에 해당 함수를 그대로 삽입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따라서 대체로 프로그램의 실행 속도가 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빨라짐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27584" y="3039727"/>
            <a:ext cx="6286500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inline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Max(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y) { </a:t>
            </a:r>
            <a:r>
              <a:rPr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return </a:t>
            </a:r>
            <a:r>
              <a:rPr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x+y</a:t>
            </a:r>
            <a:r>
              <a:rPr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7844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포인터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주소 연산자 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&amp;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주소연산자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&amp;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로 변수의 주소를 알아냄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  <a:r>
              <a:rPr lang="en-US" altLang="ko-KR" sz="15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in;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float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flt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double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dbl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5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변수 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in</a:t>
            </a:r>
            <a:r>
              <a:rPr lang="ko-KR" altLang="en-US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의 주소 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= " &lt;&lt; &amp;in &lt;&lt;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변수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flt</a:t>
            </a:r>
            <a:r>
              <a:rPr lang="ko-KR" altLang="en-US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의 주소 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= " &lt;&lt; &amp;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flt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변수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dbl</a:t>
            </a:r>
            <a:r>
              <a:rPr lang="ko-KR" altLang="en-US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의 주소 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= " &lt;&lt; &amp;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dbl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5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5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5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971600" y="2348880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&lt;&lt;“number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의 주소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= ”&lt;&lt; &amp;number;</a:t>
            </a:r>
          </a:p>
        </p:txBody>
      </p:sp>
    </p:spTree>
    <p:extLst>
      <p:ext uri="{BB962C8B-B14F-4D97-AF65-F5344CB8AC3E}">
        <p14:creationId xmlns:p14="http://schemas.microsoft.com/office/powerpoint/2010/main" val="122575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포인터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포인터는 주소를 담는 특별한 변수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ko-KR" altLang="en-US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포인터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(pointer) 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다른 변수의 주소를 담는 특별한 변수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포인터를 선언하는 동시에 특정 변수의 주소로 초기화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755576" y="2492896"/>
            <a:ext cx="628650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*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포인터 연산자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*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를 사용해 포인터를 선언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755576" y="4004527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 = 10;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*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&amp;number;</a:t>
            </a:r>
          </a:p>
        </p:txBody>
      </p:sp>
    </p:spTree>
    <p:extLst>
      <p:ext uri="{BB962C8B-B14F-4D97-AF65-F5344CB8AC3E}">
        <p14:creationId xmlns:p14="http://schemas.microsoft.com/office/powerpoint/2010/main" val="1205106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포인터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포인터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변수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main()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{ 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number = 10;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/>
              <a:t>// </a:t>
            </a:r>
            <a:r>
              <a:rPr lang="en-US" altLang="ko-KR" sz="1600" dirty="0" err="1"/>
              <a:t>int</a:t>
            </a:r>
            <a:r>
              <a:rPr lang="ko-KR" altLang="en-US" sz="1600" dirty="0"/>
              <a:t>형 변수 </a:t>
            </a:r>
            <a:r>
              <a:rPr lang="en-US" altLang="ko-KR" sz="1600" dirty="0"/>
              <a:t>number</a:t>
            </a:r>
            <a:r>
              <a:rPr lang="ko-KR" altLang="en-US" sz="1600" dirty="0"/>
              <a:t>를 선언합니다</a:t>
            </a:r>
            <a:r>
              <a:rPr lang="en-US" altLang="ko-KR" sz="1600" dirty="0"/>
              <a:t>. 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*</a:t>
            </a:r>
            <a:r>
              <a:rPr lang="en-US" altLang="ko-KR" sz="1600" dirty="0" err="1"/>
              <a:t>ptr</a:t>
            </a:r>
            <a:r>
              <a:rPr lang="en-US" altLang="ko-KR" sz="1600" dirty="0"/>
              <a:t>;</a:t>
            </a:r>
            <a:r>
              <a:rPr lang="en-US" altLang="ko-KR" sz="1600" dirty="0">
                <a:latin typeface="Arial"/>
              </a:rPr>
              <a:t>       </a:t>
            </a: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 </a:t>
            </a:r>
            <a:r>
              <a:rPr lang="en-US" altLang="ko-KR" sz="1600" dirty="0"/>
              <a:t>// </a:t>
            </a:r>
            <a:r>
              <a:rPr lang="en-US" altLang="ko-KR" sz="1600" dirty="0" err="1"/>
              <a:t>int</a:t>
            </a:r>
            <a:r>
              <a:rPr lang="ko-KR" altLang="en-US" sz="1600" dirty="0"/>
              <a:t>형 포인터 </a:t>
            </a:r>
            <a:r>
              <a:rPr lang="en-US" altLang="ko-KR" sz="1600" dirty="0" err="1"/>
              <a:t>ptr</a:t>
            </a:r>
            <a:r>
              <a:rPr lang="ko-KR" altLang="en-US" sz="1600" dirty="0"/>
              <a:t>를 선언합니다</a:t>
            </a:r>
            <a:r>
              <a:rPr lang="en-US" altLang="ko-KR" sz="1600" dirty="0"/>
              <a:t>. 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ptr</a:t>
            </a:r>
            <a:r>
              <a:rPr lang="en-US" altLang="ko-KR" sz="1600" dirty="0"/>
              <a:t> = &amp;number;</a:t>
            </a:r>
            <a:r>
              <a:rPr lang="en-US" altLang="ko-KR" sz="1600" dirty="0">
                <a:latin typeface="Arial"/>
              </a:rPr>
              <a:t>      </a:t>
            </a:r>
            <a:r>
              <a:rPr lang="en-US" altLang="ko-KR" sz="1600" dirty="0"/>
              <a:t>// </a:t>
            </a:r>
            <a:r>
              <a:rPr lang="en-US" altLang="ko-KR" sz="1600" dirty="0" err="1"/>
              <a:t>int</a:t>
            </a:r>
            <a:r>
              <a:rPr lang="ko-KR" altLang="en-US" sz="1600" dirty="0"/>
              <a:t>형 포인터 </a:t>
            </a:r>
            <a:r>
              <a:rPr lang="en-US" altLang="ko-KR" sz="1600" dirty="0" err="1"/>
              <a:t>ptr</a:t>
            </a:r>
            <a:r>
              <a:rPr lang="ko-KR" altLang="en-US" sz="1600" dirty="0"/>
              <a:t>에 </a:t>
            </a:r>
            <a:r>
              <a:rPr lang="en-US" altLang="ko-KR" sz="1600" dirty="0"/>
              <a:t>number</a:t>
            </a:r>
            <a:r>
              <a:rPr lang="ko-KR" altLang="en-US" sz="1600" dirty="0"/>
              <a:t>의 주소 </a:t>
            </a:r>
            <a:r>
              <a:rPr lang="en-US" altLang="ko-KR" sz="1600" dirty="0"/>
              <a:t> </a:t>
            </a:r>
            <a:br>
              <a:rPr lang="en-US" altLang="ko-KR" sz="1600" dirty="0"/>
            </a:br>
            <a:endParaRPr lang="en-US" altLang="ko-KR" sz="1600" dirty="0"/>
          </a:p>
          <a:p>
            <a:pPr marL="109728" indent="0">
              <a:buNone/>
              <a:defRPr/>
            </a:pP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변수 </a:t>
            </a:r>
            <a:r>
              <a:rPr lang="en-US" altLang="ko-KR" sz="1600" dirty="0"/>
              <a:t>number</a:t>
            </a:r>
            <a:r>
              <a:rPr lang="ko-KR" altLang="en-US" sz="1600" dirty="0"/>
              <a:t>의 주소 </a:t>
            </a:r>
            <a:r>
              <a:rPr lang="en-US" altLang="ko-KR" sz="1600" dirty="0"/>
              <a:t>= " &lt;&lt; </a:t>
            </a:r>
            <a:r>
              <a:rPr lang="en-US" altLang="ko-KR" sz="1600" dirty="0" err="1"/>
              <a:t>ptr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변수 </a:t>
            </a:r>
            <a:r>
              <a:rPr lang="en-US" altLang="ko-KR" sz="1600" dirty="0"/>
              <a:t>number</a:t>
            </a:r>
            <a:r>
              <a:rPr lang="ko-KR" altLang="en-US" sz="1600" dirty="0"/>
              <a:t>의 값 </a:t>
            </a:r>
            <a:r>
              <a:rPr lang="en-US" altLang="ko-KR" sz="1600" dirty="0"/>
              <a:t>= " &lt;&lt; number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>
                <a:latin typeface="Arial"/>
              </a:rPr>
              <a:t>   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포인터 </a:t>
            </a:r>
            <a:r>
              <a:rPr lang="en-US" altLang="ko-KR" sz="1600" dirty="0" err="1"/>
              <a:t>ptr</a:t>
            </a:r>
            <a:r>
              <a:rPr lang="ko-KR" altLang="en-US" sz="1600" dirty="0"/>
              <a:t>이 가리키는 곳의 값 </a:t>
            </a:r>
            <a:r>
              <a:rPr lang="en-US" altLang="ko-KR" sz="1600" dirty="0"/>
              <a:t>= " &lt;&lt; *</a:t>
            </a:r>
            <a:r>
              <a:rPr lang="en-US" altLang="ko-KR" sz="1600" dirty="0" err="1"/>
              <a:t>ptr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return 0;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}</a:t>
            </a: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845110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값 전달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값에 의한 전달 방식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99592" y="2060848"/>
            <a:ext cx="6286500" cy="15716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Swap(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y)}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temp;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temp = x;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x = 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y = temp;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6986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값 전달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함수의 값 전달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700" dirty="0"/>
              <a:t> #include &lt;</a:t>
            </a:r>
            <a:r>
              <a:rPr lang="en-US" altLang="ko-KR" sz="1700" dirty="0" err="1"/>
              <a:t>iostream</a:t>
            </a:r>
            <a:r>
              <a:rPr lang="en-US" altLang="ko-KR" sz="17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using namespace </a:t>
            </a:r>
            <a:r>
              <a:rPr lang="en-US" altLang="ko-KR" sz="1700" dirty="0" err="1"/>
              <a:t>std</a:t>
            </a:r>
            <a:r>
              <a:rPr lang="en-US" altLang="ko-KR" sz="17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void Swap(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x, 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y); </a:t>
            </a:r>
          </a:p>
          <a:p>
            <a:pPr marL="109728" indent="0">
              <a:buNone/>
              <a:defRPr/>
            </a:pPr>
            <a:endParaRPr lang="en-US" altLang="ko-KR" sz="1700" dirty="0"/>
          </a:p>
          <a:p>
            <a:pPr marL="109728" indent="0">
              <a:buNone/>
              <a:defRPr/>
            </a:pPr>
            <a:r>
              <a:rPr lang="en-US" altLang="ko-KR" sz="1700" dirty="0"/>
              <a:t> 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main()</a:t>
            </a:r>
            <a:r>
              <a:rPr lang="en-US" altLang="ko-KR" sz="1700" dirty="0">
                <a:latin typeface="Arial"/>
              </a:rPr>
              <a:t> </a:t>
            </a:r>
            <a:r>
              <a:rPr lang="en-US" altLang="ko-KR" sz="1700" dirty="0"/>
              <a:t>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{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</a:t>
            </a:r>
            <a:r>
              <a:rPr lang="en-US" altLang="ko-KR" sz="1700" dirty="0">
                <a:latin typeface="Arial"/>
              </a:rPr>
              <a:t>    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fnum</a:t>
            </a:r>
            <a:r>
              <a:rPr lang="en-US" altLang="ko-KR" sz="1700" dirty="0"/>
              <a:t> = 3, </a:t>
            </a:r>
            <a:r>
              <a:rPr lang="en-US" altLang="ko-KR" sz="1700" dirty="0" err="1"/>
              <a:t>snum</a:t>
            </a:r>
            <a:r>
              <a:rPr lang="en-US" altLang="ko-KR" sz="1700" dirty="0"/>
              <a:t> = 5;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</a:t>
            </a:r>
            <a:r>
              <a:rPr lang="en-US" altLang="ko-KR" sz="1700" dirty="0">
                <a:latin typeface="Arial"/>
              </a:rPr>
              <a:t>    </a:t>
            </a:r>
            <a:r>
              <a:rPr lang="en-US" altLang="ko-KR" sz="1700" dirty="0"/>
              <a:t>Swap(</a:t>
            </a:r>
            <a:r>
              <a:rPr lang="en-US" altLang="ko-KR" sz="1700" dirty="0" err="1"/>
              <a:t>fnum</a:t>
            </a:r>
            <a:r>
              <a:rPr lang="en-US" altLang="ko-KR" sz="1700" dirty="0"/>
              <a:t>, </a:t>
            </a:r>
            <a:r>
              <a:rPr lang="en-US" altLang="ko-KR" sz="1700" dirty="0" err="1"/>
              <a:t>snum</a:t>
            </a:r>
            <a:r>
              <a:rPr lang="en-US" altLang="ko-KR" sz="1700" dirty="0"/>
              <a:t>);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 </a:t>
            </a:r>
            <a:r>
              <a:rPr lang="en-US" altLang="ko-KR" sz="1700" dirty="0">
                <a:latin typeface="Arial"/>
              </a:rPr>
              <a:t>   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</a:t>
            </a:r>
            <a:r>
              <a:rPr lang="en-US" altLang="ko-KR" sz="1700" dirty="0" err="1"/>
              <a:t>firstNumber</a:t>
            </a:r>
            <a:r>
              <a:rPr lang="en-US" altLang="ko-KR" sz="1700" dirty="0"/>
              <a:t> = " &lt;&lt; </a:t>
            </a:r>
            <a:r>
              <a:rPr lang="en-US" altLang="ko-KR" sz="1700" dirty="0" err="1"/>
              <a:t>fnum</a:t>
            </a:r>
            <a:r>
              <a:rPr lang="en-US" altLang="ko-KR" sz="1700" dirty="0"/>
              <a:t>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 </a:t>
            </a:r>
            <a:r>
              <a:rPr lang="en-US" altLang="ko-KR" sz="1700" dirty="0">
                <a:latin typeface="Arial"/>
              </a:rPr>
              <a:t>   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</a:t>
            </a:r>
            <a:r>
              <a:rPr lang="en-US" altLang="ko-KR" sz="1700" dirty="0" err="1"/>
              <a:t>secondNumber</a:t>
            </a:r>
            <a:r>
              <a:rPr lang="en-US" altLang="ko-KR" sz="1700" dirty="0"/>
              <a:t> = " &lt;&lt; </a:t>
            </a:r>
            <a:r>
              <a:rPr lang="en-US" altLang="ko-KR" sz="1700" dirty="0" err="1"/>
              <a:t>snum</a:t>
            </a:r>
            <a:r>
              <a:rPr lang="en-US" altLang="ko-KR" sz="1700" dirty="0"/>
              <a:t>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    return 0;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}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void Swap(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x, 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y) { </a:t>
            </a:r>
          </a:p>
          <a:p>
            <a:pPr marL="109728" indent="0">
              <a:buNone/>
              <a:defRPr/>
            </a:pPr>
            <a:r>
              <a:rPr lang="en-US" altLang="ko-KR" sz="1700" dirty="0">
                <a:latin typeface="Arial"/>
              </a:rPr>
              <a:t>   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temp = x; </a:t>
            </a:r>
          </a:p>
          <a:p>
            <a:pPr marL="109728" indent="0">
              <a:buNone/>
              <a:defRPr/>
            </a:pPr>
            <a:r>
              <a:rPr lang="en-US" altLang="ko-KR" sz="1700" dirty="0">
                <a:latin typeface="Arial"/>
              </a:rPr>
              <a:t>    </a:t>
            </a:r>
            <a:r>
              <a:rPr lang="en-US" altLang="ko-KR" sz="1700" dirty="0"/>
              <a:t>x = y; </a:t>
            </a:r>
          </a:p>
          <a:p>
            <a:pPr marL="109728" indent="0">
              <a:buNone/>
              <a:defRPr/>
            </a:pPr>
            <a:r>
              <a:rPr lang="en-US" altLang="ko-KR" sz="1700" dirty="0">
                <a:latin typeface="Arial"/>
              </a:rPr>
              <a:t>   </a:t>
            </a:r>
            <a:r>
              <a:rPr lang="en-US" altLang="ko-KR" sz="1700" dirty="0"/>
              <a:t>y = temp; </a:t>
            </a:r>
          </a:p>
          <a:p>
            <a:pPr marL="109728" indent="0">
              <a:buNone/>
              <a:defRPr/>
            </a:pPr>
            <a:r>
              <a:rPr lang="en-US" altLang="ko-KR" sz="1700" dirty="0"/>
              <a:t> } 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7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078740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주소에 의한 전달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변수의 주소 자체를 전달하는 주소에 의한 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전달 방식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827584" y="2348880"/>
            <a:ext cx="6429375" cy="18573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Swap(&amp;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fnum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, &amp;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snum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);   //&amp;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는 별명이 아니고 주소로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받은거임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…</a:t>
            </a: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void Swap(int *x, int *y) {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변수의 주소가 전달되어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int temp = *x;          // x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와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y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에 각각 저장됨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*x = *y;        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그러므로 변수 자체를 조작가능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*y = temp;</a:t>
            </a:r>
          </a:p>
          <a:p>
            <a:pPr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}</a:t>
            </a:r>
          </a:p>
          <a:p>
            <a:pPr>
              <a:defRPr/>
            </a:pPr>
            <a:endParaRPr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endParaRPr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Void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Swap(int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x, </a:t>
            </a:r>
            <a:r>
              <a:rPr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iny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y){</a:t>
            </a:r>
          </a:p>
          <a:p>
            <a:pPr>
              <a:defRPr/>
            </a:pPr>
            <a:endParaRPr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}swap (&amp;</a:t>
            </a:r>
            <a:r>
              <a:rPr lang="en-US" altLang="ko-KR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x,&amp;y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) // alias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를 나타내는 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&amp;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임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</a:p>
          <a:p>
            <a:pPr>
              <a:defRPr/>
            </a:pPr>
            <a:endParaRPr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688872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주소에 의한 전달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함수의 값 전달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900" dirty="0"/>
              <a:t> #include &lt;</a:t>
            </a:r>
            <a:r>
              <a:rPr lang="en-US" altLang="ko-KR" sz="1900" dirty="0" err="1"/>
              <a:t>iostream</a:t>
            </a:r>
            <a:r>
              <a:rPr lang="en-US" altLang="ko-KR" sz="19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using namespace </a:t>
            </a:r>
            <a:r>
              <a:rPr lang="en-US" altLang="ko-KR" sz="1900" dirty="0" err="1"/>
              <a:t>std</a:t>
            </a:r>
            <a:r>
              <a:rPr lang="en-US" altLang="ko-KR" sz="19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void Swap(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*x, 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*y);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main()</a:t>
            </a:r>
            <a:r>
              <a:rPr lang="en-US" altLang="ko-KR" sz="1900" dirty="0">
                <a:latin typeface="Arial"/>
              </a:rPr>
              <a:t> </a:t>
            </a:r>
            <a:r>
              <a:rPr lang="en-US" altLang="ko-KR" sz="1900" dirty="0"/>
              <a:t>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{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/>
              </a:rPr>
              <a:t>    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</a:t>
            </a:r>
            <a:r>
              <a:rPr lang="en-US" altLang="ko-KR" sz="1900" dirty="0" err="1"/>
              <a:t>fnum</a:t>
            </a:r>
            <a:r>
              <a:rPr lang="en-US" altLang="ko-KR" sz="1900" dirty="0"/>
              <a:t> = 3, </a:t>
            </a:r>
            <a:r>
              <a:rPr lang="en-US" altLang="ko-KR" sz="1900" dirty="0" err="1"/>
              <a:t>snum</a:t>
            </a:r>
            <a:r>
              <a:rPr lang="en-US" altLang="ko-KR" sz="1900" dirty="0"/>
              <a:t> = 5;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/>
              </a:rPr>
              <a:t>    </a:t>
            </a:r>
            <a:r>
              <a:rPr lang="en-US" altLang="ko-KR" sz="1900" dirty="0"/>
              <a:t>Swap(&amp;</a:t>
            </a:r>
            <a:r>
              <a:rPr lang="en-US" altLang="ko-KR" sz="1900" dirty="0" err="1"/>
              <a:t>fnum</a:t>
            </a:r>
            <a:r>
              <a:rPr lang="en-US" altLang="ko-KR" sz="1900" dirty="0"/>
              <a:t>, &amp;</a:t>
            </a:r>
            <a:r>
              <a:rPr lang="en-US" altLang="ko-KR" sz="1900" dirty="0" err="1"/>
              <a:t>snum</a:t>
            </a:r>
            <a:r>
              <a:rPr lang="en-US" altLang="ko-KR" sz="1900" dirty="0"/>
              <a:t>);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 </a:t>
            </a:r>
            <a:r>
              <a:rPr lang="en-US" altLang="ko-KR" sz="1900" dirty="0">
                <a:latin typeface="Arial"/>
              </a:rPr>
              <a:t>   </a:t>
            </a:r>
            <a:r>
              <a:rPr lang="en-US" altLang="ko-KR" sz="1900" dirty="0" err="1"/>
              <a:t>cout</a:t>
            </a:r>
            <a:r>
              <a:rPr lang="en-US" altLang="ko-KR" sz="1900" dirty="0"/>
              <a:t> &lt;&lt; "</a:t>
            </a:r>
            <a:r>
              <a:rPr lang="en-US" altLang="ko-KR" sz="1900" dirty="0" err="1"/>
              <a:t>firstNumber</a:t>
            </a:r>
            <a:r>
              <a:rPr lang="en-US" altLang="ko-KR" sz="1900" dirty="0"/>
              <a:t> = " &lt;&lt; </a:t>
            </a:r>
            <a:r>
              <a:rPr lang="en-US" altLang="ko-KR" sz="1900" dirty="0" err="1"/>
              <a:t>fnum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endl</a:t>
            </a:r>
            <a:r>
              <a:rPr lang="en-US" altLang="ko-KR" sz="19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 </a:t>
            </a:r>
            <a:r>
              <a:rPr lang="en-US" altLang="ko-KR" sz="1900" dirty="0">
                <a:latin typeface="Arial"/>
              </a:rPr>
              <a:t>   </a:t>
            </a:r>
            <a:r>
              <a:rPr lang="en-US" altLang="ko-KR" sz="1900" dirty="0" err="1"/>
              <a:t>cout</a:t>
            </a:r>
            <a:r>
              <a:rPr lang="en-US" altLang="ko-KR" sz="1900" dirty="0"/>
              <a:t> &lt;&lt; "</a:t>
            </a:r>
            <a:r>
              <a:rPr lang="en-US" altLang="ko-KR" sz="1900" dirty="0" err="1"/>
              <a:t>secondNumber</a:t>
            </a:r>
            <a:r>
              <a:rPr lang="en-US" altLang="ko-KR" sz="1900" dirty="0"/>
              <a:t> = " &lt;&lt; </a:t>
            </a:r>
            <a:r>
              <a:rPr lang="en-US" altLang="ko-KR" sz="1900" dirty="0" err="1"/>
              <a:t>snum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endl</a:t>
            </a:r>
            <a:r>
              <a:rPr lang="en-US" altLang="ko-KR" sz="1900" dirty="0"/>
              <a:t>;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   return 0;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}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void Swap(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*x, 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*y) { </a:t>
            </a:r>
          </a:p>
          <a:p>
            <a:pPr marL="109728" indent="0">
              <a:buNone/>
              <a:defRPr/>
            </a:pPr>
            <a:r>
              <a:rPr lang="en-US" altLang="ko-KR" sz="1900" dirty="0">
                <a:latin typeface="Arial"/>
              </a:rPr>
              <a:t>   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temp = *x; </a:t>
            </a:r>
          </a:p>
          <a:p>
            <a:pPr marL="109728" indent="0">
              <a:buNone/>
              <a:defRPr/>
            </a:pPr>
            <a:r>
              <a:rPr lang="en-US" altLang="ko-KR" sz="1900" dirty="0">
                <a:latin typeface="Arial"/>
              </a:rPr>
              <a:t>    </a:t>
            </a:r>
            <a:r>
              <a:rPr lang="en-US" altLang="ko-KR" sz="1900" dirty="0"/>
              <a:t>*x = *y; </a:t>
            </a:r>
          </a:p>
          <a:p>
            <a:pPr marL="109728" indent="0">
              <a:buNone/>
              <a:defRPr/>
            </a:pPr>
            <a:r>
              <a:rPr lang="en-US" altLang="ko-KR" sz="1900" dirty="0">
                <a:latin typeface="Arial"/>
              </a:rPr>
              <a:t>   </a:t>
            </a:r>
            <a:r>
              <a:rPr lang="en-US" altLang="ko-KR" sz="1900" dirty="0"/>
              <a:t>*y = temp; </a:t>
            </a:r>
          </a:p>
          <a:p>
            <a:pPr marL="109728" indent="0">
              <a:buNone/>
              <a:defRPr/>
            </a:pPr>
            <a:r>
              <a:rPr lang="en-US" altLang="ko-KR" sz="1900" dirty="0"/>
              <a:t> } 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7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358591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/>
              <a:t>유사한 연산 함수의 다중화 </a:t>
            </a:r>
            <a:r>
              <a:rPr lang="en-US" altLang="ko-KR" sz="1600" dirty="0"/>
              <a:t>(</a:t>
            </a:r>
            <a:r>
              <a:rPr lang="ko-KR" altLang="en-US" sz="1600" dirty="0"/>
              <a:t>연속적인 합 프로그램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Input_Num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Add(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a);</a:t>
            </a:r>
          </a:p>
          <a:p>
            <a:pPr marL="109728" indent="0" latinLnBrk="0">
              <a:buNone/>
            </a:pPr>
            <a:r>
              <a:rPr lang="en-US" altLang="ko-KR" sz="1600" dirty="0"/>
              <a:t>double Add(double a);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1256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Input_Num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7791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75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Input_Num</a:t>
            </a:r>
            <a:r>
              <a:rPr lang="en-US" altLang="ko-KR" sz="1600" dirty="0"/>
              <a:t>()  // </a:t>
            </a:r>
            <a:r>
              <a:rPr lang="ko-KR" altLang="en-US" sz="1600" dirty="0"/>
              <a:t>첫 번째 값 입력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double num1;</a:t>
            </a:r>
          </a:p>
          <a:p>
            <a:pPr marL="109728" indent="0" latinLnBrk="0">
              <a:buNone/>
            </a:pPr>
            <a:r>
              <a:rPr lang="en-US" altLang="ko-KR" sz="1600" dirty="0"/>
              <a:t>	double </a:t>
            </a:r>
            <a:r>
              <a:rPr lang="en-US" altLang="ko-KR" sz="1600" dirty="0" err="1"/>
              <a:t>rst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nm;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"Input First Number"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num1;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nm =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(num1);  // </a:t>
            </a:r>
            <a:r>
              <a:rPr lang="ko-KR" altLang="en-US" sz="1600" dirty="0"/>
              <a:t>첫 번째 수의 실수</a:t>
            </a:r>
            <a:r>
              <a:rPr lang="en-US" altLang="ko-KR" sz="1600" dirty="0"/>
              <a:t>,</a:t>
            </a:r>
            <a:r>
              <a:rPr lang="ko-KR" altLang="en-US" sz="1600" dirty="0"/>
              <a:t> 정수 판별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rst</a:t>
            </a:r>
            <a:r>
              <a:rPr lang="en-US" altLang="ko-KR" sz="1600" dirty="0"/>
              <a:t> = num1 - nm; // </a:t>
            </a:r>
            <a:r>
              <a:rPr lang="ko-KR" altLang="en-US" sz="1600" dirty="0"/>
              <a:t>소수점 이하 판단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if (</a:t>
            </a:r>
            <a:r>
              <a:rPr lang="en-US" altLang="ko-KR" sz="1600" dirty="0" err="1"/>
              <a:t>rst</a:t>
            </a:r>
            <a:r>
              <a:rPr lang="en-US" altLang="ko-KR" sz="1600" dirty="0"/>
              <a:t> &gt; 0)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num1 = Add(num1);  // </a:t>
            </a:r>
            <a:r>
              <a:rPr lang="ko-KR" altLang="en-US" sz="1600" dirty="0"/>
              <a:t>실수 합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                                   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num1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r>
              <a:rPr lang="en-US" altLang="ko-KR" sz="1600" dirty="0"/>
              <a:t>	else {</a:t>
            </a:r>
          </a:p>
          <a:p>
            <a:pPr marL="109728" indent="0" latinLnBrk="0">
              <a:buNone/>
            </a:pPr>
            <a:r>
              <a:rPr lang="en-US" altLang="ko-KR" sz="1600" dirty="0"/>
              <a:t>		nm = Add(nm); // </a:t>
            </a:r>
            <a:r>
              <a:rPr lang="ko-KR" altLang="en-US" sz="1600" dirty="0"/>
              <a:t>정수 합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                                   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nm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4511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Add(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a)  // </a:t>
            </a:r>
            <a:r>
              <a:rPr lang="ko-KR" altLang="en-US" sz="1600" dirty="0"/>
              <a:t>정수 함수 호출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nm1;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tot;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	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</a:p>
          <a:p>
            <a:pPr marL="109728" indent="0" latinLnBrk="0">
              <a:buNone/>
            </a:pPr>
            <a:r>
              <a:rPr lang="en-US" altLang="ko-KR" sz="1600" dirty="0"/>
              <a:t>	tot = a;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while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!= '=') {  // = </a:t>
            </a:r>
            <a:r>
              <a:rPr lang="ko-KR" altLang="en-US" sz="1600" dirty="0"/>
              <a:t>판별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!= '=') 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nm1;  // </a:t>
            </a:r>
            <a:r>
              <a:rPr lang="ko-KR" altLang="en-US" sz="1600" dirty="0"/>
              <a:t>연속 입력 판별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if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== '+')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tot = tot + nm1;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return tot;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9312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double Add(double a)  // </a:t>
            </a:r>
            <a:r>
              <a:rPr lang="ko-KR" altLang="en-US" sz="1600" dirty="0"/>
              <a:t>실수 함수 호출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double nm1;</a:t>
            </a:r>
          </a:p>
          <a:p>
            <a:pPr marL="109728" indent="0" latinLnBrk="0">
              <a:buNone/>
            </a:pPr>
            <a:r>
              <a:rPr lang="en-US" altLang="ko-KR" sz="1600" dirty="0"/>
              <a:t>	double tot;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tot = a;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while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!= '=')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!= '=') 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nm1;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== '+')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tot = tot + nm1;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return tot;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325237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/>
              <a:t>실습 프로그램 </a:t>
            </a:r>
            <a:r>
              <a:rPr lang="en-US" altLang="ko-KR" sz="1600" dirty="0"/>
              <a:t>1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lvl="1" latinLnBrk="0"/>
            <a:r>
              <a:rPr lang="ko-KR" altLang="en-US" sz="1600" dirty="0"/>
              <a:t>템플릿으로 변경 </a:t>
            </a:r>
            <a:r>
              <a:rPr lang="en-US" altLang="ko-KR" sz="1600" dirty="0"/>
              <a:t>(</a:t>
            </a:r>
            <a:r>
              <a:rPr lang="ko-KR" altLang="en-US" sz="1600" dirty="0"/>
              <a:t>추가 수정 필요</a:t>
            </a:r>
            <a:r>
              <a:rPr lang="en-US" altLang="ko-KR" sz="1600" dirty="0"/>
              <a:t>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761</TotalTime>
  <Words>1853</Words>
  <Application>Microsoft Office PowerPoint</Application>
  <PresentationFormat>화면 슬라이드 쇼(4:3)</PresentationFormat>
  <Paragraphs>396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굴림</vt:lpstr>
      <vt:lpstr>맑은 고딕</vt:lpstr>
      <vt:lpstr>-윤고딕140</vt:lpstr>
      <vt:lpstr>Arial</vt:lpstr>
      <vt:lpstr>Lucida Sans Unicode</vt:lpstr>
      <vt:lpstr>Tahoma</vt:lpstr>
      <vt:lpstr>Verdana</vt:lpstr>
      <vt:lpstr>Wingdings 2</vt:lpstr>
      <vt:lpstr>Wingdings 3</vt:lpstr>
      <vt:lpstr>광장</vt:lpstr>
      <vt:lpstr>함수와 포인터2</vt:lpstr>
      <vt:lpstr>내용</vt:lpstr>
      <vt:lpstr>인수의 초기화</vt:lpstr>
      <vt:lpstr>인수의 초기화</vt:lpstr>
      <vt:lpstr>인수의 초기화</vt:lpstr>
      <vt:lpstr>인수의 초기화</vt:lpstr>
      <vt:lpstr>인수의 초기화</vt:lpstr>
      <vt:lpstr>인수의 초기화</vt:lpstr>
      <vt:lpstr>함수의 다중 정의를 간단하게 해 주는 템플릿</vt:lpstr>
      <vt:lpstr>템플릿</vt:lpstr>
      <vt:lpstr>템플릿</vt:lpstr>
      <vt:lpstr>템플릿</vt:lpstr>
      <vt:lpstr>템플릿</vt:lpstr>
      <vt:lpstr>인라인 함수</vt:lpstr>
      <vt:lpstr>포인터</vt:lpstr>
      <vt:lpstr>포인터</vt:lpstr>
      <vt:lpstr>포인터</vt:lpstr>
      <vt:lpstr>함수의 값 전달</vt:lpstr>
      <vt:lpstr>함수의 값 전달</vt:lpstr>
      <vt:lpstr>주소에 의한 전달</vt:lpstr>
      <vt:lpstr>주소에 의한 전달</vt:lpstr>
      <vt:lpstr>실습 프로그램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85</cp:revision>
  <dcterms:created xsi:type="dcterms:W3CDTF">2015-04-10T01:14:42Z</dcterms:created>
  <dcterms:modified xsi:type="dcterms:W3CDTF">2024-10-08T07:11:59Z</dcterms:modified>
</cp:coreProperties>
</file>