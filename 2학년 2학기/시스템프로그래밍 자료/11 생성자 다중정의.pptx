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91" r:id="rId14"/>
    <p:sldId id="392" r:id="rId15"/>
    <p:sldId id="390" r:id="rId16"/>
    <p:sldId id="388" r:id="rId17"/>
    <p:sldId id="389" r:id="rId18"/>
    <p:sldId id="393" r:id="rId19"/>
    <p:sldId id="394" r:id="rId20"/>
    <p:sldId id="405" r:id="rId21"/>
    <p:sldId id="404" r:id="rId22"/>
    <p:sldId id="406" r:id="rId23"/>
    <p:sldId id="407" r:id="rId24"/>
    <p:sldId id="408" r:id="rId25"/>
    <p:sldId id="377" r:id="rId26"/>
    <p:sldId id="395" r:id="rId27"/>
    <p:sldId id="396" r:id="rId28"/>
    <p:sldId id="397" r:id="rId29"/>
    <p:sldId id="398" r:id="rId30"/>
    <p:sldId id="399" r:id="rId31"/>
    <p:sldId id="400" r:id="rId32"/>
    <p:sldId id="402" r:id="rId33"/>
    <p:sldId id="401" r:id="rId34"/>
    <p:sldId id="403" r:id="rId35"/>
    <p:sldId id="326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클래스 내 다중정의</a:t>
            </a:r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/>
              <a:t>멤버 함수의 다중정의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ko-KR" altLang="en-US" sz="2000" dirty="0"/>
              <a:t>생성자의</a:t>
            </a:r>
            <a:r>
              <a:rPr lang="en-US" altLang="ko-KR" sz="2000" dirty="0"/>
              <a:t> </a:t>
            </a:r>
            <a:r>
              <a:rPr lang="ko-KR" altLang="en-US" sz="2000" dirty="0"/>
              <a:t>다중정의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en-US" altLang="ko-KR" sz="2000" dirty="0"/>
              <a:t>static </a:t>
            </a:r>
            <a:r>
              <a:rPr lang="ko-KR" altLang="en-US" sz="2000" dirty="0"/>
              <a:t>지정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멤버 함수의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/>
              <a:t>클래스 내 멤버 함수의 다중정의 </a:t>
            </a:r>
            <a:r>
              <a:rPr kumimoji="0" lang="en-US" altLang="ko-KR" sz="1800" dirty="0"/>
              <a:t>(overloading)</a:t>
            </a:r>
          </a:p>
          <a:p>
            <a:pPr marL="109728" indent="0" eaLnBrk="1" hangingPunct="1">
              <a:buNone/>
            </a:pPr>
            <a:endParaRPr lang="en-US" altLang="ko-KR" sz="1800" dirty="0"/>
          </a:p>
          <a:p>
            <a:pPr marL="566928" indent="-457200" eaLnBrk="1" hangingPunct="1">
              <a:buFont typeface="+mj-lt"/>
              <a:buAutoNum type="arabicPeriod"/>
            </a:pPr>
            <a:r>
              <a:rPr lang="ko-KR" altLang="en-US" sz="1800" dirty="0">
                <a:solidFill>
                  <a:srgbClr val="FF0000"/>
                </a:solidFill>
              </a:rPr>
              <a:t>함수의 다중정의처럼 동일한 멤버 함수 이름 가능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566928" indent="-457200" eaLnBrk="1" hangingPunct="1">
              <a:buFont typeface="+mj-lt"/>
              <a:buAutoNum type="arabicPeriod"/>
            </a:pPr>
            <a:endParaRPr lang="en-US" altLang="ko-KR" sz="1800" dirty="0"/>
          </a:p>
          <a:p>
            <a:pPr marL="566928" indent="-457200" eaLnBrk="1" hangingPunct="1">
              <a:buFont typeface="+mj-lt"/>
              <a:buAutoNum type="arabicPeriod"/>
            </a:pPr>
            <a:r>
              <a:rPr lang="ko-KR" altLang="en-US" sz="1800" dirty="0"/>
              <a:t>매개변수의 </a:t>
            </a:r>
            <a:r>
              <a:rPr lang="ko-KR" altLang="en-US" sz="1800" dirty="0" err="1"/>
              <a:t>자료형과</a:t>
            </a:r>
            <a:r>
              <a:rPr lang="ko-KR" altLang="en-US" sz="1800" dirty="0"/>
              <a:t> 수의 차이로 구분</a:t>
            </a:r>
            <a:endParaRPr lang="en-US" altLang="ko-KR" sz="1800" dirty="0"/>
          </a:p>
          <a:p>
            <a:pPr eaLnBrk="1" hangingPunct="1"/>
            <a:endParaRPr lang="en-US" altLang="ko-KR" sz="1800" dirty="0"/>
          </a:p>
          <a:p>
            <a:pPr marL="109728" indent="0" eaLnBrk="1" hangingPunct="1">
              <a:buNone/>
            </a:pPr>
            <a:r>
              <a:rPr lang="en-US" altLang="ko-KR" sz="1800" dirty="0"/>
              <a:t>class Car{</a:t>
            </a:r>
          </a:p>
          <a:p>
            <a:pPr marL="109728" indent="0" eaLnBrk="1" hangingPunct="1">
              <a:buNone/>
            </a:pPr>
            <a:r>
              <a:rPr lang="en-US" altLang="ko-KR" sz="1800" dirty="0"/>
              <a:t>…</a:t>
            </a:r>
          </a:p>
          <a:p>
            <a:pPr marL="109728" indent="0" eaLnBrk="1" hangingPunct="1">
              <a:buNone/>
            </a:pPr>
            <a:r>
              <a:rPr lang="en-US" altLang="ko-KR" sz="1800" dirty="0"/>
              <a:t>  void </a:t>
            </a:r>
            <a:r>
              <a:rPr lang="en-US" altLang="ko-KR" sz="1800" dirty="0" err="1"/>
              <a:t>C_Print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price);</a:t>
            </a:r>
          </a:p>
          <a:p>
            <a:pPr marL="109728" indent="0" eaLnBrk="1" hangingPunct="1">
              <a:buNone/>
            </a:pPr>
            <a:r>
              <a:rPr lang="en-US" altLang="ko-KR" sz="1800" dirty="0"/>
              <a:t>  void </a:t>
            </a:r>
            <a:r>
              <a:rPr lang="en-US" altLang="ko-KR" sz="1800" dirty="0" err="1"/>
              <a:t>C_Print</a:t>
            </a:r>
            <a:r>
              <a:rPr lang="en-US" altLang="ko-KR" sz="1800" dirty="0"/>
              <a:t>(double fuel);</a:t>
            </a:r>
          </a:p>
          <a:p>
            <a:pPr marL="109728" indent="0" eaLnBrk="1" hangingPunct="1">
              <a:buNone/>
            </a:pPr>
            <a:r>
              <a:rPr lang="en-US" altLang="ko-KR" sz="1800" dirty="0"/>
              <a:t>  void </a:t>
            </a:r>
            <a:r>
              <a:rPr lang="en-US" altLang="ko-KR" sz="1800" dirty="0" err="1"/>
              <a:t>C_Print</a:t>
            </a:r>
            <a:r>
              <a:rPr lang="en-US" altLang="ko-KR" sz="1800" dirty="0"/>
              <a:t>(string maker);</a:t>
            </a:r>
          </a:p>
          <a:p>
            <a:pPr marL="109728" indent="0" eaLnBrk="1" hangingPunct="1">
              <a:buNone/>
            </a:pPr>
            <a:r>
              <a:rPr lang="en-US" altLang="ko-KR" sz="1800" dirty="0"/>
              <a:t>};</a:t>
            </a:r>
          </a:p>
          <a:p>
            <a:pPr marL="109728" indent="0" eaLnBrk="1" hangingPunct="1">
              <a:buNone/>
            </a:pPr>
            <a:r>
              <a:rPr lang="en-US" altLang="ko-KR" sz="1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9973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멤버 함수의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멤버 함수의 다중정의 </a:t>
            </a:r>
            <a:r>
              <a:rPr lang="ko-KR" altLang="en-US" sz="1800" dirty="0">
                <a:latin typeface="+mn-ea"/>
              </a:rPr>
              <a:t>예</a:t>
            </a:r>
            <a:endParaRPr kumimoji="0"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#include&lt;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#include&lt;string&gt;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class Car 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private: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m_price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double m_zero100;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string </a:t>
            </a:r>
            <a:r>
              <a:rPr lang="en-US" altLang="ko-KR" sz="1800" dirty="0" err="1">
                <a:latin typeface="+mn-ea"/>
              </a:rPr>
              <a:t>m_maker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void </a:t>
            </a:r>
            <a:r>
              <a:rPr lang="en-US" altLang="ko-KR" sz="1800" dirty="0" err="1">
                <a:latin typeface="+mn-ea"/>
              </a:rPr>
              <a:t>C_Print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price); // </a:t>
            </a:r>
            <a:r>
              <a:rPr lang="ko-KR" altLang="en-US" sz="1800" dirty="0">
                <a:latin typeface="+mn-ea"/>
              </a:rPr>
              <a:t>멤버함수 다중정의</a:t>
            </a:r>
          </a:p>
          <a:p>
            <a:pPr marL="109728" indent="0"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void </a:t>
            </a:r>
            <a:r>
              <a:rPr lang="en-US" altLang="ko-KR" sz="1800" dirty="0" err="1">
                <a:latin typeface="+mn-ea"/>
              </a:rPr>
              <a:t>C_Print</a:t>
            </a:r>
            <a:r>
              <a:rPr lang="en-US" altLang="ko-KR" sz="1800" dirty="0">
                <a:latin typeface="+mn-ea"/>
              </a:rPr>
              <a:t>(double zero);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void </a:t>
            </a:r>
            <a:r>
              <a:rPr lang="en-US" altLang="ko-KR" sz="1800" dirty="0" err="1">
                <a:latin typeface="+mn-ea"/>
              </a:rPr>
              <a:t>C_Print</a:t>
            </a:r>
            <a:r>
              <a:rPr lang="en-US" altLang="ko-KR" sz="1800" dirty="0">
                <a:latin typeface="+mn-ea"/>
              </a:rPr>
              <a:t>(string maker);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0517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멤버 함수의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void Car::</a:t>
            </a:r>
            <a:r>
              <a:rPr lang="en-US" altLang="ko-KR" sz="1800" dirty="0" err="1">
                <a:latin typeface="+mn-ea"/>
              </a:rPr>
              <a:t>C_Print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price) //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m_price</a:t>
            </a:r>
            <a:r>
              <a:rPr lang="en-US" altLang="ko-KR" sz="1800" dirty="0">
                <a:latin typeface="+mn-ea"/>
              </a:rPr>
              <a:t> = price;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"Price: " &lt;&lt; </a:t>
            </a:r>
            <a:r>
              <a:rPr lang="en-US" altLang="ko-KR" sz="1800" dirty="0" err="1">
                <a:latin typeface="+mn-ea"/>
              </a:rPr>
              <a:t>m_price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만원</a:t>
            </a:r>
            <a:r>
              <a:rPr lang="en-US" altLang="ko-KR" sz="1800" dirty="0">
                <a:latin typeface="+mn-ea"/>
              </a:rPr>
              <a:t>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void Car::</a:t>
            </a:r>
            <a:r>
              <a:rPr lang="en-US" altLang="ko-KR" sz="1800" dirty="0" err="1">
                <a:latin typeface="+mn-ea"/>
              </a:rPr>
              <a:t>C_Print</a:t>
            </a:r>
            <a:r>
              <a:rPr lang="en-US" altLang="ko-KR" sz="1800" dirty="0">
                <a:latin typeface="+mn-ea"/>
              </a:rPr>
              <a:t>(double zero) //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m_zero100 = zero;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"Zero 100: " &lt;&lt; m_zero100 &lt;&lt; "sec"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046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멤버 함수의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void Car::</a:t>
            </a:r>
            <a:r>
              <a:rPr lang="en-US" altLang="ko-KR" sz="1800" dirty="0" err="1">
                <a:latin typeface="+mn-ea"/>
              </a:rPr>
              <a:t>C_Print</a:t>
            </a:r>
            <a:r>
              <a:rPr lang="en-US" altLang="ko-KR" sz="1800" dirty="0">
                <a:latin typeface="+mn-ea"/>
              </a:rPr>
              <a:t>(string maker) //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m_maker</a:t>
            </a:r>
            <a:r>
              <a:rPr lang="en-US" altLang="ko-KR" sz="1800" dirty="0">
                <a:latin typeface="+mn-ea"/>
              </a:rPr>
              <a:t> = maker;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"Maker: " &lt;&lt; </a:t>
            </a:r>
            <a:r>
              <a:rPr lang="en-US" altLang="ko-KR" sz="1800" dirty="0" err="1">
                <a:latin typeface="+mn-ea"/>
              </a:rPr>
              <a:t>m_maker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Car nm;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nm.C_Print</a:t>
            </a:r>
            <a:r>
              <a:rPr lang="en-US" altLang="ko-KR" sz="1800" dirty="0">
                <a:latin typeface="+mn-ea"/>
              </a:rPr>
              <a:t>(2000);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nm.C_Print</a:t>
            </a:r>
            <a:r>
              <a:rPr lang="en-US" altLang="ko-KR" sz="1800" dirty="0">
                <a:latin typeface="+mn-ea"/>
              </a:rPr>
              <a:t>(3.5);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nm.C_Print</a:t>
            </a:r>
            <a:r>
              <a:rPr lang="en-US" altLang="ko-KR" sz="1800" dirty="0">
                <a:latin typeface="+mn-ea"/>
              </a:rPr>
              <a:t>(“Hyun");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return 0;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049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생성자의 다중정의</a:t>
            </a:r>
            <a:endParaRPr lang="en-US" altLang="ko-KR" sz="1800" dirty="0">
              <a:latin typeface="+mn-ea"/>
            </a:endParaRPr>
          </a:p>
          <a:p>
            <a:endParaRPr lang="en-US" altLang="ko-KR" sz="1800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클래스 내에 다중정의를 통하여 여러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</a:rPr>
              <a:t>생성자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 가능</a:t>
            </a:r>
            <a:endParaRPr lang="en-US" altLang="ko-KR" sz="1800" dirty="0">
              <a:solidFill>
                <a:srgbClr val="FF0000"/>
              </a:solidFill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생성자와</a:t>
            </a:r>
            <a:r>
              <a:rPr lang="ko-KR" altLang="en-US" sz="1800" dirty="0">
                <a:latin typeface="+mn-ea"/>
              </a:rPr>
              <a:t> 다중정의 된 </a:t>
            </a:r>
            <a:r>
              <a:rPr lang="ko-KR" altLang="en-US" sz="1800" dirty="0" err="1">
                <a:latin typeface="+mn-ea"/>
              </a:rPr>
              <a:t>생성자로</a:t>
            </a:r>
            <a:r>
              <a:rPr lang="ko-KR" altLang="en-US" sz="1800" dirty="0">
                <a:latin typeface="+mn-ea"/>
              </a:rPr>
              <a:t> 구분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693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생성자의 다중정의 필요성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1. </a:t>
            </a:r>
            <a:r>
              <a:rPr lang="ko-KR" altLang="en-US" sz="1800" dirty="0">
                <a:latin typeface="+mn-ea"/>
                <a:cs typeface="-윤고딕140"/>
              </a:rPr>
              <a:t>객체를 생성할 때 다양한 형식이 필요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en-US" altLang="ko-KR" sz="1800" dirty="0">
                <a:latin typeface="+mn-ea"/>
              </a:rPr>
              <a:t>;               // </a:t>
            </a:r>
            <a:r>
              <a:rPr lang="ko-KR" altLang="en-US" sz="1800" dirty="0">
                <a:latin typeface="+mn-ea"/>
              </a:rPr>
              <a:t>아무런 정보 없이 생성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en-US" altLang="ko-KR" sz="1800" dirty="0">
                <a:latin typeface="+mn-ea"/>
              </a:rPr>
              <a:t>(2345, 7);    // </a:t>
            </a:r>
            <a:r>
              <a:rPr lang="ko-KR" altLang="en-US" sz="1800" dirty="0">
                <a:latin typeface="+mn-ea"/>
              </a:rPr>
              <a:t>차량 번호와 연료량 정보로 생성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Car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</a:rPr>
              <a:t>myCar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{2000, 15}; </a:t>
            </a:r>
            <a:r>
              <a:rPr lang="en-US" altLang="ko-KR" sz="1800" dirty="0">
                <a:latin typeface="+mn-ea"/>
              </a:rPr>
              <a:t>  // </a:t>
            </a:r>
            <a:r>
              <a:rPr lang="ko-KR" altLang="en-US" sz="1800" dirty="0">
                <a:latin typeface="+mn-ea"/>
              </a:rPr>
              <a:t>다른 다중정의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호출 방식</a:t>
            </a:r>
            <a:r>
              <a:rPr lang="en-US" altLang="ko-KR" sz="1800" dirty="0">
                <a:latin typeface="+mn-ea"/>
              </a:rPr>
              <a:t>.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 ) </a:t>
            </a:r>
            <a:r>
              <a:rPr lang="ko-KR" altLang="en-US" sz="1800" dirty="0">
                <a:latin typeface="+mn-ea"/>
              </a:rPr>
              <a:t>대신 </a:t>
            </a:r>
            <a:r>
              <a:rPr lang="en-US" altLang="ko-KR" sz="1800" dirty="0">
                <a:latin typeface="+mn-ea"/>
              </a:rPr>
              <a:t>{ 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// </a:t>
            </a:r>
            <a:r>
              <a:rPr lang="ko-KR" altLang="en-US" sz="1800" dirty="0">
                <a:latin typeface="+mn-ea"/>
              </a:rPr>
              <a:t>혹은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Car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</a:rPr>
              <a:t>myCar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 = {1000, 20};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또 다른 호출 방식</a:t>
            </a: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2. </a:t>
            </a:r>
            <a:r>
              <a:rPr lang="ko-KR" altLang="en-US" sz="1800" dirty="0">
                <a:latin typeface="+mn-ea"/>
                <a:cs typeface="-윤고딕140"/>
              </a:rPr>
              <a:t>객체 생성에 유연성을 주기 위해서 </a:t>
            </a:r>
            <a:r>
              <a:rPr lang="ko-KR" altLang="en-US" sz="1800" dirty="0" err="1">
                <a:latin typeface="+mn-ea"/>
                <a:cs typeface="-윤고딕140"/>
              </a:rPr>
              <a:t>생성자를</a:t>
            </a:r>
            <a:r>
              <a:rPr lang="ko-KR" altLang="en-US" sz="1800" dirty="0">
                <a:latin typeface="+mn-ea"/>
                <a:cs typeface="-윤고딕140"/>
              </a:rPr>
              <a:t> 다중 정의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  <a:cs typeface="-윤고딕140"/>
              </a:rPr>
              <a:t>Car() { … }                 =&gt; </a:t>
            </a:r>
            <a:r>
              <a:rPr lang="ko-KR" altLang="en-US" sz="1800" dirty="0">
                <a:latin typeface="+mn-ea"/>
                <a:cs typeface="-윤고딕140"/>
              </a:rPr>
              <a:t>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Car(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int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n,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  <a:cs typeface="-윤고딕140"/>
              </a:rPr>
              <a:t>int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f) { … } </a:t>
            </a:r>
            <a:r>
              <a:rPr lang="en-US" altLang="ko-KR" sz="1800" dirty="0">
                <a:latin typeface="+mn-ea"/>
                <a:cs typeface="-윤고딕140"/>
              </a:rPr>
              <a:t>   =&gt; </a:t>
            </a:r>
            <a:r>
              <a:rPr lang="ko-KR" altLang="en-US" sz="1800" dirty="0">
                <a:latin typeface="+mn-ea"/>
                <a:cs typeface="-윤고딕140"/>
              </a:rPr>
              <a:t>다중정의 된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00236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인수가 없이 정의된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Car{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…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  Car() {…}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프로그래머가 </a:t>
            </a:r>
            <a:r>
              <a:rPr lang="ko-KR" altLang="en-US" sz="1800" dirty="0" err="1">
                <a:latin typeface="+mn-ea"/>
                <a:cs typeface="-윤고딕140"/>
              </a:rPr>
              <a:t>생성자를</a:t>
            </a:r>
            <a:r>
              <a:rPr lang="ko-KR" altLang="en-US" sz="1800" dirty="0">
                <a:latin typeface="+mn-ea"/>
                <a:cs typeface="-윤고딕140"/>
              </a:rPr>
              <a:t> 정의해 두지 않으면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   -&gt; </a:t>
            </a:r>
            <a:r>
              <a:rPr lang="ko-KR" altLang="en-US" sz="1800" dirty="0">
                <a:latin typeface="+mn-ea"/>
                <a:cs typeface="-윤고딕140"/>
              </a:rPr>
              <a:t>컴파일러가 기본 </a:t>
            </a:r>
            <a:r>
              <a:rPr lang="ko-KR" altLang="en-US" sz="1800" dirty="0" err="1">
                <a:latin typeface="+mn-ea"/>
                <a:cs typeface="-윤고딕140"/>
              </a:rPr>
              <a:t>생성자를</a:t>
            </a:r>
            <a:r>
              <a:rPr lang="ko-KR" altLang="en-US" sz="1800" dirty="0">
                <a:latin typeface="+mn-ea"/>
                <a:cs typeface="-윤고딕140"/>
              </a:rPr>
              <a:t> 자동 정의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dirty="0">
                <a:solidFill>
                  <a:srgbClr val="FF0000"/>
                </a:solidFill>
                <a:latin typeface="+mn-ea"/>
                <a:cs typeface="-윤고딕140"/>
              </a:rPr>
              <a:t>   * 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cs typeface="-윤고딕140"/>
              </a:rPr>
              <a:t>이 때 정의된 기본 </a:t>
            </a:r>
            <a:r>
              <a:rPr lang="ko-KR" altLang="en-US" sz="1600" dirty="0" err="1">
                <a:solidFill>
                  <a:srgbClr val="FF0000"/>
                </a:solidFill>
                <a:latin typeface="+mn-ea"/>
                <a:cs typeface="-윤고딕140"/>
              </a:rPr>
              <a:t>생성자는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cs typeface="-윤고딕140"/>
              </a:rPr>
              <a:t> 어떤 처리도 하지 않음</a:t>
            </a:r>
            <a:endParaRPr lang="en-US" altLang="ko-KR" sz="16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프로그래머가 어떤 </a:t>
            </a:r>
            <a:r>
              <a:rPr lang="ko-KR" altLang="en-US" sz="1800" dirty="0" err="1">
                <a:latin typeface="+mn-ea"/>
                <a:cs typeface="-윤고딕140"/>
              </a:rPr>
              <a:t>생성자든지</a:t>
            </a:r>
            <a:r>
              <a:rPr lang="ko-KR" altLang="en-US" sz="1800" dirty="0">
                <a:latin typeface="+mn-ea"/>
                <a:cs typeface="-윤고딕140"/>
              </a:rPr>
              <a:t> 정의해 두면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   -&gt; </a:t>
            </a:r>
            <a:r>
              <a:rPr lang="ko-KR" altLang="en-US" sz="1800" dirty="0">
                <a:latin typeface="+mn-ea"/>
                <a:cs typeface="-윤고딕140"/>
              </a:rPr>
              <a:t>기본 생성자가 자동 정의되지 않음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400" dirty="0">
                <a:solidFill>
                  <a:srgbClr val="FF0000"/>
                </a:solidFill>
                <a:latin typeface="+mn-ea"/>
                <a:cs typeface="-윤고딕140"/>
              </a:rPr>
              <a:t>  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cs typeface="-윤고딕140"/>
              </a:rPr>
              <a:t>*‘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cs typeface="-윤고딕140"/>
              </a:rPr>
              <a:t>어떤 </a:t>
            </a:r>
            <a:r>
              <a:rPr lang="ko-KR" altLang="en-US" sz="1600" dirty="0" err="1">
                <a:solidFill>
                  <a:srgbClr val="FF0000"/>
                </a:solidFill>
                <a:latin typeface="+mn-ea"/>
                <a:cs typeface="-윤고딕140"/>
              </a:rPr>
              <a:t>생성자</a:t>
            </a:r>
            <a:r>
              <a:rPr lang="en-US" altLang="ko-KR" sz="1600" dirty="0">
                <a:solidFill>
                  <a:srgbClr val="FF0000"/>
                </a:solidFill>
                <a:latin typeface="+mn-ea"/>
                <a:cs typeface="-윤고딕140"/>
              </a:rPr>
              <a:t>’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cs typeface="-윤고딕140"/>
              </a:rPr>
              <a:t>라는 말에는 기본 </a:t>
            </a:r>
            <a:r>
              <a:rPr lang="ko-KR" altLang="en-US" sz="1600" dirty="0" err="1">
                <a:solidFill>
                  <a:srgbClr val="FF0000"/>
                </a:solidFill>
                <a:latin typeface="+mn-ea"/>
                <a:cs typeface="-윤고딕140"/>
              </a:rPr>
              <a:t>생성자도</a:t>
            </a:r>
            <a:r>
              <a:rPr lang="ko-KR" altLang="en-US" sz="1600" dirty="0">
                <a:solidFill>
                  <a:srgbClr val="FF0000"/>
                </a:solidFill>
                <a:latin typeface="+mn-ea"/>
                <a:cs typeface="-윤고딕140"/>
              </a:rPr>
              <a:t> 포함</a:t>
            </a:r>
            <a:endParaRPr lang="en-US" altLang="ko-KR" sz="16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485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다중정의 </a:t>
            </a:r>
            <a:r>
              <a:rPr lang="ko-KR" altLang="en-US" sz="1800" dirty="0" err="1">
                <a:latin typeface="+mn-ea"/>
              </a:rPr>
              <a:t>생성자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없이 다중정의 생성자만을 정의한 경우</a:t>
            </a:r>
            <a:r>
              <a:rPr lang="en-US" altLang="ko-KR" sz="1800" dirty="0">
                <a:latin typeface="+mn-ea"/>
                <a:cs typeface="-윤고딕140"/>
              </a:rPr>
              <a:t>, </a:t>
            </a:r>
            <a:r>
              <a:rPr lang="ko-KR" altLang="en-US" sz="1800" dirty="0">
                <a:latin typeface="+mn-ea"/>
                <a:cs typeface="-윤고딕140"/>
              </a:rPr>
              <a:t>기본 객체 형태로 변수를 선언할 수 없다</a:t>
            </a:r>
            <a:r>
              <a:rPr lang="en-US" altLang="ko-KR" sz="1800" dirty="0">
                <a:latin typeface="+mn-ea"/>
                <a:cs typeface="-윤고딕140"/>
              </a:rPr>
              <a:t>.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class Car 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  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};</a:t>
            </a:r>
            <a:endParaRPr lang="ko-KR" altLang="en-US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객체 선언에 제약을 받게 된다</a:t>
            </a:r>
            <a:r>
              <a:rPr lang="en-US" altLang="ko-KR" sz="1800" dirty="0">
                <a:latin typeface="+mn-ea"/>
                <a:cs typeface="-윤고딕140"/>
              </a:rPr>
              <a:t>.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en-US" altLang="ko-KR" sz="1800" dirty="0">
                <a:latin typeface="+mn-ea"/>
              </a:rPr>
              <a:t>; // </a:t>
            </a:r>
            <a:r>
              <a:rPr lang="ko-KR" altLang="en-US" sz="1800" dirty="0">
                <a:latin typeface="+mn-ea"/>
              </a:rPr>
              <a:t>기본 생성자가 없기 때문에 이 꼴로 선언할 수 없음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en-US" altLang="ko-KR" sz="1800" dirty="0">
                <a:latin typeface="+mn-ea"/>
              </a:rPr>
              <a:t>(1024, 30); // </a:t>
            </a:r>
            <a:r>
              <a:rPr lang="ko-KR" altLang="en-US" sz="1800" dirty="0">
                <a:latin typeface="+mn-ea"/>
              </a:rPr>
              <a:t>정의된 </a:t>
            </a:r>
            <a:r>
              <a:rPr lang="ko-KR" altLang="en-US" sz="1800" dirty="0" err="1">
                <a:latin typeface="+mn-ea"/>
              </a:rPr>
              <a:t>생성자에</a:t>
            </a:r>
            <a:r>
              <a:rPr lang="ko-KR" altLang="en-US" sz="1800" dirty="0">
                <a:latin typeface="+mn-ea"/>
              </a:rPr>
              <a:t> 맞는 꼴로만 생성 가능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12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두 가지 꼴을 다 이용하려면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정의 필요</a:t>
            </a:r>
            <a:endParaRPr lang="en-US" altLang="ko-KR" sz="1800" dirty="0">
              <a:latin typeface="+mn-ea"/>
              <a:cs typeface="-윤고딕140"/>
            </a:endParaRPr>
          </a:p>
          <a:p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class Car 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Car();              // </a:t>
            </a:r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생성자를</a:t>
            </a:r>
            <a:r>
              <a:rPr lang="ko-KR" altLang="en-US" sz="1800" dirty="0">
                <a:latin typeface="+mn-ea"/>
              </a:rPr>
              <a:t> 선언하였다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f);   // </a:t>
            </a:r>
            <a:r>
              <a:rPr lang="ko-KR" altLang="en-US" sz="1800" dirty="0">
                <a:latin typeface="+mn-ea"/>
              </a:rPr>
              <a:t>또 다른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선언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Car::Car() {  // </a:t>
            </a:r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정의</a:t>
            </a:r>
            <a:r>
              <a:rPr lang="en-US" altLang="ko-KR" sz="1800" dirty="0">
                <a:latin typeface="+mn-ea"/>
              </a:rPr>
              <a:t>, {}</a:t>
            </a:r>
            <a:r>
              <a:rPr lang="ko-KR" altLang="en-US" sz="1800" dirty="0">
                <a:latin typeface="+mn-ea"/>
              </a:rPr>
              <a:t>안은 비워두면 됨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 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Car::Car(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 {//</a:t>
            </a:r>
            <a:r>
              <a:rPr lang="ko-KR" altLang="en-US" sz="1800" dirty="0">
                <a:latin typeface="+mn-ea"/>
              </a:rPr>
              <a:t>또 다른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정의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4293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1800" dirty="0">
                <a:latin typeface="+mn-ea"/>
              </a:rPr>
              <a:t>생성자의 다중정의 예</a:t>
            </a:r>
            <a:r>
              <a:rPr lang="en-US" altLang="ko-KR" sz="1800" dirty="0">
                <a:latin typeface="+mn-ea"/>
              </a:rPr>
              <a:t>1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#include&lt;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#include&lt;string&gt;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class CLA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private: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over1;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double over2;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string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CLA();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over1, string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CLA(double over2, string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662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CLA::CLA()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생성자입니다</a:t>
            </a:r>
            <a:r>
              <a:rPr lang="en-US" altLang="ko-KR" sz="1800" dirty="0">
                <a:latin typeface="+mn-ea"/>
              </a:rPr>
              <a:t>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CLA::CLA(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over1, string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over1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CLA::CLA(double over2, string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)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over2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str</a:t>
            </a:r>
            <a:r>
              <a:rPr lang="en-US" altLang="ko-KR" sz="1800" dirty="0">
                <a:latin typeface="+mn-ea"/>
              </a:rPr>
              <a:t>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6216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 nm1;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 nm2(100, "</a:t>
            </a:r>
            <a:r>
              <a:rPr lang="ko-KR" altLang="en-US" sz="1800" dirty="0">
                <a:latin typeface="+mn-ea"/>
              </a:rPr>
              <a:t>다중정의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en-US" altLang="ko-KR" sz="1800" dirty="0">
                <a:latin typeface="+mn-ea"/>
              </a:rPr>
              <a:t>1");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 nm3{ 3.14159, "</a:t>
            </a:r>
            <a:r>
              <a:rPr lang="ko-KR" altLang="en-US" sz="1800" dirty="0">
                <a:latin typeface="+mn-ea"/>
              </a:rPr>
              <a:t>다중정의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en-US" altLang="ko-KR" sz="1800" dirty="0">
                <a:latin typeface="+mn-ea"/>
              </a:rPr>
              <a:t>2" };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244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1800" dirty="0">
                <a:latin typeface="+mn-ea"/>
              </a:rPr>
              <a:t>생성자의 다중정의 예</a:t>
            </a:r>
            <a:r>
              <a:rPr lang="en-US" altLang="ko-KR" sz="1800" dirty="0">
                <a:latin typeface="+mn-ea"/>
              </a:rPr>
              <a:t>2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class Car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private: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number;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fuel;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public: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 Car();              // </a:t>
            </a:r>
            <a:r>
              <a:rPr lang="ko-KR" altLang="en-US" sz="1800" dirty="0">
                <a:latin typeface="+mn-ea"/>
              </a:rPr>
              <a:t>인수가 없는 생성자의 원형을 선언합니다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 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f);    // </a:t>
            </a:r>
            <a:r>
              <a:rPr lang="ko-KR" altLang="en-US" sz="1800" dirty="0">
                <a:latin typeface="+mn-ea"/>
              </a:rPr>
              <a:t>인수가 있는 생성자의 원형을 선언합니다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 void </a:t>
            </a:r>
            <a:r>
              <a:rPr lang="en-US" altLang="ko-KR" sz="1800" dirty="0" err="1">
                <a:latin typeface="+mn-ea"/>
              </a:rPr>
              <a:t>displayNumber</a:t>
            </a:r>
            <a:r>
              <a:rPr lang="en-US" altLang="ko-KR" sz="1800" dirty="0">
                <a:latin typeface="+mn-ea"/>
              </a:rPr>
              <a:t>(void)   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: " &lt;&lt; 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   void </a:t>
            </a:r>
            <a:r>
              <a:rPr lang="en-US" altLang="ko-KR" sz="1800" dirty="0" err="1">
                <a:latin typeface="+mn-ea"/>
              </a:rPr>
              <a:t>displayFuel</a:t>
            </a:r>
            <a:r>
              <a:rPr lang="en-US" altLang="ko-KR" sz="1800" dirty="0">
                <a:latin typeface="+mn-ea"/>
              </a:rPr>
              <a:t>(void)  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남은 연료 </a:t>
            </a:r>
            <a:r>
              <a:rPr lang="en-US" altLang="ko-KR" sz="1800" dirty="0">
                <a:latin typeface="+mn-ea"/>
              </a:rPr>
              <a:t>: " &lt;&lt; fuel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    void </a:t>
            </a:r>
            <a:r>
              <a:rPr lang="en-US" altLang="ko-KR" sz="1800" dirty="0" err="1">
                <a:latin typeface="+mn-ea"/>
              </a:rPr>
              <a:t>setNumber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n)  {number = n;}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    void </a:t>
            </a:r>
            <a:r>
              <a:rPr lang="en-US" altLang="ko-KR" sz="1800" dirty="0" err="1">
                <a:latin typeface="+mn-ea"/>
              </a:rPr>
              <a:t>setFuel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  {fuel = f;}    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}; 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9822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Car::Car() {    </a:t>
            </a:r>
            <a:r>
              <a:rPr lang="en-US" altLang="ko-KR" sz="1600" dirty="0">
                <a:latin typeface="+mn-ea"/>
              </a:rPr>
              <a:t>// </a:t>
            </a:r>
            <a:r>
              <a:rPr lang="ko-KR" altLang="en-US" sz="1600" dirty="0" err="1">
                <a:latin typeface="+mn-ea"/>
              </a:rPr>
              <a:t>생성자</a:t>
            </a:r>
            <a:r>
              <a:rPr lang="ko-KR" altLang="en-US" sz="1600" dirty="0">
                <a:latin typeface="+mn-ea"/>
              </a:rPr>
              <a:t> 함수항목인 </a:t>
            </a:r>
            <a:r>
              <a:rPr lang="en-US" altLang="ko-KR" sz="1600" dirty="0">
                <a:latin typeface="+mn-ea"/>
              </a:rPr>
              <a:t>Car()</a:t>
            </a:r>
            <a:r>
              <a:rPr lang="ko-KR" altLang="en-US" sz="1600" dirty="0">
                <a:latin typeface="+mn-ea"/>
              </a:rPr>
              <a:t>를 인수가 없는 형태로 정의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number = 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fuel = 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}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Car::Car(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 {  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    number = n;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    fuel = f;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 //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함수항목인 </a:t>
            </a:r>
            <a:r>
              <a:rPr lang="en-US" altLang="ko-KR" sz="1800" dirty="0">
                <a:latin typeface="+mn-ea"/>
              </a:rPr>
              <a:t>Car()</a:t>
            </a:r>
            <a:r>
              <a:rPr lang="ko-KR" altLang="en-US" sz="1800" dirty="0">
                <a:latin typeface="+mn-ea"/>
              </a:rPr>
              <a:t>를 인수를 받는 형태로 다중 정의합니다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7244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 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ko-KR" altLang="en-US" sz="1800" dirty="0">
                <a:latin typeface="+mn-ea"/>
              </a:rPr>
              <a:t>를 생산하고 바로 등록합니다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Car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en-US" altLang="ko-KR" sz="1800" dirty="0">
                <a:latin typeface="+mn-ea"/>
              </a:rPr>
              <a:t>(1234, 7);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myCar.displayNumber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 </a:t>
            </a:r>
            <a:r>
              <a:rPr lang="en-US" altLang="ko-KR" sz="1800" dirty="0" err="1">
                <a:latin typeface="+mn-ea"/>
              </a:rPr>
              <a:t>myCar.displayFuel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en-US" altLang="ko-KR" sz="1800" dirty="0" err="1">
                <a:latin typeface="+mn-ea"/>
              </a:rPr>
              <a:t>yourCar</a:t>
            </a:r>
            <a:r>
              <a:rPr lang="ko-KR" altLang="en-US" sz="1800" dirty="0">
                <a:latin typeface="+mn-ea"/>
              </a:rPr>
              <a:t>를 생산하고 등록하지 않습니다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 Car </a:t>
            </a:r>
            <a:r>
              <a:rPr lang="en-US" altLang="ko-KR" sz="1800" dirty="0" err="1">
                <a:latin typeface="+mn-ea"/>
              </a:rPr>
              <a:t>yourCar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 </a:t>
            </a:r>
            <a:r>
              <a:rPr lang="en-US" altLang="ko-KR" sz="1800" dirty="0" err="1">
                <a:latin typeface="+mn-ea"/>
              </a:rPr>
              <a:t>yourCar.displayNumber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yourCar.displayFuel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129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생성자의 초기화 리스트</a:t>
            </a: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ko-KR" altLang="en-US" sz="1800" dirty="0">
                <a:latin typeface="+mn-ea"/>
                <a:cs typeface="-윤고딕140"/>
              </a:rPr>
              <a:t>초기화 구문을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몸체</a:t>
            </a:r>
            <a:r>
              <a:rPr lang="en-US" altLang="ko-KR" sz="1800" dirty="0">
                <a:latin typeface="+mn-ea"/>
                <a:cs typeface="-윤고딕140"/>
              </a:rPr>
              <a:t>(body)</a:t>
            </a:r>
            <a:r>
              <a:rPr lang="ko-KR" altLang="en-US" sz="1800" dirty="0">
                <a:latin typeface="+mn-ea"/>
                <a:cs typeface="-윤고딕140"/>
              </a:rPr>
              <a:t>에 포함하는 방법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r>
              <a:rPr lang="ko-KR" altLang="en-US" sz="1800" dirty="0">
                <a:latin typeface="+mn-ea"/>
                <a:cs typeface="-윤고딕140"/>
              </a:rPr>
              <a:t>객체 생성에 유연성을 주기 위해서 </a:t>
            </a:r>
            <a:r>
              <a:rPr lang="ko-KR" altLang="en-US" sz="1800" dirty="0" err="1">
                <a:latin typeface="+mn-ea"/>
                <a:cs typeface="-윤고딕140"/>
              </a:rPr>
              <a:t>생성자를</a:t>
            </a:r>
            <a:r>
              <a:rPr lang="ko-KR" altLang="en-US" sz="1800" dirty="0">
                <a:latin typeface="+mn-ea"/>
                <a:cs typeface="-윤고딕140"/>
              </a:rPr>
              <a:t> 다중 정의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755576" y="2672746"/>
            <a:ext cx="6429375" cy="10715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Car::Car(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n, 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f) {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number = n;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fuel = f;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}</a:t>
            </a:r>
            <a:endParaRPr kumimoji="0" lang="ko-KR" altLang="en-US" sz="16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5" y="4507102"/>
            <a:ext cx="6429375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Car::Car(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n, 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f) : number(n), fuel(f){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600" dirty="0">
              <a:solidFill>
                <a:srgbClr val="FF0000"/>
              </a:solidFill>
              <a:latin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}</a:t>
            </a:r>
            <a:endParaRPr kumimoji="0" lang="ko-KR" altLang="en-US" sz="16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9893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생성자의 다중정의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n-ea"/>
              </a:rPr>
              <a:t>생성자의 초기화 리스트</a:t>
            </a: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초기화 구문을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몸체</a:t>
            </a:r>
            <a:r>
              <a:rPr lang="en-US" altLang="ko-KR" sz="1800" dirty="0">
                <a:latin typeface="+mn-ea"/>
                <a:cs typeface="-윤고딕140"/>
              </a:rPr>
              <a:t>(body)</a:t>
            </a:r>
            <a:r>
              <a:rPr lang="ko-KR" altLang="en-US" sz="1800" dirty="0">
                <a:latin typeface="+mn-ea"/>
                <a:cs typeface="-윤고딕140"/>
              </a:rPr>
              <a:t>에 포함하는 방법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5576" y="2564904"/>
            <a:ext cx="6429375" cy="20716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Car::Car(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n, 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f) : </a:t>
            </a:r>
            <a:r>
              <a:rPr kumimoji="0" lang="en-US" altLang="ko-KR" sz="1600" b="1" u="sng" dirty="0">
                <a:solidFill>
                  <a:srgbClr val="FF0000"/>
                </a:solidFill>
                <a:latin typeface="+mn-ea"/>
              </a:rPr>
              <a:t>number(n), fuel(f){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// </a:t>
            </a:r>
            <a:r>
              <a:rPr kumimoji="0" lang="ko-KR" altLang="en-US" sz="1600" dirty="0">
                <a:solidFill>
                  <a:srgbClr val="FF0000"/>
                </a:solidFill>
                <a:latin typeface="+mn-ea"/>
              </a:rPr>
              <a:t>초기화 섹션을 사용할 경우</a:t>
            </a:r>
            <a:endParaRPr kumimoji="0" lang="en-US" altLang="ko-KR" sz="1600" dirty="0">
              <a:solidFill>
                <a:srgbClr val="FF0000"/>
              </a:solidFill>
              <a:latin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// </a:t>
            </a:r>
            <a:r>
              <a:rPr kumimoji="0" lang="ko-KR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몸체 안에는 </a:t>
            </a:r>
            <a:r>
              <a:rPr kumimoji="0" lang="ko-KR" altLang="en-US" sz="16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변수값을</a:t>
            </a:r>
            <a:r>
              <a:rPr kumimoji="0" lang="ko-KR" altLang="en-US" sz="16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검증하는 코드를 넣는 것이 관례</a:t>
            </a:r>
            <a:endParaRPr kumimoji="0" lang="en-US" altLang="ko-KR" sz="1600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 if(number &lt; 0) 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ll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(number &gt; 9999)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           return ERROR_NUMBER;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 if(fuel &lt; 0) </a:t>
            </a:r>
            <a:r>
              <a:rPr kumimoji="0" lang="en-US" altLang="ko-KR" sz="1600" dirty="0" err="1">
                <a:solidFill>
                  <a:srgbClr val="FF0000"/>
                </a:solidFill>
                <a:latin typeface="+mn-ea"/>
              </a:rPr>
              <a:t>ll</a:t>
            </a: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(fuel &gt; 70)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               return ERROR_FUEL;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+mn-ea"/>
              </a:rPr>
              <a:t>}</a:t>
            </a:r>
            <a:endParaRPr kumimoji="0" lang="ko-KR" altLang="en-US" sz="16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7185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static </a:t>
            </a:r>
            <a:r>
              <a:rPr lang="ko-KR" altLang="en-US" sz="2800" dirty="0"/>
              <a:t>지정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5325"/>
            <a:ext cx="8229600" cy="45259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ko-KR" sz="1800" dirty="0">
                <a:latin typeface="+mn-ea"/>
              </a:rPr>
              <a:t>static</a:t>
            </a:r>
            <a:r>
              <a:rPr lang="ko-KR" altLang="en-US" sz="1800" dirty="0">
                <a:latin typeface="+mn-ea"/>
              </a:rPr>
              <a:t> 멤버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>
              <a:spcBef>
                <a:spcPct val="0"/>
              </a:spcBef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멤버 변수 혹은 함수를 </a:t>
            </a: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지정</a:t>
            </a: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en-US" altLang="ko-KR" sz="1800" dirty="0">
                <a:latin typeface="+mn-ea"/>
              </a:rPr>
              <a:t>private, public, protected </a:t>
            </a:r>
            <a:r>
              <a:rPr lang="ko-KR" altLang="en-US" sz="1800" dirty="0">
                <a:latin typeface="+mn-ea"/>
              </a:rPr>
              <a:t>영역에서 지정 가능</a:t>
            </a: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static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멤버 변수는 반드시 외부에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“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전역 변수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”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로 선언해주어야 함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클래스 멤버로 프로그램 실시 전체에 생존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객체가 소멸이 되도 남는다</a:t>
            </a:r>
            <a:r>
              <a:rPr lang="en-US" altLang="ko-KR" sz="1800" dirty="0">
                <a:latin typeface="+mn-ea"/>
              </a:rPr>
              <a:t>.)</a:t>
            </a: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클래스 멤버이므로 모든 객체 변수에 공유가 됨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멤버 함수에는 내부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멤버 중에 </a:t>
            </a: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변수나 </a:t>
            </a: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함수 호출만 가능함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736092" lvl="1" indent="-342900">
              <a:spcBef>
                <a:spcPct val="0"/>
              </a:spcBef>
              <a:buFont typeface="+mj-lt"/>
              <a:buAutoNum type="arabicPeriod"/>
            </a:pPr>
            <a:r>
              <a:rPr lang="en-US" altLang="ko-KR" sz="1800" dirty="0">
                <a:latin typeface="+mn-ea"/>
              </a:rPr>
              <a:t>Static</a:t>
            </a:r>
            <a:r>
              <a:rPr lang="ko-KR" altLang="en-US" sz="1800" dirty="0">
                <a:latin typeface="+mn-ea"/>
              </a:rPr>
              <a:t> 멤버함수는 객체 변수의 멤버가 아니다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1">
              <a:spcBef>
                <a:spcPct val="0"/>
              </a:spcBef>
            </a:pPr>
            <a:endParaRPr lang="en-US" altLang="ko-KR" sz="1400" dirty="0">
              <a:latin typeface="+mn-ea"/>
            </a:endParaRPr>
          </a:p>
          <a:p>
            <a:pPr lvl="1">
              <a:spcBef>
                <a:spcPct val="0"/>
              </a:spcBef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146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static </a:t>
            </a:r>
            <a:r>
              <a:rPr lang="ko-KR" altLang="en-US" sz="2800" dirty="0"/>
              <a:t>지정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422910" indent="-285750">
              <a:spcBef>
                <a:spcPct val="0"/>
              </a:spcBef>
            </a:pP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멤버 사용 예</a:t>
            </a:r>
            <a:endParaRPr lang="en-US" altLang="ko-KR" sz="1800" dirty="0">
              <a:latin typeface="+mn-ea"/>
            </a:endParaRPr>
          </a:p>
          <a:p>
            <a:pPr marL="422910" indent="-285750">
              <a:spcBef>
                <a:spcPct val="0"/>
              </a:spcBef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#include&lt;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class CLA 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private: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static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nm;  // nm </a:t>
            </a:r>
            <a:r>
              <a:rPr lang="ko-KR" altLang="en-US" sz="1800" dirty="0">
                <a:latin typeface="+mn-ea"/>
              </a:rPr>
              <a:t>변수 </a:t>
            </a: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지정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cnt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public:	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CLA();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void </a:t>
            </a:r>
            <a:r>
              <a:rPr lang="en-US" altLang="ko-KR" sz="1800" dirty="0" err="1">
                <a:latin typeface="+mn-ea"/>
              </a:rPr>
              <a:t>Input_Nm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x);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void </a:t>
            </a:r>
            <a:r>
              <a:rPr lang="en-US" altLang="ko-KR" sz="1800" dirty="0" err="1">
                <a:latin typeface="+mn-ea"/>
              </a:rPr>
              <a:t>Nm_Init</a:t>
            </a:r>
            <a:r>
              <a:rPr lang="en-US" altLang="ko-KR" sz="1800" dirty="0">
                <a:latin typeface="+mn-ea"/>
              </a:rPr>
              <a:t>();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static void </a:t>
            </a:r>
            <a:r>
              <a:rPr lang="en-US" altLang="ko-KR" sz="1800" dirty="0" err="1">
                <a:latin typeface="+mn-ea"/>
              </a:rPr>
              <a:t>Nm_Add</a:t>
            </a:r>
            <a:r>
              <a:rPr lang="en-US" altLang="ko-KR" sz="1800" dirty="0">
                <a:latin typeface="+mn-ea"/>
              </a:rPr>
              <a:t>();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static void Nm_Add_2();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49358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static </a:t>
            </a:r>
            <a:r>
              <a:rPr lang="ko-KR" altLang="en-US" sz="2800" dirty="0"/>
              <a:t>지정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CLA::CLA()  // </a:t>
            </a:r>
            <a:r>
              <a:rPr lang="ko-KR" altLang="en-US" sz="1800" dirty="0" err="1">
                <a:latin typeface="+mn-ea"/>
              </a:rPr>
              <a:t>생성자로</a:t>
            </a:r>
            <a:r>
              <a:rPr lang="ko-KR" altLang="en-US" sz="1800" dirty="0">
                <a:latin typeface="+mn-ea"/>
              </a:rPr>
              <a:t> 내부 변수 초기화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nm = 0;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cnt</a:t>
            </a:r>
            <a:r>
              <a:rPr lang="en-US" altLang="ko-KR" sz="1800" dirty="0">
                <a:latin typeface="+mn-ea"/>
              </a:rPr>
              <a:t> = 10;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void CLA::</a:t>
            </a:r>
            <a:r>
              <a:rPr lang="en-US" altLang="ko-KR" sz="1800" dirty="0" err="1">
                <a:latin typeface="+mn-ea"/>
              </a:rPr>
              <a:t>Input_Nm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a) // static </a:t>
            </a:r>
            <a:r>
              <a:rPr lang="ko-KR" altLang="en-US" sz="1800" dirty="0">
                <a:latin typeface="+mn-ea"/>
              </a:rPr>
              <a:t>변수인 </a:t>
            </a:r>
            <a:r>
              <a:rPr lang="en-US" altLang="ko-KR" sz="1800" dirty="0">
                <a:latin typeface="+mn-ea"/>
              </a:rPr>
              <a:t>nm</a:t>
            </a:r>
            <a:r>
              <a:rPr lang="ko-KR" altLang="en-US" sz="1800" dirty="0">
                <a:latin typeface="+mn-ea"/>
              </a:rPr>
              <a:t>값 변경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nm += a;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nm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void CLA::</a:t>
            </a:r>
            <a:r>
              <a:rPr lang="en-US" altLang="ko-KR" sz="1800" dirty="0" err="1">
                <a:latin typeface="+mn-ea"/>
              </a:rPr>
              <a:t>Nm_Init</a:t>
            </a:r>
            <a:r>
              <a:rPr lang="en-US" altLang="ko-KR" sz="1800" dirty="0">
                <a:latin typeface="+mn-ea"/>
              </a:rPr>
              <a:t>()  // static </a:t>
            </a:r>
            <a:r>
              <a:rPr lang="ko-KR" altLang="en-US" sz="1800" dirty="0">
                <a:latin typeface="+mn-ea"/>
              </a:rPr>
              <a:t>변수 </a:t>
            </a:r>
            <a:r>
              <a:rPr lang="en-US" altLang="ko-KR" sz="1800" dirty="0">
                <a:latin typeface="+mn-ea"/>
              </a:rPr>
              <a:t>nm</a:t>
            </a:r>
            <a:r>
              <a:rPr lang="ko-KR" altLang="en-US" sz="1800" dirty="0">
                <a:latin typeface="+mn-ea"/>
              </a:rPr>
              <a:t>값 재설정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nm = 1;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8088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static </a:t>
            </a:r>
            <a:r>
              <a:rPr lang="ko-KR" altLang="en-US" sz="2800" dirty="0"/>
              <a:t>지정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void CLA::</a:t>
            </a:r>
            <a:r>
              <a:rPr lang="en-US" altLang="ko-KR" sz="1800" dirty="0" err="1">
                <a:latin typeface="+mn-ea"/>
              </a:rPr>
              <a:t>Nm_Add</a:t>
            </a:r>
            <a:r>
              <a:rPr lang="en-US" altLang="ko-KR" sz="1800" dirty="0">
                <a:latin typeface="+mn-ea"/>
              </a:rPr>
              <a:t>()  // static </a:t>
            </a:r>
            <a:r>
              <a:rPr lang="ko-KR" altLang="en-US" sz="1800" dirty="0">
                <a:latin typeface="+mn-ea"/>
              </a:rPr>
              <a:t>멤버 함수 사용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a = 10;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// ++</a:t>
            </a:r>
            <a:r>
              <a:rPr lang="en-US" altLang="ko-KR" sz="1800" dirty="0" err="1">
                <a:latin typeface="+mn-ea"/>
              </a:rPr>
              <a:t>cnt</a:t>
            </a:r>
            <a:r>
              <a:rPr lang="en-US" altLang="ko-KR" sz="1800" dirty="0">
                <a:latin typeface="+mn-ea"/>
              </a:rPr>
              <a:t>; </a:t>
            </a:r>
            <a:r>
              <a:rPr lang="ko-KR" altLang="en-US" sz="1800" dirty="0">
                <a:latin typeface="+mn-ea"/>
              </a:rPr>
              <a:t>다른 내부 변수 사용하면 에러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a += nm;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a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	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void CLA::Nm_Add_2()  // static </a:t>
            </a:r>
            <a:r>
              <a:rPr lang="ko-KR" altLang="en-US" sz="1800" dirty="0">
                <a:latin typeface="+mn-ea"/>
              </a:rPr>
              <a:t>멤버함수 공용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mp</a:t>
            </a:r>
            <a:r>
              <a:rPr lang="en-US" altLang="ko-KR" sz="1800" dirty="0">
                <a:latin typeface="+mn-ea"/>
              </a:rPr>
              <a:t> = 10;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nm += </a:t>
            </a:r>
            <a:r>
              <a:rPr lang="en-US" altLang="ko-KR" sz="1800" dirty="0" err="1">
                <a:latin typeface="+mn-ea"/>
              </a:rPr>
              <a:t>mp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nm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CLA::nm=10; // static </a:t>
            </a:r>
            <a:r>
              <a:rPr lang="ko-KR" altLang="en-US" sz="1800" dirty="0">
                <a:latin typeface="+mn-ea"/>
              </a:rPr>
              <a:t>내부 변수 </a:t>
            </a:r>
            <a:r>
              <a:rPr lang="en-US" altLang="ko-KR" sz="1800" dirty="0">
                <a:latin typeface="+mn-ea"/>
              </a:rPr>
              <a:t>nm</a:t>
            </a:r>
            <a:r>
              <a:rPr lang="ko-KR" altLang="en-US" sz="1800" dirty="0">
                <a:latin typeface="+mn-ea"/>
              </a:rPr>
              <a:t>을 클래스 이름으로 전역 변수로 지정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999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static </a:t>
            </a:r>
            <a:r>
              <a:rPr lang="ko-KR" altLang="en-US" sz="2800" dirty="0"/>
              <a:t>지정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 cc;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 </a:t>
            </a:r>
            <a:r>
              <a:rPr lang="en-US" altLang="ko-KR" sz="1800" dirty="0" err="1">
                <a:latin typeface="+mn-ea"/>
              </a:rPr>
              <a:t>cn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"static nm </a:t>
            </a:r>
            <a:r>
              <a:rPr lang="ko-KR" altLang="en-US" sz="1800" dirty="0">
                <a:latin typeface="+mn-ea"/>
              </a:rPr>
              <a:t>변수 공유</a:t>
            </a:r>
            <a:r>
              <a:rPr lang="en-US" altLang="ko-KR" sz="1800" dirty="0">
                <a:latin typeface="+mn-ea"/>
              </a:rPr>
              <a:t>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cc.Input_Nm</a:t>
            </a:r>
            <a:r>
              <a:rPr lang="en-US" altLang="ko-KR" sz="1800" dirty="0">
                <a:latin typeface="+mn-ea"/>
              </a:rPr>
              <a:t>(10);  // cc</a:t>
            </a:r>
            <a:r>
              <a:rPr lang="ko-KR" altLang="en-US" sz="1800" dirty="0">
                <a:latin typeface="+mn-ea"/>
              </a:rPr>
              <a:t>와 </a:t>
            </a:r>
            <a:r>
              <a:rPr lang="en-US" altLang="ko-KR" sz="1800" dirty="0" err="1">
                <a:latin typeface="+mn-ea"/>
              </a:rPr>
              <a:t>cn</a:t>
            </a:r>
            <a:r>
              <a:rPr lang="ko-KR" altLang="en-US" sz="1800" dirty="0">
                <a:latin typeface="+mn-ea"/>
              </a:rPr>
              <a:t>객체의 </a:t>
            </a:r>
            <a:r>
              <a:rPr lang="en-US" altLang="ko-KR" sz="1800" dirty="0">
                <a:latin typeface="+mn-ea"/>
              </a:rPr>
              <a:t>static </a:t>
            </a:r>
            <a:r>
              <a:rPr lang="ko-KR" altLang="en-US" sz="1800" dirty="0">
                <a:latin typeface="+mn-ea"/>
              </a:rPr>
              <a:t>변수 </a:t>
            </a:r>
            <a:r>
              <a:rPr lang="en-US" altLang="ko-KR" sz="1800" dirty="0">
                <a:latin typeface="+mn-ea"/>
              </a:rPr>
              <a:t>nm</a:t>
            </a:r>
            <a:r>
              <a:rPr lang="ko-KR" altLang="en-US" sz="1800" dirty="0">
                <a:latin typeface="+mn-ea"/>
              </a:rPr>
              <a:t>의 공유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cn.Input_Nm</a:t>
            </a:r>
            <a:r>
              <a:rPr lang="en-US" altLang="ko-KR" sz="1800" dirty="0">
                <a:latin typeface="+mn-ea"/>
              </a:rPr>
              <a:t>(100);	</a:t>
            </a: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"static </a:t>
            </a:r>
            <a:r>
              <a:rPr lang="ko-KR" altLang="en-US" sz="1800" dirty="0">
                <a:latin typeface="+mn-ea"/>
              </a:rPr>
              <a:t>멤버함수 사용</a:t>
            </a:r>
            <a:r>
              <a:rPr lang="en-US" altLang="ko-KR" sz="1800" dirty="0">
                <a:latin typeface="+mn-ea"/>
              </a:rPr>
              <a:t>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cc.Nm_Init</a:t>
            </a:r>
            <a:r>
              <a:rPr lang="en-US" altLang="ko-KR" sz="1800" dirty="0">
                <a:latin typeface="+mn-ea"/>
              </a:rPr>
              <a:t>(); // nm </a:t>
            </a:r>
            <a:r>
              <a:rPr lang="ko-KR" altLang="en-US" sz="1800" dirty="0">
                <a:latin typeface="+mn-ea"/>
              </a:rPr>
              <a:t>변수를 </a:t>
            </a:r>
            <a:r>
              <a:rPr lang="en-US" altLang="ko-KR" sz="1800" dirty="0">
                <a:latin typeface="+mn-ea"/>
              </a:rPr>
              <a:t>1</a:t>
            </a:r>
            <a:r>
              <a:rPr lang="ko-KR" altLang="en-US" sz="1800" dirty="0">
                <a:latin typeface="+mn-ea"/>
              </a:rPr>
              <a:t>로 설정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cc.Nm_Add</a:t>
            </a:r>
            <a:r>
              <a:rPr lang="en-US" altLang="ko-KR" sz="1800" dirty="0">
                <a:latin typeface="+mn-ea"/>
              </a:rPr>
              <a:t>(); // static </a:t>
            </a:r>
            <a:r>
              <a:rPr lang="ko-KR" altLang="en-US" sz="1800" dirty="0">
                <a:latin typeface="+mn-ea"/>
              </a:rPr>
              <a:t>멤버 함수 사용</a:t>
            </a:r>
          </a:p>
          <a:p>
            <a:pPr marL="137160" indent="0">
              <a:spcBef>
                <a:spcPct val="0"/>
              </a:spcBef>
              <a:buNone/>
            </a:pPr>
            <a:endParaRPr lang="ko-KR" altLang="en-US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"static </a:t>
            </a:r>
            <a:r>
              <a:rPr lang="ko-KR" altLang="en-US" sz="1800" dirty="0">
                <a:latin typeface="+mn-ea"/>
              </a:rPr>
              <a:t>멤버함수 공용</a:t>
            </a:r>
            <a:r>
              <a:rPr lang="en-US" altLang="ko-KR" sz="1800" dirty="0">
                <a:latin typeface="+mn-ea"/>
              </a:rPr>
              <a:t>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cc.Nm_Add_2();  // </a:t>
            </a:r>
            <a:r>
              <a:rPr lang="ko-KR" altLang="en-US" sz="1800" dirty="0">
                <a:latin typeface="+mn-ea"/>
              </a:rPr>
              <a:t>현재 </a:t>
            </a:r>
            <a:r>
              <a:rPr lang="en-US" altLang="ko-KR" sz="1800" dirty="0">
                <a:latin typeface="+mn-ea"/>
              </a:rPr>
              <a:t>nm</a:t>
            </a:r>
            <a:r>
              <a:rPr lang="ko-KR" altLang="en-US" sz="1800" dirty="0">
                <a:latin typeface="+mn-ea"/>
              </a:rPr>
              <a:t>값 </a:t>
            </a:r>
            <a:r>
              <a:rPr lang="en-US" altLang="ko-KR" sz="1800" dirty="0">
                <a:latin typeface="+mn-ea"/>
              </a:rPr>
              <a:t>1</a:t>
            </a:r>
            <a:r>
              <a:rPr lang="ko-KR" altLang="en-US" sz="1800" dirty="0">
                <a:latin typeface="+mn-ea"/>
              </a:rPr>
              <a:t>을 </a:t>
            </a:r>
            <a:r>
              <a:rPr lang="en-US" altLang="ko-KR" sz="1800" dirty="0">
                <a:latin typeface="+mn-ea"/>
              </a:rPr>
              <a:t>11</a:t>
            </a:r>
            <a:r>
              <a:rPr lang="ko-KR" altLang="en-US" sz="1800" dirty="0">
                <a:latin typeface="+mn-ea"/>
              </a:rPr>
              <a:t>로 변경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cn.Nm_Add_2();  // </a:t>
            </a:r>
            <a:r>
              <a:rPr lang="ko-KR" altLang="en-US" sz="1800" dirty="0">
                <a:latin typeface="+mn-ea"/>
              </a:rPr>
              <a:t>편재 </a:t>
            </a:r>
            <a:r>
              <a:rPr lang="en-US" altLang="ko-KR" sz="1800" dirty="0">
                <a:latin typeface="+mn-ea"/>
              </a:rPr>
              <a:t>nm</a:t>
            </a:r>
            <a:r>
              <a:rPr lang="ko-KR" altLang="en-US" sz="1800" dirty="0">
                <a:latin typeface="+mn-ea"/>
              </a:rPr>
              <a:t>값 </a:t>
            </a:r>
            <a:r>
              <a:rPr lang="en-US" altLang="ko-KR" sz="1800" dirty="0">
                <a:latin typeface="+mn-ea"/>
              </a:rPr>
              <a:t>11</a:t>
            </a:r>
            <a:r>
              <a:rPr lang="ko-KR" altLang="en-US" sz="1800" dirty="0">
                <a:latin typeface="+mn-ea"/>
              </a:rPr>
              <a:t>을 </a:t>
            </a:r>
            <a:r>
              <a:rPr lang="en-US" altLang="ko-KR" sz="1800" dirty="0">
                <a:latin typeface="+mn-ea"/>
              </a:rPr>
              <a:t>21</a:t>
            </a:r>
            <a:r>
              <a:rPr lang="ko-KR" altLang="en-US" sz="1800" dirty="0">
                <a:latin typeface="+mn-ea"/>
              </a:rPr>
              <a:t>로 변경</a:t>
            </a: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return 0;</a:t>
            </a:r>
          </a:p>
          <a:p>
            <a:pPr marL="137160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9667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스노우</a:t>
            </a:r>
            <a:r>
              <a:rPr lang="ko-KR" altLang="en-US" sz="1600" dirty="0"/>
              <a:t> 프로그램 </a:t>
            </a:r>
            <a:r>
              <a:rPr lang="en-US" altLang="ko-KR" sz="1600" dirty="0"/>
              <a:t>1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85504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1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class CLA {</a:t>
            </a:r>
          </a:p>
          <a:p>
            <a:pPr marL="109728" indent="0" latinLnBrk="0">
              <a:buNone/>
            </a:pPr>
            <a:r>
              <a:rPr lang="en-US" altLang="ko-KR" sz="1600" dirty="0"/>
              <a:t>private: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gox</a:t>
            </a:r>
            <a:r>
              <a:rPr lang="en-US" altLang="ko-KR" sz="1600" dirty="0"/>
              <a:t>, goy;</a:t>
            </a:r>
          </a:p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CLA();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SCR_Manage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ScreenXY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Star_Print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CLA::CLA()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 err="1"/>
              <a:t>스노우</a:t>
            </a:r>
            <a:r>
              <a:rPr lang="ko-KR" altLang="en-US" sz="1600" dirty="0"/>
              <a:t> 좌표 프로그램입니다</a:t>
            </a:r>
            <a:r>
              <a:rPr lang="en-US" altLang="ko-KR" sz="1600" dirty="0"/>
              <a:t>."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Sleep(1000);</a:t>
            </a:r>
          </a:p>
          <a:p>
            <a:pPr marL="109728" indent="0" latinLnBrk="0">
              <a:buNone/>
            </a:pPr>
            <a:r>
              <a:rPr lang="en-US" altLang="ko-KR" sz="1600" dirty="0"/>
              <a:t>	system("</a:t>
            </a:r>
            <a:r>
              <a:rPr lang="en-US" altLang="ko-KR" sz="1600" dirty="0" err="1"/>
              <a:t>cls</a:t>
            </a:r>
            <a:r>
              <a:rPr lang="en-US" altLang="ko-KR" sz="1600" dirty="0"/>
              <a:t>");	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7224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SCR_Manage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x, y;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en-US" altLang="ko-KR" sz="1600" dirty="0" err="1"/>
              <a:t>InPut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Coord</a:t>
            </a:r>
            <a:r>
              <a:rPr lang="en-US" altLang="ko-KR" sz="1600" dirty="0"/>
              <a:t> X (1~80): "; // </a:t>
            </a:r>
            <a:r>
              <a:rPr lang="ko-KR" altLang="en-US" sz="1600" dirty="0"/>
              <a:t>화면 크기 </a:t>
            </a:r>
            <a:r>
              <a:rPr lang="en-US" altLang="ko-KR" sz="1600" dirty="0"/>
              <a:t>x:1 ~ 80, y:1 ~ 25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x;   // X </a:t>
            </a:r>
            <a:r>
              <a:rPr lang="ko-KR" altLang="en-US" sz="1600" dirty="0"/>
              <a:t>좌표 입력</a:t>
            </a:r>
          </a:p>
          <a:p>
            <a:pPr marL="109728" indent="0" latinLnBrk="0">
              <a:buNone/>
            </a:pP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for (y = 1; y &lt;= 10; y++)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Sleep(400);</a:t>
            </a:r>
          </a:p>
          <a:p>
            <a:pPr marL="109728" indent="0" latinLnBrk="0">
              <a:buNone/>
            </a:pPr>
            <a:r>
              <a:rPr lang="en-US" altLang="ko-KR" sz="1600" dirty="0"/>
              <a:t>		system("</a:t>
            </a:r>
            <a:r>
              <a:rPr lang="en-US" altLang="ko-KR" sz="1600" dirty="0" err="1"/>
              <a:t>cls</a:t>
            </a:r>
            <a:r>
              <a:rPr lang="en-US" altLang="ko-KR" sz="1600" dirty="0"/>
              <a:t>");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gox</a:t>
            </a:r>
            <a:r>
              <a:rPr lang="en-US" altLang="ko-KR" sz="1600" dirty="0"/>
              <a:t> = x, goy = y;  // </a:t>
            </a:r>
            <a:r>
              <a:rPr lang="ko-KR" altLang="en-US" sz="1600" dirty="0"/>
              <a:t>화면 좌표</a:t>
            </a:r>
          </a:p>
          <a:p>
            <a:pPr marL="109728" indent="0" latinLnBrk="0">
              <a:buNone/>
            </a:pP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 err="1"/>
              <a:t>ScreenXY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Star_Print</a:t>
            </a:r>
            <a:r>
              <a:rPr lang="en-US" altLang="ko-KR" sz="1600" dirty="0"/>
              <a:t>();		</a:t>
            </a:r>
          </a:p>
          <a:p>
            <a:pPr marL="109728" indent="0" latinLnBrk="0">
              <a:buNone/>
            </a:pPr>
            <a:r>
              <a:rPr lang="en-US" altLang="ko-KR" sz="1600" dirty="0"/>
              <a:t>	}	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/>
              <a:t>(); // </a:t>
            </a:r>
            <a:r>
              <a:rPr lang="ko-KR" altLang="en-US" sz="1600" dirty="0"/>
              <a:t>문자 입력 시 종료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2549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ScreenXY</a:t>
            </a:r>
            <a:r>
              <a:rPr lang="en-US" altLang="ko-KR" sz="1600" dirty="0"/>
              <a:t>()  // </a:t>
            </a:r>
            <a:r>
              <a:rPr lang="ko-KR" altLang="en-US" sz="1600" dirty="0"/>
              <a:t>좌표 이동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COORD </a:t>
            </a:r>
            <a:r>
              <a:rPr lang="en-US" altLang="ko-KR" sz="1600" dirty="0" err="1"/>
              <a:t>Pos</a:t>
            </a:r>
            <a:r>
              <a:rPr lang="en-US" altLang="ko-KR" sz="1600" dirty="0"/>
              <a:t> = { </a:t>
            </a:r>
            <a:r>
              <a:rPr lang="en-US" altLang="ko-KR" sz="1600" dirty="0" err="1"/>
              <a:t>gox</a:t>
            </a:r>
            <a:r>
              <a:rPr lang="en-US" altLang="ko-KR" sz="1600" dirty="0"/>
              <a:t>, goy };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SetConsoleCursorPosition</a:t>
            </a:r>
            <a:r>
              <a:rPr lang="en-US" altLang="ko-KR" sz="1600" dirty="0"/>
              <a:t>(</a:t>
            </a:r>
            <a:r>
              <a:rPr lang="en-US" altLang="ko-KR" sz="1600" dirty="0" err="1"/>
              <a:t>GetStdHandle</a:t>
            </a:r>
            <a:r>
              <a:rPr lang="en-US" altLang="ko-KR" sz="1600" dirty="0"/>
              <a:t>(STD_OUTPUT_HANDLE), </a:t>
            </a:r>
            <a:r>
              <a:rPr lang="en-US" altLang="ko-KR" sz="1600" dirty="0" err="1"/>
              <a:t>Pos</a:t>
            </a:r>
            <a:r>
              <a:rPr lang="en-US" altLang="ko-KR" sz="1600" dirty="0"/>
              <a:t>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Star_Print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"*";   // </a:t>
            </a:r>
            <a:r>
              <a:rPr lang="ko-KR" altLang="en-US" sz="1600" dirty="0"/>
              <a:t>눈 출력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2435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CLA nm;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nm.SCR_Manage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2120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스노우</a:t>
            </a:r>
            <a:r>
              <a:rPr lang="ko-KR" altLang="en-US" sz="1600" dirty="0"/>
              <a:t> 프로그램 </a:t>
            </a:r>
            <a:r>
              <a:rPr lang="en-US" altLang="ko-KR" sz="1600" dirty="0"/>
              <a:t>2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04165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class CLA {</a:t>
            </a:r>
          </a:p>
          <a:p>
            <a:pPr marL="109728" indent="0" latinLnBrk="0">
              <a:buNone/>
            </a:pPr>
            <a:r>
              <a:rPr lang="en-US" altLang="ko-KR" sz="1600" dirty="0"/>
              <a:t>private: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gox</a:t>
            </a:r>
            <a:r>
              <a:rPr lang="en-US" altLang="ko-KR" sz="1600" dirty="0"/>
              <a:t>, goy;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range; // </a:t>
            </a:r>
            <a:r>
              <a:rPr lang="ko-KR" altLang="en-US" sz="1600" dirty="0"/>
              <a:t>눈 화면 범위</a:t>
            </a:r>
          </a:p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CLA() {}</a:t>
            </a:r>
          </a:p>
          <a:p>
            <a:pPr marL="109728" indent="0" latinLnBrk="0">
              <a:buNone/>
            </a:pPr>
            <a:r>
              <a:rPr lang="en-US" altLang="ko-KR" sz="1600" dirty="0"/>
              <a:t>	CLA(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x);  // </a:t>
            </a:r>
            <a:r>
              <a:rPr lang="ko-KR" altLang="en-US" sz="1600" dirty="0"/>
              <a:t>다중정의 </a:t>
            </a:r>
            <a:r>
              <a:rPr lang="ko-KR" altLang="en-US" sz="1600" dirty="0" err="1"/>
              <a:t>생성자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SCR_Manage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ScreenXY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Star_Print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CLA::CLA(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x)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 err="1"/>
              <a:t>스노우</a:t>
            </a:r>
            <a:r>
              <a:rPr lang="ko-KR" altLang="en-US" sz="1600" dirty="0"/>
              <a:t> 좌표 프로그램입니다</a:t>
            </a:r>
            <a:r>
              <a:rPr lang="en-US" altLang="ko-KR" sz="1600" dirty="0"/>
              <a:t>."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range = x;  // (x &lt;= 80)</a:t>
            </a:r>
          </a:p>
          <a:p>
            <a:pPr marL="109728" indent="0" latinLnBrk="0">
              <a:buNone/>
            </a:pPr>
            <a:r>
              <a:rPr lang="en-US" altLang="ko-KR" sz="1600" dirty="0"/>
              <a:t>	Sleep(1000);</a:t>
            </a:r>
          </a:p>
          <a:p>
            <a:pPr marL="109728" indent="0" latinLnBrk="0">
              <a:buNone/>
            </a:pPr>
            <a:r>
              <a:rPr lang="en-US" altLang="ko-KR" sz="1600" dirty="0"/>
              <a:t>	system("</a:t>
            </a:r>
            <a:r>
              <a:rPr lang="en-US" altLang="ko-KR" sz="1600" dirty="0" err="1"/>
              <a:t>cls</a:t>
            </a:r>
            <a:r>
              <a:rPr lang="en-US" altLang="ko-KR" sz="1600" dirty="0"/>
              <a:t>");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srand</a:t>
            </a:r>
            <a:r>
              <a:rPr lang="en-US" altLang="ko-KR" sz="1600" dirty="0"/>
              <a:t>(time(NULL));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2774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00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SCR_Manage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x, y;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rg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32;</a:t>
            </a:r>
          </a:p>
          <a:p>
            <a:pPr marL="109728" indent="0" latinLnBrk="0">
              <a:buNone/>
            </a:pPr>
            <a:r>
              <a:rPr lang="en-US" altLang="ko-KR" sz="1600" dirty="0"/>
              <a:t>	while 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!= 27) {  // ESC</a:t>
            </a:r>
            <a:r>
              <a:rPr lang="ko-KR" altLang="en-US" sz="1600" dirty="0"/>
              <a:t>키 프로그램 종료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x = rand() % range + 1;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	for (y = 1; y &lt;= 10; y++)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	Sleep(800);</a:t>
            </a:r>
          </a:p>
          <a:p>
            <a:pPr marL="109728" indent="0" latinLnBrk="0">
              <a:buNone/>
            </a:pPr>
            <a:r>
              <a:rPr lang="en-US" altLang="ko-KR" sz="1600" dirty="0"/>
              <a:t>			if (</a:t>
            </a:r>
            <a:r>
              <a:rPr lang="en-US" altLang="ko-KR" sz="1600" dirty="0" err="1"/>
              <a:t>rg</a:t>
            </a:r>
            <a:r>
              <a:rPr lang="en-US" altLang="ko-KR" sz="1600" dirty="0"/>
              <a:t> &gt; 0) Sleep(200);</a:t>
            </a:r>
          </a:p>
          <a:p>
            <a:pPr marL="109728" indent="0" latinLnBrk="0">
              <a:buNone/>
            </a:pPr>
            <a:r>
              <a:rPr lang="en-US" altLang="ko-KR" sz="1600" dirty="0"/>
              <a:t>			system("</a:t>
            </a:r>
            <a:r>
              <a:rPr lang="en-US" altLang="ko-KR" sz="1600" dirty="0" err="1"/>
              <a:t>cls</a:t>
            </a:r>
            <a:r>
              <a:rPr lang="en-US" altLang="ko-KR" sz="1600" dirty="0"/>
              <a:t>");</a:t>
            </a:r>
          </a:p>
          <a:p>
            <a:pPr marL="109728" indent="0" latinLnBrk="0">
              <a:buNone/>
            </a:pPr>
            <a:r>
              <a:rPr lang="en-US" altLang="ko-KR" sz="1600" dirty="0"/>
              <a:t>			</a:t>
            </a:r>
            <a:r>
              <a:rPr lang="en-US" altLang="ko-KR" sz="1600" dirty="0" err="1"/>
              <a:t>rg</a:t>
            </a:r>
            <a:r>
              <a:rPr lang="en-US" altLang="ko-KR" sz="1600" dirty="0"/>
              <a:t> = rand() % 2;  // </a:t>
            </a:r>
            <a:r>
              <a:rPr lang="ko-KR" altLang="en-US" sz="1600" dirty="0"/>
              <a:t>눈 내리는 </a:t>
            </a:r>
            <a:r>
              <a:rPr lang="en-US" altLang="ko-KR" sz="1600" dirty="0"/>
              <a:t>x</a:t>
            </a:r>
            <a:r>
              <a:rPr lang="ko-KR" altLang="en-US" sz="1600" dirty="0"/>
              <a:t>좌표 조정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 err="1"/>
              <a:t>gox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x+rg</a:t>
            </a:r>
            <a:r>
              <a:rPr lang="en-US" altLang="ko-KR" sz="1600" dirty="0"/>
              <a:t>, goy = y;  // </a:t>
            </a:r>
            <a:r>
              <a:rPr lang="ko-KR" altLang="en-US" sz="1600" dirty="0"/>
              <a:t>화면 좌표		</a:t>
            </a:r>
          </a:p>
          <a:p>
            <a:pPr marL="109728" indent="0" latinLnBrk="0">
              <a:buNone/>
            </a:pP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 err="1"/>
              <a:t>ScreenXY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		</a:t>
            </a:r>
            <a:r>
              <a:rPr lang="en-US" altLang="ko-KR" sz="1600" dirty="0" err="1"/>
              <a:t>Star_Print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/>
              <a:t>(); // ESC </a:t>
            </a:r>
            <a:r>
              <a:rPr lang="ko-KR" altLang="en-US" sz="1600" dirty="0"/>
              <a:t>이외 키 입력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}	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725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ScreenXY</a:t>
            </a:r>
            <a:r>
              <a:rPr lang="en-US" altLang="ko-KR" sz="1600" dirty="0"/>
              <a:t>()  // </a:t>
            </a:r>
            <a:r>
              <a:rPr lang="ko-KR" altLang="en-US" sz="1600" dirty="0"/>
              <a:t>좌표 이동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COORD </a:t>
            </a:r>
            <a:r>
              <a:rPr lang="en-US" altLang="ko-KR" sz="1600" dirty="0" err="1"/>
              <a:t>Pos</a:t>
            </a:r>
            <a:r>
              <a:rPr lang="en-US" altLang="ko-KR" sz="1600" dirty="0"/>
              <a:t> = { </a:t>
            </a:r>
            <a:r>
              <a:rPr lang="en-US" altLang="ko-KR" sz="1600" dirty="0" err="1"/>
              <a:t>gox</a:t>
            </a:r>
            <a:r>
              <a:rPr lang="en-US" altLang="ko-KR" sz="1600" dirty="0"/>
              <a:t>, goy };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SetConsoleCursorPosition</a:t>
            </a:r>
            <a:r>
              <a:rPr lang="en-US" altLang="ko-KR" sz="1600" dirty="0"/>
              <a:t>(</a:t>
            </a:r>
            <a:r>
              <a:rPr lang="en-US" altLang="ko-KR" sz="1600" dirty="0" err="1"/>
              <a:t>GetStdHandle</a:t>
            </a:r>
            <a:r>
              <a:rPr lang="en-US" altLang="ko-KR" sz="1600" dirty="0"/>
              <a:t>(STD_OUTPUT_HANDLE), </a:t>
            </a:r>
            <a:r>
              <a:rPr lang="en-US" altLang="ko-KR" sz="1600" dirty="0" err="1"/>
              <a:t>Pos</a:t>
            </a:r>
            <a:r>
              <a:rPr lang="en-US" altLang="ko-KR" sz="1600" dirty="0"/>
              <a:t>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CLA::</a:t>
            </a:r>
            <a:r>
              <a:rPr lang="en-US" altLang="ko-KR" sz="1600" dirty="0" err="1"/>
              <a:t>Star_Print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"*";   // </a:t>
            </a:r>
            <a:r>
              <a:rPr lang="ko-KR" altLang="en-US" sz="1600" dirty="0"/>
              <a:t>눈 출력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5973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CLA nm{ 80 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nm.SCR_Manage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9781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 err="1"/>
              <a:t>스노우</a:t>
            </a:r>
            <a:r>
              <a:rPr lang="ko-KR" altLang="en-US" sz="1600" dirty="0"/>
              <a:t> 프로그램 계속</a:t>
            </a:r>
            <a:endParaRPr lang="en-US" altLang="ko-KR" sz="1600" dirty="0"/>
          </a:p>
          <a:p>
            <a:pPr lvl="1" latinLnBrk="0"/>
            <a:r>
              <a:rPr lang="ko-KR" altLang="en-US" sz="1600" dirty="0"/>
              <a:t>여러 개 눈 입력 </a:t>
            </a:r>
            <a:r>
              <a:rPr lang="en-US" altLang="ko-KR" sz="1600" dirty="0"/>
              <a:t>(3 ~ 4</a:t>
            </a:r>
            <a:r>
              <a:rPr lang="ko-KR" altLang="en-US" sz="1600" dirty="0"/>
              <a:t>개</a:t>
            </a:r>
            <a:r>
              <a:rPr lang="en-US" altLang="ko-KR" sz="1600" dirty="0"/>
              <a:t>)</a:t>
            </a:r>
          </a:p>
          <a:p>
            <a:pPr lvl="1" latinLnBrk="0"/>
            <a:r>
              <a:rPr lang="ko-KR" altLang="en-US" sz="1600" dirty="0"/>
              <a:t>랜덤 </a:t>
            </a:r>
            <a:r>
              <a:rPr lang="en-US" altLang="ko-KR" sz="1600" dirty="0"/>
              <a:t>x </a:t>
            </a:r>
            <a:r>
              <a:rPr lang="ko-KR" altLang="en-US" sz="1600" dirty="0"/>
              <a:t>좌표로 눈 내리기</a:t>
            </a:r>
            <a:endParaRPr lang="en-US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1486</TotalTime>
  <Words>2354</Words>
  <Application>Microsoft Office PowerPoint</Application>
  <PresentationFormat>화면 슬라이드 쇼(4:3)</PresentationFormat>
  <Paragraphs>505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-윤고딕140</vt:lpstr>
      <vt:lpstr>Lucida Sans Unicode</vt:lpstr>
      <vt:lpstr>Verdana</vt:lpstr>
      <vt:lpstr>Wingdings 2</vt:lpstr>
      <vt:lpstr>Wingdings 3</vt:lpstr>
      <vt:lpstr>광장</vt:lpstr>
      <vt:lpstr>클래스 내 다중정의</vt:lpstr>
      <vt:lpstr>내용</vt:lpstr>
      <vt:lpstr>멤버 함수의 다중정의</vt:lpstr>
      <vt:lpstr>멤버 함수의 다중정의</vt:lpstr>
      <vt:lpstr>멤버 함수의 다중정의</vt:lpstr>
      <vt:lpstr>멤버 함수의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생성자의 다중정의</vt:lpstr>
      <vt:lpstr>static 지정</vt:lpstr>
      <vt:lpstr>static 지정</vt:lpstr>
      <vt:lpstr>static 지정</vt:lpstr>
      <vt:lpstr>static 지정</vt:lpstr>
      <vt:lpstr>static 지정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154</cp:revision>
  <dcterms:created xsi:type="dcterms:W3CDTF">2015-04-10T01:14:42Z</dcterms:created>
  <dcterms:modified xsi:type="dcterms:W3CDTF">2024-11-19T01:52:42Z</dcterms:modified>
</cp:coreProperties>
</file>