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14" r:id="rId2"/>
    <p:sldId id="815" r:id="rId3"/>
    <p:sldId id="816" r:id="rId4"/>
    <p:sldId id="612" r:id="rId5"/>
    <p:sldId id="817" r:id="rId6"/>
    <p:sldId id="818" r:id="rId7"/>
    <p:sldId id="819" r:id="rId8"/>
    <p:sldId id="821" r:id="rId9"/>
    <p:sldId id="844" r:id="rId10"/>
    <p:sldId id="822" r:id="rId11"/>
    <p:sldId id="835" r:id="rId12"/>
    <p:sldId id="847" r:id="rId13"/>
    <p:sldId id="823" r:id="rId14"/>
    <p:sldId id="824" r:id="rId15"/>
    <p:sldId id="846" r:id="rId16"/>
    <p:sldId id="825" r:id="rId17"/>
    <p:sldId id="826" r:id="rId18"/>
    <p:sldId id="845" r:id="rId19"/>
    <p:sldId id="827" r:id="rId20"/>
    <p:sldId id="828" r:id="rId21"/>
    <p:sldId id="829" r:id="rId22"/>
    <p:sldId id="836" r:id="rId23"/>
    <p:sldId id="830" r:id="rId24"/>
    <p:sldId id="831" r:id="rId25"/>
    <p:sldId id="832" r:id="rId26"/>
    <p:sldId id="833" r:id="rId27"/>
    <p:sldId id="834" r:id="rId28"/>
    <p:sldId id="837" r:id="rId29"/>
    <p:sldId id="838" r:id="rId30"/>
    <p:sldId id="839" r:id="rId31"/>
    <p:sldId id="849" r:id="rId32"/>
    <p:sldId id="840" r:id="rId33"/>
    <p:sldId id="841" r:id="rId34"/>
    <p:sldId id="848" r:id="rId35"/>
    <p:sldId id="842" r:id="rId36"/>
    <p:sldId id="843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F43AB-387F-77BE-3BCF-7A2188953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9372C2-B572-E3C4-BDE1-0329C783D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CE18D1-0FBA-E14A-1FBA-9DCA380F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3ADB75-7970-2083-7C79-54C3F0F1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13ADC-D97F-CD5C-1272-D03DFDFB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54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80C33-2644-5413-9CA2-B8506549B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B6356-3ED7-B08E-4DEC-12E9D3564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7D73FE-F844-8F72-5D3B-7C48E0AD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58A36-DCE9-FD02-94A2-1F544865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DFA2F7-4B9D-346C-74A0-4A6D4ED1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81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A6F93-94D3-2397-C61D-8747D7E43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2A7C1B-D785-3FEC-E9CA-1A2121F8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6941D8-1072-A035-8D86-BE26D425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9494F-9A94-B090-6719-25CA64D2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876AC0-6674-528F-80EB-27173C42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77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4C432-1399-34B7-D81B-DEEAB046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485530-0951-E199-85D7-F3E70A64E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C3E76E-D7C4-0CEC-6DEA-3967A2281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662189-32FF-AC4D-2592-0495FEE5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6A2517-5742-0BE0-E5A4-F89A917A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043569-823F-7724-5FE5-7F31BF89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30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F5456-C0F3-BD44-479F-05F9B162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BDADEE-8560-18E0-FEB4-D1518C0B3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8546A8-B532-3577-6852-73D3237F8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98A58D-083E-20A9-2919-E0D9AE5B3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BA431C-2E05-7853-9B98-934464D71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660B24-5546-94D1-4B8A-AE5AD32C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EC10C9-377C-4230-35C7-68B5E97CA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71967D-C5D4-CD57-7AFE-8019232C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32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B1E02-5557-1B24-86C7-B87447D4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A0E3FF-D455-1888-6D6D-B285E5AE7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C0279E-BE08-08F9-8571-265057C9C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C3F8FB-6E40-D3BB-4834-3D6C76CE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86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BDA044-A8C0-07EA-5538-BB542BDC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DD5038-4043-FBD7-B4CD-02584AF1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CD8B65-47C7-F2D2-2FDC-28EE4337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1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C5AC4-6F43-A178-E4BF-6A9A413D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3898DE-8B76-9FC4-755E-6FA23C89F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74EAC5-0034-B36F-BF60-1E92C4D28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6000A4-EB35-5E37-0E55-45FDFCC2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2C5B6E-5BD4-246F-6FAC-8D383EB0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28582E-AC4E-1072-D4E0-580A5AF3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11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E94C3-F8A1-A1D5-4DBE-B93DA1A4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71B99A5-6200-A8EE-2EFE-F14F54029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A0D5FB-6C58-8F1E-09EE-C56564EF7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070A32-4C78-677B-52F3-020897F3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AD38A6-6FBC-EC15-C59B-B95B679F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3C38B2-F942-05D4-3F4B-BB03E477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786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970BB-5DAF-67FA-127B-A100CA93F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9B089-6C8C-8349-1838-D797CAA31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3F61E-AF05-F505-AF8B-6B30AE102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907774-A920-EFED-41D0-7B85CEFC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08A33E-E7CA-C380-B9E2-97CF3C59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11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B481D6-0607-2AB2-4DE0-F73A41DCB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401446-F887-32F4-A07F-7411FBF71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DB418-0FFB-FE69-8448-76790E20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542DB3-BE36-86C5-527C-F1682FE66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D548B-B62B-B861-E863-B8A86EAE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54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359072" y="201908"/>
            <a:ext cx="8844403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9071" y="1105117"/>
            <a:ext cx="11339444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359834" y="201613"/>
            <a:ext cx="8843433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1548003" y="6328166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32181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C293CF-C431-7B62-D6FF-E3F52A679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A3B3F0-50A5-E473-0869-A580699DE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747664-0ED1-B09F-746A-E9DC7845C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3D854-703F-4C12-83B4-4B8E22921AD1}" type="datetimeFigureOut">
              <a:rPr lang="ko-KR" altLang="en-US" smtClean="0"/>
              <a:t>2024-04-06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83A10-6C3F-EE02-C811-621687EA1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E0359-4DB0-8E51-43EF-684E887CD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4EA09-1764-4E16-A8E3-88E1CE6C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3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hanyramydaddy.com/%EB%B8%94%EB%A3%A8%EC%8A%A4%ED%83%9D-%EA%B0%80%EC%83%81%ED%99%94-%EB%A7%88%EB%8D%94%EB%B3%B4%EB%93%9C-%EC%A0%9C%EC%A1%B0%EC%82%AC%EB%B3%84-%EC%84%A4%EC%A0%95%EB%B2%95/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ko-kr/windows/wsl/install-manual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ws.amazon.com/ko/containers/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cs.docker.com/engine/install/ubuntu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learn.microsoft.com/ko-kr/windows/wsl/systemd" TargetMode="Externa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ocs.docker.com/engine/reference/run/#swappiness-constraint" TargetMode="Externa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hub.docker.com/_/postgres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/WSL/issues/4150#issuecomment-504209723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2326167" y="908778"/>
            <a:ext cx="7886700" cy="1835282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2568" y="1253948"/>
            <a:ext cx="5185533" cy="1335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800" b="1">
                <a:solidFill>
                  <a:schemeClr val="bg1"/>
                </a:solidFill>
                <a:latin typeface="+mn-ea"/>
              </a:rPr>
              <a:t>linux 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환경에서 </a:t>
            </a:r>
            <a:r>
              <a:rPr lang="en-US" altLang="ko-KR" sz="2800" b="1">
                <a:solidFill>
                  <a:schemeClr val="bg1"/>
                </a:solidFill>
                <a:latin typeface="+mn-ea"/>
              </a:rPr>
              <a:t>Docker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및</a:t>
            </a:r>
            <a:endParaRPr lang="en-US" altLang="ko-KR" sz="2800" b="1">
              <a:solidFill>
                <a:schemeClr val="bg1"/>
              </a:solidFill>
              <a:latin typeface="+mn-ea"/>
            </a:endParaRP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800" b="1">
                <a:solidFill>
                  <a:schemeClr val="bg1"/>
                </a:solidFill>
                <a:latin typeface="+mn-ea"/>
              </a:rPr>
              <a:t>PostgreSQL &amp; PGADMIN</a:t>
            </a: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2800" b="1">
                <a:solidFill>
                  <a:schemeClr val="bg1"/>
                </a:solidFill>
                <a:latin typeface="+mn-ea"/>
              </a:rPr>
              <a:t>설치 및 실습</a:t>
            </a:r>
            <a:endParaRPr 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2654452" y="3623899"/>
            <a:ext cx="7370976" cy="2133634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altLang="ko-KR" sz="1961" b="1">
                <a:latin typeface="+mn-ea"/>
              </a:rPr>
              <a:t>2024. 03.21</a:t>
            </a:r>
          </a:p>
        </p:txBody>
      </p:sp>
    </p:spTree>
    <p:extLst>
      <p:ext uri="{BB962C8B-B14F-4D97-AF65-F5344CB8AC3E}">
        <p14:creationId xmlns:p14="http://schemas.microsoft.com/office/powerpoint/2010/main" val="211175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F9CB20-4D12-A01D-38AB-49A68051F7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>
                <a:latin typeface="+mj-lt"/>
              </a:rPr>
              <a:t>들어가기 앞서</a:t>
            </a:r>
            <a:endParaRPr lang="ko-KR" altLang="en-US" dirty="0">
              <a:latin typeface="+mj-lt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2B6660F-4C4D-3363-1BC4-B1EDB0F9F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실습실 환경이 같아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PostgreSQL DB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의 관리자 계정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(postgres)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의 비밀번호를 각기 다른사람이 모르기떄문에 하나의 환경으로 통일하고자함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algn="l"/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더불어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linux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환경에서 설치하는것도 다뤄보고자함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Linux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는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windows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환경에서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3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가지 선택을 통해  설치할수있음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/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디스크에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grub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등 설치를 통한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os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를 두개로 나누어 설치하는법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/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Vmware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를 통한 설치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/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WSL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을 통한 설치</a:t>
            </a:r>
            <a:endParaRPr lang="en-US" altLang="ko-KR" sz="180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이중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WSL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을 선택하여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 linux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를 설치할것임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457200" lvl="1" indent="0">
              <a:buNone/>
            </a:pPr>
            <a:endParaRPr lang="en-US" altLang="ko-KR" sz="1800">
              <a:latin typeface="나눔고딕" pitchFamily="2" charset="-127"/>
              <a:ea typeface="나눔고딕" pitchFamily="2" charset="-127"/>
            </a:endParaRPr>
          </a:p>
          <a:p>
            <a:pPr algn="l"/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사전에 해야할것</a:t>
            </a:r>
            <a:endParaRPr lang="en-US" altLang="ko-KR" sz="180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기존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window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에 설치된 </a:t>
            </a:r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postgresql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을 삭제</a:t>
            </a:r>
            <a:endParaRPr lang="en-US" altLang="ko-KR" sz="180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Wsl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을 위해 윈도우 가상화를 켜야함</a:t>
            </a:r>
            <a:endParaRPr lang="en-US" altLang="ko-KR" sz="1800"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en-US" altLang="ko-KR" sz="1800">
                <a:latin typeface="나눔고딕" pitchFamily="2" charset="-127"/>
                <a:ea typeface="나눔고딕" pitchFamily="2" charset="-127"/>
                <a:hlinkClick r:id="rId2"/>
              </a:rPr>
              <a:t>Bios 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  <a:hlinkClick r:id="rId2"/>
              </a:rPr>
              <a:t>가상화 켜기</a:t>
            </a:r>
            <a:endParaRPr lang="en-US" altLang="ko-KR" sz="1800"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en-US" altLang="ko-KR" sz="1800">
                <a:latin typeface="나눔고딕" pitchFamily="2" charset="-127"/>
                <a:ea typeface="나눔고딕" pitchFamily="2" charset="-127"/>
              </a:rPr>
              <a:t>Hyper-v </a:t>
            </a:r>
            <a:r>
              <a:rPr lang="ko-KR" altLang="en-US" sz="1800">
                <a:latin typeface="나눔고딕" pitchFamily="2" charset="-127"/>
                <a:ea typeface="나눔고딕" pitchFamily="2" charset="-127"/>
              </a:rPr>
              <a:t>켜기</a:t>
            </a:r>
            <a:endParaRPr lang="en-US" altLang="ko-KR" sz="1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042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89842D4-357B-D0C8-09A4-3BD5EA8A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제어판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-&gt;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프로그램 제거 변경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-&gt; postgreql 16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삭제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Command line tools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와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pgadmin4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제외한 나머지를 삭제할것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27B8A0-BD9C-597C-F816-DD223025D1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Postgresql </a:t>
            </a:r>
            <a:r>
              <a:rPr lang="ko-KR" altLang="en-US"/>
              <a:t>삭제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2B189FC-E92B-CABD-24BD-C58DBB55E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2" y="2339455"/>
            <a:ext cx="5201376" cy="39894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8820DD-5DE5-C28E-78DD-F4A9CB910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5" y="2410757"/>
            <a:ext cx="4974414" cy="391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9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F9CB20-4D12-A01D-38AB-49A68051F7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latin typeface="+mj-lt"/>
              </a:rPr>
              <a:t>WSL</a:t>
            </a:r>
            <a:endParaRPr lang="ko-KR" altLang="en-US" dirty="0">
              <a:latin typeface="+mj-lt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2B6660F-4C4D-3363-1BC4-B1EDB0F9F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WSL</a:t>
            </a:r>
          </a:p>
          <a:p>
            <a:pPr lvl="1"/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(Linux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용 </a:t>
            </a:r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Windows 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하위 시스템</a:t>
            </a:r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)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은 별도의 가상 머신 또는 이중 부팅 없이 </a:t>
            </a:r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Windows 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컴퓨터에서 </a:t>
            </a:r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Linux 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환경을 실행할 수 있는 </a:t>
            </a:r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Windows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의 기능</a:t>
            </a:r>
            <a:endParaRPr lang="en-US" altLang="ko-KR" sz="1600" b="0" i="0">
              <a:solidFill>
                <a:srgbClr val="161616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WSL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은 </a:t>
            </a:r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Windows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와 </a:t>
            </a:r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Linux</a:t>
            </a:r>
            <a:r>
              <a:rPr lang="ko-KR" altLang="en-US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를 동시에 사용하려는 개발자에게 원활하고 생산적인 환경을 제공함</a:t>
            </a:r>
            <a:b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</a:br>
            <a:r>
              <a:rPr lang="en-US" altLang="ko-KR" sz="1600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	</a:t>
            </a:r>
          </a:p>
          <a:p>
            <a:pPr lvl="1"/>
            <a:endParaRPr lang="en-US" altLang="ko-KR" sz="1600">
              <a:solidFill>
                <a:srgbClr val="161616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3600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  <a:hlinkClick r:id="rId2"/>
              </a:rPr>
              <a:t>설치가이드</a:t>
            </a:r>
            <a:endParaRPr lang="en-US" altLang="ko-KR" sz="36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6328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1635FAC-4A1C-7E25-54B4-83F560D11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Powershell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을 관리자 권한으로 실행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Run as administrator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혹은 아이콘의 우클릭을 통해 수행할수있음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253816-D8A4-806F-A36A-9F3FFEAC14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WSL install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007B7F-AA1F-5F91-D310-A3984B916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81" y="2286203"/>
            <a:ext cx="4734776" cy="384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25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E5816E2-98FA-8182-BAD0-7ACCD2DFF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다음의 명령어 실행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A0444C-0728-FC9A-706F-388757B694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WSL install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E6C0C7-2C88-E32F-9503-C9DEADC060F5}"/>
              </a:ext>
            </a:extLst>
          </p:cNvPr>
          <p:cNvSpPr txBox="1"/>
          <p:nvPr/>
        </p:nvSpPr>
        <p:spPr>
          <a:xfrm>
            <a:off x="696685" y="1811382"/>
            <a:ext cx="10515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dism.exe /online /enable-feature /featurename:Microsoft-Windows-Subsystem-Linux /all /norestart</a:t>
            </a: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27378AB-621B-3377-8DF5-772D60BBC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29" y="2438521"/>
            <a:ext cx="9269119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2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0182059-A174-DF44-3149-7F24A9F16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virtual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machine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 기능사용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84A0C5-E313-AB95-BB7D-A17422A96D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WSL install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07900-2BD1-4E94-48EB-D9D90C34E4B2}"/>
              </a:ext>
            </a:extLst>
          </p:cNvPr>
          <p:cNvSpPr txBox="1"/>
          <p:nvPr/>
        </p:nvSpPr>
        <p:spPr>
          <a:xfrm>
            <a:off x="1027611" y="1729687"/>
            <a:ext cx="9102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dism.exe /online /enable-feature /featurename:VirtualMachinePlatform /all /norestart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FC8D56-07EF-3337-69AC-D0B35F5A4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40" y="2299261"/>
            <a:ext cx="9307224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9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098316D-CED1-EE23-68C6-15B06E1B3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Linux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커널 설치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Linux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커널 업데이트 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Wsl2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기본버전으로 설정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marL="0" indent="0">
              <a:buNone/>
            </a:pP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algn="l"/>
            <a:r>
              <a:rPr lang="en-US" altLang="ko-KR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Linux </a:t>
            </a:r>
            <a:r>
              <a:rPr lang="ko-KR" altLang="en-US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배포</a:t>
            </a:r>
            <a:r>
              <a:rPr lang="ko-KR" altLang="en-US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판</a:t>
            </a:r>
            <a:r>
              <a:rPr lang="ko-KR" altLang="en-US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  <a:t> 설치</a:t>
            </a:r>
            <a:endParaRPr lang="en-US" altLang="ko-KR" i="0">
              <a:solidFill>
                <a:srgbClr val="161616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Microsoft store </a:t>
            </a:r>
            <a:r>
              <a:rPr lang="ko-KR" altLang="en-US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열고 즐겨 찾는 </a:t>
            </a:r>
            <a:r>
              <a:rPr lang="en-US" altLang="ko-KR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linux </a:t>
            </a:r>
            <a:r>
              <a:rPr lang="ko-KR" altLang="en-US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배포를 선택합니다</a:t>
            </a:r>
            <a:r>
              <a:rPr lang="en-US" altLang="ko-KR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en-US" altLang="ko-KR" i="0">
              <a:solidFill>
                <a:srgbClr val="161616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Ubuntu </a:t>
            </a:r>
            <a:r>
              <a:rPr lang="ko-KR" altLang="en-US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설치</a:t>
            </a:r>
            <a:endParaRPr lang="en-US" altLang="ko-KR">
              <a:solidFill>
                <a:srgbClr val="161616"/>
              </a:solidFill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en-US" altLang="ko-KR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Username </a:t>
            </a:r>
            <a:r>
              <a:rPr lang="ko-KR" altLang="en-US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및 </a:t>
            </a:r>
            <a:r>
              <a:rPr lang="en-US" altLang="ko-KR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Password</a:t>
            </a:r>
            <a:r>
              <a:rPr lang="ko-KR" altLang="en-US">
                <a:solidFill>
                  <a:srgbClr val="161616"/>
                </a:solidFill>
                <a:latin typeface="나눔고딕" pitchFamily="2" charset="-127"/>
                <a:ea typeface="나눔고딕" pitchFamily="2" charset="-127"/>
              </a:rPr>
              <a:t>는 사용자가 정의</a:t>
            </a:r>
            <a:endParaRPr lang="en-US" altLang="ko-KR">
              <a:solidFill>
                <a:srgbClr val="161616"/>
              </a:solidFill>
              <a:latin typeface="나눔고딕" pitchFamily="2" charset="-127"/>
              <a:ea typeface="나눔고딕" pitchFamily="2" charset="-127"/>
            </a:endParaRPr>
          </a:p>
          <a:p>
            <a:pPr marL="0" indent="0">
              <a:buNone/>
            </a:pPr>
            <a:br>
              <a:rPr lang="ko-KR" altLang="en-US" b="0" i="0">
                <a:solidFill>
                  <a:srgbClr val="161616"/>
                </a:solidFill>
                <a:effectLst/>
                <a:latin typeface="나눔고딕" pitchFamily="2" charset="-127"/>
                <a:ea typeface="나눔고딕" pitchFamily="2" charset="-127"/>
              </a:rPr>
            </a:b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942373-183D-E132-DC5B-9516D3C852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WSL install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BBFBE-5A7A-58EC-0CD6-9C8A4D6094F1}"/>
              </a:ext>
            </a:extLst>
          </p:cNvPr>
          <p:cNvSpPr txBox="1"/>
          <p:nvPr/>
        </p:nvSpPr>
        <p:spPr>
          <a:xfrm>
            <a:off x="1367947" y="33660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wsl --set-default-version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2C354-B1F8-D7F5-7B17-20EACE251E4B}"/>
              </a:ext>
            </a:extLst>
          </p:cNvPr>
          <p:cNvSpPr txBox="1"/>
          <p:nvPr/>
        </p:nvSpPr>
        <p:spPr>
          <a:xfrm>
            <a:off x="1367947" y="22655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wsl --</a:t>
            </a:r>
            <a:r>
              <a:rPr lang="en-US" altLang="ko-KR"/>
              <a:t>update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407D2-3A4E-540C-37B8-DA86C192C599}"/>
              </a:ext>
            </a:extLst>
          </p:cNvPr>
          <p:cNvSpPr txBox="1"/>
          <p:nvPr/>
        </p:nvSpPr>
        <p:spPr>
          <a:xfrm>
            <a:off x="1367947" y="1500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wsl --</a:t>
            </a:r>
            <a:r>
              <a:rPr lang="en-US" altLang="ko-KR"/>
              <a:t>install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7ED02F7-0EB2-B39D-7CDC-95EEB80A2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414" y="2055560"/>
            <a:ext cx="3993619" cy="312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2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4E88220-C83E-357D-B0AC-222D0F7CB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설치후 탐색기에서 자신이 설치한 </a:t>
            </a:r>
            <a:r>
              <a:rPr lang="en-US" altLang="ko-KR"/>
              <a:t>ubuntu </a:t>
            </a:r>
            <a:r>
              <a:rPr lang="ko-KR" altLang="en-US"/>
              <a:t>검색을 통해 </a:t>
            </a:r>
            <a:r>
              <a:rPr lang="en-US" altLang="ko-KR"/>
              <a:t>linux </a:t>
            </a:r>
            <a:r>
              <a:rPr lang="ko-KR" altLang="en-US"/>
              <a:t>실행가능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477483-089B-6506-2EB8-718656B7E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Ubuntu install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AF9F60-3281-CD03-E675-CC79E802B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82" y="1993770"/>
            <a:ext cx="4722835" cy="38358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1A4E9CD-373A-E1D2-CD3C-DFAFAD0BE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867" y="2642911"/>
            <a:ext cx="3927762" cy="18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15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2BD1B0D-4438-A53C-A152-2D0AD329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란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?</a:t>
            </a:r>
          </a:p>
          <a:p>
            <a:pPr lvl="1"/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Docker</a:t>
            </a:r>
            <a:r>
              <a:rPr lang="ko-KR" altLang="en-US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는 애플리케이션을 신속하게 구축</a:t>
            </a:r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테스트 및 배포할 수 있는 소프트웨어 플랫폼</a:t>
            </a:r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 b="0" i="0">
              <a:solidFill>
                <a:srgbClr val="232F3E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Docker</a:t>
            </a:r>
            <a:r>
              <a:rPr lang="ko-KR" altLang="en-US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는 소프트웨어를 </a:t>
            </a:r>
            <a:r>
              <a:rPr lang="ko-KR" altLang="en-US" b="0" i="0" u="sng">
                <a:solidFill>
                  <a:srgbClr val="0972D3"/>
                </a:solidFill>
                <a:effectLst/>
                <a:latin typeface="나눔고딕" pitchFamily="2" charset="-127"/>
                <a:ea typeface="나눔고딕" pitchFamily="2" charset="-127"/>
                <a:hlinkClick r:id="rId2"/>
              </a:rPr>
              <a:t>컨테이너</a:t>
            </a:r>
            <a:r>
              <a:rPr lang="ko-KR" altLang="en-US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라는 표준화된 유닛으로 패키징하며</a:t>
            </a:r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이 컨테이너에는 라이브러리</a:t>
            </a:r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시스템 도구</a:t>
            </a:r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코드</a:t>
            </a:r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런타임 등 소프트웨어를 실행하는 데 필요한 모든 것이 포함되어 있음</a:t>
            </a:r>
            <a:r>
              <a:rPr lang="en-US" altLang="ko-KR" b="0" i="0">
                <a:solidFill>
                  <a:srgbClr val="232F3E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9E501C-575D-11ED-9AB2-53AD9E07BD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</a:t>
            </a:r>
            <a:endParaRPr lang="ko-KR" altLang="en-US"/>
          </a:p>
        </p:txBody>
      </p:sp>
      <p:pic>
        <p:nvPicPr>
          <p:cNvPr id="1026" name="Picture 2" descr="Docker] Docker의 개념 및 핵심 설명">
            <a:extLst>
              <a:ext uri="{FF2B5EF4-FFF2-40B4-BE49-F238E27FC236}">
                <a16:creationId xmlns:a16="http://schemas.microsoft.com/office/drawing/2014/main" id="{D7914602-83F9-F3FE-E4CA-7482C67B4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076" y="3429000"/>
            <a:ext cx="3473594" cy="302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609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63FAF08-E882-D5BF-F136-0566B9676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Vm</a:t>
            </a:r>
            <a:r>
              <a:rPr lang="ko-KR" altLang="en-US"/>
              <a:t>과의 비교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A0066E-A182-7234-36B2-02E497CAD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왜 </a:t>
            </a:r>
            <a:r>
              <a:rPr lang="en-US" altLang="ko-KR"/>
              <a:t>Docker </a:t>
            </a:r>
            <a:r>
              <a:rPr lang="ko-KR" altLang="en-US"/>
              <a:t>인가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2050" name="Picture 2" descr="1">
            <a:extLst>
              <a:ext uri="{FF2B5EF4-FFF2-40B4-BE49-F238E27FC236}">
                <a16:creationId xmlns:a16="http://schemas.microsoft.com/office/drawing/2014/main" id="{8BD01DF6-EE63-DEDD-7980-78B7648C1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58" y="1625564"/>
            <a:ext cx="733425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51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648E2B-E8F5-EE66-0AFF-7982852AD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용어 및 개념 분류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2514E-10CA-3F26-E38C-BA4D8B59AF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</a:t>
            </a:r>
            <a:endParaRPr lang="ko-KR" altLang="en-US"/>
          </a:p>
        </p:txBody>
      </p:sp>
      <p:pic>
        <p:nvPicPr>
          <p:cNvPr id="2050" name="Picture 2" descr="Docker 컨테이너, 이미지 및 레지스트리 - .NET | Microsoft Learn">
            <a:extLst>
              <a:ext uri="{FF2B5EF4-FFF2-40B4-BE49-F238E27FC236}">
                <a16:creationId xmlns:a16="http://schemas.microsoft.com/office/drawing/2014/main" id="{B77152E6-B730-EB10-45FE-767DC4260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930" y="1811525"/>
            <a:ext cx="7658398" cy="438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81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7CD7BB6-5BAE-DB68-71C0-B85C83961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  <a:hlinkClick r:id="rId2"/>
              </a:rPr>
              <a:t>설치 페이지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9E63B8-396F-D068-A50A-32BED5B176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Docker </a:t>
            </a:r>
            <a:r>
              <a:rPr lang="ko-KR" altLang="en-US">
                <a:latin typeface="+mj-ea"/>
                <a:ea typeface="+mj-ea"/>
              </a:rPr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ADAB8-BFAA-98A5-2978-0D150E28E33E}"/>
              </a:ext>
            </a:extLst>
          </p:cNvPr>
          <p:cNvSpPr txBox="1"/>
          <p:nvPr/>
        </p:nvSpPr>
        <p:spPr>
          <a:xfrm>
            <a:off x="870857" y="2294740"/>
            <a:ext cx="8090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for pkg in docker.io docker-doc docker-compose docker-compose-v2 podman-docker containerd runc; do sudo apt-get remove $pkg; done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BE58C-8BCA-AE90-240E-825341854E46}"/>
              </a:ext>
            </a:extLst>
          </p:cNvPr>
          <p:cNvSpPr txBox="1"/>
          <p:nvPr/>
        </p:nvSpPr>
        <p:spPr>
          <a:xfrm>
            <a:off x="870857" y="1820091"/>
            <a:ext cx="560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Linux terminal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킨 상태에서 기존 설정 및 프로그램 삭제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6954A-C269-3FD8-067D-A5BDD0E76DAE}"/>
              </a:ext>
            </a:extLst>
          </p:cNvPr>
          <p:cNvSpPr txBox="1"/>
          <p:nvPr/>
        </p:nvSpPr>
        <p:spPr>
          <a:xfrm>
            <a:off x="870857" y="32765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 u="sng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u="sng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docker </a:t>
            </a:r>
            <a:r>
              <a:rPr lang="ko-KR" altLang="en-US" b="0" i="0" u="sng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저장소 추가</a:t>
            </a:r>
            <a:endParaRPr lang="en-US" altLang="ko-KR" b="0" i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7F7E2-45BF-F680-FE9C-5AE388DE4E0E}"/>
              </a:ext>
            </a:extLst>
          </p:cNvPr>
          <p:cNvSpPr txBox="1"/>
          <p:nvPr/>
        </p:nvSpPr>
        <p:spPr>
          <a:xfrm>
            <a:off x="1059100" y="3822006"/>
            <a:ext cx="1027075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# Add Docker's official GPG key: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sudo apt-get update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sudo apt-get install ca-certificates curl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sudo install -m 0755 -d /etc/apt/keyrings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sudo curl -fsSL https://download.docker.com/linux/ubuntu/gpg -o /etc/apt/keyrings/docker.asc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sudo chmod a+r /etc/apt/keyrings/docker.asc</a:t>
            </a:r>
          </a:p>
          <a:p>
            <a:endParaRPr lang="ko-KR" altLang="en-US" sz="1200"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# Add the repository to Apt sources: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echo \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  "deb [arch=$(dpkg --print-architecture) signed-by=/etc/apt/keyrings/docker.asc] https://download.docker.com/linux/ubuntu \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  $(. /etc/os-release &amp;&amp; echo "$VERSION_CODENAME") stable" | \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  sudo tee /etc/apt/sources.list.d/docker.list &gt; /dev/null</a:t>
            </a:r>
          </a:p>
          <a:p>
            <a:r>
              <a:rPr lang="ko-KR" altLang="en-US" sz="1200">
                <a:latin typeface="나눔고딕" pitchFamily="2" charset="-127"/>
                <a:ea typeface="나눔고딕" pitchFamily="2" charset="-127"/>
              </a:rPr>
              <a:t>sudo apt-get update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F0DF034-A64D-B193-E9F1-3681CE6D6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260" y="1287439"/>
            <a:ext cx="3009257" cy="198291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356FC60-DF20-19F7-C8C1-A3BCD2491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310" y="3452674"/>
            <a:ext cx="3562619" cy="20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121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37D4736-1642-3072-2ADF-231234B5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패키지 설치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설치 완료후  검증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0232D0-7260-A2BA-74DD-C9735DF966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latin typeface="+mj-lt"/>
                <a:ea typeface="나눔고딕" pitchFamily="2" charset="-127"/>
              </a:rPr>
              <a:t>Docker </a:t>
            </a:r>
            <a:r>
              <a:rPr lang="ko-KR" altLang="en-US">
                <a:latin typeface="+mj-lt"/>
                <a:ea typeface="나눔고딕" pitchFamily="2" charset="-127"/>
              </a:rPr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8BEB9-9C6B-E66D-C3B5-A0ABDE1CFF6A}"/>
              </a:ext>
            </a:extLst>
          </p:cNvPr>
          <p:cNvSpPr txBox="1"/>
          <p:nvPr/>
        </p:nvSpPr>
        <p:spPr>
          <a:xfrm>
            <a:off x="1166948" y="2116072"/>
            <a:ext cx="8784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sudo apt-get install docker-ce docker-ce-cli containerd.io docker-buildx-plugin docker-compose-plugin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B4FA5C-03B2-3A29-5E08-21F5A98F7CB1}"/>
              </a:ext>
            </a:extLst>
          </p:cNvPr>
          <p:cNvSpPr txBox="1"/>
          <p:nvPr/>
        </p:nvSpPr>
        <p:spPr>
          <a:xfrm>
            <a:off x="1393371" y="45005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sudo docker run hello-world</a:t>
            </a:r>
          </a:p>
        </p:txBody>
      </p:sp>
    </p:spTree>
    <p:extLst>
      <p:ext uri="{BB962C8B-B14F-4D97-AF65-F5344CB8AC3E}">
        <p14:creationId xmlns:p14="http://schemas.microsoft.com/office/powerpoint/2010/main" val="1909539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9521249-A090-0958-B1AF-BC6F7BE3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권한이 없다고 관리자 권한으로 실행해달라는 메시지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BFA7C8-E478-8ED3-1DBA-EE4F4A556A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 </a:t>
            </a:r>
            <a:r>
              <a:rPr lang="ko-KR" altLang="en-US"/>
              <a:t>권한설정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D5B8850-1022-EC07-725C-577E78BD3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487" y="2169140"/>
            <a:ext cx="3706143" cy="437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sudo usermod -a -G docker $USER </a:t>
            </a:r>
            <a:endParaRPr kumimoji="0" lang="en-US" altLang="ko-KR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Fira Mono" panose="020B05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24741-9A77-1401-44B9-105CF6A04684}"/>
              </a:ext>
            </a:extLst>
          </p:cNvPr>
          <p:cNvSpPr txBox="1"/>
          <p:nvPr/>
        </p:nvSpPr>
        <p:spPr>
          <a:xfrm>
            <a:off x="960121" y="3403153"/>
            <a:ext cx="60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Fira Mono" panose="020B0509050000020004" pitchFamily="49" charset="0"/>
              </a:rPr>
              <a:t>sudo service docker restart</a:t>
            </a:r>
            <a:r>
              <a:rPr kumimoji="0" lang="ko-KR" altLang="ko-K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192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1051060-978A-8633-7733-FBF337BF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  <a:hlinkClick r:id="rId2"/>
              </a:rPr>
              <a:t>Pid error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Systemd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사용하는것이 처음엔 막혀있음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Systemd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사용을 위해서 다음의 사전 작업을 수행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/>
            <a:r>
              <a:rPr lang="en-US" altLang="ko-KR">
                <a:latin typeface="나눔고딕" pitchFamily="2" charset="-127"/>
                <a:ea typeface="나눔고딕" pitchFamily="2" charset="-127"/>
              </a:rPr>
              <a:t>WSL version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확인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(0.67.6)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이상 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ko-KR" altLang="en-US">
                <a:latin typeface="나눔고딕" pitchFamily="2" charset="-127"/>
                <a:ea typeface="나눔고딕" pitchFamily="2" charset="-127"/>
              </a:rPr>
              <a:t>업데이트하려면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WSL –-update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수행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본인이 설치한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Linux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실행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en-US" altLang="ko-KR">
                <a:latin typeface="나눔고딕" pitchFamily="2" charset="-127"/>
                <a:ea typeface="나눔고딕" pitchFamily="2" charset="-127"/>
              </a:rPr>
              <a:t>sudo nano /etc/wsl.conf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실행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ko-KR" altLang="en-US">
                <a:latin typeface="나눔고딕" pitchFamily="2" charset="-127"/>
                <a:ea typeface="나눔고딕" pitchFamily="2" charset="-127"/>
              </a:rPr>
              <a:t>오른쪽의 내용 복사 및 붙여넣어 저장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5A0B05-CE55-28ED-594F-4F6AF5269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Wsl</a:t>
            </a:r>
            <a:r>
              <a:rPr lang="ko-KR" altLang="en-US"/>
              <a:t>환경에서 </a:t>
            </a:r>
            <a:r>
              <a:rPr lang="en-US" altLang="ko-KR"/>
              <a:t>docker </a:t>
            </a:r>
            <a:r>
              <a:rPr lang="ko-KR" altLang="en-US"/>
              <a:t>오류 발생시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F38AD-0B9C-F8E9-39E0-8952C8F18C24}"/>
              </a:ext>
            </a:extLst>
          </p:cNvPr>
          <p:cNvSpPr txBox="1"/>
          <p:nvPr/>
        </p:nvSpPr>
        <p:spPr>
          <a:xfrm>
            <a:off x="6549688" y="5196947"/>
            <a:ext cx="5206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[boot]</a:t>
            </a:r>
          </a:p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systemd=true</a:t>
            </a:r>
          </a:p>
        </p:txBody>
      </p:sp>
      <p:pic>
        <p:nvPicPr>
          <p:cNvPr id="2050" name="Picture 2" descr="Solved] &quot;system has not been booted with systemd as init system&quot; - Linux  Genie">
            <a:extLst>
              <a:ext uri="{FF2B5EF4-FFF2-40B4-BE49-F238E27FC236}">
                <a16:creationId xmlns:a16="http://schemas.microsoft.com/office/drawing/2014/main" id="{659D18BC-813E-23D4-D7F8-F9A342752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347" y="1579459"/>
            <a:ext cx="742950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745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4F57DC8-C350-7306-654D-B68657040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저장후 </a:t>
            </a:r>
            <a:r>
              <a:rPr lang="en-US" altLang="ko-KR"/>
              <a:t>wsl </a:t>
            </a:r>
            <a:r>
              <a:rPr lang="ko-KR" altLang="en-US"/>
              <a:t>재실행</a:t>
            </a:r>
            <a:endParaRPr lang="en-US" altLang="ko-KR"/>
          </a:p>
          <a:p>
            <a:r>
              <a:rPr lang="en-US" altLang="ko-KR"/>
              <a:t>Systemctl status </a:t>
            </a:r>
            <a:r>
              <a:rPr lang="ko-KR" altLang="en-US"/>
              <a:t>혹은 </a:t>
            </a:r>
            <a:r>
              <a:rPr lang="en-US" altLang="ko-KR"/>
              <a:t>pstree</a:t>
            </a:r>
            <a:r>
              <a:rPr lang="ko-KR" altLang="en-US"/>
              <a:t>로 확인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2A0B01-21A8-32BE-B39C-4F4DC9378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Wsl </a:t>
            </a:r>
            <a:r>
              <a:rPr lang="ko-KR" altLang="en-US"/>
              <a:t>환경에서 </a:t>
            </a:r>
            <a:r>
              <a:rPr lang="en-US" altLang="ko-KR"/>
              <a:t>docker </a:t>
            </a:r>
            <a:r>
              <a:rPr lang="ko-KR" altLang="en-US"/>
              <a:t>오류 발생시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CF946A-783B-3A0A-6710-BBEB7D82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7" y="1105117"/>
            <a:ext cx="7133877" cy="338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60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F9E360-5E55-7321-DFC5-FD4F766A2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속성에서 설정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DB81FF-E6B3-E3BE-4943-3E4D0EAFF0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Wsl </a:t>
            </a:r>
            <a:r>
              <a:rPr lang="ko-KR" altLang="en-US"/>
              <a:t>환경에서 복사 붙여넣기가 안될때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94C371-609A-1602-80DE-6E1806912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5" y="1842274"/>
            <a:ext cx="6765056" cy="35492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244988-9267-4E35-E31E-052314073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780" y="1988980"/>
            <a:ext cx="4537095" cy="335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38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4C2B87-0D24-74D8-CC93-E8F187E6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잘 수행됐을시 다음과 같은형태의 메시지 출력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CA617B-9EEE-DA2E-EAAF-81ADF92187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Wsl</a:t>
            </a:r>
            <a:r>
              <a:rPr lang="ko-KR" altLang="en-US"/>
              <a:t>환경에서 </a:t>
            </a:r>
            <a:r>
              <a:rPr lang="en-US" altLang="ko-KR"/>
              <a:t>docker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BE89C63-7BD8-C0B2-82E3-AC65A484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5" y="1854228"/>
            <a:ext cx="5029653" cy="33360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49A4F06-E514-973C-2817-D20342DBE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491" y="1854228"/>
            <a:ext cx="5310614" cy="33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35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9F48422-AC4E-9F95-6374-4F1130E2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는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linux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혹은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linux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에서 구동되는 프로그램을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image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 파일에 기반하여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라는 패키지를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process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상에 적재할수있음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다음은 많이쓰이는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의 명령어임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ps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images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pull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run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start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stop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rm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rmi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C113FD-276D-C821-FDFB-CD742DE3E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361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6C83DCB-98FF-97E2-79BE-3EDBD0E1D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Docker ps </a:t>
            </a:r>
          </a:p>
          <a:p>
            <a:pPr lvl="1"/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실행중인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container 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목록을 출력함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 sz="100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00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00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00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00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00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CONTAINER ID</a:t>
            </a:r>
          </a:p>
          <a:p>
            <a:pPr lvl="1"/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이미지로 부터 생성된 컨테이너의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id</a:t>
            </a:r>
          </a:p>
          <a:p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Image</a:t>
            </a:r>
          </a:p>
          <a:p>
            <a:pPr lvl="1"/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Container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가 어느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image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로부터 생성되어있는지 보여줌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Command</a:t>
            </a:r>
          </a:p>
          <a:p>
            <a:pPr lvl="1"/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Shell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과 같은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linux 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명령어를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구동시에 수행하게하는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entry 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명령어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Status</a:t>
            </a:r>
          </a:p>
          <a:p>
            <a:pPr lvl="1"/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실행중 혹은 종료된 상태 확인가능</a:t>
            </a:r>
            <a:endParaRPr lang="en-US" altLang="ko-KR" sz="100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Ports</a:t>
            </a:r>
          </a:p>
          <a:p>
            <a:pPr lvl="1"/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실행중인 컨테이너의 특정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port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를 포트포워딩을 통해 접근할수있음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Postgresql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의 경우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5432 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포트를 기본포트로 사용함 위의 경우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 localhost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의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8080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으로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test2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라는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의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5432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포트에 접근하겠다는의미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 sz="100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ps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–a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option</a:t>
            </a: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은 실행중이지 않은 컨테이너의 목록도 보여줌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ko-KR" altLang="en-US" sz="100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1F356F-AE30-5B1E-CB66-19CF09197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 </a:t>
            </a:r>
            <a:r>
              <a:rPr lang="ko-KR" altLang="en-US"/>
              <a:t>명령어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908004-35F7-DBFB-B430-F12E2593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36" y="1601225"/>
            <a:ext cx="9116697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42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49684AC-63F3-4A07-5E7F-EEFA8FDC8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pull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  <a:hlinkClick r:id="rId2"/>
              </a:rPr>
              <a:t>Docker hub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라는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에서 제공하는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image hub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가 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Hub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에는 수많은 프로그램 및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os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가 등록되어있어 이들을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pull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명령어로 가져와 구동할수 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93D788-352A-689A-DA81-0CCE77C02C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 </a:t>
            </a:r>
            <a:r>
              <a:rPr lang="ko-KR" altLang="en-US"/>
              <a:t>명령어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15AC58-8217-7937-17D8-9A61CE35A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171" y="2460150"/>
            <a:ext cx="5558035" cy="419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59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B85C8DB-4B80-4413-6112-97BFA40A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현재 머신에 설치된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image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확인 가능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Repository </a:t>
            </a: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저장소명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Tag 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version</a:t>
            </a: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Image ID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rmi $Imageid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를통해 이미지삭제 가능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73D29B-C39A-05B2-3729-E4FF18892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 </a:t>
            </a:r>
            <a:r>
              <a:rPr lang="ko-KR" altLang="en-US"/>
              <a:t>명령어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97FD61-09FB-98C3-C314-78F93FCC8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508" y="2085384"/>
            <a:ext cx="629690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18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4E38AC3-C074-58BA-A818-CE4E549E9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  <a:hlinkClick r:id="rId2"/>
              </a:rPr>
              <a:t>Docker run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Image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로 부터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생성하고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구동시키는 명령어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여러 옵션을통해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localhost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로부터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에서 구동중인 서비스에 접근할수있게끔 포트 포워딩이나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에서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localhost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의 자원에 접근하게 할수있음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BCB4C0-9A19-4FDA-9C7F-2D3FEBC573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 </a:t>
            </a:r>
            <a:r>
              <a:rPr lang="ko-KR" altLang="en-US"/>
              <a:t>명령어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7F0B40-A91E-57EF-4291-FAF91263E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44" y="2127350"/>
            <a:ext cx="8583223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24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71ECD29-A2EF-53E8-9F91-98A4CA7BA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start</a:t>
            </a: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생성된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구동하는 명령어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의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id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나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name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을 기반으로 실행할수있음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A98C08-45AA-65B1-B4F1-32D21F254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 </a:t>
            </a:r>
            <a:r>
              <a:rPr lang="ko-KR" altLang="en-US"/>
              <a:t>명령어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E7EE4F-4DE3-078A-47CF-CA46794D5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18" y="2713984"/>
            <a:ext cx="8811855" cy="6954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C30497-092A-8D2E-5041-DA51406AA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18" y="3830952"/>
            <a:ext cx="5877745" cy="6573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8477E5-464C-80C1-FB7D-D12FD162E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518" y="4849265"/>
            <a:ext cx="10166654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96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49E09E-64F8-2ACB-45C5-17631192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stop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Stop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을통해 실행중인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종료시킬수있음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containnerID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 혹은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Name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을입력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B3ACEE-D682-A970-D2E4-639211EAE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 </a:t>
            </a:r>
            <a:r>
              <a:rPr lang="ko-KR" altLang="en-US"/>
              <a:t>명령어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851319-53C3-E031-9B1E-158DBEB6D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76" y="2774524"/>
            <a:ext cx="9202434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21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44EC30-AD12-5E3D-BEB6-3DD2730CF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rm</a:t>
            </a: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종료된 컨테이너를 삭제하는명령어 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 id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혹은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name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을 기반으로 삭제가능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/>
            <a:r>
              <a:rPr lang="ko-KR" altLang="en-US">
                <a:latin typeface="나눔고딕" pitchFamily="2" charset="-127"/>
                <a:ea typeface="나눔고딕" pitchFamily="2" charset="-127"/>
              </a:rPr>
              <a:t>예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) Docker rm ryu </a:t>
            </a:r>
          </a:p>
          <a:p>
            <a:pPr marL="914400" lvl="2" indent="0">
              <a:buNone/>
            </a:pP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rmi</a:t>
            </a: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설치된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docker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이미지를 삭제할수있음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en-US" altLang="ko-KR">
                <a:latin typeface="나눔고딕" pitchFamily="2" charset="-127"/>
                <a:ea typeface="나눔고딕" pitchFamily="2" charset="-127"/>
              </a:rPr>
              <a:t>Image id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혹은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name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과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tag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의 조합으로 삭제가능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 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2"/>
            <a:r>
              <a:rPr lang="ko-KR" altLang="en-US">
                <a:latin typeface="나눔고딕" pitchFamily="2" charset="-127"/>
                <a:ea typeface="나눔고딕" pitchFamily="2" charset="-127"/>
              </a:rPr>
              <a:t>예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) Docker rmi postgres:latest</a:t>
            </a: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6696DB-2869-2E80-EACE-78E1BE7BB0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Docker </a:t>
            </a:r>
            <a:r>
              <a:rPr lang="ko-KR" altLang="en-US"/>
              <a:t>명령어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9EDCCE-1FF7-DCBE-7680-F82DD3817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375" y="4848880"/>
            <a:ext cx="8306959" cy="6382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A14EE62-316D-8840-6B7D-9077E453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374" y="2733578"/>
            <a:ext cx="8668960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41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A4F00E4-8B8A-0F95-E7DF-FE514652A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  <a:hlinkClick r:id="rId2"/>
              </a:rPr>
              <a:t>Postgresql</a:t>
            </a:r>
            <a:r>
              <a:rPr lang="ko-KR" altLang="en-US">
                <a:latin typeface="나눔고딕" pitchFamily="2" charset="-127"/>
                <a:ea typeface="나눔고딕" pitchFamily="2" charset="-127"/>
                <a:hlinkClick r:id="rId2"/>
              </a:rPr>
              <a:t> </a:t>
            </a:r>
            <a:r>
              <a:rPr lang="en-US" altLang="ko-KR">
                <a:latin typeface="나눔고딕" pitchFamily="2" charset="-127"/>
                <a:ea typeface="나눔고딕" pitchFamily="2" charset="-127"/>
                <a:hlinkClick r:id="rId2"/>
              </a:rPr>
              <a:t>docker</a:t>
            </a:r>
            <a:r>
              <a:rPr lang="ko-KR" altLang="en-US">
                <a:latin typeface="나눔고딕" pitchFamily="2" charset="-127"/>
                <a:ea typeface="나눔고딕" pitchFamily="2" charset="-127"/>
                <a:hlinkClick r:id="rId2"/>
              </a:rPr>
              <a:t> </a:t>
            </a:r>
            <a:r>
              <a:rPr lang="en-US" altLang="ko-KR">
                <a:latin typeface="나눔고딕" pitchFamily="2" charset="-127"/>
                <a:ea typeface="나눔고딕" pitchFamily="2" charset="-127"/>
                <a:hlinkClick r:id="rId2"/>
              </a:rPr>
              <a:t>image</a:t>
            </a:r>
            <a:r>
              <a:rPr lang="ko-KR" altLang="en-US">
                <a:latin typeface="나눔고딕" pitchFamily="2" charset="-127"/>
                <a:ea typeface="나눔고딕" pitchFamily="2" charset="-127"/>
                <a:hlinkClick r:id="rId2"/>
              </a:rPr>
              <a:t> 공식 저장소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다음의 명령어 수행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EE1C8-64F1-FCE5-6F58-487FEBF856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Docker </a:t>
            </a:r>
            <a:r>
              <a:rPr lang="ko-KR" altLang="en-US"/>
              <a:t>를 통한 </a:t>
            </a:r>
            <a:r>
              <a:rPr lang="en-US" altLang="ko-KR"/>
              <a:t>postgresql </a:t>
            </a:r>
            <a:r>
              <a:rPr lang="ko-KR" altLang="en-US"/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F52F9-3D6D-9185-1B95-CF9BEBA31262}"/>
              </a:ext>
            </a:extLst>
          </p:cNvPr>
          <p:cNvSpPr txBox="1"/>
          <p:nvPr/>
        </p:nvSpPr>
        <p:spPr>
          <a:xfrm>
            <a:off x="1321173" y="19744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docker pull postgres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828DCD-179A-386A-9C86-62A35C7BC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36" y="2541235"/>
            <a:ext cx="5822599" cy="24607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741D4F4-9B57-8C40-D642-B79EA8E23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400" y="3213036"/>
            <a:ext cx="5329115" cy="80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88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52D8F62-8A6C-CB49-E4A9-7975B796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34" y="1113826"/>
            <a:ext cx="11339444" cy="5023539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생성 및 구동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-P option </a:t>
            </a: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컨테이너 내부 특정 포트를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localhost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포트 로 접근가능하게함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--name</a:t>
            </a: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생성한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containner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에 대한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alias</a:t>
            </a: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-e</a:t>
            </a: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생성하는 컨테이너에 환경변수값을 생성하여 적용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POSTGRES_PASSWORD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은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postgresql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이 사용함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-d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Detached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모드로 컨테이너 실행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-it</a:t>
            </a: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컨테이너 내부로 진입하도록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attach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 가능한 상태로 설정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025E64-5E4C-619C-6A5D-B4FADA3A4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Postgresql</a:t>
            </a:r>
            <a:r>
              <a:rPr lang="ko-KR" altLang="en-US"/>
              <a:t> 컨테이너 생성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B1CC3A3-3025-6C62-1242-2894036CF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018" y="1597384"/>
            <a:ext cx="9423966" cy="738664"/>
          </a:xfrm>
          <a:prstGeom prst="rect">
            <a:avLst/>
          </a:prstGeom>
          <a:solidFill>
            <a:srgbClr val="F9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393F49"/>
                </a:solidFill>
                <a:effectLst/>
                <a:latin typeface="나눔고딕" pitchFamily="2" charset="-127"/>
                <a:ea typeface="나눔고딕" pitchFamily="2" charset="-127"/>
              </a:rPr>
              <a:t>docker run </a:t>
            </a:r>
            <a:r>
              <a:rPr kumimoji="0" lang="en-US" altLang="ko-KR" sz="2400" b="0" i="0" u="none" strike="noStrike" cap="none" normalizeH="0" baseline="0">
                <a:ln>
                  <a:noFill/>
                </a:ln>
                <a:solidFill>
                  <a:srgbClr val="393F49"/>
                </a:solidFill>
                <a:effectLst/>
                <a:latin typeface="나눔고딕" pitchFamily="2" charset="-127"/>
                <a:ea typeface="나눔고딕" pitchFamily="2" charset="-127"/>
              </a:rPr>
              <a:t>–p </a:t>
            </a:r>
            <a:r>
              <a:rPr kumimoji="0" lang="en-US" altLang="ko-KR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나눔고딕" pitchFamily="2" charset="-127"/>
                <a:ea typeface="나눔고딕" pitchFamily="2" charset="-127"/>
              </a:rPr>
              <a:t>host_port:container_port </a:t>
            </a: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393F49"/>
                </a:solidFill>
                <a:effectLst/>
                <a:latin typeface="나눔고딕" pitchFamily="2" charset="-127"/>
                <a:ea typeface="나눔고딕" pitchFamily="2" charset="-127"/>
              </a:rPr>
              <a:t>--name </a:t>
            </a: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나눔고딕" pitchFamily="2" charset="-127"/>
                <a:ea typeface="나눔고딕" pitchFamily="2" charset="-127"/>
              </a:rPr>
              <a:t>some-postgres </a:t>
            </a: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393F49"/>
                </a:solidFill>
                <a:effectLst/>
                <a:latin typeface="나눔고딕" pitchFamily="2" charset="-127"/>
                <a:ea typeface="나눔고딕" pitchFamily="2" charset="-127"/>
              </a:rPr>
              <a:t>-e POSTGRES_PASSWORD=</a:t>
            </a: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나눔고딕" pitchFamily="2" charset="-127"/>
                <a:ea typeface="나눔고딕" pitchFamily="2" charset="-127"/>
              </a:rPr>
              <a:t>mysecretpassword</a:t>
            </a: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393F49"/>
                </a:solidFill>
                <a:effectLst/>
                <a:latin typeface="나눔고딕" pitchFamily="2" charset="-127"/>
                <a:ea typeface="나눔고딕" pitchFamily="2" charset="-127"/>
              </a:rPr>
              <a:t> -d </a:t>
            </a: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나눔고딕" pitchFamily="2" charset="-127"/>
                <a:ea typeface="나눔고딕" pitchFamily="2" charset="-127"/>
              </a:rPr>
              <a:t>postgres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endParaRPr kumimoji="0" lang="ko-KR" altLang="ko-KR" sz="6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076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FCB50DD-F89E-7FAA-C72E-DEE03D2CE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Postgresql</a:t>
            </a:r>
            <a:r>
              <a:rPr lang="ko-KR" altLang="en-US"/>
              <a:t>은 기본적으로 </a:t>
            </a:r>
            <a:r>
              <a:rPr lang="en-US" altLang="ko-KR"/>
              <a:t>5432 port</a:t>
            </a:r>
            <a:r>
              <a:rPr lang="ko-KR" altLang="en-US"/>
              <a:t>를 사용</a:t>
            </a:r>
            <a:endParaRPr lang="en-US" altLang="ko-KR"/>
          </a:p>
          <a:p>
            <a:r>
              <a:rPr lang="ko-KR" altLang="en-US"/>
              <a:t>따라서 </a:t>
            </a:r>
            <a:r>
              <a:rPr lang="en-US" altLang="ko-KR"/>
              <a:t>localhost</a:t>
            </a:r>
            <a:r>
              <a:rPr lang="ko-KR" altLang="en-US"/>
              <a:t>에서 </a:t>
            </a:r>
            <a:r>
              <a:rPr lang="en-US" altLang="ko-KR"/>
              <a:t>containner</a:t>
            </a:r>
            <a:r>
              <a:rPr lang="ko-KR" altLang="en-US"/>
              <a:t>의 </a:t>
            </a:r>
            <a:r>
              <a:rPr lang="en-US" altLang="ko-KR"/>
              <a:t>5432 port</a:t>
            </a:r>
            <a:r>
              <a:rPr lang="ko-KR" altLang="en-US"/>
              <a:t>로 포트포워딩을 해야함</a:t>
            </a:r>
            <a:r>
              <a:rPr lang="en-US" altLang="ko-KR"/>
              <a:t>.</a:t>
            </a:r>
          </a:p>
          <a:p>
            <a:r>
              <a:rPr lang="ko-KR" altLang="en-US"/>
              <a:t>빨간색으로 표시된부분은 본인이 알아서 정의할것</a:t>
            </a:r>
            <a:r>
              <a:rPr lang="en-US" altLang="ko-KR"/>
              <a:t>.</a:t>
            </a:r>
          </a:p>
          <a:p>
            <a:r>
              <a:rPr lang="ko-KR" altLang="en-US"/>
              <a:t>실행이 잘되면 다음과 같이 출력됨</a:t>
            </a:r>
            <a:r>
              <a:rPr lang="en-US" altLang="ko-KR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2A2F76-C0CF-463C-FCCA-B20E001CE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Postgresql </a:t>
            </a:r>
            <a:r>
              <a:rPr lang="ko-KR" altLang="en-US"/>
              <a:t>컨테이너 생성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65AEB3B-5C7C-F93B-ED83-D8893AAC7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671" y="1509173"/>
            <a:ext cx="9423966" cy="738664"/>
          </a:xfrm>
          <a:prstGeom prst="rect">
            <a:avLst/>
          </a:prstGeom>
          <a:solidFill>
            <a:srgbClr val="F9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 err="1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sudo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 docker run --name 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Roboto Mono" panose="00000009000000000000" pitchFamily="49" charset="0"/>
              </a:rPr>
              <a:t>leesoochan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 -p 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Roboto Mono" panose="00000009000000000000" pitchFamily="49" charset="0"/>
              </a:rPr>
              <a:t>8080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:5432 -e POSTGRES_PASSWORD=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Roboto Mono" panose="00000009000000000000" pitchFamily="49" charset="0"/>
              </a:rPr>
              <a:t>123321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 -d </a:t>
            </a:r>
            <a:r>
              <a:rPr kumimoji="0" lang="en-US" altLang="ko-KR" sz="24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 Unicode MS"/>
                <a:ea typeface="Roboto Mono" panose="00000009000000000000" pitchFamily="49" charset="0"/>
              </a:rPr>
              <a:t>postgres</a:t>
            </a:r>
            <a:endParaRPr kumimoji="0" lang="ko-KR" altLang="ko-KR" sz="60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C8BEFBE-856D-4AEE-98F2-DE2FA2B63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64" y="5348827"/>
            <a:ext cx="10621857" cy="55252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BA8C329-E202-4B14-82CB-B5B9945EB44A}"/>
              </a:ext>
            </a:extLst>
          </p:cNvPr>
          <p:cNvCxnSpPr/>
          <p:nvPr/>
        </p:nvCxnSpPr>
        <p:spPr>
          <a:xfrm flipH="1" flipV="1">
            <a:off x="7294179" y="2247837"/>
            <a:ext cx="1135118" cy="379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8D2CBD-1D9A-2962-AA4F-E3841891A518}"/>
              </a:ext>
            </a:extLst>
          </p:cNvPr>
          <p:cNvSpPr txBox="1"/>
          <p:nvPr/>
        </p:nvSpPr>
        <p:spPr>
          <a:xfrm>
            <a:off x="7950926" y="2672974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accent4"/>
                </a:solidFill>
              </a:rPr>
              <a:t>다운 받은 </a:t>
            </a:r>
            <a:r>
              <a:rPr lang="en-US" altLang="ko-KR">
                <a:solidFill>
                  <a:schemeClr val="accent4"/>
                </a:solidFill>
              </a:rPr>
              <a:t>image</a:t>
            </a:r>
            <a:r>
              <a:rPr lang="ko-KR" altLang="en-US">
                <a:solidFill>
                  <a:schemeClr val="accent4"/>
                </a:solidFill>
              </a:rPr>
              <a:t>의 </a:t>
            </a:r>
            <a:r>
              <a:rPr lang="en-US" altLang="ko-KR">
                <a:solidFill>
                  <a:schemeClr val="accent4"/>
                </a:solidFill>
              </a:rPr>
              <a:t>alias</a:t>
            </a:r>
            <a:r>
              <a:rPr lang="ko-KR" altLang="en-US">
                <a:solidFill>
                  <a:schemeClr val="accent4"/>
                </a:solidFill>
              </a:rPr>
              <a:t>임</a:t>
            </a:r>
            <a:r>
              <a:rPr lang="en-US" altLang="ko-KR">
                <a:solidFill>
                  <a:schemeClr val="accent4"/>
                </a:solidFill>
              </a:rPr>
              <a:t>.</a:t>
            </a:r>
            <a:endParaRPr lang="ko-KR" alt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79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FCB50DD-F89E-7FAA-C72E-DEE03D2CE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Postgresql</a:t>
            </a:r>
            <a:r>
              <a:rPr lang="ko-KR" altLang="en-US"/>
              <a:t>은 기본적으로 </a:t>
            </a:r>
            <a:r>
              <a:rPr lang="en-US" altLang="ko-KR"/>
              <a:t>5432 port</a:t>
            </a:r>
            <a:r>
              <a:rPr lang="ko-KR" altLang="en-US"/>
              <a:t>를 사용</a:t>
            </a:r>
            <a:endParaRPr lang="en-US" altLang="ko-KR"/>
          </a:p>
          <a:p>
            <a:r>
              <a:rPr lang="ko-KR" altLang="en-US"/>
              <a:t>따라서 </a:t>
            </a:r>
            <a:r>
              <a:rPr lang="en-US" altLang="ko-KR"/>
              <a:t>localhost</a:t>
            </a:r>
            <a:r>
              <a:rPr lang="ko-KR" altLang="en-US"/>
              <a:t>에서 </a:t>
            </a:r>
            <a:r>
              <a:rPr lang="en-US" altLang="ko-KR"/>
              <a:t>containner</a:t>
            </a:r>
            <a:r>
              <a:rPr lang="ko-KR" altLang="en-US"/>
              <a:t>의 </a:t>
            </a:r>
            <a:r>
              <a:rPr lang="en-US" altLang="ko-KR"/>
              <a:t>5432 port</a:t>
            </a:r>
            <a:r>
              <a:rPr lang="ko-KR" altLang="en-US"/>
              <a:t>로 포트포워딩을 해야함</a:t>
            </a:r>
            <a:r>
              <a:rPr lang="en-US" altLang="ko-KR"/>
              <a:t>.</a:t>
            </a:r>
          </a:p>
          <a:p>
            <a:r>
              <a:rPr lang="ko-KR" altLang="en-US"/>
              <a:t>빨간색으로 표시된부분은 본인이 알아서 정의할것</a:t>
            </a:r>
            <a:r>
              <a:rPr lang="en-US" altLang="ko-KR"/>
              <a:t>.</a:t>
            </a:r>
          </a:p>
          <a:p>
            <a:r>
              <a:rPr lang="ko-KR" altLang="en-US"/>
              <a:t>실행이 잘되면 다음과 같이 출력됨</a:t>
            </a:r>
            <a:r>
              <a:rPr lang="en-US" altLang="ko-KR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2A2F76-C0CF-463C-FCCA-B20E001CE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Postgresql </a:t>
            </a:r>
            <a:r>
              <a:rPr lang="ko-KR" altLang="en-US"/>
              <a:t>컨테이너 생성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65AEB3B-5C7C-F93B-ED83-D8893AAC7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671" y="1509173"/>
            <a:ext cx="9423966" cy="738664"/>
          </a:xfrm>
          <a:prstGeom prst="rect">
            <a:avLst/>
          </a:prstGeom>
          <a:solidFill>
            <a:srgbClr val="F9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normalizeH="0" baseline="0" dirty="0" err="1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sudo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 docker run --name 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Roboto Mono" panose="00000009000000000000" pitchFamily="49" charset="0"/>
              </a:rPr>
              <a:t>leesoochan1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 -p 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Roboto Mono" panose="00000009000000000000" pitchFamily="49" charset="0"/>
              </a:rPr>
              <a:t>8081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:5432 -e POSTGRES_PASSWORD=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Roboto Mono" panose="00000009000000000000" pitchFamily="49" charset="0"/>
              </a:rPr>
              <a:t>123321</a:t>
            </a: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rgbClr val="393F49"/>
                </a:solidFill>
                <a:effectLst/>
                <a:latin typeface="Arial Unicode MS"/>
                <a:ea typeface="Roboto Mono" panose="00000009000000000000" pitchFamily="49" charset="0"/>
              </a:rPr>
              <a:t> -d </a:t>
            </a:r>
            <a:r>
              <a:rPr kumimoji="0" lang="en-US" altLang="ko-KR" sz="24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 Unicode MS"/>
                <a:ea typeface="Roboto Mono" panose="00000009000000000000" pitchFamily="49" charset="0"/>
              </a:rPr>
              <a:t>postgres</a:t>
            </a:r>
            <a:endParaRPr kumimoji="0" lang="ko-KR" altLang="ko-KR" sz="60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C8BEFBE-856D-4AEE-98F2-DE2FA2B63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64" y="5348827"/>
            <a:ext cx="10621857" cy="55252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BA8C329-E202-4B14-82CB-B5B9945EB44A}"/>
              </a:ext>
            </a:extLst>
          </p:cNvPr>
          <p:cNvCxnSpPr/>
          <p:nvPr/>
        </p:nvCxnSpPr>
        <p:spPr>
          <a:xfrm flipH="1" flipV="1">
            <a:off x="7294179" y="2247837"/>
            <a:ext cx="1135118" cy="379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8D2CBD-1D9A-2962-AA4F-E3841891A518}"/>
              </a:ext>
            </a:extLst>
          </p:cNvPr>
          <p:cNvSpPr txBox="1"/>
          <p:nvPr/>
        </p:nvSpPr>
        <p:spPr>
          <a:xfrm>
            <a:off x="7950926" y="2672974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accent4"/>
                </a:solidFill>
              </a:rPr>
              <a:t>다운 받은 </a:t>
            </a:r>
            <a:r>
              <a:rPr lang="en-US" altLang="ko-KR">
                <a:solidFill>
                  <a:schemeClr val="accent4"/>
                </a:solidFill>
              </a:rPr>
              <a:t>image</a:t>
            </a:r>
            <a:r>
              <a:rPr lang="ko-KR" altLang="en-US">
                <a:solidFill>
                  <a:schemeClr val="accent4"/>
                </a:solidFill>
              </a:rPr>
              <a:t>의 </a:t>
            </a:r>
            <a:r>
              <a:rPr lang="en-US" altLang="ko-KR">
                <a:solidFill>
                  <a:schemeClr val="accent4"/>
                </a:solidFill>
              </a:rPr>
              <a:t>alias</a:t>
            </a:r>
            <a:r>
              <a:rPr lang="ko-KR" altLang="en-US">
                <a:solidFill>
                  <a:schemeClr val="accent4"/>
                </a:solidFill>
              </a:rPr>
              <a:t>임</a:t>
            </a:r>
            <a:r>
              <a:rPr lang="en-US" altLang="ko-KR">
                <a:solidFill>
                  <a:schemeClr val="accent4"/>
                </a:solidFill>
              </a:rPr>
              <a:t>.</a:t>
            </a:r>
            <a:endParaRPr lang="ko-KR" alt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497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9E65AD7-CE60-DFFB-51BA-FF4C154A8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postgresql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컨테이너가 구동된 상태에서 사용자가 설정한 포트 번호로 접근가능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Servers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 우클릭 조작으로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register server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수행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Port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는 포트포워딩시 본인이 설정한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port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로 값 설정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Password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 본인이 설정한 패스워드값 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76417C-D3E0-CC56-5EF3-68886949EE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Pgadmin </a:t>
            </a:r>
            <a:r>
              <a:rPr lang="ko-KR" altLang="en-US"/>
              <a:t>에서 </a:t>
            </a:r>
            <a:r>
              <a:rPr lang="en-US" altLang="ko-KR"/>
              <a:t>postgresql </a:t>
            </a:r>
            <a:r>
              <a:rPr lang="ko-KR" altLang="en-US"/>
              <a:t>연결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14EAF49-9D54-7A66-EB22-E0EF9EC31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82" y="3369867"/>
            <a:ext cx="4245150" cy="34881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C642AC-A008-F2DD-125C-37C0E1C1F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690" y="3244293"/>
            <a:ext cx="4660261" cy="367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43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D73D81B-E9A6-9CBD-3718-A1B66A992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연결이 잘수행되면 다음과 같이됨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9D0F44-3226-BCA8-FD52-856083C0F2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Pgadmin4</a:t>
            </a:r>
            <a:r>
              <a:rPr lang="ko-KR" altLang="en-US"/>
              <a:t>에서 </a:t>
            </a:r>
            <a:r>
              <a:rPr lang="en-US" altLang="ko-KR"/>
              <a:t>postgresql </a:t>
            </a:r>
            <a:r>
              <a:rPr lang="ko-KR" altLang="en-US"/>
              <a:t>연결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447471-4606-977E-185C-784A2352C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33" y="1627743"/>
            <a:ext cx="8400561" cy="476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85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11E4D65-771C-6011-A65E-D3D7C6D93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Linux </a:t>
            </a:r>
            <a:r>
              <a:rPr lang="ko-KR" altLang="en-US"/>
              <a:t>터미널과 </a:t>
            </a:r>
            <a:r>
              <a:rPr lang="en-US" altLang="ko-KR"/>
              <a:t>pgadmin4</a:t>
            </a:r>
            <a:r>
              <a:rPr lang="ko-KR" altLang="en-US"/>
              <a:t>를 실행하여 </a:t>
            </a:r>
            <a:r>
              <a:rPr lang="en-US" altLang="ko-KR"/>
              <a:t>postgresql</a:t>
            </a:r>
            <a:r>
              <a:rPr lang="ko-KR" altLang="en-US"/>
              <a:t>에 연결한 화면을 조교에게 보여줄것</a:t>
            </a:r>
            <a:r>
              <a:rPr lang="en-US" altLang="ko-KR"/>
              <a:t>.</a:t>
            </a:r>
          </a:p>
          <a:p>
            <a:r>
              <a:rPr lang="ko-KR" altLang="en-US"/>
              <a:t>다음과 같이 화면 캡처후 과제 게시글에 업로드</a:t>
            </a: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860DCB-0CA9-F2B7-9910-207704799B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C1596D-02CC-1E58-8B87-FBBB2B62F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02" y="2680311"/>
            <a:ext cx="7602582" cy="377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465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BA0382-2E87-8B7F-22CD-532424930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</a:rPr>
              <a:t>컨테이너 내부로 접근하고싶다면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?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Sudo docker exec –it containnerID /bin/bash</a:t>
            </a: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Linux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를 실행한 상태에서 위의 명령어를 통해 내부로 접속할수있음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>
                <a:latin typeface="나눔고딕" pitchFamily="2" charset="-127"/>
                <a:ea typeface="나눔고딕" pitchFamily="2" charset="-127"/>
              </a:rPr>
              <a:t>Wsl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환경에서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window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시스템의 파일에 접근하고싶을때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>
                <a:latin typeface="나눔고딕" pitchFamily="2" charset="-127"/>
                <a:ea typeface="나눔고딕" pitchFamily="2" charset="-127"/>
              </a:rPr>
              <a:t>Wsl 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환경에서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C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드라이브와 같은 드라이브는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/mnt/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에 맵핑되어있음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ko-KR" altLang="en-US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0DDCE-1809-E172-8194-6AC5F19DFB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etc</a:t>
            </a:r>
            <a:endParaRPr lang="ko-KR" altLang="en-US"/>
          </a:p>
        </p:txBody>
      </p:sp>
      <p:pic>
        <p:nvPicPr>
          <p:cNvPr id="6146" name="Picture 2" descr="Windows Subsystem for Linux(WSL) 은 어떻게 동작할까?">
            <a:extLst>
              <a:ext uri="{FF2B5EF4-FFF2-40B4-BE49-F238E27FC236}">
                <a16:creationId xmlns:a16="http://schemas.microsoft.com/office/drawing/2014/main" id="{3C3928C5-3187-ABD3-7490-D8D4EBFC7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158" y="3919160"/>
            <a:ext cx="5016138" cy="260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076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6E58B4D-5E12-3E30-2FB3-4CA85AF6C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나눔고딕" pitchFamily="2" charset="-127"/>
                <a:ea typeface="나눔고딕" pitchFamily="2" charset="-127"/>
                <a:hlinkClick r:id="rId2"/>
              </a:rPr>
              <a:t>참고</a:t>
            </a:r>
            <a:endParaRPr lang="en-US" altLang="ko-KR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>
                <a:latin typeface="나눔고딕" pitchFamily="2" charset="-127"/>
                <a:ea typeface="나눔고딕" pitchFamily="2" charset="-127"/>
              </a:rPr>
              <a:t>외부에서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wsl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의 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port</a:t>
            </a:r>
            <a:r>
              <a:rPr lang="ko-KR" altLang="en-US">
                <a:latin typeface="나눔고딕" pitchFamily="2" charset="-127"/>
                <a:ea typeface="나눔고딕" pitchFamily="2" charset="-127"/>
              </a:rPr>
              <a:t>에 접근가능하게 하고싶을경우</a:t>
            </a:r>
            <a:r>
              <a:rPr lang="en-US" altLang="ko-KR"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D07D44-5F49-872A-591E-2D056C597E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etc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06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1286</Words>
  <Application>Microsoft Office PowerPoint</Application>
  <PresentationFormat>와이드스크린</PresentationFormat>
  <Paragraphs>271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Arial Unicode MS</vt:lpstr>
      <vt:lpstr>나눔고딕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Dongjune Ryu</dc:creator>
  <cp:lastModifiedBy>수찬 이</cp:lastModifiedBy>
  <cp:revision>99</cp:revision>
  <dcterms:created xsi:type="dcterms:W3CDTF">2024-03-19T08:41:07Z</dcterms:created>
  <dcterms:modified xsi:type="dcterms:W3CDTF">2024-04-06T08:58:52Z</dcterms:modified>
</cp:coreProperties>
</file>