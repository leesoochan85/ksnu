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77" r:id="rId2"/>
    <p:sldId id="1188" r:id="rId3"/>
    <p:sldId id="1174" r:id="rId4"/>
    <p:sldId id="1204" r:id="rId5"/>
    <p:sldId id="1185" r:id="rId6"/>
    <p:sldId id="1186" r:id="rId7"/>
    <p:sldId id="1189" r:id="rId8"/>
    <p:sldId id="1190" r:id="rId9"/>
    <p:sldId id="1191" r:id="rId10"/>
    <p:sldId id="1192" r:id="rId11"/>
    <p:sldId id="1175" r:id="rId12"/>
    <p:sldId id="1169" r:id="rId13"/>
    <p:sldId id="1166" r:id="rId14"/>
    <p:sldId id="1203" r:id="rId15"/>
    <p:sldId id="1171" r:id="rId16"/>
    <p:sldId id="1205" r:id="rId17"/>
    <p:sldId id="1206" r:id="rId18"/>
    <p:sldId id="1207" r:id="rId19"/>
    <p:sldId id="1208" r:id="rId20"/>
    <p:sldId id="1209" r:id="rId21"/>
    <p:sldId id="1172" r:id="rId22"/>
    <p:sldId id="1198" r:id="rId23"/>
    <p:sldId id="1199" r:id="rId24"/>
    <p:sldId id="1200" r:id="rId25"/>
    <p:sldId id="1201" r:id="rId26"/>
    <p:sldId id="1202" r:id="rId27"/>
    <p:sldId id="1194" r:id="rId28"/>
    <p:sldId id="1195" r:id="rId29"/>
    <p:sldId id="1196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E401AE-038A-1D4F-E614-4E802B74E1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A7462A1-A3A6-610C-7AE5-085096244F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1A6504-0BBE-7267-3A6E-90F9A2E8F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EF20-2959-4996-9C3F-91CA476E2A1F}" type="datetimeFigureOut">
              <a:rPr lang="ko-KR" altLang="en-US" smtClean="0"/>
              <a:t>2024-04-18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16B762-2A1B-8A3F-3F18-176F11DF4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B975D3-F593-B29E-2A48-20D22A396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68C05-70BF-4C38-9360-4ACA0FEEE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3729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45BCE0-41A1-9BF7-5D21-06893B61C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D98AA3-3CE8-4E61-C840-E0F736A45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B164E6-02A1-4782-15E3-979A5FC72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EF20-2959-4996-9C3F-91CA476E2A1F}" type="datetimeFigureOut">
              <a:rPr lang="ko-KR" altLang="en-US" smtClean="0"/>
              <a:t>2024-04-18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4FFF16-1895-2BBC-DCA0-7AC164DF2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4472E1-636B-1C5D-F103-98E868EA5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68C05-70BF-4C38-9360-4ACA0FEEE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92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EC4D30-BBE0-81B2-7F86-73E72F3F8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75A04D-9853-B915-EF0A-0E1C875F4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E7D699-CE04-7146-E197-9C2D26BF0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EF20-2959-4996-9C3F-91CA476E2A1F}" type="datetimeFigureOut">
              <a:rPr lang="ko-KR" altLang="en-US" smtClean="0"/>
              <a:t>2024-04-18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7FAC49-8223-032B-4E16-77BF8F8CD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7264C-57C4-A531-2619-9936D8204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68C05-70BF-4C38-9360-4ACA0FEEE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393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5C738D-2B5F-C631-3ED8-5A0CDD2C8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ACEBE6-9837-0744-4E78-5B610D78DC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84D567-C645-43D1-728B-7A5FDC7007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CAD72B-8BFF-0772-66F3-23399EFFF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EF20-2959-4996-9C3F-91CA476E2A1F}" type="datetimeFigureOut">
              <a:rPr lang="ko-KR" altLang="en-US" smtClean="0"/>
              <a:t>2024-04-18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451020-2FB5-8E48-BDCA-64E0D32E5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796D38-21CF-6CB4-F3A6-F420B5F14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68C05-70BF-4C38-9360-4ACA0FEEE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5720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357960-6D27-8434-117F-D056E42FF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08A4EC-61B1-2D13-42F9-5A10F56FE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BCBF32-F839-2F2A-B62D-7734E28FD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9FFD77A-2CBC-49C7-E90D-C8A2E61DDC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FEB805-894B-5B7C-410F-90BD368B07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E999BDF-73A2-A579-75C3-984964913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EF20-2959-4996-9C3F-91CA476E2A1F}" type="datetimeFigureOut">
              <a:rPr lang="ko-KR" altLang="en-US" smtClean="0"/>
              <a:t>2024-04-18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CF8F1E1-8FD4-0740-A17A-18E4ACC28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91EE614-7605-6005-E731-3F8D8C2A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68C05-70BF-4C38-9360-4ACA0FEEE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0606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AF82A-DF96-AF37-DCE6-4B925EFDF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DC998C-FB09-EE60-8A00-AFCD70E31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EF20-2959-4996-9C3F-91CA476E2A1F}" type="datetimeFigureOut">
              <a:rPr lang="ko-KR" altLang="en-US" smtClean="0"/>
              <a:t>2024-04-18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D9A0D4-8C78-5AEB-1679-6E087EE6A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4EFE54-1B7E-7A4E-989F-7E24E7271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68C05-70BF-4C38-9360-4ACA0FEEE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962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695D1DF-40DA-D7A4-D526-1F3EAAEDC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EF20-2959-4996-9C3F-91CA476E2A1F}" type="datetimeFigureOut">
              <a:rPr lang="ko-KR" altLang="en-US" smtClean="0"/>
              <a:t>2024-04-18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74D8A4-0ADC-92BA-79DE-9286E006D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8562B1-C8C5-D1EE-FB79-CA899CF22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68C05-70BF-4C38-9360-4ACA0FEEE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161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67155F-3129-5FCF-476D-58AB11785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215EB-3568-EFF7-6BE2-88E9664C3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EFD2E2B-207B-0AAF-6D4D-DA123B424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5BAC74-5BA5-C13E-9E5D-95CF6A29C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EF20-2959-4996-9C3F-91CA476E2A1F}" type="datetimeFigureOut">
              <a:rPr lang="ko-KR" altLang="en-US" smtClean="0"/>
              <a:t>2024-04-18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47BAB2-1B28-BF8D-CE5F-2B6F906D3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788BC3C-9730-60C3-7F61-3EAD3E6C4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68C05-70BF-4C38-9360-4ACA0FEEE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624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83341D-22DE-41AB-2AD8-1BD5E652B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61E8746-9AA9-21B6-E7A1-54A1FB5F00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015959-3446-BF33-3846-54CF47056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EEDD7B-C143-BFDA-59EE-5FA3784D4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EF20-2959-4996-9C3F-91CA476E2A1F}" type="datetimeFigureOut">
              <a:rPr lang="ko-KR" altLang="en-US" smtClean="0"/>
              <a:t>2024-04-18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9B42D4-A60F-9C46-CA54-5FC6CECA0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5CBCCD-36B0-97EA-4C12-DCFEB82F3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68C05-70BF-4C38-9360-4ACA0FEEE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7687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E99F27-3795-6357-0F15-35A19A264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C9A9479-0C0E-301B-AE51-B181B499C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7A9317-8C00-BB85-9CB9-34C06048A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EF20-2959-4996-9C3F-91CA476E2A1F}" type="datetimeFigureOut">
              <a:rPr lang="ko-KR" altLang="en-US" smtClean="0"/>
              <a:t>2024-04-18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245D78-0941-FD3F-B590-DD32BF105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10DE43-F964-52A8-7770-E4F0C3A04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68C05-70BF-4C38-9360-4ACA0FEEE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114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100C301-1E41-3EE1-A82C-0292CD3455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15478A3-FDA3-5FC9-44DE-3D47524F9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E5BE83-2803-8C50-6385-CBC6DB357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EEF20-2959-4996-9C3F-91CA476E2A1F}" type="datetimeFigureOut">
              <a:rPr lang="ko-KR" altLang="en-US" smtClean="0"/>
              <a:t>2024-04-18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254EB5-1AE4-A581-9C6F-703FB6AE0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32073-9B8A-D7B5-68C7-416DCF8EF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68C05-70BF-4C38-9360-4ACA0FEEE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62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 bwMode="ltGray">
          <a:xfrm>
            <a:off x="359073" y="201910"/>
            <a:ext cx="8844403" cy="703701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txBody>
          <a:bodyPr vert="horz" wrap="square" lIns="107571" tIns="67232" rIns="107571" bIns="67232" rtlCol="0" anchor="ctr" anchorCtr="0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0" kern="1200" cap="none" spc="-100" baseline="0">
                <a:ln w="3175">
                  <a:noFill/>
                </a:ln>
                <a:gradFill>
                  <a:gsLst>
                    <a:gs pos="5833">
                      <a:srgbClr val="FFFFFF"/>
                    </a:gs>
                    <a:gs pos="18000">
                      <a:srgbClr val="FFFFFF"/>
                    </a:gs>
                  </a:gsLst>
                  <a:lin ang="5400000" scaled="0"/>
                </a:gradFill>
                <a:effectLst/>
                <a:latin typeface="Segoe UI Light" pitchFamily="34" charset="0"/>
                <a:ea typeface="+mn-ea"/>
                <a:cs typeface="Arial" charset="0"/>
              </a:defRPr>
            </a:lvl1pPr>
          </a:lstStyle>
          <a:p>
            <a:r>
              <a:rPr lang="en-US" sz="2100" b="1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6" name="내용 개체 틀 2"/>
          <p:cNvSpPr txBox="1">
            <a:spLocks/>
          </p:cNvSpPr>
          <p:nvPr userDrawn="1"/>
        </p:nvSpPr>
        <p:spPr>
          <a:xfrm>
            <a:off x="831177" y="1105118"/>
            <a:ext cx="10515600" cy="47067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1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59071" y="1105117"/>
            <a:ext cx="11339444" cy="5023539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3"/>
          </p:nvPr>
        </p:nvSpPr>
        <p:spPr>
          <a:xfrm>
            <a:off x="359836" y="201613"/>
            <a:ext cx="8843433" cy="70326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7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endParaRPr lang="ko-KR" alt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11548003" y="6328166"/>
            <a:ext cx="3289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C7794632-D888-4270-8AF5-7FF0A682F488}" type="slidenum">
              <a:rPr lang="ko-KR" altLang="en-US" sz="900" smtClean="0"/>
              <a:t>‹#›</a:t>
            </a:fld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341878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33E32B9-CF56-2F43-B737-F40906B41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889E05-A637-511D-8AA5-17DD16BFA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F2419F-7383-DD2F-5DB8-793A9E7B5D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EEF20-2959-4996-9C3F-91CA476E2A1F}" type="datetimeFigureOut">
              <a:rPr lang="ko-KR" altLang="en-US" smtClean="0"/>
              <a:t>2024-04-18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0BECA3-047E-0F31-4A51-CAE9079E95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31A36F-C1B7-109B-738A-84D110902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968C05-70BF-4C38-9360-4ACA0FEEEC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162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postgresql.org/docs/current/sql-select.html" TargetMode="Externa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ltGray">
          <a:xfrm>
            <a:off x="2934724" y="1640784"/>
            <a:ext cx="6633302" cy="1482561"/>
          </a:xfrm>
          <a:prstGeom prst="rect">
            <a:avLst/>
          </a:prstGeom>
          <a:solidFill>
            <a:schemeClr val="accent1">
              <a:alpha val="85000"/>
            </a:schemeClr>
          </a:solidFill>
        </p:spPr>
        <p:txBody>
          <a:bodyPr vert="horz" wrap="square" lIns="143428" tIns="89642" rIns="143428" bIns="89642" rtlCol="0" anchor="ctr" anchorCtr="0">
            <a:no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400" b="0" kern="1200" cap="none" spc="-100" baseline="0">
                <a:ln w="3175">
                  <a:noFill/>
                </a:ln>
                <a:gradFill>
                  <a:gsLst>
                    <a:gs pos="5833">
                      <a:srgbClr val="FFFFFF"/>
                    </a:gs>
                    <a:gs pos="18000">
                      <a:srgbClr val="FFFFFF"/>
                    </a:gs>
                  </a:gsLst>
                  <a:lin ang="5400000" scaled="0"/>
                </a:gradFill>
                <a:effectLst/>
                <a:latin typeface="Segoe UI Light" pitchFamily="34" charset="0"/>
                <a:ea typeface="+mn-ea"/>
                <a:cs typeface="Arial" charset="0"/>
              </a:defRPr>
            </a:lvl1pPr>
          </a:lstStyle>
          <a:p>
            <a:endParaRPr lang="en-US" sz="2500" b="1" dirty="0"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55829" y="2012732"/>
            <a:ext cx="2591095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DML </a:t>
            </a:r>
            <a:r>
              <a:rPr lang="ko-KR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및 </a:t>
            </a:r>
            <a:r>
              <a:rPr lang="en-US" altLang="ko-K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실습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3"/>
          <p:cNvSpPr/>
          <p:nvPr/>
        </p:nvSpPr>
        <p:spPr>
          <a:xfrm>
            <a:off x="2565887" y="3535592"/>
            <a:ext cx="7370976" cy="1906741"/>
          </a:xfrm>
          <a:prstGeom prst="rect">
            <a:avLst/>
          </a:prstGeom>
          <a:noFill/>
          <a:ln w="28575">
            <a:noFill/>
          </a:ln>
        </p:spPr>
        <p:txBody>
          <a:bodyPr wrap="square" lIns="0" tIns="89642" rIns="0" bIns="89642" rtlCol="0" anchor="ctr">
            <a:noAutofit/>
          </a:bodyPr>
          <a:lstStyle/>
          <a:p>
            <a:pPr marL="56024" lvl="1" algn="ctr" defTabSz="914367" latinLnBrk="0">
              <a:lnSpc>
                <a:spcPct val="90000"/>
              </a:lnSpc>
              <a:spcBef>
                <a:spcPct val="20000"/>
              </a:spcBef>
              <a:buSzPct val="90000"/>
            </a:pPr>
            <a:endParaRPr lang="en-US" altLang="ko-KR" sz="15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58406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D809AB3-96BF-AA04-955F-29DF98911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/>
              <a:t>과제 게시판의 참고자료의 </a:t>
            </a:r>
            <a:r>
              <a:rPr lang="en-US" altLang="ko-KR"/>
              <a:t>sql.txt </a:t>
            </a:r>
            <a:r>
              <a:rPr lang="ko-KR" altLang="en-US"/>
              <a:t>실습 파일 다운</a:t>
            </a:r>
            <a:r>
              <a:rPr lang="en-US" altLang="ko-KR"/>
              <a:t>.</a:t>
            </a:r>
          </a:p>
          <a:p>
            <a:r>
              <a:rPr lang="ko-KR" altLang="en-US"/>
              <a:t>실습파일 명령문 수행시 다음과 같은 테이블이 생성됨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 lvl="1"/>
            <a:r>
              <a:rPr lang="ko-KR" altLang="en-US"/>
              <a:t>생성된 테이블에 대한 </a:t>
            </a:r>
            <a:r>
              <a:rPr lang="en-US" altLang="ko-KR"/>
              <a:t>e-r </a:t>
            </a:r>
            <a:r>
              <a:rPr lang="ko-KR" altLang="en-US"/>
              <a:t>다이어그램 조회시 위의 그림과 같이 출력됨</a:t>
            </a:r>
            <a:r>
              <a:rPr lang="en-US" altLang="ko-KR"/>
              <a:t>.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2B4B9-B876-1DEB-1F61-5F04BFE78D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실습전 데이터 테이블 생성삽입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117B008-AF53-2CB6-0249-2405E8692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009" y="2014907"/>
            <a:ext cx="3720085" cy="320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08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34F7793-66D3-48BB-7982-1604202D9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관계 대수 </a:t>
            </a:r>
            <a:r>
              <a:rPr lang="en-US" altLang="ko-KR" dirty="0"/>
              <a:t>(Relational Algebra)</a:t>
            </a:r>
          </a:p>
          <a:p>
            <a:pPr lvl="1"/>
            <a:r>
              <a:rPr lang="en-US" altLang="ko-KR" dirty="0"/>
              <a:t>Relational Query Language</a:t>
            </a:r>
            <a:r>
              <a:rPr lang="ko-KR" altLang="en-US" dirty="0"/>
              <a:t>의 기반이 되는 이론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Qurey</a:t>
            </a:r>
            <a:r>
              <a:rPr lang="en-US" altLang="ko-KR" dirty="0"/>
              <a:t> Evaluation Plan</a:t>
            </a:r>
            <a:r>
              <a:rPr lang="ko-KR" altLang="en-US" dirty="0"/>
              <a:t>들을 표현하기에 용이하다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DBMS</a:t>
            </a:r>
            <a:r>
              <a:rPr lang="ko-KR" altLang="en-US" dirty="0"/>
              <a:t>는 사용자로부터의 </a:t>
            </a:r>
            <a:r>
              <a:rPr lang="en-US" altLang="ko-KR" dirty="0"/>
              <a:t>Query</a:t>
            </a:r>
            <a:r>
              <a:rPr lang="ko-KR" altLang="en-US" dirty="0"/>
              <a:t>를 관계 대수로 변환한다</a:t>
            </a:r>
            <a:r>
              <a:rPr lang="en-US" altLang="ko-KR" dirty="0"/>
              <a:t>.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6C0552-35B7-69FD-93BA-CFE6D48016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관계대수</a:t>
            </a:r>
          </a:p>
        </p:txBody>
      </p:sp>
    </p:spTree>
    <p:extLst>
      <p:ext uri="{BB962C8B-B14F-4D97-AF65-F5344CB8AC3E}">
        <p14:creationId xmlns:p14="http://schemas.microsoft.com/office/powerpoint/2010/main" val="3797467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665BC05-E2E3-E7D4-C7DD-94EC6722D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ko-KR" sz="2000" dirty="0"/>
              <a:t>DBMS</a:t>
            </a:r>
            <a:r>
              <a:rPr lang="ko-KR" altLang="en-US" sz="2000" dirty="0"/>
              <a:t>의 </a:t>
            </a:r>
            <a:r>
              <a:rPr lang="en-US" altLang="ko-KR" sz="2000" dirty="0"/>
              <a:t>Query Optimizer</a:t>
            </a:r>
            <a:r>
              <a:rPr lang="ko-KR" altLang="en-US" sz="2000" dirty="0"/>
              <a:t>는 가장 </a:t>
            </a:r>
            <a:r>
              <a:rPr lang="en-US" altLang="ko-KR" sz="2000" dirty="0"/>
              <a:t>Cost</a:t>
            </a:r>
            <a:r>
              <a:rPr lang="ko-KR" altLang="en-US" sz="2000" dirty="0"/>
              <a:t>가 낮은 </a:t>
            </a:r>
            <a:r>
              <a:rPr lang="en-US" altLang="ko-KR" sz="2000" dirty="0"/>
              <a:t>Query Evaluation Plan</a:t>
            </a:r>
            <a:r>
              <a:rPr lang="ko-KR" altLang="en-US" sz="2000" dirty="0"/>
              <a:t>를 선택하여 수행한다</a:t>
            </a:r>
            <a:r>
              <a:rPr lang="en-US" altLang="ko-KR" sz="2000" dirty="0"/>
              <a:t>.</a:t>
            </a:r>
          </a:p>
          <a:p>
            <a:pPr lvl="1"/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lvl="1"/>
            <a:r>
              <a:rPr lang="en-US" altLang="ko-KR" sz="2000" dirty="0"/>
              <a:t>Operational(</a:t>
            </a:r>
            <a:r>
              <a:rPr lang="ko-KR" altLang="en-US" sz="2000" dirty="0"/>
              <a:t>절차적</a:t>
            </a:r>
            <a:r>
              <a:rPr lang="en-US" altLang="ko-KR" sz="2000" dirty="0"/>
              <a:t>)</a:t>
            </a:r>
            <a:r>
              <a:rPr lang="ko-KR" altLang="en-US" sz="2000" dirty="0"/>
              <a:t>하며</a:t>
            </a:r>
            <a:r>
              <a:rPr lang="en-US" altLang="ko-KR" sz="2000" dirty="0"/>
              <a:t>, Execution Plan</a:t>
            </a:r>
            <a:r>
              <a:rPr lang="ko-KR" altLang="en-US" sz="2000" dirty="0"/>
              <a:t>을 표현하는 데 최적화되어 있다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en-US" altLang="ko-KR" sz="2000" dirty="0"/>
              <a:t> </a:t>
            </a:r>
            <a:r>
              <a:rPr lang="ko-KR" altLang="en-US" sz="2000" dirty="0"/>
              <a:t>관계 대수에 대한 피연산자</a:t>
            </a:r>
            <a:r>
              <a:rPr lang="en-US" altLang="ko-KR" sz="2000" dirty="0"/>
              <a:t>, </a:t>
            </a:r>
            <a:r>
              <a:rPr lang="ko-KR" altLang="en-US" sz="2000" dirty="0"/>
              <a:t>연산 결과 모두 </a:t>
            </a:r>
            <a:r>
              <a:rPr lang="en-US" altLang="ko-KR" sz="2000" dirty="0"/>
              <a:t>Relation</a:t>
            </a:r>
            <a:r>
              <a:rPr lang="ko-KR" altLang="en-US" sz="2000" dirty="0"/>
              <a:t>이다</a:t>
            </a:r>
            <a:r>
              <a:rPr lang="en-US" altLang="ko-KR" sz="2000" dirty="0"/>
              <a:t>.</a:t>
            </a:r>
          </a:p>
          <a:p>
            <a:pPr lvl="2"/>
            <a:r>
              <a:rPr lang="ko-KR" altLang="en-US" dirty="0"/>
              <a:t>연산 결과로는 단순한 </a:t>
            </a:r>
            <a:r>
              <a:rPr lang="en-US" altLang="ko-KR" dirty="0"/>
              <a:t>Rows, Columns</a:t>
            </a:r>
            <a:r>
              <a:rPr lang="ko-KR" altLang="en-US" dirty="0"/>
              <a:t>가 아닌</a:t>
            </a:r>
            <a:r>
              <a:rPr lang="en-US" altLang="ko-KR" dirty="0"/>
              <a:t>, Table Relation</a:t>
            </a:r>
            <a:r>
              <a:rPr lang="ko-KR" altLang="en-US" dirty="0"/>
              <a:t>으로 </a:t>
            </a:r>
            <a:r>
              <a:rPr lang="ko-KR" altLang="en-US" dirty="0" err="1"/>
              <a:t>리턴됨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  (</a:t>
            </a:r>
            <a:r>
              <a:rPr lang="ko-KR" altLang="en-US" dirty="0"/>
              <a:t>이러한 특성으로 인해</a:t>
            </a:r>
            <a:r>
              <a:rPr lang="en-US" altLang="ko-KR" dirty="0"/>
              <a:t>, </a:t>
            </a:r>
            <a:r>
              <a:rPr lang="ko-KR" altLang="en-US" dirty="0"/>
              <a:t>복합 연산을 구성할 수 있게 된다</a:t>
            </a:r>
            <a:r>
              <a:rPr lang="en-US" altLang="ko-KR" dirty="0"/>
              <a:t>.)</a:t>
            </a:r>
          </a:p>
          <a:p>
            <a:pPr lvl="2"/>
            <a:r>
              <a:rPr lang="ko-KR" altLang="en-US" dirty="0"/>
              <a:t>대표 연산자 </a:t>
            </a:r>
            <a:r>
              <a:rPr lang="en-US" altLang="ko-KR" dirty="0"/>
              <a:t>8</a:t>
            </a:r>
            <a:r>
              <a:rPr lang="ko-KR" altLang="en-US" dirty="0"/>
              <a:t>개가 있음</a:t>
            </a:r>
            <a:r>
              <a:rPr lang="en-US" altLang="ko-KR" dirty="0"/>
              <a:t>. </a:t>
            </a:r>
            <a:r>
              <a:rPr lang="ko-KR" altLang="en-US" dirty="0"/>
              <a:t>일반 집합 연산자 순수 관계 연산자로 분류</a:t>
            </a:r>
            <a:r>
              <a:rPr lang="en-US" altLang="ko-KR" dirty="0"/>
              <a:t>.</a:t>
            </a:r>
          </a:p>
          <a:p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r>
              <a:rPr lang="en-US" altLang="ko-KR" sz="2000" dirty="0"/>
              <a:t>Relation </a:t>
            </a:r>
            <a:r>
              <a:rPr lang="ko-KR" altLang="en-US" sz="2000" dirty="0" err="1"/>
              <a:t>에대한</a:t>
            </a:r>
            <a:r>
              <a:rPr lang="ko-KR" altLang="en-US" sz="2000" dirty="0"/>
              <a:t> 접근을 </a:t>
            </a:r>
            <a:r>
              <a:rPr lang="en-US" altLang="ko-KR" sz="2000" dirty="0"/>
              <a:t>SQL</a:t>
            </a:r>
            <a:r>
              <a:rPr lang="ko-KR" altLang="en-US" sz="2000" dirty="0"/>
              <a:t>에서는 </a:t>
            </a:r>
            <a:r>
              <a:rPr lang="en-US" altLang="ko-KR" sz="2000" dirty="0"/>
              <a:t>DML</a:t>
            </a:r>
            <a:r>
              <a:rPr lang="ko-KR" altLang="en-US" sz="2000" dirty="0"/>
              <a:t>로 접근함</a:t>
            </a:r>
            <a:r>
              <a:rPr lang="en-US" altLang="ko-KR" sz="2000" dirty="0"/>
              <a:t>.</a:t>
            </a:r>
            <a:endParaRPr lang="ko-KR" altLang="en-US" sz="2000" dirty="0"/>
          </a:p>
          <a:p>
            <a:endParaRPr lang="ko-KR" altLang="en-US" sz="20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1BC2D6-4982-3708-F331-8FD174FDAB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관계대수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4CCEAB1-9096-5CBD-5259-E2060A117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550" y="1616276"/>
            <a:ext cx="5406186" cy="167620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6F6E142-BB9F-00A6-8277-5C6088527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164" y="1616276"/>
            <a:ext cx="4420666" cy="1676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049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A67AF76-640C-D5BB-879B-2A4D11C70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관계 대수 연산자</a:t>
            </a:r>
            <a:r>
              <a:rPr lang="en-US" altLang="ko-KR"/>
              <a:t>.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B29F4A-A969-47C8-7F87-F227C9D460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관계 대수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B9BBE2C-9514-C1E5-BD6A-77EFCA367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488" y="1632285"/>
            <a:ext cx="5070603" cy="396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366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B56D9CB-9469-B734-B2C7-1D99BA676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일반 집합 연산자 특성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피 연산자가 </a:t>
            </a:r>
            <a:r>
              <a:rPr lang="en-US" altLang="ko-KR" dirty="0"/>
              <a:t>2</a:t>
            </a:r>
            <a:r>
              <a:rPr lang="ko-KR" altLang="en-US" dirty="0" err="1"/>
              <a:t>개필요</a:t>
            </a:r>
            <a:endParaRPr lang="en-US" altLang="ko-KR" dirty="0"/>
          </a:p>
          <a:p>
            <a:pPr lvl="2"/>
            <a:r>
              <a:rPr lang="en-US" altLang="ko-KR" dirty="0"/>
              <a:t>2</a:t>
            </a:r>
            <a:r>
              <a:rPr lang="ko-KR" altLang="en-US" dirty="0"/>
              <a:t>개의 릴레이션을 대상으로 연산 수행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합집합</a:t>
            </a:r>
            <a:r>
              <a:rPr lang="en-US" altLang="ko-KR" dirty="0"/>
              <a:t>, </a:t>
            </a:r>
            <a:r>
              <a:rPr lang="ko-KR" altLang="en-US" dirty="0"/>
              <a:t>교집합 차집합은 피연산자인 두 릴레이션이 합병 </a:t>
            </a:r>
            <a:r>
              <a:rPr lang="ko-KR" altLang="en-US" dirty="0" err="1"/>
              <a:t>가능해야함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합병 가능 </a:t>
            </a:r>
            <a:r>
              <a:rPr lang="en-US" altLang="ko-KR" dirty="0"/>
              <a:t>(union-compatible) </a:t>
            </a:r>
            <a:r>
              <a:rPr lang="ko-KR" altLang="en-US" dirty="0"/>
              <a:t>조건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두 릴레이션의 차수가 </a:t>
            </a:r>
            <a:r>
              <a:rPr lang="ko-KR" altLang="en-US" dirty="0" err="1"/>
              <a:t>같아야함</a:t>
            </a:r>
            <a:r>
              <a:rPr lang="en-US" altLang="ko-KR" dirty="0"/>
              <a:t>. </a:t>
            </a:r>
          </a:p>
          <a:p>
            <a:pPr lvl="2"/>
            <a:r>
              <a:rPr lang="ko-KR" altLang="en-US" dirty="0"/>
              <a:t>두 </a:t>
            </a:r>
            <a:r>
              <a:rPr lang="ko-KR" altLang="en-US" dirty="0" err="1"/>
              <a:t>릴레이션에서</a:t>
            </a:r>
            <a:r>
              <a:rPr lang="ko-KR" altLang="en-US" dirty="0"/>
              <a:t> 서로 대응되는 속성의 도메인이 </a:t>
            </a:r>
            <a:r>
              <a:rPr lang="ko-KR" altLang="en-US" dirty="0" err="1"/>
              <a:t>같아야함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3CB287-B2EF-FAA2-69AE-3AB57F8BFF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관계대수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137F39C-6AA1-F9FF-13D0-F14DEC5191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947371"/>
              </p:ext>
            </p:extLst>
          </p:nvPr>
        </p:nvGraphicFramePr>
        <p:xfrm>
          <a:off x="1716667" y="4576298"/>
          <a:ext cx="3657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000">
                  <a:extLst>
                    <a:ext uri="{9D8B030D-6E8A-4147-A177-3AD203B41FA5}">
                      <a16:colId xmlns:a16="http://schemas.microsoft.com/office/drawing/2014/main" val="1438726672"/>
                    </a:ext>
                  </a:extLst>
                </a:gridCol>
                <a:gridCol w="1219000">
                  <a:extLst>
                    <a:ext uri="{9D8B030D-6E8A-4147-A177-3AD203B41FA5}">
                      <a16:colId xmlns:a16="http://schemas.microsoft.com/office/drawing/2014/main" val="3482372859"/>
                    </a:ext>
                  </a:extLst>
                </a:gridCol>
                <a:gridCol w="1219000">
                  <a:extLst>
                    <a:ext uri="{9D8B030D-6E8A-4147-A177-3AD203B41FA5}">
                      <a16:colId xmlns:a16="http://schemas.microsoft.com/office/drawing/2014/main" val="3252458439"/>
                    </a:ext>
                  </a:extLst>
                </a:gridCol>
              </a:tblGrid>
              <a:tr h="394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고객번호</a:t>
                      </a:r>
                      <a:endParaRPr lang="en-US" altLang="ko-KR"/>
                    </a:p>
                    <a:p>
                      <a:pPr algn="ctr" latinLnBrk="1"/>
                      <a:r>
                        <a:rPr lang="en-US" altLang="ko-KR"/>
                        <a:t>(INT)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고객이름</a:t>
                      </a:r>
                      <a:endParaRPr lang="en-US" altLang="ko-KR"/>
                    </a:p>
                    <a:p>
                      <a:pPr algn="ctr" latinLnBrk="1"/>
                      <a:r>
                        <a:rPr lang="en-US" altLang="ko-KR"/>
                        <a:t>CHAR(20)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나이</a:t>
                      </a:r>
                      <a:endParaRPr lang="en-US" altLang="ko-KR"/>
                    </a:p>
                    <a:p>
                      <a:pPr algn="ctr" latinLnBrk="1"/>
                      <a:r>
                        <a:rPr lang="en-US" altLang="ko-KR"/>
                        <a:t>(INT)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362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100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…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944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200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…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35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9964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300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…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24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797116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4D0803F-4C05-82BE-74AA-DE079020D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3801810"/>
              </p:ext>
            </p:extLst>
          </p:nvPr>
        </p:nvGraphicFramePr>
        <p:xfrm>
          <a:off x="6096001" y="4576298"/>
          <a:ext cx="3605409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803">
                  <a:extLst>
                    <a:ext uri="{9D8B030D-6E8A-4147-A177-3AD203B41FA5}">
                      <a16:colId xmlns:a16="http://schemas.microsoft.com/office/drawing/2014/main" val="1438726672"/>
                    </a:ext>
                  </a:extLst>
                </a:gridCol>
                <a:gridCol w="1201803">
                  <a:extLst>
                    <a:ext uri="{9D8B030D-6E8A-4147-A177-3AD203B41FA5}">
                      <a16:colId xmlns:a16="http://schemas.microsoft.com/office/drawing/2014/main" val="3482372859"/>
                    </a:ext>
                  </a:extLst>
                </a:gridCol>
                <a:gridCol w="1201803">
                  <a:extLst>
                    <a:ext uri="{9D8B030D-6E8A-4147-A177-3AD203B41FA5}">
                      <a16:colId xmlns:a16="http://schemas.microsoft.com/office/drawing/2014/main" val="3252458439"/>
                    </a:ext>
                  </a:extLst>
                </a:gridCol>
              </a:tblGrid>
              <a:tr h="3940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직원 번호</a:t>
                      </a:r>
                      <a:endParaRPr lang="en-US" altLang="ko-KR"/>
                    </a:p>
                    <a:p>
                      <a:pPr algn="ctr" latinLnBrk="1"/>
                      <a:r>
                        <a:rPr lang="en-US" altLang="ko-KR"/>
                        <a:t>(INT)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직원 이름</a:t>
                      </a:r>
                      <a:endParaRPr lang="en-US" altLang="ko-KR"/>
                    </a:p>
                    <a:p>
                      <a:pPr algn="ctr" latinLnBrk="1"/>
                      <a:r>
                        <a:rPr lang="en-US" altLang="ko-KR"/>
                        <a:t>CHAR(20)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직위</a:t>
                      </a:r>
                      <a:endParaRPr lang="en-US" altLang="ko-KR"/>
                    </a:p>
                    <a:p>
                      <a:pPr algn="ctr" latinLnBrk="1"/>
                      <a:r>
                        <a:rPr lang="en-US" altLang="ko-KR"/>
                        <a:t>CHAR(20)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362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부장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944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과장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9964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30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대리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279711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3C9A8B2-378F-3C9B-92E5-CD1D4C6FDFBA}"/>
              </a:ext>
            </a:extLst>
          </p:cNvPr>
          <p:cNvSpPr txBox="1"/>
          <p:nvPr/>
        </p:nvSpPr>
        <p:spPr>
          <a:xfrm>
            <a:off x="214333" y="4515633"/>
            <a:ext cx="14185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합병 불가 예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//</a:t>
            </a:r>
            <a:r>
              <a:rPr lang="ko-KR" altLang="en-US" dirty="0">
                <a:solidFill>
                  <a:srgbClr val="FF0000"/>
                </a:solidFill>
              </a:rPr>
              <a:t>속성은 같다</a:t>
            </a:r>
            <a:br>
              <a:rPr lang="en-US" altLang="ko-KR" dirty="0">
                <a:solidFill>
                  <a:srgbClr val="FF0000"/>
                </a:solidFill>
              </a:rPr>
            </a:br>
            <a:r>
              <a:rPr lang="ko-KR" altLang="en-US" dirty="0">
                <a:solidFill>
                  <a:srgbClr val="FF0000"/>
                </a:solidFill>
              </a:rPr>
              <a:t>그러나 도메인</a:t>
            </a:r>
            <a:br>
              <a:rPr lang="en-US" altLang="ko-KR" dirty="0">
                <a:solidFill>
                  <a:srgbClr val="FF0000"/>
                </a:solidFill>
              </a:rPr>
            </a:br>
            <a:r>
              <a:rPr lang="ko-KR" altLang="en-US" dirty="0">
                <a:solidFill>
                  <a:srgbClr val="FF0000"/>
                </a:solidFill>
              </a:rPr>
              <a:t>이 다르다</a:t>
            </a:r>
          </a:p>
        </p:txBody>
      </p:sp>
    </p:spTree>
    <p:extLst>
      <p:ext uri="{BB962C8B-B14F-4D97-AF65-F5344CB8AC3E}">
        <p14:creationId xmlns:p14="http://schemas.microsoft.com/office/powerpoint/2010/main" val="1854590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CFBA4AA1-C767-275A-371A-1A12094B8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940" y="2266680"/>
            <a:ext cx="9812119" cy="1552792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869B403-F004-BDA8-BD1A-DDEC41B35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union example</a:t>
            </a:r>
          </a:p>
          <a:p>
            <a:pPr lvl="1"/>
            <a:r>
              <a:rPr lang="ko-KR" altLang="en-US"/>
              <a:t>두 릴레이션의 레코드를 합침</a:t>
            </a:r>
            <a:r>
              <a:rPr lang="en-US" altLang="ko-KR"/>
              <a:t>.</a:t>
            </a:r>
          </a:p>
          <a:p>
            <a:pPr lvl="1"/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BF351A-2A6C-8CCC-A5C1-BC003F8D87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DML</a:t>
            </a:r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416AEBB-1D93-E1D3-4422-2D3D0F459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286" y="1436913"/>
            <a:ext cx="6842670" cy="520789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2A09A5A-2609-AFDA-452D-9A35F1C9A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9940" y="3911361"/>
            <a:ext cx="3177349" cy="283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911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417329A-5E3B-1BA0-AF60-1A667D72B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INTERSECT</a:t>
            </a:r>
          </a:p>
          <a:p>
            <a:pPr lvl="1"/>
            <a:r>
              <a:rPr lang="ko-KR" altLang="en-US" dirty="0"/>
              <a:t>두 </a:t>
            </a:r>
            <a:r>
              <a:rPr lang="ko-KR" altLang="en-US" dirty="0" err="1"/>
              <a:t>릴레이션간의</a:t>
            </a:r>
            <a:r>
              <a:rPr lang="ko-KR" altLang="en-US" dirty="0"/>
              <a:t> 중복된 값을 반환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EF100B-6215-D0A7-1CCE-ECC13FB7A6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DML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24DCC62-12D5-2F58-C7B2-25C4AB41A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456" y="2534378"/>
            <a:ext cx="7821116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193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8D5E6FD-FF39-9DE9-A841-23053D142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DIFF</a:t>
            </a:r>
          </a:p>
          <a:p>
            <a:pPr lvl="1"/>
            <a:r>
              <a:rPr lang="en-US" altLang="ko-KR" dirty="0" err="1">
                <a:solidFill>
                  <a:srgbClr val="FF0000"/>
                </a:solidFill>
              </a:rPr>
              <a:t>postgresql</a:t>
            </a:r>
            <a:r>
              <a:rPr lang="ko-KR" altLang="en-US" dirty="0">
                <a:solidFill>
                  <a:srgbClr val="FF0000"/>
                </a:solidFill>
              </a:rPr>
              <a:t>상에선 </a:t>
            </a:r>
            <a:r>
              <a:rPr lang="en-US" altLang="ko-KR" dirty="0">
                <a:solidFill>
                  <a:srgbClr val="FF0000"/>
                </a:solidFill>
              </a:rPr>
              <a:t>except</a:t>
            </a:r>
            <a:r>
              <a:rPr lang="ko-KR" altLang="en-US" dirty="0">
                <a:solidFill>
                  <a:srgbClr val="FF0000"/>
                </a:solidFill>
              </a:rPr>
              <a:t>로 표현</a:t>
            </a:r>
            <a:endParaRPr lang="en-US" altLang="ko-KR" dirty="0">
              <a:solidFill>
                <a:srgbClr val="FF0000"/>
              </a:solidFill>
            </a:endParaRPr>
          </a:p>
          <a:p>
            <a:pPr lvl="1"/>
            <a:r>
              <a:rPr lang="ko-KR" altLang="en-US" dirty="0"/>
              <a:t>수행 결과로 </a:t>
            </a:r>
            <a:r>
              <a:rPr lang="en-US" altLang="ko-KR" dirty="0"/>
              <a:t>emp </a:t>
            </a:r>
            <a:r>
              <a:rPr lang="ko-KR" altLang="en-US" dirty="0"/>
              <a:t>테이블에 </a:t>
            </a:r>
            <a:r>
              <a:rPr lang="ko-KR" altLang="en-US" dirty="0" err="1"/>
              <a:t>존재하지않는</a:t>
            </a:r>
            <a:r>
              <a:rPr lang="ko-KR" altLang="en-US" dirty="0"/>
              <a:t> </a:t>
            </a:r>
            <a:r>
              <a:rPr lang="en-US" altLang="ko-KR" dirty="0" err="1"/>
              <a:t>deptno</a:t>
            </a:r>
            <a:r>
              <a:rPr lang="en-US" altLang="ko-KR" dirty="0"/>
              <a:t> row</a:t>
            </a:r>
            <a:r>
              <a:rPr lang="ko-KR" altLang="en-US" dirty="0"/>
              <a:t>를 반환함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063249-A78B-0145-3B34-E279874ABF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DML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2FDF95-AE59-8AE8-E0A0-0687EAE0B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17" y="2700236"/>
            <a:ext cx="9545382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114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26676C6-4099-07A1-7183-95FC870D1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product</a:t>
            </a:r>
          </a:p>
          <a:p>
            <a:pPr lvl="1"/>
            <a:r>
              <a:rPr lang="en-US" altLang="ko-KR" dirty="0"/>
              <a:t>cross join</a:t>
            </a:r>
            <a:r>
              <a:rPr lang="ko-KR" altLang="en-US" dirty="0"/>
              <a:t>이라고도 불림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두 릴레이션의 모든 행들을 서로 곱하여 출력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dept</a:t>
            </a:r>
            <a:r>
              <a:rPr lang="ko-KR" altLang="en-US" dirty="0"/>
              <a:t>의 경우 </a:t>
            </a:r>
            <a:r>
              <a:rPr lang="en-US" altLang="ko-KR" dirty="0"/>
              <a:t>4</a:t>
            </a:r>
            <a:r>
              <a:rPr lang="ko-KR" altLang="en-US" dirty="0"/>
              <a:t>개의 </a:t>
            </a:r>
            <a:r>
              <a:rPr lang="en-US" altLang="ko-KR" dirty="0"/>
              <a:t>record.</a:t>
            </a:r>
          </a:p>
          <a:p>
            <a:pPr lvl="2"/>
            <a:r>
              <a:rPr lang="en-US" altLang="ko-KR" dirty="0"/>
              <a:t>emp</a:t>
            </a:r>
            <a:r>
              <a:rPr lang="ko-KR" altLang="en-US" dirty="0"/>
              <a:t>의 경우 </a:t>
            </a:r>
            <a:r>
              <a:rPr lang="en-US" altLang="ko-KR" dirty="0"/>
              <a:t>14</a:t>
            </a:r>
            <a:r>
              <a:rPr lang="ko-KR" altLang="en-US" dirty="0"/>
              <a:t>개의 </a:t>
            </a:r>
            <a:r>
              <a:rPr lang="en-US" altLang="ko-KR" dirty="0"/>
              <a:t>record</a:t>
            </a:r>
            <a:r>
              <a:rPr lang="ko-KR" altLang="en-US" dirty="0"/>
              <a:t>를 </a:t>
            </a:r>
            <a:r>
              <a:rPr lang="ko-KR" altLang="en-US" dirty="0" err="1"/>
              <a:t>가지고있음</a:t>
            </a:r>
            <a:endParaRPr lang="en-US" altLang="ko-KR" dirty="0"/>
          </a:p>
          <a:p>
            <a:pPr lvl="2"/>
            <a:r>
              <a:rPr lang="en-US" altLang="ko-KR" dirty="0"/>
              <a:t>14 * 4 = 56</a:t>
            </a:r>
            <a:r>
              <a:rPr lang="ko-KR" altLang="en-US" dirty="0"/>
              <a:t>개의 레코드 반환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66E2EE-880A-4420-9430-97663654DE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DML</a:t>
            </a: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53A0897-4778-A180-B5AD-5ADEA47C9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962" y="2657367"/>
            <a:ext cx="4258269" cy="77163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3407832-F15E-D70B-4D8C-3ACBB394ED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93" y="3734515"/>
            <a:ext cx="9858376" cy="278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387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872E285-CFAC-0F47-DE94-CB6BA6A77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Relation R</a:t>
            </a:r>
            <a:r>
              <a:rPr lang="ko-KR" altLang="en-US" dirty="0"/>
              <a:t>에서 조건 </a:t>
            </a:r>
            <a:r>
              <a:rPr lang="en-US" altLang="ko-KR" dirty="0"/>
              <a:t>c</a:t>
            </a:r>
            <a:r>
              <a:rPr lang="ko-KR" altLang="en-US" dirty="0"/>
              <a:t>를 만족하는 </a:t>
            </a:r>
            <a:r>
              <a:rPr lang="ko-KR" altLang="en-US" dirty="0" err="1"/>
              <a:t>튜플을</a:t>
            </a:r>
            <a:r>
              <a:rPr lang="ko-KR" altLang="en-US" dirty="0"/>
              <a:t> 리턴</a:t>
            </a:r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B3CBD8-A670-ACC0-2C13-63A47E8FB1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SELECTION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75BB407-4BCD-2F96-5B6D-27C5FD71F3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592200"/>
              </p:ext>
            </p:extLst>
          </p:nvPr>
        </p:nvGraphicFramePr>
        <p:xfrm>
          <a:off x="493485" y="4108326"/>
          <a:ext cx="65024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42458899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633602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85221956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37003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address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002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Dong June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6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Kwang woo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...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28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Daeyoung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...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8015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0E6C465-EC2E-14A1-B52F-587305C994BA}"/>
                  </a:ext>
                </a:extLst>
              </p:cNvPr>
              <p:cNvSpPr txBox="1"/>
              <p:nvPr/>
            </p:nvSpPr>
            <p:spPr>
              <a:xfrm>
                <a:off x="941292" y="1819087"/>
                <a:ext cx="4196605" cy="6156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ko-KR" altLang="en-US" sz="280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0E6C465-EC2E-14A1-B52F-587305C99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292" y="1819087"/>
                <a:ext cx="4196605" cy="6156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6F3A9A0-8673-6873-B209-A5326D2B31E3}"/>
              </a:ext>
            </a:extLst>
          </p:cNvPr>
          <p:cNvSpPr txBox="1"/>
          <p:nvPr/>
        </p:nvSpPr>
        <p:spPr>
          <a:xfrm>
            <a:off x="2876596" y="3616886"/>
            <a:ext cx="993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Table: R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BBC674-E1EF-5D73-5A0C-4A17770D94FB}"/>
                  </a:ext>
                </a:extLst>
              </p:cNvPr>
              <p:cNvSpPr txBox="1"/>
              <p:nvPr/>
            </p:nvSpPr>
            <p:spPr>
              <a:xfrm>
                <a:off x="359070" y="2967979"/>
                <a:ext cx="7044094" cy="391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𝑆𝑒𝑙𝑒𝑐𝑡𝑖𝑜𝑛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𝑎𝑔𝑒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≤30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BBC674-E1EF-5D73-5A0C-4A17770D9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070" y="2967979"/>
                <a:ext cx="7044094" cy="391902"/>
              </a:xfrm>
              <a:prstGeom prst="rect">
                <a:avLst/>
              </a:prstGeom>
              <a:blipFill>
                <a:blip r:embed="rId3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EAF1B49-BA8E-B470-FF5C-696CA819A7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681718"/>
              </p:ext>
            </p:extLst>
          </p:nvPr>
        </p:nvGraphicFramePr>
        <p:xfrm>
          <a:off x="7620000" y="4027285"/>
          <a:ext cx="407851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629">
                  <a:extLst>
                    <a:ext uri="{9D8B030D-6E8A-4147-A177-3AD203B41FA5}">
                      <a16:colId xmlns:a16="http://schemas.microsoft.com/office/drawing/2014/main" val="2424588992"/>
                    </a:ext>
                  </a:extLst>
                </a:gridCol>
                <a:gridCol w="1019629">
                  <a:extLst>
                    <a:ext uri="{9D8B030D-6E8A-4147-A177-3AD203B41FA5}">
                      <a16:colId xmlns:a16="http://schemas.microsoft.com/office/drawing/2014/main" val="2156336029"/>
                    </a:ext>
                  </a:extLst>
                </a:gridCol>
                <a:gridCol w="1019629">
                  <a:extLst>
                    <a:ext uri="{9D8B030D-6E8A-4147-A177-3AD203B41FA5}">
                      <a16:colId xmlns:a16="http://schemas.microsoft.com/office/drawing/2014/main" val="852219569"/>
                    </a:ext>
                  </a:extLst>
                </a:gridCol>
                <a:gridCol w="1019629">
                  <a:extLst>
                    <a:ext uri="{9D8B030D-6E8A-4147-A177-3AD203B41FA5}">
                      <a16:colId xmlns:a16="http://schemas.microsoft.com/office/drawing/2014/main" val="337003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address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002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Dong June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6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Daeyoung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...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801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1079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986C66-4E4F-3A55-716E-862801AE19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Projection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AC9C2B-5604-D6A5-BC4A-1D85C3C95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836" y="1320270"/>
            <a:ext cx="11339444" cy="502353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Relation R</a:t>
            </a:r>
            <a:r>
              <a:rPr lang="ko-KR" altLang="en-US" dirty="0"/>
              <a:t>에서 주어진 속성들의 값으로만 구성된 </a:t>
            </a:r>
            <a:r>
              <a:rPr lang="ko-KR" altLang="en-US" dirty="0" err="1"/>
              <a:t>튜플을</a:t>
            </a:r>
            <a:r>
              <a:rPr lang="ko-KR" altLang="en-US" dirty="0"/>
              <a:t> 리턴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즉</a:t>
            </a:r>
            <a:r>
              <a:rPr lang="en-US" altLang="ko-KR" dirty="0"/>
              <a:t> </a:t>
            </a:r>
            <a:r>
              <a:rPr lang="ko-KR" altLang="en-US" dirty="0"/>
              <a:t>필요 </a:t>
            </a:r>
            <a:r>
              <a:rPr lang="en-US" altLang="ko-KR" dirty="0"/>
              <a:t>column </a:t>
            </a:r>
            <a:r>
              <a:rPr lang="ko-KR" altLang="en-US" dirty="0"/>
              <a:t>추출</a:t>
            </a:r>
          </a:p>
          <a:p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309DB5-5095-6E30-10C1-41F6D0C6F88B}"/>
                  </a:ext>
                </a:extLst>
              </p:cNvPr>
              <p:cNvSpPr txBox="1"/>
              <p:nvPr/>
            </p:nvSpPr>
            <p:spPr>
              <a:xfrm>
                <a:off x="163047" y="2761434"/>
                <a:ext cx="6094878" cy="3960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𝑃𝑟𝑜𝑗𝑒𝑐𝑡𝑖𝑜𝑛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𝑛𝑎𝑚𝑒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𝑎𝑔𝑒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309DB5-5095-6E30-10C1-41F6D0C6F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47" y="2761434"/>
                <a:ext cx="6094878" cy="396006"/>
              </a:xfrm>
              <a:prstGeom prst="rect">
                <a:avLst/>
              </a:prstGeom>
              <a:blipFill>
                <a:blip r:embed="rId2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05985F4-393F-C179-BF95-8CE4D1149009}"/>
              </a:ext>
            </a:extLst>
          </p:cNvPr>
          <p:cNvGraphicFramePr>
            <a:graphicFrameLocks noGrp="1"/>
          </p:cNvGraphicFramePr>
          <p:nvPr/>
        </p:nvGraphicFramePr>
        <p:xfrm>
          <a:off x="545088" y="3722304"/>
          <a:ext cx="5550912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7728">
                  <a:extLst>
                    <a:ext uri="{9D8B030D-6E8A-4147-A177-3AD203B41FA5}">
                      <a16:colId xmlns:a16="http://schemas.microsoft.com/office/drawing/2014/main" val="2424588992"/>
                    </a:ext>
                  </a:extLst>
                </a:gridCol>
                <a:gridCol w="1387728">
                  <a:extLst>
                    <a:ext uri="{9D8B030D-6E8A-4147-A177-3AD203B41FA5}">
                      <a16:colId xmlns:a16="http://schemas.microsoft.com/office/drawing/2014/main" val="2156336029"/>
                    </a:ext>
                  </a:extLst>
                </a:gridCol>
                <a:gridCol w="1387728">
                  <a:extLst>
                    <a:ext uri="{9D8B030D-6E8A-4147-A177-3AD203B41FA5}">
                      <a16:colId xmlns:a16="http://schemas.microsoft.com/office/drawing/2014/main" val="852219569"/>
                    </a:ext>
                  </a:extLst>
                </a:gridCol>
                <a:gridCol w="1387728">
                  <a:extLst>
                    <a:ext uri="{9D8B030D-6E8A-4147-A177-3AD203B41FA5}">
                      <a16:colId xmlns:a16="http://schemas.microsoft.com/office/drawing/2014/main" val="3370037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Age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address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002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Dong June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6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Kwang woo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...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28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Daeyoung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...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80151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E87E487-D315-98AA-D604-3134DC050244}"/>
              </a:ext>
            </a:extLst>
          </p:cNvPr>
          <p:cNvGraphicFramePr>
            <a:graphicFrameLocks noGrp="1"/>
          </p:cNvGraphicFramePr>
          <p:nvPr/>
        </p:nvGraphicFramePr>
        <p:xfrm>
          <a:off x="6481964" y="3711477"/>
          <a:ext cx="2775456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7728">
                  <a:extLst>
                    <a:ext uri="{9D8B030D-6E8A-4147-A177-3AD203B41FA5}">
                      <a16:colId xmlns:a16="http://schemas.microsoft.com/office/drawing/2014/main" val="2156336029"/>
                    </a:ext>
                  </a:extLst>
                </a:gridCol>
                <a:gridCol w="1387728">
                  <a:extLst>
                    <a:ext uri="{9D8B030D-6E8A-4147-A177-3AD203B41FA5}">
                      <a16:colId xmlns:a16="http://schemas.microsoft.com/office/drawing/2014/main" val="852219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name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Age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002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Dong June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6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Kwang woo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028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Daeyoung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8015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4804730-E047-7E7A-0BF5-C49A145D7D7C}"/>
              </a:ext>
            </a:extLst>
          </p:cNvPr>
          <p:cNvSpPr txBox="1"/>
          <p:nvPr/>
        </p:nvSpPr>
        <p:spPr>
          <a:xfrm>
            <a:off x="6454714" y="2708929"/>
            <a:ext cx="3493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SELECT </a:t>
            </a:r>
            <a:r>
              <a:rPr lang="en-US" altLang="ko-KR" dirty="0" err="1"/>
              <a:t>name,age</a:t>
            </a:r>
            <a:endParaRPr lang="en-US" altLang="ko-KR" dirty="0"/>
          </a:p>
          <a:p>
            <a:r>
              <a:rPr lang="en-US" altLang="ko-KR" dirty="0"/>
              <a:t>FROM R;</a:t>
            </a:r>
          </a:p>
        </p:txBody>
      </p:sp>
    </p:spTree>
    <p:extLst>
      <p:ext uri="{BB962C8B-B14F-4D97-AF65-F5344CB8AC3E}">
        <p14:creationId xmlns:p14="http://schemas.microsoft.com/office/powerpoint/2010/main" val="3214493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185E3DAC-8A28-B803-DD6F-421735AA29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>
                    <a:hlinkClick r:id="rId2"/>
                  </a:rPr>
                  <a:t>SELECT SQL Syntax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Relational algebra</a:t>
                </a:r>
              </a:p>
              <a:p>
                <a:pPr lvl="1"/>
                <a:r>
                  <a:rPr lang="en-US" altLang="ko-KR" dirty="0">
                    <a:latin typeface="+mn-ea"/>
                  </a:rPr>
                  <a:t>Selection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𝑎𝑔𝑒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≤30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en-US" altLang="ko-KR" dirty="0"/>
                  <a:t>Projection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𝑛𝑎𝑚𝑒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𝑎𝑔𝑒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/>
                  <a:t> </a:t>
                </a:r>
              </a:p>
              <a:p>
                <a:pPr marL="457200" lvl="1" indent="0">
                  <a:buFont typeface="Arial" panose="020B0604020202020204" pitchFamily="34" charset="0"/>
                  <a:buNone/>
                </a:pPr>
                <a:endParaRPr lang="ko-KR" altLang="en-US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185E3DAC-8A28-B803-DD6F-421735AA29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68" t="-12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3DE094-BE72-689E-AA27-3ED53EF18A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SELECT</a:t>
            </a:r>
            <a:endParaRPr lang="ko-KR" alt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31CBF79-97AD-F12F-266B-90C26240A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953" y="235323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DISTINCT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[, ...] ) ] ]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 * |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 [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output_name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] [, ...] ]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from_item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[, ...] ]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]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GROUP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[, ...] ]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HAVING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condition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[, ...] ]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 WINDOW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window_name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window_definition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[, ...] ]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 {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UNION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INTERSECT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[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DISTINCT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kumimoji="0" lang="ko-KR" altLang="ko-KR" sz="1000" b="1" i="0" u="none" strike="noStrike" cap="none" normalizeH="0" baseline="0" dirty="0" err="1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BY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expression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ASC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DESC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 USING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operator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] [ NULLS {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LAST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] [, ...] 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 LIMIT {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FF1493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]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 OFFSET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 ROW |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ROWS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]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8126515-8978-B10C-675A-D01449351066}"/>
              </a:ext>
            </a:extLst>
          </p:cNvPr>
          <p:cNvGraphicFramePr>
            <a:graphicFrameLocks noGrp="1"/>
          </p:cNvGraphicFramePr>
          <p:nvPr/>
        </p:nvGraphicFramePr>
        <p:xfrm>
          <a:off x="6824382" y="987086"/>
          <a:ext cx="5308438" cy="5870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4219">
                  <a:extLst>
                    <a:ext uri="{9D8B030D-6E8A-4147-A177-3AD203B41FA5}">
                      <a16:colId xmlns:a16="http://schemas.microsoft.com/office/drawing/2014/main" val="3810590244"/>
                    </a:ext>
                  </a:extLst>
                </a:gridCol>
                <a:gridCol w="2654219">
                  <a:extLst>
                    <a:ext uri="{9D8B030D-6E8A-4147-A177-3AD203B41FA5}">
                      <a16:colId xmlns:a16="http://schemas.microsoft.com/office/drawing/2014/main" val="2535161171"/>
                    </a:ext>
                  </a:extLst>
                </a:gridCol>
              </a:tblGrid>
              <a:tr h="25208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700" dirty="0">
                          <a:solidFill>
                            <a:schemeClr val="tx1"/>
                          </a:solidFill>
                          <a:effectLst/>
                        </a:rPr>
                        <a:t>Option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기능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598315727"/>
                  </a:ext>
                </a:extLst>
              </a:tr>
              <a:tr h="25208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700" dirty="0">
                          <a:solidFill>
                            <a:schemeClr val="tx1"/>
                          </a:solidFill>
                          <a:effectLst/>
                        </a:rPr>
                        <a:t>SELECT ALL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중복되는 열까지 결과값으로 출력해 주는 역할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276627625"/>
                  </a:ext>
                </a:extLst>
              </a:tr>
              <a:tr h="25208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700" dirty="0">
                          <a:solidFill>
                            <a:schemeClr val="tx1"/>
                          </a:solidFill>
                          <a:effectLst/>
                        </a:rPr>
                        <a:t>SELECT DISTINCT ON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ko-KR" altLang="en-US" sz="700">
                          <a:solidFill>
                            <a:schemeClr val="tx1"/>
                          </a:solidFill>
                          <a:effectLst/>
                        </a:rPr>
                        <a:t>중복되는 열들을 결과값에서 제거하는 역할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215838938"/>
                  </a:ext>
                </a:extLst>
              </a:tr>
              <a:tr h="416225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700" dirty="0">
                          <a:solidFill>
                            <a:schemeClr val="tx1"/>
                          </a:solidFill>
                          <a:effectLst/>
                        </a:rPr>
                        <a:t>AS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en-US" altLang="ko-KR" sz="700">
                          <a:solidFill>
                            <a:schemeClr val="tx1"/>
                          </a:solidFill>
                          <a:effectLst/>
                        </a:rPr>
                        <a:t>alias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effectLst/>
                        </a:rPr>
                        <a:t>의 약자로 선택한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effectLst/>
                        </a:rPr>
                        <a:t>column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effectLst/>
                        </a:rPr>
                        <a:t>의 이름을 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effectLst/>
                        </a:rPr>
                        <a:t>AS</a:t>
                      </a:r>
                      <a:r>
                        <a:rPr lang="ko-KR" altLang="en-US" sz="700">
                          <a:solidFill>
                            <a:schemeClr val="tx1"/>
                          </a:solidFill>
                          <a:effectLst/>
                        </a:rPr>
                        <a:t>를 사용하면 새로운 이름으로 지정하여 출력할 수 있습니다</a:t>
                      </a:r>
                      <a:r>
                        <a:rPr lang="en-US" altLang="ko-KR" sz="70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988900491"/>
                  </a:ext>
                </a:extLst>
              </a:tr>
              <a:tr h="25208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700">
                          <a:solidFill>
                            <a:schemeClr val="tx1"/>
                          </a:solidFill>
                          <a:effectLst/>
                        </a:rPr>
                        <a:t>FROM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한 개 또는 그 이상의 테이블을 지정할 수 있습니다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998816239"/>
                  </a:ext>
                </a:extLst>
              </a:tr>
              <a:tr h="353882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700">
                          <a:solidFill>
                            <a:schemeClr val="tx1"/>
                          </a:solidFill>
                          <a:effectLst/>
                        </a:rPr>
                        <a:t>WHERE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FROM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절의 테이블 내에서 조건을 만족하는 행을 검사합니다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535241094"/>
                  </a:ext>
                </a:extLst>
              </a:tr>
              <a:tr h="744515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700" dirty="0">
                          <a:solidFill>
                            <a:schemeClr val="tx1"/>
                          </a:solidFill>
                          <a:effectLst/>
                        </a:rPr>
                        <a:t>GROUP BY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동일한 값을 가진 데이터를 집계해서 조회하고자 할 때 사용합니다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b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예를 들어 각 부서의 평균연령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부서의 인원이 몇 명인지를 집계해서 다른 부서와 비교할 수 있습니다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02673764"/>
                  </a:ext>
                </a:extLst>
              </a:tr>
              <a:tr h="744515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700" dirty="0">
                          <a:solidFill>
                            <a:schemeClr val="tx1"/>
                          </a:solidFill>
                          <a:effectLst/>
                        </a:rPr>
                        <a:t>HAVING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effectLst/>
                        </a:rPr>
                        <a:t>절은그룹을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 가지고 조건을 비교할 때 사용합니다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. GROUP BY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와 함께 쓰입니다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  <a:b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effectLst/>
                        </a:rPr>
                        <a:t>예를들어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 주어진 조건을 만족하지 않은 그룹을 </a:t>
                      </a:r>
                      <a:r>
                        <a:rPr lang="ko-KR" altLang="en-US" sz="700" dirty="0" err="1">
                          <a:solidFill>
                            <a:schemeClr val="tx1"/>
                          </a:solidFill>
                          <a:effectLst/>
                        </a:rPr>
                        <a:t>제거할수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 있습니다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800802570"/>
                  </a:ext>
                </a:extLst>
              </a:tr>
              <a:tr h="416225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700">
                          <a:solidFill>
                            <a:schemeClr val="tx1"/>
                          </a:solidFill>
                          <a:effectLst/>
                        </a:rPr>
                        <a:t>UNION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열의 개수가 동일하고 타입이 동일한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개의 집합들의 결과값을 결합하여 반환합니다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842151317"/>
                  </a:ext>
                </a:extLst>
              </a:tr>
              <a:tr h="416225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700">
                          <a:solidFill>
                            <a:schemeClr val="tx1"/>
                          </a:solidFill>
                          <a:effectLst/>
                        </a:rPr>
                        <a:t>INTERSECT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교집합과 같은 원리로 두 집합모두에 있는 열들을 반환합니다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256229083"/>
                  </a:ext>
                </a:extLst>
              </a:tr>
              <a:tr h="416225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700">
                          <a:solidFill>
                            <a:schemeClr val="tx1"/>
                          </a:solidFill>
                          <a:effectLst/>
                        </a:rPr>
                        <a:t>EXCEPT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차집합과 같은 원리로 두 집합모두에 있는 열들을 반환합니다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234010978"/>
                  </a:ext>
                </a:extLst>
              </a:tr>
              <a:tr h="416225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700">
                          <a:solidFill>
                            <a:schemeClr val="tx1"/>
                          </a:solidFill>
                          <a:effectLst/>
                        </a:rPr>
                        <a:t>ORDER BY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파일을 정렬하는데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ASC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와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DESC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를 사용하여 오름차순과 내림차순을 설정할 수 있습니다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478672896"/>
                  </a:ext>
                </a:extLst>
              </a:tr>
              <a:tr h="25208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700">
                          <a:solidFill>
                            <a:schemeClr val="tx1"/>
                          </a:solidFill>
                          <a:effectLst/>
                        </a:rPr>
                        <a:t>LIMIT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쿼리결과의 개수를 제한할 수 있습니다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042057467"/>
                  </a:ext>
                </a:extLst>
              </a:tr>
              <a:tr h="353882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700" dirty="0">
                          <a:solidFill>
                            <a:schemeClr val="tx1"/>
                          </a:solidFill>
                          <a:effectLst/>
                        </a:rPr>
                        <a:t>OFFSET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400"/>
                        </a:lnSpc>
                      </a:pPr>
                      <a:r>
                        <a:rPr lang="ko-KR" altLang="en-US" sz="700" dirty="0">
                          <a:solidFill>
                            <a:schemeClr val="tx1"/>
                          </a:solidFill>
                          <a:effectLst/>
                        </a:rPr>
                        <a:t>시작 행을 반환하기 전에 많은 행을 건너뛰는 역할을 합니다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  <a:effectLst/>
                        </a:rPr>
                        <a:t>.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696809272"/>
                  </a:ext>
                </a:extLst>
              </a:tr>
            </a:tbl>
          </a:graphicData>
        </a:graphic>
      </p:graphicFrame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F8E5E546-30CE-D6DF-EF48-82675D4D6C60}"/>
              </a:ext>
            </a:extLst>
          </p:cNvPr>
          <p:cNvSpPr txBox="1">
            <a:spLocks/>
          </p:cNvSpPr>
          <p:nvPr/>
        </p:nvSpPr>
        <p:spPr>
          <a:xfrm>
            <a:off x="359071" y="3922543"/>
            <a:ext cx="11339444" cy="5023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E7EF0B1-4D72-C1E4-79EA-75218D45699E}"/>
              </a:ext>
            </a:extLst>
          </p:cNvPr>
          <p:cNvGraphicFramePr>
            <a:graphicFrameLocks noGrp="1"/>
          </p:cNvGraphicFramePr>
          <p:nvPr/>
        </p:nvGraphicFramePr>
        <p:xfrm>
          <a:off x="3572917" y="4582757"/>
          <a:ext cx="1738670" cy="502920"/>
        </p:xfrm>
        <a:graphic>
          <a:graphicData uri="http://schemas.openxmlformats.org/drawingml/2006/table">
            <a:tbl>
              <a:tblPr/>
              <a:tblGrid>
                <a:gridCol w="1738670">
                  <a:extLst>
                    <a:ext uri="{9D8B030D-6E8A-4147-A177-3AD203B41FA5}">
                      <a16:colId xmlns:a16="http://schemas.microsoft.com/office/drawing/2014/main" val="3738308762"/>
                    </a:ext>
                  </a:extLst>
                </a:gridCol>
              </a:tblGrid>
              <a:tr h="50030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SELECT *</a:t>
                      </a:r>
                    </a:p>
                    <a:p>
                      <a:pPr algn="l" fontAlgn="base"/>
                      <a:r>
                        <a:rPr lang="en-US" sz="11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FROM R</a:t>
                      </a:r>
                    </a:p>
                    <a:p>
                      <a:pPr algn="l" fontAlgn="base"/>
                      <a:r>
                        <a:rPr lang="en-US" sz="11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WHERE age &lt;= 30;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33338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17C3257-56AC-6C94-2CDD-99D30EE07E58}"/>
              </a:ext>
            </a:extLst>
          </p:cNvPr>
          <p:cNvGraphicFramePr>
            <a:graphicFrameLocks noGrp="1"/>
          </p:cNvGraphicFramePr>
          <p:nvPr/>
        </p:nvGraphicFramePr>
        <p:xfrm>
          <a:off x="3614381" y="5625736"/>
          <a:ext cx="1738670" cy="500302"/>
        </p:xfrm>
        <a:graphic>
          <a:graphicData uri="http://schemas.openxmlformats.org/drawingml/2006/table">
            <a:tbl>
              <a:tblPr/>
              <a:tblGrid>
                <a:gridCol w="1738670">
                  <a:extLst>
                    <a:ext uri="{9D8B030D-6E8A-4147-A177-3AD203B41FA5}">
                      <a16:colId xmlns:a16="http://schemas.microsoft.com/office/drawing/2014/main" val="3738308762"/>
                    </a:ext>
                  </a:extLst>
                </a:gridCol>
              </a:tblGrid>
              <a:tr h="500302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SELECT </a:t>
                      </a:r>
                      <a:r>
                        <a:rPr lang="en-US" sz="1100" b="0" i="0" dirty="0" err="1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name,age</a:t>
                      </a:r>
                      <a:endParaRPr lang="en-US" sz="1100" b="0" i="0" dirty="0">
                        <a:effectLst/>
                        <a:highlight>
                          <a:srgbClr val="FFFFFF"/>
                        </a:highlight>
                        <a:latin typeface="Consolas" panose="020B0609020204030204" pitchFamily="49" charset="0"/>
                      </a:endParaRPr>
                    </a:p>
                    <a:p>
                      <a:pPr algn="l" fontAlgn="base"/>
                      <a:r>
                        <a:rPr lang="en-US" sz="11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FROM R;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633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678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015E015-C115-995A-F2F9-AA8BAE2A0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lnSpc>
                <a:spcPts val="1400"/>
              </a:lnSpc>
            </a:pPr>
            <a:endParaRPr lang="en-US" altLang="ko-KR" sz="16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+mn-ea"/>
            </a:endParaRPr>
          </a:p>
          <a:p>
            <a:pPr algn="l">
              <a:lnSpc>
                <a:spcPts val="1400"/>
              </a:lnSpc>
            </a:pPr>
            <a:endParaRPr lang="en-US" altLang="ko-KR" sz="1600" dirty="0">
              <a:solidFill>
                <a:srgbClr val="333333"/>
              </a:solidFill>
              <a:highlight>
                <a:srgbClr val="FFFFFF"/>
              </a:highlight>
              <a:latin typeface="+mn-ea"/>
            </a:endParaRPr>
          </a:p>
          <a:p>
            <a:pPr algn="l">
              <a:lnSpc>
                <a:spcPts val="1400"/>
              </a:lnSpc>
            </a:pPr>
            <a:endParaRPr lang="en-US" altLang="ko-KR" sz="16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+mn-ea"/>
            </a:endParaRPr>
          </a:p>
          <a:p>
            <a:pPr algn="l">
              <a:lnSpc>
                <a:spcPts val="1400"/>
              </a:lnSpc>
            </a:pPr>
            <a:r>
              <a:rPr lang="en-US" altLang="ko-KR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films</a:t>
            </a:r>
            <a:r>
              <a:rPr lang="ko-KR" alt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테이블에서 </a:t>
            </a:r>
            <a:r>
              <a:rPr lang="en-US" altLang="ko-KR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kind</a:t>
            </a:r>
            <a:r>
              <a:rPr lang="ko-KR" alt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컬럼 값이 같은 것끼리 </a:t>
            </a:r>
            <a:r>
              <a:rPr lang="ko-KR" altLang="en-US" sz="1600" dirty="0" err="1">
                <a:solidFill>
                  <a:srgbClr val="333333"/>
                </a:solidFill>
                <a:highlight>
                  <a:srgbClr val="FFFFFF"/>
                </a:highlight>
                <a:latin typeface="+mn-ea"/>
              </a:rPr>
              <a:t>그룹지음</a:t>
            </a:r>
            <a:r>
              <a:rPr lang="en-US" altLang="ko-KR" sz="1600" dirty="0">
                <a:solidFill>
                  <a:srgbClr val="333333"/>
                </a:solidFill>
                <a:highlight>
                  <a:srgbClr val="FFFFFF"/>
                </a:highlight>
                <a:latin typeface="+mn-ea"/>
              </a:rPr>
              <a:t>.</a:t>
            </a:r>
            <a:endParaRPr lang="en-US" altLang="ko-KR" sz="16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+mn-ea"/>
            </a:endParaRPr>
          </a:p>
          <a:p>
            <a:pPr algn="l">
              <a:lnSpc>
                <a:spcPts val="1400"/>
              </a:lnSpc>
            </a:pPr>
            <a:r>
              <a:rPr lang="en-US" altLang="ko-KR" sz="1600" dirty="0" err="1">
                <a:solidFill>
                  <a:srgbClr val="333333"/>
                </a:solidFill>
                <a:highlight>
                  <a:srgbClr val="FFFFFF"/>
                </a:highlight>
                <a:latin typeface="+mn-ea"/>
              </a:rPr>
              <a:t>l</a:t>
            </a:r>
            <a:r>
              <a:rPr lang="en-US" altLang="ko-KR" sz="16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en</a:t>
            </a:r>
            <a:r>
              <a:rPr lang="ko-KR" alt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컬럼의 총합을 </a:t>
            </a:r>
            <a:r>
              <a:rPr lang="en-US" altLang="ko-KR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total</a:t>
            </a:r>
            <a:r>
              <a:rPr lang="ko-KR" alt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로 지정합니다</a:t>
            </a:r>
            <a:r>
              <a:rPr lang="en-US" altLang="ko-KR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.</a:t>
            </a:r>
          </a:p>
          <a:p>
            <a:pPr algn="l">
              <a:lnSpc>
                <a:spcPts val="1400"/>
              </a:lnSpc>
            </a:pPr>
            <a:r>
              <a:rPr lang="en-US" altLang="ko-KR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sum(</a:t>
            </a:r>
            <a:r>
              <a:rPr lang="en-US" altLang="ko-KR" sz="16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len</a:t>
            </a:r>
            <a:r>
              <a:rPr lang="en-US" altLang="ko-KR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)</a:t>
            </a:r>
            <a:r>
              <a:rPr lang="ko-KR" alt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의 값이 </a:t>
            </a:r>
            <a:r>
              <a:rPr lang="en-US" altLang="ko-KR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5</a:t>
            </a:r>
            <a:r>
              <a:rPr lang="ko-KR" altLang="en-US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시간보다 작은 것들을 선택해서 출력합니다</a:t>
            </a:r>
            <a:r>
              <a:rPr lang="en-US" altLang="ko-KR" sz="1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.</a:t>
            </a:r>
          </a:p>
          <a:p>
            <a:pPr algn="l">
              <a:lnSpc>
                <a:spcPts val="1400"/>
              </a:lnSpc>
            </a:pPr>
            <a:endParaRPr lang="en-US" altLang="ko-KR" sz="1600" dirty="0">
              <a:solidFill>
                <a:srgbClr val="333333"/>
              </a:solidFill>
              <a:highlight>
                <a:srgbClr val="FFFFFF"/>
              </a:highlight>
              <a:latin typeface="+mn-ea"/>
            </a:endParaRPr>
          </a:p>
          <a:p>
            <a:pPr algn="l">
              <a:lnSpc>
                <a:spcPts val="1400"/>
              </a:lnSpc>
            </a:pPr>
            <a:endParaRPr lang="en-US" altLang="ko-KR" sz="16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+mn-ea"/>
            </a:endParaRPr>
          </a:p>
          <a:p>
            <a:br>
              <a:rPr lang="ko-KR" altLang="en-US" sz="1600" b="0" i="0" dirty="0">
                <a:solidFill>
                  <a:srgbClr val="FFFFFF"/>
                </a:solidFill>
                <a:effectLst/>
                <a:highlight>
                  <a:srgbClr val="6CE26C"/>
                </a:highlight>
                <a:latin typeface="+mn-ea"/>
              </a:rPr>
            </a:br>
            <a:endParaRPr lang="en-US" altLang="ko-KR" sz="11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+mn-ea"/>
            </a:endParaRPr>
          </a:p>
          <a:p>
            <a:pPr algn="l">
              <a:lnSpc>
                <a:spcPts val="1400"/>
              </a:lnSpc>
            </a:pPr>
            <a:r>
              <a:rPr lang="en-US" altLang="ko-KR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Distributors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테이블에서 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name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이 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W</a:t>
            </a:r>
            <a:r>
              <a:rPr lang="ko-KR" altLang="en-US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로 시작하는 사람의 이름을 출력합니다</a:t>
            </a:r>
            <a:r>
              <a:rPr lang="en-US" altLang="ko-KR" sz="1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+mn-ea"/>
              </a:rPr>
              <a:t>.</a:t>
            </a:r>
          </a:p>
          <a:p>
            <a:pPr algn="l">
              <a:lnSpc>
                <a:spcPts val="1400"/>
              </a:lnSpc>
            </a:pPr>
            <a:endParaRPr lang="en-US" altLang="ko-KR" sz="1800" dirty="0">
              <a:solidFill>
                <a:srgbClr val="333333"/>
              </a:solidFill>
              <a:highlight>
                <a:srgbClr val="FFFFFF"/>
              </a:highlight>
              <a:latin typeface="+mn-ea"/>
            </a:endParaRPr>
          </a:p>
          <a:p>
            <a:pPr algn="l">
              <a:lnSpc>
                <a:spcPts val="1400"/>
              </a:lnSpc>
            </a:pPr>
            <a:endParaRPr lang="en-US" altLang="ko-KR" sz="18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+mn-ea"/>
            </a:endParaRPr>
          </a:p>
          <a:p>
            <a:pPr algn="l">
              <a:lnSpc>
                <a:spcPts val="1400"/>
              </a:lnSpc>
            </a:pPr>
            <a:endParaRPr lang="en-US" altLang="ko-KR" sz="1800" dirty="0">
              <a:solidFill>
                <a:srgbClr val="333333"/>
              </a:solidFill>
              <a:highlight>
                <a:srgbClr val="FFFFFF"/>
              </a:highlight>
              <a:latin typeface="+mn-ea"/>
            </a:endParaRPr>
          </a:p>
          <a:p>
            <a:pPr algn="l">
              <a:lnSpc>
                <a:spcPts val="1400"/>
              </a:lnSpc>
            </a:pPr>
            <a:endParaRPr lang="en-US" altLang="ko-KR" sz="18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+mn-ea"/>
            </a:endParaRPr>
          </a:p>
          <a:p>
            <a:pPr algn="l">
              <a:lnSpc>
                <a:spcPts val="1400"/>
              </a:lnSpc>
            </a:pPr>
            <a:r>
              <a:rPr lang="en-US" altLang="ko-KR" sz="1800" dirty="0">
                <a:solidFill>
                  <a:srgbClr val="333333"/>
                </a:solidFill>
                <a:highlight>
                  <a:srgbClr val="FFFFFF"/>
                </a:highlight>
                <a:latin typeface="+mn-ea"/>
              </a:rPr>
              <a:t>Emp </a:t>
            </a:r>
            <a:r>
              <a:rPr lang="ko-KR" altLang="en-US" sz="1800" dirty="0">
                <a:solidFill>
                  <a:srgbClr val="333333"/>
                </a:solidFill>
                <a:highlight>
                  <a:srgbClr val="FFFFFF"/>
                </a:highlight>
                <a:latin typeface="+mn-ea"/>
              </a:rPr>
              <a:t>테이블에서 급여가 </a:t>
            </a:r>
            <a:r>
              <a:rPr lang="en-US" altLang="ko-KR" sz="1800" dirty="0">
                <a:solidFill>
                  <a:srgbClr val="333333"/>
                </a:solidFill>
                <a:highlight>
                  <a:srgbClr val="FFFFFF"/>
                </a:highlight>
                <a:latin typeface="+mn-ea"/>
              </a:rPr>
              <a:t>1600 </a:t>
            </a:r>
            <a:r>
              <a:rPr lang="ko-KR" altLang="en-US" sz="1800" dirty="0">
                <a:solidFill>
                  <a:srgbClr val="333333"/>
                </a:solidFill>
                <a:highlight>
                  <a:srgbClr val="FFFFFF"/>
                </a:highlight>
                <a:latin typeface="+mn-ea"/>
              </a:rPr>
              <a:t>과 </a:t>
            </a:r>
            <a:r>
              <a:rPr lang="en-US" altLang="ko-KR" sz="1800" dirty="0">
                <a:solidFill>
                  <a:srgbClr val="333333"/>
                </a:solidFill>
                <a:highlight>
                  <a:srgbClr val="FFFFFF"/>
                </a:highlight>
                <a:latin typeface="+mn-ea"/>
              </a:rPr>
              <a:t>2000</a:t>
            </a:r>
            <a:r>
              <a:rPr lang="ko-KR" altLang="en-US" sz="1800" dirty="0">
                <a:solidFill>
                  <a:srgbClr val="333333"/>
                </a:solidFill>
                <a:highlight>
                  <a:srgbClr val="FFFFFF"/>
                </a:highlight>
                <a:latin typeface="+mn-ea"/>
              </a:rPr>
              <a:t>사이인 직원의 정보를 </a:t>
            </a:r>
            <a:r>
              <a:rPr lang="ko-KR" altLang="en-US" sz="1800" dirty="0" err="1">
                <a:solidFill>
                  <a:srgbClr val="333333"/>
                </a:solidFill>
                <a:highlight>
                  <a:srgbClr val="FFFFFF"/>
                </a:highlight>
                <a:latin typeface="+mn-ea"/>
              </a:rPr>
              <a:t>출력합니ㅏㄷ</a:t>
            </a:r>
            <a:r>
              <a:rPr lang="en-US" altLang="ko-KR" sz="1800" dirty="0">
                <a:solidFill>
                  <a:srgbClr val="333333"/>
                </a:solidFill>
                <a:highlight>
                  <a:srgbClr val="FFFFFF"/>
                </a:highlight>
                <a:latin typeface="+mn-ea"/>
              </a:rPr>
              <a:t>.</a:t>
            </a:r>
            <a:endParaRPr lang="en-US" altLang="ko-KR" sz="18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+mn-ea"/>
            </a:endParaRPr>
          </a:p>
          <a:p>
            <a:pPr algn="l">
              <a:lnSpc>
                <a:spcPts val="1400"/>
              </a:lnSpc>
            </a:pPr>
            <a:endParaRPr lang="en-US" altLang="ko-KR" sz="1800" dirty="0">
              <a:solidFill>
                <a:srgbClr val="333333"/>
              </a:solidFill>
              <a:highlight>
                <a:srgbClr val="FFFFFF"/>
              </a:highlight>
              <a:latin typeface="+mn-ea"/>
            </a:endParaRPr>
          </a:p>
          <a:p>
            <a:pPr algn="l">
              <a:lnSpc>
                <a:spcPts val="1400"/>
              </a:lnSpc>
            </a:pPr>
            <a:endParaRPr lang="en-US" altLang="ko-KR" sz="1800" dirty="0">
              <a:solidFill>
                <a:srgbClr val="333333"/>
              </a:solidFill>
              <a:highlight>
                <a:srgbClr val="FFFFFF"/>
              </a:highlight>
              <a:latin typeface="+mn-ea"/>
            </a:endParaRPr>
          </a:p>
          <a:p>
            <a:pPr algn="l">
              <a:lnSpc>
                <a:spcPts val="1400"/>
              </a:lnSpc>
            </a:pPr>
            <a:endParaRPr lang="en-US" altLang="ko-KR" sz="1800" dirty="0">
              <a:solidFill>
                <a:srgbClr val="333333"/>
              </a:solidFill>
              <a:highlight>
                <a:srgbClr val="FFFFFF"/>
              </a:highlight>
              <a:latin typeface="+mn-ea"/>
            </a:endParaRPr>
          </a:p>
          <a:p>
            <a:pPr algn="l">
              <a:lnSpc>
                <a:spcPts val="1400"/>
              </a:lnSpc>
            </a:pPr>
            <a:endParaRPr lang="en-US" altLang="ko-KR" sz="1800" dirty="0">
              <a:solidFill>
                <a:srgbClr val="333333"/>
              </a:solidFill>
              <a:highlight>
                <a:srgbClr val="FFFFFF"/>
              </a:highlight>
              <a:latin typeface="+mn-ea"/>
            </a:endParaRPr>
          </a:p>
          <a:p>
            <a:pPr algn="l">
              <a:lnSpc>
                <a:spcPts val="1400"/>
              </a:lnSpc>
            </a:pPr>
            <a:endParaRPr lang="ko-KR" altLang="en-US" sz="1600" dirty="0">
              <a:latin typeface="+mn-ea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4E1490-84FB-D40A-D98A-0405BFE75E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SELECT Example</a:t>
            </a: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03315A2-3F5C-7BE8-D630-D9356F87C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808" y="1199193"/>
            <a:ext cx="2236190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SELECT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effectLst/>
                <a:latin typeface="+mn-ea"/>
              </a:rPr>
              <a:t>kind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,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effectLst/>
                <a:latin typeface="+mn-ea"/>
              </a:rPr>
              <a:t>sum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(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effectLst/>
                <a:latin typeface="+mn-ea"/>
              </a:rPr>
              <a:t>len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)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AS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effectLst/>
                <a:latin typeface="+mn-ea"/>
              </a:rPr>
              <a:t>total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FROM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effectLst/>
                <a:latin typeface="+mn-ea"/>
              </a:rPr>
              <a:t>films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GROUP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 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BY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effectLst/>
                <a:latin typeface="+mn-ea"/>
              </a:rPr>
              <a:t>kind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HAVING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effectLst/>
                <a:latin typeface="+mn-ea"/>
              </a:rPr>
              <a:t>sum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(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effectLst/>
                <a:latin typeface="+mn-ea"/>
              </a:rPr>
              <a:t>len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) &lt;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effectLst/>
                <a:latin typeface="+mn-ea"/>
              </a:rPr>
              <a:t>interval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 '5 </a:t>
            </a:r>
            <a:r>
              <a:rPr kumimoji="0" lang="ko-KR" altLang="ko-KR" sz="1000" b="0" i="0" u="none" strike="noStrike" cap="none" normalizeH="0" baseline="0" dirty="0" err="1">
                <a:ln>
                  <a:noFill/>
                </a:ln>
                <a:effectLst/>
                <a:latin typeface="+mn-ea"/>
              </a:rPr>
              <a:t>hours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';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effectLst/>
              <a:latin typeface="+mn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8243A4C-67E2-267B-741B-78AF4FC1F5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454570"/>
              </p:ext>
            </p:extLst>
          </p:nvPr>
        </p:nvGraphicFramePr>
        <p:xfrm>
          <a:off x="640885" y="3002791"/>
          <a:ext cx="5551715" cy="1101439"/>
        </p:xfrm>
        <a:graphic>
          <a:graphicData uri="http://schemas.openxmlformats.org/drawingml/2006/table">
            <a:tbl>
              <a:tblPr/>
              <a:tblGrid>
                <a:gridCol w="5551715">
                  <a:extLst>
                    <a:ext uri="{9D8B030D-6E8A-4147-A177-3AD203B41FA5}">
                      <a16:colId xmlns:a16="http://schemas.microsoft.com/office/drawing/2014/main" val="1019984802"/>
                    </a:ext>
                  </a:extLst>
                </a:gridCol>
              </a:tblGrid>
              <a:tr h="1101439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dirty="0">
                          <a:effectLst/>
                          <a:highlight>
                            <a:srgbClr val="FFFFFF"/>
                          </a:highlight>
                          <a:latin typeface="+mn-lt"/>
                        </a:rPr>
                        <a:t>SELECT distributors.name</a:t>
                      </a:r>
                    </a:p>
                    <a:p>
                      <a:pPr algn="l" fontAlgn="base"/>
                      <a:r>
                        <a:rPr lang="en-US" sz="1200" b="0" i="0" dirty="0">
                          <a:effectLst/>
                          <a:highlight>
                            <a:srgbClr val="FFFFFF"/>
                          </a:highlight>
                          <a:latin typeface="+mn-lt"/>
                        </a:rPr>
                        <a:t>FROM distributors</a:t>
                      </a:r>
                    </a:p>
                    <a:p>
                      <a:pPr algn="l" fontAlgn="base"/>
                      <a:r>
                        <a:rPr lang="en-US" sz="1200" b="0" i="0" dirty="0">
                          <a:effectLst/>
                          <a:highlight>
                            <a:srgbClr val="FFFFFF"/>
                          </a:highlight>
                          <a:latin typeface="+mn-lt"/>
                        </a:rPr>
                        <a:t>WHERE distributors.name LIKE 'W%'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997292"/>
                  </a:ext>
                </a:extLst>
              </a:tr>
            </a:tbl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68FCBF31-8532-C302-ED6F-53F70D15D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485" y="332491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DF1A69B-757B-CD70-B0F6-0EDE3B5E62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704148"/>
              </p:ext>
            </p:extLst>
          </p:nvPr>
        </p:nvGraphicFramePr>
        <p:xfrm>
          <a:off x="640885" y="4469444"/>
          <a:ext cx="5551715" cy="1101439"/>
        </p:xfrm>
        <a:graphic>
          <a:graphicData uri="http://schemas.openxmlformats.org/drawingml/2006/table">
            <a:tbl>
              <a:tblPr/>
              <a:tblGrid>
                <a:gridCol w="5551715">
                  <a:extLst>
                    <a:ext uri="{9D8B030D-6E8A-4147-A177-3AD203B41FA5}">
                      <a16:colId xmlns:a16="http://schemas.microsoft.com/office/drawing/2014/main" val="1019984802"/>
                    </a:ext>
                  </a:extLst>
                </a:gridCol>
              </a:tblGrid>
              <a:tr h="1101439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200" b="0" i="0" dirty="0">
                          <a:effectLst/>
                          <a:highlight>
                            <a:srgbClr val="FFFFFF"/>
                          </a:highlight>
                          <a:latin typeface="+mn-lt"/>
                        </a:rPr>
                        <a:t>SELECT *</a:t>
                      </a:r>
                    </a:p>
                    <a:p>
                      <a:pPr algn="l" fontAlgn="base"/>
                      <a:r>
                        <a:rPr lang="en-US" sz="1200" b="0" i="0" dirty="0">
                          <a:effectLst/>
                          <a:highlight>
                            <a:srgbClr val="FFFFFF"/>
                          </a:highlight>
                          <a:latin typeface="+mn-lt"/>
                        </a:rPr>
                        <a:t>FROM emp</a:t>
                      </a:r>
                    </a:p>
                    <a:p>
                      <a:pPr algn="l" fontAlgn="base"/>
                      <a:r>
                        <a:rPr lang="en-US" sz="1200" b="0" i="0" dirty="0">
                          <a:effectLst/>
                          <a:highlight>
                            <a:srgbClr val="FFFFFF"/>
                          </a:highlight>
                          <a:latin typeface="+mn-lt"/>
                        </a:rPr>
                        <a:t>WHERE salary BETWEEN 1600 AND 2000;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997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6594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044A7F-BEDC-E00A-77D0-1CAD51E75C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/>
              <a:t>Join</a:t>
            </a:r>
            <a:endParaRPr lang="ko-KR" altLang="en-US" dirty="0"/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4F5BBA5-DA2F-AD7F-54C7-769440402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JOIN</a:t>
            </a:r>
          </a:p>
          <a:p>
            <a:pPr lvl="1"/>
            <a:r>
              <a:rPr lang="en-US" altLang="ko-KR" dirty="0"/>
              <a:t>FROM</a:t>
            </a:r>
            <a:r>
              <a:rPr lang="ko-KR" altLang="en-US" dirty="0"/>
              <a:t>절 에서 </a:t>
            </a:r>
            <a:r>
              <a:rPr lang="en-US" altLang="ko-KR" dirty="0"/>
              <a:t>2</a:t>
            </a:r>
            <a:r>
              <a:rPr lang="ko-KR" altLang="en-US" dirty="0"/>
              <a:t>개 이상의 테이블을 결합하여 다수의 행을 검색함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JOIN</a:t>
            </a:r>
            <a:r>
              <a:rPr lang="ko-KR" altLang="en-US" dirty="0"/>
              <a:t> </a:t>
            </a:r>
            <a:r>
              <a:rPr lang="en-US" altLang="ko-KR" dirty="0"/>
              <a:t>syntax</a:t>
            </a:r>
            <a:endParaRPr lang="ko-KR" alt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9745132-74FD-373C-B7A1-AC3499F09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43301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520BE77-7477-3AE0-90E6-2463FCC9B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240202"/>
              </p:ext>
            </p:extLst>
          </p:nvPr>
        </p:nvGraphicFramePr>
        <p:xfrm>
          <a:off x="6153150" y="2690883"/>
          <a:ext cx="2413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39821734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1500" dirty="0">
                          <a:effectLst/>
                        </a:rPr>
                        <a:t>Type</a:t>
                      </a:r>
                    </a:p>
                  </a:txBody>
                  <a:tcPr marL="40991" marR="40991" marT="40991" marB="40991"/>
                </a:tc>
                <a:extLst>
                  <a:ext uri="{0D108BD9-81ED-4DB2-BD59-A6C34878D82A}">
                    <a16:rowId xmlns:a16="http://schemas.microsoft.com/office/drawing/2014/main" val="1620509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1500" dirty="0">
                          <a:effectLst/>
                        </a:rPr>
                        <a:t>[INNER] JOIN</a:t>
                      </a:r>
                    </a:p>
                  </a:txBody>
                  <a:tcPr marL="40991" marR="40991" marT="40991" marB="40991"/>
                </a:tc>
                <a:extLst>
                  <a:ext uri="{0D108BD9-81ED-4DB2-BD59-A6C34878D82A}">
                    <a16:rowId xmlns:a16="http://schemas.microsoft.com/office/drawing/2014/main" val="4090935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1500" dirty="0">
                          <a:effectLst/>
                        </a:rPr>
                        <a:t>LEFT [OUTER] JOIN</a:t>
                      </a:r>
                    </a:p>
                  </a:txBody>
                  <a:tcPr marL="40991" marR="40991" marT="40991" marB="40991"/>
                </a:tc>
                <a:extLst>
                  <a:ext uri="{0D108BD9-81ED-4DB2-BD59-A6C34878D82A}">
                    <a16:rowId xmlns:a16="http://schemas.microsoft.com/office/drawing/2014/main" val="1149706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1500" dirty="0">
                          <a:effectLst/>
                        </a:rPr>
                        <a:t>RIGHT [OUTER] JOIN</a:t>
                      </a:r>
                    </a:p>
                  </a:txBody>
                  <a:tcPr marL="40991" marR="40991" marT="40991" marB="40991"/>
                </a:tc>
                <a:extLst>
                  <a:ext uri="{0D108BD9-81ED-4DB2-BD59-A6C34878D82A}">
                    <a16:rowId xmlns:a16="http://schemas.microsoft.com/office/drawing/2014/main" val="3442719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t">
                        <a:lnSpc>
                          <a:spcPts val="1400"/>
                        </a:lnSpc>
                      </a:pPr>
                      <a:r>
                        <a:rPr lang="en-US" sz="1500" dirty="0">
                          <a:effectLst/>
                        </a:rPr>
                        <a:t>FULL [OUTER] JOIN</a:t>
                      </a:r>
                    </a:p>
                  </a:txBody>
                  <a:tcPr marL="40991" marR="40991" marT="40991" marB="40991"/>
                </a:tc>
                <a:extLst>
                  <a:ext uri="{0D108BD9-81ED-4DB2-BD59-A6C34878D82A}">
                    <a16:rowId xmlns:a16="http://schemas.microsoft.com/office/drawing/2014/main" val="727328285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83B5794-CC2F-D1D1-5B86-4407E1052E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230218"/>
              </p:ext>
            </p:extLst>
          </p:nvPr>
        </p:nvGraphicFramePr>
        <p:xfrm>
          <a:off x="976641" y="2647010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125545001"/>
                    </a:ext>
                  </a:extLst>
                </a:gridCol>
              </a:tblGrid>
              <a:tr h="169284">
                <a:tc>
                  <a:txBody>
                    <a:bodyPr/>
                    <a:lstStyle/>
                    <a:p>
                      <a:pPr algn="l" fontAlgn="base"/>
                      <a:r>
                        <a:rPr lang="fr-FR" sz="2000" b="0" i="0" dirty="0">
                          <a:effectLst/>
                          <a:highlight>
                            <a:srgbClr val="FFFFFF"/>
                          </a:highlight>
                          <a:latin typeface="Consolas" panose="020B0609020204030204" pitchFamily="49" charset="0"/>
                        </a:rPr>
                        <a:t>T1 join_type T2 [ join_condition ]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265048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B5179336-F5BF-CA30-9E34-DF479DF09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0350" y="2356664"/>
            <a:ext cx="65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B30653F-CB37-286D-BB51-0B361912E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641" y="3079946"/>
            <a:ext cx="4558940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ko-KR" altLang="ko-KR" sz="3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INNER</a:t>
            </a:r>
            <a:r>
              <a:rPr kumimoji="0" lang="ko-KR" altLang="ko-KR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kumimoji="0" lang="ko-KR" altLang="ko-KR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JOIN</a:t>
            </a:r>
            <a:endParaRPr kumimoji="0" lang="ko-KR" altLang="ko-K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3600" b="0" i="0" u="none" strike="noStrike" cap="none" normalizeH="0" baseline="0" dirty="0">
                <a:ln>
                  <a:noFill/>
                </a:ln>
                <a:solidFill>
                  <a:srgbClr val="FF1493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kumimoji="0" lang="ko-KR" altLang="ko-KR" sz="3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ko-KR" altLang="ko-KR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OUTER</a:t>
            </a:r>
            <a:r>
              <a:rPr kumimoji="0" lang="ko-KR" altLang="ko-KR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kumimoji="0" lang="ko-KR" altLang="ko-KR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JOIN</a:t>
            </a:r>
            <a:endParaRPr kumimoji="0" lang="ko-KR" altLang="ko-K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3600" b="0" i="0" u="none" strike="noStrike" cap="none" normalizeH="0" baseline="0" dirty="0">
                <a:ln>
                  <a:noFill/>
                </a:ln>
                <a:solidFill>
                  <a:srgbClr val="FF1493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kumimoji="0" lang="ko-KR" altLang="ko-KR" sz="3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ko-KR" altLang="ko-KR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OUTER</a:t>
            </a:r>
            <a:r>
              <a:rPr kumimoji="0" lang="ko-KR" altLang="ko-KR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kumimoji="0" lang="ko-KR" altLang="ko-KR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JOIN</a:t>
            </a:r>
            <a:endParaRPr kumimoji="0" lang="ko-KR" altLang="ko-K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36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FULL</a:t>
            </a:r>
            <a:r>
              <a:rPr kumimoji="0" lang="ko-KR" altLang="ko-KR" sz="3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ko-KR" altLang="ko-KR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OUTER</a:t>
            </a:r>
            <a:r>
              <a:rPr kumimoji="0" lang="ko-KR" altLang="ko-KR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kumimoji="0" lang="ko-KR" altLang="ko-KR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JOIN</a:t>
            </a:r>
            <a:endParaRPr kumimoji="0" lang="ko-KR" altLang="ko-K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CROSS</a:t>
            </a:r>
            <a:r>
              <a:rPr kumimoji="0" lang="ko-KR" altLang="ko-KR" sz="3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36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JOIN</a:t>
            </a:r>
            <a:endParaRPr kumimoji="0" lang="ko-KR" altLang="ko-K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745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72F3F85-295A-ADC0-6DB4-8AB5F936E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836" y="1105117"/>
            <a:ext cx="11339444" cy="5644026"/>
          </a:xfrm>
        </p:spPr>
        <p:txBody>
          <a:bodyPr/>
          <a:lstStyle/>
          <a:p>
            <a:r>
              <a:rPr lang="en-US" altLang="ko-KR" dirty="0"/>
              <a:t>Inner join</a:t>
            </a:r>
          </a:p>
          <a:p>
            <a:pPr lvl="1"/>
            <a:r>
              <a:rPr lang="en-US" altLang="ko-KR" dirty="0"/>
              <a:t>Syntax</a:t>
            </a:r>
          </a:p>
          <a:p>
            <a:pPr lvl="1"/>
            <a:endParaRPr lang="en-US" altLang="ko-KR" dirty="0"/>
          </a:p>
          <a:p>
            <a:pPr lvl="1"/>
            <a:endParaRPr lang="en-US" altLang="ko-KR" sz="2400" dirty="0">
              <a:effectLst/>
            </a:endParaRPr>
          </a:p>
          <a:p>
            <a:pPr lvl="1"/>
            <a:endParaRPr lang="en-US" altLang="ko-KR" sz="2400" dirty="0">
              <a:effectLst/>
            </a:endParaRPr>
          </a:p>
          <a:p>
            <a:pPr lvl="1"/>
            <a:r>
              <a:rPr lang="ko-KR" altLang="en-US" sz="2400" dirty="0">
                <a:effectLst/>
              </a:rPr>
              <a:t>테이블의 </a:t>
            </a:r>
            <a:r>
              <a:rPr lang="en-US" altLang="ko-KR" sz="2400" dirty="0">
                <a:effectLst/>
              </a:rPr>
              <a:t>R1</a:t>
            </a:r>
            <a:r>
              <a:rPr lang="ko-KR" altLang="en-US" sz="2400" dirty="0">
                <a:effectLst/>
              </a:rPr>
              <a:t>열의 값과 </a:t>
            </a:r>
            <a:r>
              <a:rPr lang="en-US" altLang="ko-KR" dirty="0"/>
              <a:t>R</a:t>
            </a:r>
            <a:r>
              <a:rPr lang="en-US" altLang="ko-KR" sz="2400" dirty="0">
                <a:effectLst/>
              </a:rPr>
              <a:t>2</a:t>
            </a:r>
            <a:r>
              <a:rPr lang="ko-KR" altLang="en-US" sz="2400" dirty="0">
                <a:effectLst/>
              </a:rPr>
              <a:t>테이블에 </a:t>
            </a:r>
            <a:r>
              <a:rPr lang="en-US" altLang="ko-KR" sz="2400" dirty="0">
                <a:effectLst/>
              </a:rPr>
              <a:t>R2</a:t>
            </a:r>
            <a:r>
              <a:rPr lang="ko-KR" altLang="en-US" sz="2400" dirty="0">
                <a:effectLst/>
              </a:rPr>
              <a:t>열의 값이 같은 </a:t>
            </a:r>
            <a:r>
              <a:rPr lang="en-US" altLang="ko-KR" sz="2400" dirty="0">
                <a:effectLst/>
              </a:rPr>
              <a:t>ROW</a:t>
            </a:r>
            <a:r>
              <a:rPr lang="ko-KR" altLang="en-US" sz="2400" dirty="0">
                <a:effectLst/>
              </a:rPr>
              <a:t>를 반환하는 것</a:t>
            </a:r>
          </a:p>
          <a:p>
            <a:pPr lvl="1"/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2C11A5-9160-41C2-093A-53A79ADDD7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Join example</a:t>
            </a: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2F5A9DB-CF33-6228-DC91-43EF5D143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3706" y="1411167"/>
            <a:ext cx="2425700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000000"/>
                </a:solidFill>
                <a:latin typeface="Consolas" panose="020B0609020204030204" pitchFamily="49" charset="0"/>
              </a:rPr>
              <a:t>R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1 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INNER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000000"/>
                </a:solidFill>
                <a:latin typeface="Consolas" panose="020B0609020204030204" pitchFamily="49" charset="0"/>
              </a:rPr>
              <a:t>R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2 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000000"/>
                </a:solidFill>
                <a:latin typeface="Consolas" panose="020B0609020204030204" pitchFamily="49" charset="0"/>
              </a:rPr>
              <a:t>R1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.num = </a:t>
            </a: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2.num;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D58161F-D697-901A-609B-740CFCDF6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74" y="4070568"/>
            <a:ext cx="4678060" cy="120984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FB01E10-8694-A948-F339-4CBA9E61E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171" y="4111599"/>
            <a:ext cx="6420746" cy="981212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6FA0699F-DF5B-DEDD-187B-FC045AE7ED8E}"/>
              </a:ext>
            </a:extLst>
          </p:cNvPr>
          <p:cNvCxnSpPr>
            <a:cxnSpLocks/>
          </p:cNvCxnSpPr>
          <p:nvPr/>
        </p:nvCxnSpPr>
        <p:spPr>
          <a:xfrm flipV="1">
            <a:off x="6418385" y="4737958"/>
            <a:ext cx="433753" cy="1093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72B6ECC-16FD-263A-ACD0-DE014A9101F6}"/>
              </a:ext>
            </a:extLst>
          </p:cNvPr>
          <p:cNvSpPr txBox="1"/>
          <p:nvPr/>
        </p:nvSpPr>
        <p:spPr>
          <a:xfrm>
            <a:off x="5011615" y="585025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Q</a:t>
            </a:r>
            <a:r>
              <a:rPr lang="ko-KR" altLang="en-US" dirty="0" err="1"/>
              <a:t>ualifier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지시자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dept </a:t>
            </a:r>
            <a:r>
              <a:rPr lang="ko-KR" altLang="en-US" dirty="0"/>
              <a:t>테이블과 </a:t>
            </a:r>
            <a:r>
              <a:rPr lang="en-US" altLang="ko-KR" dirty="0"/>
              <a:t>emp table</a:t>
            </a:r>
            <a:r>
              <a:rPr lang="ko-KR" altLang="en-US" dirty="0"/>
              <a:t>을 각각 </a:t>
            </a:r>
            <a:r>
              <a:rPr lang="en-US" altLang="ko-KR" dirty="0"/>
              <a:t>d</a:t>
            </a:r>
            <a:r>
              <a:rPr lang="ko-KR" altLang="en-US" dirty="0"/>
              <a:t>와 라고 명명 지어 사용</a:t>
            </a:r>
            <a:r>
              <a:rPr lang="en-US" altLang="ko-KR" dirty="0"/>
              <a:t>.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B59056A7-273C-50B4-E280-E060FAE35954}"/>
              </a:ext>
            </a:extLst>
          </p:cNvPr>
          <p:cNvCxnSpPr>
            <a:cxnSpLocks/>
          </p:cNvCxnSpPr>
          <p:nvPr/>
        </p:nvCxnSpPr>
        <p:spPr>
          <a:xfrm flipH="1" flipV="1">
            <a:off x="7438292" y="4737958"/>
            <a:ext cx="96183" cy="12225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046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081884C-786D-47CF-2AC7-C20175296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Left [outer] join  // </a:t>
            </a:r>
            <a:r>
              <a:rPr lang="ko-KR" altLang="en-US" dirty="0">
                <a:highlight>
                  <a:srgbClr val="FFFF00"/>
                </a:highlight>
              </a:rPr>
              <a:t>누락된 값 찾을 때 사용</a:t>
            </a:r>
            <a:endParaRPr lang="en-US" altLang="ko-KR" dirty="0">
              <a:highlight>
                <a:srgbClr val="FFFF00"/>
              </a:highlight>
            </a:endParaRPr>
          </a:p>
          <a:p>
            <a:pPr lvl="1"/>
            <a:r>
              <a:rPr lang="en-US" altLang="ko-KR" dirty="0"/>
              <a:t>Syntax</a:t>
            </a:r>
          </a:p>
          <a:p>
            <a:pPr lvl="1"/>
            <a:endParaRPr lang="en-US" altLang="ko-KR" dirty="0"/>
          </a:p>
          <a:p>
            <a:pPr lvl="1"/>
            <a:endParaRPr lang="en-US" altLang="ko-KR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나눔고딕" pitchFamily="2" charset="-127"/>
              <a:ea typeface="나눔고딕" pitchFamily="2" charset="-127"/>
            </a:endParaRPr>
          </a:p>
          <a:p>
            <a:pPr lvl="1"/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JOIN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문 왼쪽에 있는 </a:t>
            </a:r>
            <a:r>
              <a:rPr lang="en-US" altLang="ko-KR" dirty="0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R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1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테이블의 모든 결과를 가져온 후에 오른쪽 </a:t>
            </a:r>
            <a:r>
              <a:rPr lang="en-US" altLang="ko-KR" dirty="0">
                <a:solidFill>
                  <a:srgbClr val="333333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R</a:t>
            </a:r>
            <a:r>
              <a:rPr lang="en-US" altLang="ko-KR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2</a:t>
            </a:r>
            <a:r>
              <a:rPr lang="ko-KR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테이블의 데이터를 매칭하여 </a:t>
            </a:r>
            <a:r>
              <a:rPr lang="ko-KR" alt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매칭되는 데이터가 없는 경우 </a:t>
            </a:r>
            <a:r>
              <a:rPr lang="en-US" altLang="ko-KR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NULL</a:t>
            </a:r>
            <a:r>
              <a:rPr lang="ko-KR" alt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값을 넣는 것</a:t>
            </a:r>
            <a:r>
              <a:rPr lang="en-US" altLang="ko-KR" b="1" dirty="0">
                <a:solidFill>
                  <a:srgbClr val="FF0000"/>
                </a:solidFill>
                <a:highlight>
                  <a:srgbClr val="FFFFFF"/>
                </a:highlight>
                <a:latin typeface="나눔고딕" pitchFamily="2" charset="-127"/>
                <a:ea typeface="나눔고딕" pitchFamily="2" charset="-127"/>
              </a:rPr>
              <a:t>.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05948D-1869-611C-04FA-271EAEA599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Join example</a:t>
            </a: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3610F1E-531A-62A6-630A-BFCD2710E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164690"/>
            <a:ext cx="2540000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100" dirty="0">
                <a:solidFill>
                  <a:srgbClr val="333333"/>
                </a:solidFill>
                <a:latin typeface="Consolas" panose="020B0609020204030204" pitchFamily="49" charset="0"/>
              </a:rPr>
              <a:t> R1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FF1493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2 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R1.column = R2.column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1BE9A8B-5D74-9572-D7ED-0C65B5F04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21" y="3968533"/>
            <a:ext cx="4486901" cy="117173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C7813FD-80F0-0007-5593-06E18B7DF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150" y="3885983"/>
            <a:ext cx="5413079" cy="196831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260AD199-3777-21A8-C6E6-3D2F6B282596}"/>
              </a:ext>
            </a:extLst>
          </p:cNvPr>
          <p:cNvSpPr/>
          <p:nvPr/>
        </p:nvSpPr>
        <p:spPr>
          <a:xfrm>
            <a:off x="6154615" y="5691555"/>
            <a:ext cx="5410200" cy="1758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297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13CFEC0-F97E-1B78-7C4C-FEC8D8B66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Right [outer] join</a:t>
            </a:r>
          </a:p>
          <a:p>
            <a:pPr lvl="1"/>
            <a:r>
              <a:rPr lang="en-US" altLang="ko-KR" dirty="0"/>
              <a:t>Syntax</a:t>
            </a:r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JOIN</a:t>
            </a:r>
            <a:r>
              <a:rPr lang="ko-KR" altLang="en-US" dirty="0"/>
              <a:t>문 오른쪽에 있는 </a:t>
            </a:r>
            <a:r>
              <a:rPr lang="en-US" altLang="ko-KR" dirty="0"/>
              <a:t>R2</a:t>
            </a:r>
            <a:r>
              <a:rPr lang="ko-KR" altLang="en-US" dirty="0"/>
              <a:t>테이블의 모든 결과를 가져온 후에 왼쪽 </a:t>
            </a:r>
            <a:r>
              <a:rPr lang="en-US" altLang="ko-KR" dirty="0"/>
              <a:t>R1</a:t>
            </a:r>
            <a:r>
              <a:rPr lang="ko-KR" altLang="en-US" dirty="0"/>
              <a:t>테이블의 데이터를 매칭하여 매칭되는 데이터가 없는 경우 </a:t>
            </a:r>
            <a:r>
              <a:rPr lang="en-US" altLang="ko-KR" dirty="0"/>
              <a:t>NULL</a:t>
            </a:r>
            <a:r>
              <a:rPr lang="ko-KR" altLang="en-US" dirty="0"/>
              <a:t>값을 넣는 것</a:t>
            </a:r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E4996D-7FB2-7CB9-CCD6-EA8605CEA0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Join example</a:t>
            </a:r>
            <a:endParaRPr lang="ko-KR" alt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F2F35D7-F2F8-BB01-26BF-A91E56589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7719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EA1C4BE1-4C50-5210-5BC6-CECE62BB4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4339" y="2099955"/>
            <a:ext cx="1981312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1 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FF1493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2 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2.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column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F608A38-CA51-CF48-5FC5-9C8624A3D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86" y="4365021"/>
            <a:ext cx="5572903" cy="126700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C58E291-0B71-6A01-EBED-1C35F8691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953" y="4239066"/>
            <a:ext cx="6922477" cy="1703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264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92CCBE2F-0B5C-B62C-65D5-BF7DDA980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71" y="4023333"/>
            <a:ext cx="4925112" cy="1428949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08DCE22-9474-9669-D116-14781E57E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Full [outer] join</a:t>
            </a:r>
          </a:p>
          <a:p>
            <a:pPr lvl="1"/>
            <a:r>
              <a:rPr lang="en-US" altLang="ko-KR" dirty="0"/>
              <a:t>Syntax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양쪽 </a:t>
            </a:r>
            <a:r>
              <a:rPr lang="en-US" altLang="ko-KR" dirty="0"/>
              <a:t>R1, R2</a:t>
            </a:r>
            <a:r>
              <a:rPr lang="ko-KR" altLang="en-US" dirty="0"/>
              <a:t>테이블의 모든 결과를 가져와서 매칭시키고 데이터가 없는 경우 </a:t>
            </a:r>
            <a:r>
              <a:rPr lang="en-US" altLang="ko-KR" dirty="0"/>
              <a:t>NULL</a:t>
            </a:r>
            <a:r>
              <a:rPr lang="ko-KR" altLang="en-US" dirty="0"/>
              <a:t>값을 넣는 것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70CA79-7D32-7992-56C0-5D5C361CA0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Join example</a:t>
            </a:r>
            <a:endParaRPr lang="ko-KR" alt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BFBB988-11DC-D1F1-D0FC-151C366D6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164690"/>
            <a:ext cx="2540000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1" i="0" u="none" strike="noStrike" cap="none" normalizeH="0" baseline="0" dirty="0">
                <a:ln>
                  <a:noFill/>
                </a:ln>
                <a:solidFill>
                  <a:srgbClr val="006699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100" dirty="0">
                <a:solidFill>
                  <a:srgbClr val="333333"/>
                </a:solidFill>
                <a:latin typeface="Consolas" panose="020B0609020204030204" pitchFamily="49" charset="0"/>
              </a:rPr>
              <a:t> R1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altLang="ko-KR" sz="1000" dirty="0">
                <a:solidFill>
                  <a:srgbClr val="FF1493"/>
                </a:solidFill>
                <a:latin typeface="Consolas" panose="020B0609020204030204" pitchFamily="49" charset="0"/>
              </a:rPr>
              <a:t>FULL OUTER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R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2 </a:t>
            </a:r>
            <a:endParaRPr kumimoji="0" lang="ko-KR" altLang="ko-KR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rgbClr val="C7254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R1.Column</a:t>
            </a:r>
            <a:r>
              <a:rPr lang="en-US" altLang="ko-KR" sz="1000" dirty="0">
                <a:solidFill>
                  <a:srgbClr val="000000"/>
                </a:solidFill>
                <a:latin typeface="Consolas" panose="020B0609020204030204" pitchFamily="49" charset="0"/>
              </a:rPr>
              <a:t> = R2.column</a:t>
            </a: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9D7D504-FFA1-0775-4049-0845AE4F1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898" y="3961993"/>
            <a:ext cx="7802823" cy="209046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9796B57-5C44-1D5A-8073-7477EAE04BF0}"/>
              </a:ext>
            </a:extLst>
          </p:cNvPr>
          <p:cNvSpPr/>
          <p:nvPr/>
        </p:nvSpPr>
        <p:spPr>
          <a:xfrm>
            <a:off x="4286898" y="5902987"/>
            <a:ext cx="7653056" cy="1494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492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2638552-764B-678B-9417-8F73FA0B9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Crossjoin</a:t>
            </a:r>
            <a:endParaRPr lang="en-US" altLang="ko-KR" dirty="0"/>
          </a:p>
          <a:p>
            <a:pPr lvl="1"/>
            <a:r>
              <a:rPr lang="en-US" altLang="ko-KR" dirty="0" err="1"/>
              <a:t>Catersian</a:t>
            </a:r>
            <a:r>
              <a:rPr lang="en-US" altLang="ko-KR" dirty="0"/>
              <a:t> product </a:t>
            </a:r>
            <a:r>
              <a:rPr lang="ko-KR" altLang="en-US" dirty="0"/>
              <a:t>라고도 함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두 릴레이션의 모든 행들을 서로 곱하여 출력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83592B-24B6-9A5A-3067-9519DD109A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Cross join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BC143DD-8AC8-7A72-AC3D-0E04DEDF4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725" y="3067642"/>
            <a:ext cx="5087060" cy="100026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8D42CC1-023E-9F31-9F2C-5A9028326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128" y="3182185"/>
            <a:ext cx="2905530" cy="69542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AAC6641-E25F-F926-AD18-0E30D37D54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338" y="4366845"/>
            <a:ext cx="8809892" cy="221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8166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6D7059-14B2-00A2-08F2-C6D4949105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실습과제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227DF5-D9F8-9133-D3C4-26E2B979F4A5}"/>
              </a:ext>
            </a:extLst>
          </p:cNvPr>
          <p:cNvSpPr txBox="1"/>
          <p:nvPr/>
        </p:nvSpPr>
        <p:spPr>
          <a:xfrm>
            <a:off x="538223" y="1307940"/>
            <a:ext cx="108734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실습에 </a:t>
            </a:r>
            <a:r>
              <a:rPr lang="ko-KR" altLang="en-US"/>
              <a:t>사용할 테이블의 데이터는 </a:t>
            </a:r>
            <a:r>
              <a:rPr lang="ko-KR" altLang="en-US" dirty="0"/>
              <a:t>다음과 같은 정보를 </a:t>
            </a:r>
            <a:r>
              <a:rPr lang="ko-KR" altLang="en-US" dirty="0" err="1"/>
              <a:t>담고있음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아래의 테이블에 대한 질의에 맞는 </a:t>
            </a:r>
            <a:r>
              <a:rPr lang="en-US" altLang="ko-KR" dirty="0"/>
              <a:t>SQL</a:t>
            </a:r>
            <a:r>
              <a:rPr lang="ko-KR" altLang="en-US" dirty="0"/>
              <a:t>을 작성하고 </a:t>
            </a:r>
            <a:r>
              <a:rPr lang="en-US" altLang="ko-KR" dirty="0"/>
              <a:t>SQL </a:t>
            </a:r>
            <a:r>
              <a:rPr lang="ko-KR" altLang="en-US" dirty="0"/>
              <a:t>명령문과 작성결과를 사진으로 </a:t>
            </a:r>
            <a:r>
              <a:rPr lang="ko-KR" altLang="en-US" dirty="0" err="1"/>
              <a:t>캡처할것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DDE8868-F78B-3A03-244A-9C7A0E520A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083884"/>
              </p:ext>
            </p:extLst>
          </p:nvPr>
        </p:nvGraphicFramePr>
        <p:xfrm>
          <a:off x="538223" y="2947120"/>
          <a:ext cx="5259753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3251">
                  <a:extLst>
                    <a:ext uri="{9D8B030D-6E8A-4147-A177-3AD203B41FA5}">
                      <a16:colId xmlns:a16="http://schemas.microsoft.com/office/drawing/2014/main" val="1269580084"/>
                    </a:ext>
                  </a:extLst>
                </a:gridCol>
                <a:gridCol w="1753251">
                  <a:extLst>
                    <a:ext uri="{9D8B030D-6E8A-4147-A177-3AD203B41FA5}">
                      <a16:colId xmlns:a16="http://schemas.microsoft.com/office/drawing/2014/main" val="1898260024"/>
                    </a:ext>
                  </a:extLst>
                </a:gridCol>
                <a:gridCol w="1753251">
                  <a:extLst>
                    <a:ext uri="{9D8B030D-6E8A-4147-A177-3AD203B41FA5}">
                      <a16:colId xmlns:a16="http://schemas.microsoft.com/office/drawing/2014/main" val="6360990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부서번호</a:t>
                      </a:r>
                      <a:r>
                        <a:rPr lang="en-US" altLang="ko-KR" dirty="0"/>
                        <a:t>(DEPTNO)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부서명</a:t>
                      </a:r>
                      <a:r>
                        <a:rPr lang="en-US" altLang="ko-KR" dirty="0"/>
                        <a:t>(DNAME)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지역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(LOC)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463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924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106641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324E9E9-95F8-A19A-3BC8-36F1D021A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046518"/>
              </p:ext>
            </p:extLst>
          </p:nvPr>
        </p:nvGraphicFramePr>
        <p:xfrm>
          <a:off x="431802" y="5074163"/>
          <a:ext cx="10517552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694">
                  <a:extLst>
                    <a:ext uri="{9D8B030D-6E8A-4147-A177-3AD203B41FA5}">
                      <a16:colId xmlns:a16="http://schemas.microsoft.com/office/drawing/2014/main" val="2818476918"/>
                    </a:ext>
                  </a:extLst>
                </a:gridCol>
                <a:gridCol w="1314694">
                  <a:extLst>
                    <a:ext uri="{9D8B030D-6E8A-4147-A177-3AD203B41FA5}">
                      <a16:colId xmlns:a16="http://schemas.microsoft.com/office/drawing/2014/main" val="3962428242"/>
                    </a:ext>
                  </a:extLst>
                </a:gridCol>
                <a:gridCol w="1314694">
                  <a:extLst>
                    <a:ext uri="{9D8B030D-6E8A-4147-A177-3AD203B41FA5}">
                      <a16:colId xmlns:a16="http://schemas.microsoft.com/office/drawing/2014/main" val="2416959727"/>
                    </a:ext>
                  </a:extLst>
                </a:gridCol>
                <a:gridCol w="1314694">
                  <a:extLst>
                    <a:ext uri="{9D8B030D-6E8A-4147-A177-3AD203B41FA5}">
                      <a16:colId xmlns:a16="http://schemas.microsoft.com/office/drawing/2014/main" val="2586741518"/>
                    </a:ext>
                  </a:extLst>
                </a:gridCol>
                <a:gridCol w="1314694">
                  <a:extLst>
                    <a:ext uri="{9D8B030D-6E8A-4147-A177-3AD203B41FA5}">
                      <a16:colId xmlns:a16="http://schemas.microsoft.com/office/drawing/2014/main" val="3829459071"/>
                    </a:ext>
                  </a:extLst>
                </a:gridCol>
                <a:gridCol w="1314694">
                  <a:extLst>
                    <a:ext uri="{9D8B030D-6E8A-4147-A177-3AD203B41FA5}">
                      <a16:colId xmlns:a16="http://schemas.microsoft.com/office/drawing/2014/main" val="1875287222"/>
                    </a:ext>
                  </a:extLst>
                </a:gridCol>
                <a:gridCol w="1314694">
                  <a:extLst>
                    <a:ext uri="{9D8B030D-6E8A-4147-A177-3AD203B41FA5}">
                      <a16:colId xmlns:a16="http://schemas.microsoft.com/office/drawing/2014/main" val="2359919720"/>
                    </a:ext>
                  </a:extLst>
                </a:gridCol>
                <a:gridCol w="1314694">
                  <a:extLst>
                    <a:ext uri="{9D8B030D-6E8A-4147-A177-3AD203B41FA5}">
                      <a16:colId xmlns:a16="http://schemas.microsoft.com/office/drawing/2014/main" val="16319745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사원번호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en-US" altLang="ko-KR" sz="1200" dirty="0" err="1"/>
                        <a:t>empno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사원명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en-US" altLang="ko-KR" sz="1200" dirty="0" err="1"/>
                        <a:t>ename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직급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(Job)</a:t>
                      </a:r>
                    </a:p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상관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(MGR)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입사일자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(HIREDATE)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급여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(SAL)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COMM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커미션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부서번호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(DEPTNO)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394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71434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4F2ED19-BBF8-7A64-1B7F-BCC2EE912E64}"/>
              </a:ext>
            </a:extLst>
          </p:cNvPr>
          <p:cNvSpPr txBox="1"/>
          <p:nvPr/>
        </p:nvSpPr>
        <p:spPr>
          <a:xfrm>
            <a:off x="2457808" y="2201837"/>
            <a:ext cx="1420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부서 테이블</a:t>
            </a:r>
            <a:endParaRPr lang="en-US" altLang="ko-KR" dirty="0"/>
          </a:p>
          <a:p>
            <a:pPr algn="ctr"/>
            <a:r>
              <a:rPr lang="en-US" altLang="ko-KR" dirty="0"/>
              <a:t>Dept table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0CD7D0-4E2D-5DBF-AD59-8D9F20596D37}"/>
              </a:ext>
            </a:extLst>
          </p:cNvPr>
          <p:cNvSpPr txBox="1"/>
          <p:nvPr/>
        </p:nvSpPr>
        <p:spPr>
          <a:xfrm>
            <a:off x="4854468" y="4427832"/>
            <a:ext cx="14205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직원 테이블</a:t>
            </a:r>
            <a:endParaRPr lang="en-US" altLang="ko-KR" dirty="0"/>
          </a:p>
          <a:p>
            <a:pPr algn="ctr"/>
            <a:r>
              <a:rPr lang="en-US" altLang="ko-KR" dirty="0"/>
              <a:t>Emp table</a:t>
            </a:r>
            <a:endParaRPr lang="ko-KR" altLang="en-US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70877593-342E-BD51-4398-88CF69B0FE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699485"/>
              </p:ext>
            </p:extLst>
          </p:nvPr>
        </p:nvGraphicFramePr>
        <p:xfrm>
          <a:off x="6229777" y="2947120"/>
          <a:ext cx="5259753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3251">
                  <a:extLst>
                    <a:ext uri="{9D8B030D-6E8A-4147-A177-3AD203B41FA5}">
                      <a16:colId xmlns:a16="http://schemas.microsoft.com/office/drawing/2014/main" val="1269580084"/>
                    </a:ext>
                  </a:extLst>
                </a:gridCol>
                <a:gridCol w="1753251">
                  <a:extLst>
                    <a:ext uri="{9D8B030D-6E8A-4147-A177-3AD203B41FA5}">
                      <a16:colId xmlns:a16="http://schemas.microsoft.com/office/drawing/2014/main" val="1898260024"/>
                    </a:ext>
                  </a:extLst>
                </a:gridCol>
                <a:gridCol w="1753251">
                  <a:extLst>
                    <a:ext uri="{9D8B030D-6E8A-4147-A177-3AD203B41FA5}">
                      <a16:colId xmlns:a16="http://schemas.microsoft.com/office/drawing/2014/main" val="6360990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등급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(grade)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최소 급여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en-US" altLang="ko-KR" dirty="0" err="1"/>
                        <a:t>losal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최대 급여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(</a:t>
                      </a:r>
                      <a:r>
                        <a:rPr lang="en-US" altLang="ko-KR" dirty="0" err="1"/>
                        <a:t>hisal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463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924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10664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C9600E2-96A5-C2F7-BF2A-1CDBD34E79CE}"/>
              </a:ext>
            </a:extLst>
          </p:cNvPr>
          <p:cNvSpPr txBox="1"/>
          <p:nvPr/>
        </p:nvSpPr>
        <p:spPr>
          <a:xfrm>
            <a:off x="7942384" y="2300789"/>
            <a:ext cx="1963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급여 등급 테이블</a:t>
            </a:r>
            <a:endParaRPr lang="en-US" altLang="ko-KR" dirty="0"/>
          </a:p>
          <a:p>
            <a:pPr algn="ctr"/>
            <a:r>
              <a:rPr lang="en-US" altLang="ko-KR" dirty="0" err="1"/>
              <a:t>Salgrade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28496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054D22A-2E83-BE7F-2294-344B406CA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ko-KR" dirty="0"/>
              <a:t>emp </a:t>
            </a:r>
            <a:r>
              <a:rPr lang="ko-KR" altLang="en-US" dirty="0"/>
              <a:t>테이블에서 사원이름과 월급을 출력하는데 컬럼명은 이름</a:t>
            </a:r>
            <a:r>
              <a:rPr lang="en-US" altLang="ko-KR" dirty="0"/>
              <a:t>, </a:t>
            </a:r>
            <a:r>
              <a:rPr lang="ko-KR" altLang="en-US" dirty="0"/>
              <a:t>월급으로 변경하여 </a:t>
            </a:r>
            <a:r>
              <a:rPr lang="ko-KR" altLang="en-US" dirty="0" err="1"/>
              <a:t>출력할것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colum</a:t>
            </a:r>
            <a:r>
              <a:rPr lang="ko-KR" altLang="en-US" dirty="0"/>
              <a:t>명을 </a:t>
            </a:r>
            <a:r>
              <a:rPr lang="en-US" altLang="ko-KR" dirty="0"/>
              <a:t>as</a:t>
            </a:r>
            <a:r>
              <a:rPr lang="ko-KR" altLang="en-US" dirty="0"/>
              <a:t>를 통해 </a:t>
            </a:r>
            <a:r>
              <a:rPr lang="en-US" altLang="ko-KR" dirty="0"/>
              <a:t>alias </a:t>
            </a:r>
            <a:r>
              <a:rPr lang="ko-KR" altLang="en-US" dirty="0"/>
              <a:t>지정가능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ex) </a:t>
            </a:r>
            <a:r>
              <a:rPr lang="en-US" altLang="ko-KR" dirty="0" err="1"/>
              <a:t>ename</a:t>
            </a:r>
            <a:r>
              <a:rPr lang="en-US" altLang="ko-KR" dirty="0"/>
              <a:t> as “</a:t>
            </a:r>
            <a:r>
              <a:rPr lang="ko-KR" altLang="en-US" dirty="0"/>
              <a:t>이름</a:t>
            </a:r>
            <a:r>
              <a:rPr lang="en-US" altLang="ko-KR" dirty="0"/>
              <a:t>” , </a:t>
            </a:r>
            <a:r>
              <a:rPr lang="en-US" altLang="ko-KR" dirty="0" err="1"/>
              <a:t>sal</a:t>
            </a:r>
            <a:r>
              <a:rPr lang="en-US" altLang="ko-KR" dirty="0"/>
              <a:t> as “</a:t>
            </a:r>
            <a:r>
              <a:rPr lang="ko-KR" altLang="en-US" dirty="0"/>
              <a:t>월 급</a:t>
            </a:r>
            <a:r>
              <a:rPr lang="en-US" altLang="ko-KR" dirty="0"/>
              <a:t>”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994FEC-805E-CFEF-8B5B-94186AEDE7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실습과제 </a:t>
            </a:r>
            <a:r>
              <a:rPr lang="en-US" altLang="ko-KR" dirty="0"/>
              <a:t>(selection)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8FE6958-2D57-E65A-CA3C-59EB65383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017" y="3529660"/>
            <a:ext cx="3683208" cy="279923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B4BC2AF-3497-16DA-68A0-10F58C457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623" y="2862962"/>
            <a:ext cx="2743583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404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025E30B-E0B7-DB2A-3174-2CDD3A523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b="0" i="0" strike="sngStrike" dirty="0">
                <a:effectLst/>
                <a:latin typeface="verdana" panose="020B0604030504040204" pitchFamily="34" charset="0"/>
              </a:rPr>
              <a:t>emp </a:t>
            </a:r>
            <a:r>
              <a:rPr lang="ko-KR" altLang="en-US" sz="2400" b="0" i="0" strike="sngStrike" dirty="0">
                <a:effectLst/>
                <a:latin typeface="verdana" panose="020B0604030504040204" pitchFamily="34" charset="0"/>
              </a:rPr>
              <a:t>테이블에서 사원번호 사원이름 </a:t>
            </a:r>
            <a:r>
              <a:rPr lang="ko-KR" altLang="en-US" sz="2400" strike="sngStrike" dirty="0">
                <a:latin typeface="verdana" panose="020B0604030504040204" pitchFamily="34" charset="0"/>
              </a:rPr>
              <a:t>급여</a:t>
            </a:r>
            <a:r>
              <a:rPr lang="ko-KR" altLang="en-US" sz="2400" b="0" i="0" strike="sngStrike" dirty="0">
                <a:effectLst/>
                <a:latin typeface="verdana" panose="020B0604030504040204" pitchFamily="34" charset="0"/>
              </a:rPr>
              <a:t> 연봉을 구하고 각각 컬럼 사원번호</a:t>
            </a:r>
            <a:r>
              <a:rPr lang="en-US" altLang="ko-KR" sz="2400" b="0" i="0" strike="sngStrike" dirty="0">
                <a:effectLst/>
                <a:latin typeface="verdana" panose="020B0604030504040204" pitchFamily="34" charset="0"/>
              </a:rPr>
              <a:t>, </a:t>
            </a:r>
            <a:r>
              <a:rPr lang="ko-KR" altLang="en-US" sz="2400" b="0" i="0" strike="sngStrike" dirty="0">
                <a:effectLst/>
                <a:latin typeface="verdana" panose="020B0604030504040204" pitchFamily="34" charset="0"/>
              </a:rPr>
              <a:t>사원이름</a:t>
            </a:r>
            <a:r>
              <a:rPr lang="en-US" altLang="ko-KR" sz="2400" b="0" i="0" strike="sngStrike" dirty="0">
                <a:effectLst/>
                <a:latin typeface="verdana" panose="020B0604030504040204" pitchFamily="34" charset="0"/>
              </a:rPr>
              <a:t>, </a:t>
            </a:r>
            <a:r>
              <a:rPr lang="ko-KR" altLang="en-US" sz="2400" b="0" i="0" strike="sngStrike" dirty="0">
                <a:effectLst/>
                <a:latin typeface="verdana" panose="020B0604030504040204" pitchFamily="34" charset="0"/>
              </a:rPr>
              <a:t>연봉을 </a:t>
            </a:r>
            <a:r>
              <a:rPr lang="en-US" altLang="ko-KR" sz="2400" b="0" i="0" strike="sngStrike" dirty="0">
                <a:effectLst/>
                <a:latin typeface="verdana" panose="020B0604030504040204" pitchFamily="34" charset="0"/>
              </a:rPr>
              <a:t>“annual</a:t>
            </a:r>
            <a:r>
              <a:rPr lang="ko-KR" altLang="en-US" sz="2400" strike="sngStrike" dirty="0">
                <a:latin typeface="verdana" panose="020B0604030504040204" pitchFamily="34" charset="0"/>
              </a:rPr>
              <a:t> </a:t>
            </a:r>
            <a:r>
              <a:rPr lang="en-US" altLang="ko-KR" sz="2400" strike="sngStrike" dirty="0">
                <a:latin typeface="verdana" panose="020B0604030504040204" pitchFamily="34" charset="0"/>
              </a:rPr>
              <a:t>salary</a:t>
            </a:r>
            <a:r>
              <a:rPr lang="en-US" altLang="ko-KR" sz="2400" b="0" i="0" strike="sngStrike" dirty="0">
                <a:effectLst/>
                <a:latin typeface="verdana" panose="020B0604030504040204" pitchFamily="34" charset="0"/>
              </a:rPr>
              <a:t>” </a:t>
            </a:r>
            <a:r>
              <a:rPr lang="ko-KR" altLang="en-US" sz="2400" b="0" i="0" strike="sngStrike" dirty="0">
                <a:effectLst/>
                <a:latin typeface="verdana" panose="020B0604030504040204" pitchFamily="34" charset="0"/>
              </a:rPr>
              <a:t>으로 변경하여 출력하는 질의와 </a:t>
            </a:r>
            <a:r>
              <a:rPr lang="ko-KR" altLang="en-US" sz="2400" b="0" i="0" strike="sngStrike" dirty="0" err="1">
                <a:effectLst/>
                <a:latin typeface="verdana" panose="020B0604030504040204" pitchFamily="34" charset="0"/>
              </a:rPr>
              <a:t>출력할것</a:t>
            </a:r>
            <a:r>
              <a:rPr lang="en-US" altLang="ko-KR" sz="2400" b="0" i="0" strike="sngStrike" dirty="0">
                <a:effectLst/>
                <a:latin typeface="verdana" panose="020B0604030504040204" pitchFamily="34" charset="0"/>
              </a:rPr>
              <a:t>.</a:t>
            </a:r>
          </a:p>
          <a:p>
            <a:pPr lvl="1"/>
            <a:r>
              <a:rPr lang="ko-KR" altLang="en-US" sz="2000" b="0" i="0" strike="sngStrike" dirty="0">
                <a:effectLst/>
                <a:latin typeface="verdana" panose="020B0604030504040204" pitchFamily="34" charset="0"/>
              </a:rPr>
              <a:t>월급 컬럼에 대한 사칙연산을 통해 연봉을 </a:t>
            </a:r>
            <a:r>
              <a:rPr lang="ko-KR" altLang="en-US" sz="2000" b="0" i="0" strike="sngStrike" dirty="0" err="1">
                <a:effectLst/>
                <a:latin typeface="verdana" panose="020B0604030504040204" pitchFamily="34" charset="0"/>
              </a:rPr>
              <a:t>구할수있음</a:t>
            </a:r>
            <a:r>
              <a:rPr lang="en-US" altLang="ko-KR" sz="2000" b="0" i="0" strike="sngStrike" dirty="0">
                <a:effectLst/>
                <a:latin typeface="verdana" panose="020B0604030504040204" pitchFamily="34" charset="0"/>
              </a:rPr>
              <a:t>.</a:t>
            </a:r>
          </a:p>
          <a:p>
            <a:pPr marL="0" indent="0">
              <a:buNone/>
            </a:pPr>
            <a:endParaRPr lang="en-US" altLang="ko-KR" sz="2400" strike="sngStrike" dirty="0">
              <a:latin typeface="verdana" panose="020B0604030504040204" pitchFamily="34" charset="0"/>
            </a:endParaRPr>
          </a:p>
          <a:p>
            <a:r>
              <a:rPr lang="en-US" altLang="ko-KR" sz="2400" strike="sngStrike" dirty="0"/>
              <a:t>emp </a:t>
            </a:r>
            <a:r>
              <a:rPr lang="ko-KR" altLang="en-US" sz="2400" strike="sngStrike" dirty="0"/>
              <a:t>테이블에서 업무</a:t>
            </a:r>
            <a:r>
              <a:rPr lang="en-US" altLang="ko-KR" sz="2400" strike="sngStrike" dirty="0"/>
              <a:t>(job)</a:t>
            </a:r>
            <a:r>
              <a:rPr lang="ko-KR" altLang="en-US" sz="2400" strike="sngStrike" dirty="0"/>
              <a:t>를 중복되지 않게 출력 </a:t>
            </a:r>
            <a:r>
              <a:rPr lang="ko-KR" altLang="en-US" sz="2400" strike="sngStrike" dirty="0" err="1"/>
              <a:t>할것</a:t>
            </a:r>
            <a:r>
              <a:rPr lang="en-US" altLang="ko-KR" sz="2400" strike="sngStrike" dirty="0"/>
              <a:t>.</a:t>
            </a:r>
          </a:p>
          <a:p>
            <a:endParaRPr lang="en-US" altLang="ko-KR" sz="2400" strike="sngStrike" dirty="0"/>
          </a:p>
          <a:p>
            <a:r>
              <a:rPr lang="ko-KR" altLang="en-US" sz="2400" strike="sngStrike" dirty="0"/>
              <a:t> </a:t>
            </a:r>
            <a:r>
              <a:rPr lang="en-US" altLang="ko-KR" sz="2400" strike="sngStrike" dirty="0"/>
              <a:t>emp </a:t>
            </a:r>
            <a:r>
              <a:rPr lang="ko-KR" altLang="en-US" sz="2400" strike="sngStrike" dirty="0"/>
              <a:t>테이블에서 사원번호가 </a:t>
            </a:r>
            <a:r>
              <a:rPr lang="en-US" altLang="ko-KR" sz="2400" strike="sngStrike" dirty="0"/>
              <a:t>7698 </a:t>
            </a:r>
            <a:r>
              <a:rPr lang="ko-KR" altLang="en-US" sz="2400" strike="sngStrike" dirty="0"/>
              <a:t>인 사원의 이름</a:t>
            </a:r>
            <a:r>
              <a:rPr lang="en-US" altLang="ko-KR" sz="2400" strike="sngStrike" dirty="0"/>
              <a:t>, </a:t>
            </a:r>
            <a:r>
              <a:rPr lang="ko-KR" altLang="en-US" sz="2400" strike="sngStrike" dirty="0"/>
              <a:t>업무</a:t>
            </a:r>
            <a:r>
              <a:rPr lang="en-US" altLang="ko-KR" sz="2400" strike="sngStrike" dirty="0"/>
              <a:t>, </a:t>
            </a:r>
            <a:r>
              <a:rPr lang="ko-KR" altLang="en-US" sz="2400" strike="sngStrike" dirty="0"/>
              <a:t>급여를 </a:t>
            </a:r>
            <a:r>
              <a:rPr lang="ko-KR" altLang="en-US" sz="2400" strike="sngStrike" dirty="0" err="1"/>
              <a:t>출력할것</a:t>
            </a:r>
            <a:r>
              <a:rPr lang="ko-KR" altLang="en-US" sz="2400" strike="sngStrike" dirty="0"/>
              <a:t> </a:t>
            </a:r>
            <a:r>
              <a:rPr lang="en-US" altLang="ko-KR" sz="2400" strike="sngStrike" dirty="0"/>
              <a:t>(</a:t>
            </a:r>
            <a:r>
              <a:rPr lang="ko-KR" altLang="en-US" sz="2400" strike="sngStrike" dirty="0"/>
              <a:t>비교연산</a:t>
            </a:r>
            <a:r>
              <a:rPr lang="en-US" altLang="ko-KR" sz="2400" strike="sngStrike" dirty="0"/>
              <a:t>).</a:t>
            </a:r>
          </a:p>
          <a:p>
            <a:endParaRPr lang="en-US" altLang="ko-KR" sz="2400" dirty="0"/>
          </a:p>
          <a:p>
            <a:r>
              <a:rPr lang="en-US" altLang="ko-KR" sz="2400" dirty="0"/>
              <a:t>emp </a:t>
            </a:r>
            <a:r>
              <a:rPr lang="ko-KR" altLang="en-US" sz="2400" dirty="0"/>
              <a:t>테이블에서 사원이름이 </a:t>
            </a:r>
            <a:r>
              <a:rPr lang="en-US" altLang="ko-KR" sz="2400" dirty="0"/>
              <a:t>SMITH</a:t>
            </a:r>
            <a:r>
              <a:rPr lang="ko-KR" altLang="en-US" sz="2400" dirty="0"/>
              <a:t>인 사람의 이름과 월급</a:t>
            </a:r>
            <a:r>
              <a:rPr lang="en-US" altLang="ko-KR" sz="2400" dirty="0"/>
              <a:t>, </a:t>
            </a:r>
            <a:r>
              <a:rPr lang="ko-KR" altLang="en-US" sz="2400" dirty="0"/>
              <a:t>부서번호를 </a:t>
            </a:r>
            <a:r>
              <a:rPr lang="ko-KR" altLang="en-US" sz="2400" dirty="0" err="1"/>
              <a:t>구하시오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88DA7C-EB4B-393C-A0C9-CAC7FCF635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실습과제 </a:t>
            </a:r>
            <a:r>
              <a:rPr lang="en-US" altLang="ko-KR" dirty="0"/>
              <a:t>(selection)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81359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C9D9B1E-F9B6-2A65-CA15-88A4C1BD3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trike="sngStrike" dirty="0"/>
              <a:t>월급이 </a:t>
            </a:r>
            <a:r>
              <a:rPr lang="en-US" altLang="ko-KR" strike="sngStrike" dirty="0"/>
              <a:t>2500</a:t>
            </a:r>
            <a:r>
              <a:rPr lang="ko-KR" altLang="en-US" strike="sngStrike" dirty="0"/>
              <a:t>이상 </a:t>
            </a:r>
            <a:r>
              <a:rPr lang="en-US" altLang="ko-KR" strike="sngStrike" dirty="0"/>
              <a:t>3500</a:t>
            </a:r>
            <a:r>
              <a:rPr lang="ko-KR" altLang="en-US" strike="sngStrike" dirty="0"/>
              <a:t>미만인 사원의 이름</a:t>
            </a:r>
            <a:r>
              <a:rPr lang="en-US" altLang="ko-KR" strike="sngStrike" dirty="0"/>
              <a:t>, </a:t>
            </a:r>
            <a:r>
              <a:rPr lang="ko-KR" altLang="en-US" strike="sngStrike" dirty="0"/>
              <a:t>입사일</a:t>
            </a:r>
            <a:r>
              <a:rPr lang="en-US" altLang="ko-KR" strike="sngStrike" dirty="0"/>
              <a:t>, </a:t>
            </a:r>
            <a:r>
              <a:rPr lang="ko-KR" altLang="en-US" strike="sngStrike" dirty="0"/>
              <a:t>월급을 구하는 </a:t>
            </a:r>
            <a:r>
              <a:rPr lang="en-US" altLang="ko-KR" strike="sngStrike" dirty="0"/>
              <a:t>SQL </a:t>
            </a:r>
            <a:r>
              <a:rPr lang="ko-KR" altLang="en-US" strike="sngStrike" dirty="0"/>
              <a:t>질의 </a:t>
            </a:r>
            <a:r>
              <a:rPr lang="ko-KR" altLang="en-US" strike="sngStrike" dirty="0" err="1"/>
              <a:t>작성할것</a:t>
            </a:r>
            <a:r>
              <a:rPr lang="en-US" altLang="ko-KR" strike="sngStrike" dirty="0"/>
              <a:t>.</a:t>
            </a:r>
          </a:p>
          <a:p>
            <a:pPr lvl="1"/>
            <a:r>
              <a:rPr lang="en-US" altLang="ko-KR" strike="sngStrike" dirty="0"/>
              <a:t>WHERE </a:t>
            </a:r>
            <a:r>
              <a:rPr lang="en-US" altLang="ko-KR" strike="sngStrike" dirty="0" err="1"/>
              <a:t>coloumn</a:t>
            </a:r>
            <a:r>
              <a:rPr lang="en-US" altLang="ko-KR" strike="sngStrike" dirty="0"/>
              <a:t> BETWEEN A AND B</a:t>
            </a:r>
            <a:r>
              <a:rPr lang="ko-KR" altLang="en-US" strike="sngStrike" dirty="0"/>
              <a:t> </a:t>
            </a:r>
            <a:r>
              <a:rPr lang="en-US" altLang="ko-KR" strike="sngStrike" dirty="0"/>
              <a:t>or</a:t>
            </a:r>
            <a:r>
              <a:rPr lang="ko-KR" altLang="en-US" strike="sngStrike" dirty="0"/>
              <a:t> </a:t>
            </a:r>
            <a:r>
              <a:rPr lang="en-US" altLang="ko-KR" strike="sngStrike" dirty="0"/>
              <a:t>&lt;=</a:t>
            </a:r>
            <a:r>
              <a:rPr lang="ko-KR" altLang="en-US" strike="sngStrike" dirty="0"/>
              <a:t>와 </a:t>
            </a:r>
            <a:r>
              <a:rPr lang="ko-KR" altLang="en-US" strike="sngStrike" dirty="0" err="1"/>
              <a:t>같은대소</a:t>
            </a:r>
            <a:r>
              <a:rPr lang="ko-KR" altLang="en-US" strike="sngStrike" dirty="0"/>
              <a:t> 비교를 </a:t>
            </a:r>
            <a:r>
              <a:rPr lang="en-US" altLang="ko-KR" strike="sngStrike" dirty="0"/>
              <a:t>AND </a:t>
            </a:r>
            <a:r>
              <a:rPr lang="ko-KR" altLang="en-US" strike="sngStrike" dirty="0" err="1"/>
              <a:t>두번사용하여</a:t>
            </a:r>
            <a:r>
              <a:rPr lang="ko-KR" altLang="en-US" strike="sngStrike" dirty="0"/>
              <a:t> 표현가능</a:t>
            </a:r>
            <a:r>
              <a:rPr lang="en-US" altLang="ko-KR" strike="sngStrike" dirty="0"/>
              <a:t>.</a:t>
            </a:r>
          </a:p>
          <a:p>
            <a:endParaRPr lang="en-US" altLang="ko-KR" strike="sngStrike" dirty="0"/>
          </a:p>
          <a:p>
            <a:r>
              <a:rPr lang="ko-KR" altLang="en-US" strike="sngStrike" dirty="0"/>
              <a:t>급여가 </a:t>
            </a:r>
            <a:r>
              <a:rPr lang="en-US" altLang="ko-KR" strike="sngStrike" dirty="0"/>
              <a:t>2000</a:t>
            </a:r>
            <a:r>
              <a:rPr lang="ko-KR" altLang="en-US" strike="sngStrike" dirty="0"/>
              <a:t>에서 </a:t>
            </a:r>
            <a:r>
              <a:rPr lang="en-US" altLang="ko-KR" strike="sngStrike" dirty="0"/>
              <a:t>3000</a:t>
            </a:r>
            <a:r>
              <a:rPr lang="ko-KR" altLang="en-US" strike="sngStrike" dirty="0"/>
              <a:t>사이에 </a:t>
            </a:r>
            <a:r>
              <a:rPr lang="ko-KR" altLang="en-US" strike="sngStrike" dirty="0">
                <a:solidFill>
                  <a:srgbClr val="FF0000"/>
                </a:solidFill>
              </a:rPr>
              <a:t>포함되지 않는 </a:t>
            </a:r>
            <a:r>
              <a:rPr lang="ko-KR" altLang="en-US" strike="sngStrike" dirty="0"/>
              <a:t>사원의 이름</a:t>
            </a:r>
            <a:r>
              <a:rPr lang="en-US" altLang="ko-KR" strike="sngStrike" dirty="0"/>
              <a:t>, </a:t>
            </a:r>
            <a:r>
              <a:rPr lang="ko-KR" altLang="en-US" strike="sngStrike" dirty="0"/>
              <a:t>업무</a:t>
            </a:r>
            <a:r>
              <a:rPr lang="en-US" altLang="ko-KR" strike="sngStrike" dirty="0"/>
              <a:t>, </a:t>
            </a:r>
            <a:r>
              <a:rPr lang="ko-KR" altLang="en-US" strike="sngStrike" dirty="0"/>
              <a:t>급여를 </a:t>
            </a:r>
            <a:r>
              <a:rPr lang="ko-KR" altLang="en-US" strike="sngStrike" dirty="0" err="1"/>
              <a:t>출력하시오</a:t>
            </a:r>
            <a:r>
              <a:rPr lang="en-US" altLang="ko-KR" strike="sngStrike" dirty="0"/>
              <a:t>.</a:t>
            </a:r>
          </a:p>
          <a:p>
            <a:endParaRPr lang="en-US" altLang="ko-KR" dirty="0"/>
          </a:p>
          <a:p>
            <a:r>
              <a:rPr lang="en-US" altLang="ko-KR" strike="sngStrike" dirty="0"/>
              <a:t>emp</a:t>
            </a:r>
            <a:r>
              <a:rPr lang="ko-KR" altLang="en-US" strike="sngStrike" dirty="0"/>
              <a:t>테이블에서 사원번호가 </a:t>
            </a:r>
            <a:r>
              <a:rPr lang="en-US" altLang="ko-KR" strike="sngStrike" dirty="0"/>
              <a:t>7566,7782,7934</a:t>
            </a:r>
            <a:r>
              <a:rPr lang="ko-KR" altLang="en-US" strike="sngStrike" dirty="0"/>
              <a:t>인 사원을 제외한 사람들의 사원번호</a:t>
            </a:r>
            <a:r>
              <a:rPr lang="en-US" altLang="ko-KR" strike="sngStrike" dirty="0"/>
              <a:t>,</a:t>
            </a:r>
            <a:r>
              <a:rPr lang="ko-KR" altLang="en-US" strike="sngStrike" dirty="0"/>
              <a:t>이름</a:t>
            </a:r>
            <a:r>
              <a:rPr lang="en-US" altLang="ko-KR" strike="sngStrike" dirty="0"/>
              <a:t>,  </a:t>
            </a:r>
            <a:r>
              <a:rPr lang="ko-KR" altLang="en-US" strike="sngStrike" dirty="0"/>
              <a:t>월급을 </a:t>
            </a:r>
            <a:r>
              <a:rPr lang="ko-KR" altLang="en-US" strike="sngStrike" dirty="0" err="1"/>
              <a:t>출력하시오</a:t>
            </a:r>
            <a:r>
              <a:rPr lang="en-US" altLang="ko-KR" strike="sngStrike" dirty="0"/>
              <a:t>.</a:t>
            </a:r>
          </a:p>
          <a:p>
            <a:pPr lvl="1"/>
            <a:r>
              <a:rPr lang="en-US" altLang="ko-KR" strike="sngStrike" dirty="0"/>
              <a:t>WHERE</a:t>
            </a:r>
            <a:r>
              <a:rPr lang="ko-KR" altLang="en-US" strike="sngStrike" dirty="0"/>
              <a:t> </a:t>
            </a:r>
            <a:r>
              <a:rPr lang="en-US" altLang="ko-KR" strike="sngStrike" dirty="0"/>
              <a:t>column NOT</a:t>
            </a:r>
            <a:r>
              <a:rPr lang="ko-KR" altLang="en-US" strike="sngStrike" dirty="0"/>
              <a:t> </a:t>
            </a:r>
            <a:r>
              <a:rPr lang="en-US" altLang="ko-KR" strike="sngStrike" dirty="0"/>
              <a:t>IN</a:t>
            </a:r>
            <a:r>
              <a:rPr lang="ko-KR" altLang="en-US" strike="sngStrike" dirty="0"/>
              <a:t> 을 통해 제외 가능</a:t>
            </a:r>
            <a:r>
              <a:rPr lang="en-US" altLang="ko-KR" strike="sngStrike" dirty="0"/>
              <a:t>.</a:t>
            </a:r>
          </a:p>
          <a:p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C3C5A6-4387-ADCC-CE56-D70B5D6EC8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실습과제 </a:t>
            </a:r>
            <a:r>
              <a:rPr lang="en-US" altLang="ko-KR" dirty="0"/>
              <a:t>(selection)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12378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ED0E66A-BF34-55B5-3D52-0D185E992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trike="sngStrike" dirty="0"/>
              <a:t>emp</a:t>
            </a:r>
            <a:r>
              <a:rPr lang="ko-KR" altLang="en-US" strike="sngStrike" dirty="0"/>
              <a:t>테이블에서 이름에 </a:t>
            </a:r>
            <a:r>
              <a:rPr lang="en-US" altLang="ko-KR" strike="sngStrike" dirty="0"/>
              <a:t>A</a:t>
            </a:r>
            <a:r>
              <a:rPr lang="ko-KR" altLang="en-US" strike="sngStrike" dirty="0"/>
              <a:t>와 </a:t>
            </a:r>
            <a:r>
              <a:rPr lang="en-US" altLang="ko-KR" strike="sngStrike" dirty="0"/>
              <a:t>E</a:t>
            </a:r>
            <a:r>
              <a:rPr lang="ko-KR" altLang="en-US" strike="sngStrike" dirty="0"/>
              <a:t>가 있는 모든 사원의 이름을 출력하기 위한 질의를 작성하고</a:t>
            </a:r>
            <a:r>
              <a:rPr lang="en-US" altLang="ko-KR" strike="sngStrike" dirty="0"/>
              <a:t>, </a:t>
            </a:r>
            <a:r>
              <a:rPr lang="ko-KR" altLang="en-US" strike="sngStrike" dirty="0"/>
              <a:t>질의와 출력을 함께 </a:t>
            </a:r>
            <a:r>
              <a:rPr lang="ko-KR" altLang="en-US" strike="sngStrike" dirty="0" err="1"/>
              <a:t>보일것</a:t>
            </a:r>
            <a:r>
              <a:rPr lang="en-US" altLang="ko-KR" strike="sngStrike" dirty="0"/>
              <a:t>.</a:t>
            </a:r>
          </a:p>
          <a:p>
            <a:pPr lvl="1"/>
            <a:r>
              <a:rPr lang="en-US" altLang="ko-KR" strike="sngStrike" dirty="0"/>
              <a:t>WHERE LIKE </a:t>
            </a:r>
            <a:r>
              <a:rPr lang="ko-KR" altLang="en-US" strike="sngStrike" dirty="0"/>
              <a:t>연산을 통해 수행가능</a:t>
            </a:r>
            <a:r>
              <a:rPr lang="en-US" altLang="ko-KR" strike="sngStrike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b="0" i="0" dirty="0">
                <a:effectLst/>
                <a:latin typeface="verdana" panose="020B0604030504040204" pitchFamily="34" charset="0"/>
              </a:rPr>
              <a:t>emp</a:t>
            </a:r>
            <a:r>
              <a:rPr lang="ko-KR" altLang="en-US" b="0" i="0" dirty="0">
                <a:effectLst/>
                <a:latin typeface="verdana" panose="020B0604030504040204" pitchFamily="34" charset="0"/>
              </a:rPr>
              <a:t>테이블에서 관리자가</a:t>
            </a:r>
            <a:r>
              <a:rPr lang="en-US" altLang="ko-KR" b="0" i="0" dirty="0">
                <a:effectLst/>
                <a:latin typeface="verdana" panose="020B0604030504040204" pitchFamily="34" charset="0"/>
              </a:rPr>
              <a:t>(</a:t>
            </a:r>
            <a:r>
              <a:rPr lang="en-US" altLang="ko-KR" b="0" i="0" dirty="0" err="1">
                <a:effectLst/>
                <a:latin typeface="verdana" panose="020B0604030504040204" pitchFamily="34" charset="0"/>
              </a:rPr>
              <a:t>mgr</a:t>
            </a:r>
            <a:r>
              <a:rPr lang="en-US" altLang="ko-KR" b="0" i="0" dirty="0">
                <a:effectLst/>
                <a:latin typeface="verdana" panose="020B0604030504040204" pitchFamily="34" charset="0"/>
              </a:rPr>
              <a:t>)</a:t>
            </a:r>
            <a:r>
              <a:rPr lang="ko-KR" altLang="en-US" b="0" i="0" dirty="0">
                <a:effectLst/>
                <a:latin typeface="verdana" panose="020B0604030504040204" pitchFamily="34" charset="0"/>
              </a:rPr>
              <a:t> 없는 모든 사원의 이름과 업무를 출력하기 위한 질의를 작성하고</a:t>
            </a:r>
            <a:r>
              <a:rPr lang="en-US" altLang="ko-KR" b="0" i="0" dirty="0">
                <a:effectLst/>
                <a:latin typeface="verdana" panose="020B0604030504040204" pitchFamily="34" charset="0"/>
              </a:rPr>
              <a:t>, </a:t>
            </a:r>
            <a:r>
              <a:rPr lang="ko-KR" altLang="en-US" dirty="0">
                <a:latin typeface="verdana" panose="020B0604030504040204" pitchFamily="34" charset="0"/>
              </a:rPr>
              <a:t>질의와 출력을 함께 </a:t>
            </a:r>
            <a:r>
              <a:rPr lang="ko-KR" altLang="en-US" dirty="0" err="1">
                <a:latin typeface="verdana" panose="020B0604030504040204" pitchFamily="34" charset="0"/>
              </a:rPr>
              <a:t>보일것</a:t>
            </a:r>
            <a:r>
              <a:rPr lang="en-US" altLang="ko-KR" dirty="0">
                <a:latin typeface="verdana" panose="020B0604030504040204" pitchFamily="34" charset="0"/>
              </a:rPr>
              <a:t>.</a:t>
            </a:r>
            <a:endParaRPr lang="en-US" altLang="ko-KR" b="0" i="0" dirty="0">
              <a:effectLst/>
              <a:latin typeface="verdana" panose="020B0604030504040204" pitchFamily="34" charset="0"/>
            </a:endParaRPr>
          </a:p>
          <a:p>
            <a:pPr lvl="1"/>
            <a:r>
              <a:rPr lang="en-US" altLang="ko-KR" dirty="0">
                <a:latin typeface="verdana" panose="020B0604030504040204" pitchFamily="34" charset="0"/>
              </a:rPr>
              <a:t>NULL </a:t>
            </a:r>
            <a:r>
              <a:rPr lang="ko-KR" altLang="en-US" dirty="0">
                <a:latin typeface="verdana" panose="020B0604030504040204" pitchFamily="34" charset="0"/>
              </a:rPr>
              <a:t>값을 조건으로 사용</a:t>
            </a:r>
            <a:r>
              <a:rPr lang="en-US" altLang="ko-KR" dirty="0">
                <a:latin typeface="verdana" panose="020B0604030504040204" pitchFamily="34" charset="0"/>
              </a:rPr>
              <a:t>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26A534-DC8D-C97C-9AED-838689C7B9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실습과제 </a:t>
            </a:r>
            <a:r>
              <a:rPr lang="en-US" altLang="ko-KR" dirty="0"/>
              <a:t>(selection)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78509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AF16FEB-9538-34CD-B12C-8B2B299C4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strike="sngStrike" dirty="0"/>
              <a:t>emp</a:t>
            </a:r>
            <a:r>
              <a:rPr lang="ko-KR" altLang="en-US" strike="sngStrike" dirty="0"/>
              <a:t>테이블에서 급여가 </a:t>
            </a:r>
            <a:r>
              <a:rPr lang="en-US" altLang="ko-KR" strike="sngStrike" dirty="0"/>
              <a:t>2,000</a:t>
            </a:r>
            <a:r>
              <a:rPr lang="ko-KR" altLang="en-US" strike="sngStrike" dirty="0"/>
              <a:t>와 </a:t>
            </a:r>
            <a:r>
              <a:rPr lang="en-US" altLang="ko-KR" strike="sngStrike" dirty="0"/>
              <a:t>5,000 </a:t>
            </a:r>
            <a:r>
              <a:rPr lang="ko-KR" altLang="en-US" strike="sngStrike" dirty="0"/>
              <a:t>사이고 부서번호가 </a:t>
            </a:r>
            <a:r>
              <a:rPr lang="en-US" altLang="ko-KR" strike="sngStrike" dirty="0"/>
              <a:t>10 </a:t>
            </a:r>
            <a:r>
              <a:rPr lang="ko-KR" altLang="en-US" strike="sngStrike" dirty="0"/>
              <a:t>또는 </a:t>
            </a:r>
            <a:r>
              <a:rPr lang="en-US" altLang="ko-KR" strike="sngStrike" dirty="0"/>
              <a:t>30</a:t>
            </a:r>
            <a:r>
              <a:rPr lang="ko-KR" altLang="en-US" strike="sngStrike" dirty="0"/>
              <a:t>인 사원의 이름과 급여</a:t>
            </a:r>
            <a:r>
              <a:rPr lang="en-US" altLang="ko-KR" strike="sngStrike" dirty="0"/>
              <a:t>,</a:t>
            </a:r>
            <a:r>
              <a:rPr lang="ko-KR" altLang="en-US" strike="sngStrike" dirty="0"/>
              <a:t>부서번호를 나열하는 </a:t>
            </a:r>
            <a:r>
              <a:rPr lang="en-US" altLang="ko-KR" strike="sngStrike" dirty="0"/>
              <a:t>SQL </a:t>
            </a:r>
            <a:r>
              <a:rPr lang="ko-KR" altLang="en-US" strike="sngStrike" dirty="0"/>
              <a:t>질의 </a:t>
            </a:r>
            <a:r>
              <a:rPr lang="ko-KR" altLang="en-US" strike="sngStrike" dirty="0" err="1"/>
              <a:t>작성할것</a:t>
            </a:r>
            <a:r>
              <a:rPr lang="en-US" altLang="ko-KR" strike="sngStrike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strike="sngStrike" dirty="0"/>
              <a:t>emp </a:t>
            </a:r>
            <a:r>
              <a:rPr lang="ko-KR" altLang="en-US" strike="sngStrike" dirty="0"/>
              <a:t>테이블에서 사원번호</a:t>
            </a:r>
            <a:r>
              <a:rPr lang="en-US" altLang="ko-KR" strike="sngStrike" dirty="0"/>
              <a:t>, </a:t>
            </a:r>
            <a:r>
              <a:rPr lang="ko-KR" altLang="en-US" strike="sngStrike" dirty="0"/>
              <a:t>사원이름</a:t>
            </a:r>
            <a:r>
              <a:rPr lang="en-US" altLang="ko-KR" strike="sngStrike" dirty="0"/>
              <a:t>, </a:t>
            </a:r>
            <a:r>
              <a:rPr lang="ko-KR" altLang="en-US" strike="sngStrike" dirty="0"/>
              <a:t>입사일을 출력하는데 입사일이 빠른 사람순으로 정렬하여 출력하는 </a:t>
            </a:r>
            <a:r>
              <a:rPr lang="en-US" altLang="ko-KR" strike="sngStrike" dirty="0"/>
              <a:t>SQL </a:t>
            </a:r>
            <a:r>
              <a:rPr lang="ko-KR" altLang="en-US" strike="sngStrike" dirty="0"/>
              <a:t>질의 </a:t>
            </a:r>
            <a:r>
              <a:rPr lang="ko-KR" altLang="en-US" strike="sngStrike" dirty="0" err="1"/>
              <a:t>작성할것</a:t>
            </a:r>
            <a:r>
              <a:rPr lang="en-US" altLang="ko-KR" strike="sngStrike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strike="sngStrike" dirty="0"/>
              <a:t>emp </a:t>
            </a:r>
            <a:r>
              <a:rPr lang="ko-KR" altLang="en-US" strike="sngStrike" dirty="0"/>
              <a:t>테이블에서 사원이름</a:t>
            </a:r>
            <a:r>
              <a:rPr lang="en-US" altLang="ko-KR" strike="sngStrike" dirty="0"/>
              <a:t>, </a:t>
            </a:r>
            <a:r>
              <a:rPr lang="ko-KR" altLang="en-US" strike="sngStrike" dirty="0"/>
              <a:t>급여</a:t>
            </a:r>
            <a:r>
              <a:rPr lang="en-US" altLang="ko-KR" strike="sngStrike" dirty="0"/>
              <a:t>, </a:t>
            </a:r>
            <a:r>
              <a:rPr lang="ko-KR" altLang="en-US" strike="sngStrike" dirty="0"/>
              <a:t>연봉을 구하고 연봉이 많은 순으로 정렬하여 출력하는 </a:t>
            </a:r>
            <a:r>
              <a:rPr lang="en-US" altLang="ko-KR" strike="sngStrike" dirty="0"/>
              <a:t>SQL </a:t>
            </a:r>
            <a:r>
              <a:rPr lang="ko-KR" altLang="en-US" strike="sngStrike" dirty="0"/>
              <a:t>질의 </a:t>
            </a:r>
            <a:r>
              <a:rPr lang="ko-KR" altLang="en-US" strike="sngStrike" dirty="0" err="1"/>
              <a:t>작성할것</a:t>
            </a:r>
            <a:r>
              <a:rPr lang="en-US" altLang="ko-KR" strike="sngStrike" dirty="0"/>
              <a:t>.</a:t>
            </a:r>
          </a:p>
          <a:p>
            <a:pPr lvl="1"/>
            <a:r>
              <a:rPr lang="ko-KR" altLang="en-US" strike="sngStrike" dirty="0"/>
              <a:t>내림차순 정렬은 </a:t>
            </a:r>
            <a:r>
              <a:rPr lang="en-US" altLang="ko-KR" strike="sngStrike" dirty="0"/>
              <a:t>DESC </a:t>
            </a:r>
            <a:r>
              <a:rPr lang="ko-KR" altLang="en-US" strike="sngStrike" dirty="0"/>
              <a:t>오름차순 정렬은 </a:t>
            </a:r>
            <a:r>
              <a:rPr lang="en-US" altLang="ko-KR" strike="sngStrike" dirty="0"/>
              <a:t>ASC</a:t>
            </a:r>
          </a:p>
          <a:p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2B9224-E857-3BFD-68D4-ADFE87CC95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실습과제 </a:t>
            </a:r>
            <a:r>
              <a:rPr lang="en-US" altLang="ko-KR" dirty="0"/>
              <a:t>(selection)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03199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115779E-A471-AE77-2C75-C498A4A67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trike="sngStrike" dirty="0"/>
              <a:t>모든 사원의 이름</a:t>
            </a:r>
            <a:r>
              <a:rPr lang="en-US" altLang="ko-KR" strike="sngStrike" dirty="0"/>
              <a:t>, </a:t>
            </a:r>
            <a:r>
              <a:rPr lang="ko-KR" altLang="en-US" strike="sngStrike" dirty="0"/>
              <a:t>부서번호</a:t>
            </a:r>
            <a:r>
              <a:rPr lang="en-US" altLang="ko-KR" strike="sngStrike" dirty="0"/>
              <a:t>, </a:t>
            </a:r>
            <a:r>
              <a:rPr lang="ko-KR" altLang="en-US" strike="sngStrike" dirty="0"/>
              <a:t>부서이름을 표시하는 질의와 실행 결과 과를 보이는 </a:t>
            </a:r>
            <a:r>
              <a:rPr lang="en-US" altLang="ko-KR" strike="sngStrike" dirty="0"/>
              <a:t>SQL </a:t>
            </a:r>
            <a:r>
              <a:rPr lang="ko-KR" altLang="en-US" strike="sngStrike" dirty="0"/>
              <a:t>질의를 </a:t>
            </a:r>
            <a:r>
              <a:rPr lang="ko-KR" altLang="en-US" strike="sngStrike" dirty="0" err="1"/>
              <a:t>작성할것</a:t>
            </a:r>
            <a:r>
              <a:rPr lang="en-US" altLang="ko-KR" strike="sngStrike" dirty="0"/>
              <a:t>.(</a:t>
            </a:r>
            <a:r>
              <a:rPr lang="en-US" altLang="ko-KR" strike="sngStrike" dirty="0" err="1"/>
              <a:t>emp,dept</a:t>
            </a:r>
            <a:r>
              <a:rPr lang="en-US" altLang="ko-KR" strike="sngStrike" dirty="0"/>
              <a:t>)</a:t>
            </a:r>
          </a:p>
          <a:p>
            <a:pPr lvl="1"/>
            <a:r>
              <a:rPr lang="ko-KR" altLang="en-US" dirty="0"/>
              <a:t>다음과 같이 </a:t>
            </a:r>
            <a:r>
              <a:rPr lang="ko-KR" altLang="en-US" dirty="0" err="1"/>
              <a:t>출력되어야함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94D797A-5595-B48E-9BE8-523186DF1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실습과제 </a:t>
            </a:r>
            <a:r>
              <a:rPr lang="en-US" altLang="ko-KR" dirty="0"/>
              <a:t>(join)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616D6D3-D82A-CF72-8C70-FCA0514B1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695" y="2053390"/>
            <a:ext cx="10331116" cy="4451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645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6168328-3C1B-D2BF-46F7-C87DBB787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strike="sngStrike" dirty="0"/>
              <a:t>업무가 </a:t>
            </a:r>
            <a:r>
              <a:rPr lang="en-US" altLang="ko-KR" sz="1800" strike="sngStrike" dirty="0"/>
              <a:t>SALESMAN</a:t>
            </a:r>
            <a:r>
              <a:rPr lang="ko-KR" altLang="en-US" sz="1800" strike="sngStrike" dirty="0"/>
              <a:t>인 사원의 정보를 이름</a:t>
            </a:r>
            <a:r>
              <a:rPr lang="en-US" altLang="ko-KR" sz="1800" strike="sngStrike" dirty="0"/>
              <a:t>,</a:t>
            </a:r>
            <a:r>
              <a:rPr lang="ko-KR" altLang="en-US" sz="1800" strike="sngStrike" dirty="0"/>
              <a:t>업무</a:t>
            </a:r>
            <a:r>
              <a:rPr lang="en-US" altLang="ko-KR" sz="1800" strike="sngStrike" dirty="0"/>
              <a:t>,</a:t>
            </a:r>
            <a:r>
              <a:rPr lang="ko-KR" altLang="en-US" sz="1800" strike="sngStrike" dirty="0"/>
              <a:t>부서명</a:t>
            </a:r>
            <a:r>
              <a:rPr lang="en-US" altLang="ko-KR" sz="1800" strike="sngStrike" dirty="0"/>
              <a:t>,</a:t>
            </a:r>
            <a:r>
              <a:rPr lang="ko-KR" altLang="en-US" sz="1800" strike="sngStrike" dirty="0"/>
              <a:t>근무지 순으로 출력하는 </a:t>
            </a:r>
            <a:r>
              <a:rPr lang="en-US" altLang="ko-KR" sz="1800" strike="sngStrike" dirty="0"/>
              <a:t>SQL </a:t>
            </a:r>
            <a:r>
              <a:rPr lang="ko-KR" altLang="en-US" sz="1800" strike="sngStrike" dirty="0"/>
              <a:t>질의를 </a:t>
            </a:r>
            <a:r>
              <a:rPr lang="ko-KR" altLang="en-US" sz="1800" strike="sngStrike" dirty="0" err="1"/>
              <a:t>작성할것</a:t>
            </a:r>
            <a:r>
              <a:rPr lang="en-US" altLang="ko-KR" sz="1800" strike="sngStrike" dirty="0"/>
              <a:t> (</a:t>
            </a:r>
            <a:r>
              <a:rPr lang="en-US" altLang="ko-KR" sz="1800" strike="sngStrike" dirty="0" err="1"/>
              <a:t>emp,dept</a:t>
            </a:r>
            <a:r>
              <a:rPr lang="en-US" altLang="ko-KR" sz="1800" strike="sngStrike" dirty="0"/>
              <a:t>).</a:t>
            </a:r>
            <a:endParaRPr lang="en-US" altLang="ko-KR" sz="1800" dirty="0"/>
          </a:p>
          <a:p>
            <a:r>
              <a:rPr lang="ko-KR" altLang="en-US" sz="1800" strike="sngStrike" dirty="0"/>
              <a:t>근무지가 </a:t>
            </a:r>
            <a:r>
              <a:rPr lang="en-US" altLang="ko-KR" sz="1800" strike="sngStrike" dirty="0"/>
              <a:t>CHICAGO</a:t>
            </a:r>
            <a:r>
              <a:rPr lang="ko-KR" altLang="en-US" sz="1800" strike="sngStrike" dirty="0"/>
              <a:t>인 모든 사원의 이름</a:t>
            </a:r>
            <a:r>
              <a:rPr lang="en-US" altLang="ko-KR" sz="1800" strike="sngStrike" dirty="0"/>
              <a:t>,</a:t>
            </a:r>
            <a:r>
              <a:rPr lang="ko-KR" altLang="en-US" sz="1800" strike="sngStrike" dirty="0"/>
              <a:t>업무</a:t>
            </a:r>
            <a:r>
              <a:rPr lang="en-US" altLang="ko-KR" sz="1800" strike="sngStrike" dirty="0"/>
              <a:t>,</a:t>
            </a:r>
            <a:r>
              <a:rPr lang="ko-KR" altLang="en-US" sz="1800" strike="sngStrike" dirty="0"/>
              <a:t>부서번호 및 부서이름을 출력하는 </a:t>
            </a:r>
            <a:r>
              <a:rPr lang="en-US" altLang="ko-KR" sz="1800" strike="sngStrike" dirty="0"/>
              <a:t>SQL</a:t>
            </a:r>
            <a:r>
              <a:rPr lang="ko-KR" altLang="en-US" sz="1800" strike="sngStrike" dirty="0"/>
              <a:t>질의를 </a:t>
            </a:r>
            <a:r>
              <a:rPr lang="ko-KR" altLang="en-US" sz="1800" strike="sngStrike" dirty="0" err="1"/>
              <a:t>작성할것</a:t>
            </a:r>
            <a:r>
              <a:rPr lang="en-US" altLang="ko-KR" sz="1800" strike="sngStrike" dirty="0"/>
              <a:t>.</a:t>
            </a:r>
          </a:p>
          <a:p>
            <a:endParaRPr lang="en-US" altLang="ko-KR" sz="1800" strike="sngStrike" dirty="0"/>
          </a:p>
          <a:p>
            <a:r>
              <a:rPr lang="ko-KR" altLang="en-US" sz="1800" strike="sngStrike" dirty="0"/>
              <a:t>관리자보다 먼저 입사한 모든 사원의 이름 및 입사일을 관리자의 이름 및 입사일과 함께 출력하고 열 레이블을 각각 </a:t>
            </a:r>
            <a:r>
              <a:rPr lang="en-US" altLang="ko-KR" sz="1800" strike="sngStrike" dirty="0"/>
              <a:t>employee, emp hired, manager, </a:t>
            </a:r>
            <a:r>
              <a:rPr lang="en-US" altLang="ko-KR" sz="1800" strike="sngStrike" dirty="0" err="1"/>
              <a:t>mgr</a:t>
            </a:r>
            <a:r>
              <a:rPr lang="en-US" altLang="ko-KR" sz="1800" strike="sngStrike" dirty="0"/>
              <a:t> hired</a:t>
            </a:r>
            <a:r>
              <a:rPr lang="ko-KR" altLang="en-US" sz="1800" strike="sngStrike" dirty="0"/>
              <a:t>로 지정</a:t>
            </a:r>
            <a:r>
              <a:rPr lang="en-US" altLang="ko-KR" sz="1800" strike="sngStrike" dirty="0"/>
              <a:t>.</a:t>
            </a:r>
          </a:p>
          <a:p>
            <a:pPr lvl="1"/>
            <a:r>
              <a:rPr lang="ko-KR" altLang="en-US" sz="1800" strike="sngStrike" dirty="0"/>
              <a:t>다음과 같이 출력 </a:t>
            </a:r>
            <a:r>
              <a:rPr lang="ko-KR" altLang="en-US" sz="1800" strike="sngStrike" dirty="0" err="1"/>
              <a:t>되어야함</a:t>
            </a:r>
            <a:r>
              <a:rPr lang="en-US" altLang="ko-KR" sz="1800" strike="sngStrike" dirty="0"/>
              <a:t>.</a:t>
            </a:r>
            <a:endParaRPr lang="ko-KR" altLang="en-US" sz="1800" strike="sngStrike" dirty="0"/>
          </a:p>
          <a:p>
            <a:pPr lvl="1"/>
            <a:endParaRPr lang="ko-KR" altLang="en-US" sz="1800" dirty="0"/>
          </a:p>
          <a:p>
            <a:endParaRPr lang="en-US" altLang="ko-KR" sz="1800" dirty="0"/>
          </a:p>
          <a:p>
            <a:endParaRPr lang="ko-KR" altLang="en-US" sz="18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B8B114-C554-B317-C098-4AE95ED09D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실습과제 </a:t>
            </a:r>
            <a:r>
              <a:rPr lang="en-US" altLang="ko-KR" dirty="0"/>
              <a:t>(join)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093EF5B-BD85-752F-CC07-BF9DC1349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3381346"/>
            <a:ext cx="5546254" cy="274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5238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833ABD7-8D7A-6D6B-6772-FC19D2749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trike="sngStrike" dirty="0"/>
              <a:t>20</a:t>
            </a:r>
            <a:r>
              <a:rPr lang="ko-KR" altLang="en-US" strike="sngStrike" dirty="0"/>
              <a:t>번부서에서 근무하는 사원들의 부서번호</a:t>
            </a:r>
            <a:r>
              <a:rPr lang="en-US" altLang="ko-KR" strike="sngStrike" dirty="0"/>
              <a:t>, </a:t>
            </a:r>
            <a:r>
              <a:rPr lang="ko-KR" altLang="en-US" strike="sngStrike" dirty="0"/>
              <a:t>부서이름</a:t>
            </a:r>
            <a:r>
              <a:rPr lang="en-US" altLang="ko-KR" strike="sngStrike" dirty="0"/>
              <a:t>, </a:t>
            </a:r>
            <a:r>
              <a:rPr lang="ko-KR" altLang="en-US" strike="sngStrike" dirty="0"/>
              <a:t>사원이름</a:t>
            </a:r>
            <a:r>
              <a:rPr lang="en-US" altLang="ko-KR" strike="sngStrike" dirty="0"/>
              <a:t>, </a:t>
            </a:r>
            <a:r>
              <a:rPr lang="ko-KR" altLang="en-US" strike="sngStrike" dirty="0"/>
              <a:t>월급</a:t>
            </a:r>
            <a:r>
              <a:rPr lang="en-US" altLang="ko-KR" strike="sngStrike" dirty="0"/>
              <a:t>, </a:t>
            </a:r>
            <a:r>
              <a:rPr lang="ko-KR" altLang="en-US" strike="sngStrike" dirty="0"/>
              <a:t>급여등급을 </a:t>
            </a:r>
            <a:r>
              <a:rPr lang="ko-KR" altLang="en-US" strike="sngStrike" dirty="0" err="1"/>
              <a:t>출력하시오</a:t>
            </a:r>
            <a:r>
              <a:rPr lang="en-US" altLang="ko-KR" strike="sngStrike" dirty="0"/>
              <a:t>.(emp, dept, </a:t>
            </a:r>
            <a:r>
              <a:rPr lang="en-US" altLang="ko-KR" strike="sngStrike" dirty="0" err="1"/>
              <a:t>salgrade</a:t>
            </a:r>
            <a:r>
              <a:rPr lang="en-US" altLang="ko-KR" strike="sngStrike" dirty="0"/>
              <a:t>)</a:t>
            </a:r>
          </a:p>
          <a:p>
            <a:pPr lvl="1"/>
            <a:r>
              <a:rPr lang="ko-KR" altLang="en-US" strike="sngStrike" dirty="0"/>
              <a:t>중복된 </a:t>
            </a:r>
            <a:r>
              <a:rPr lang="en-US" altLang="ko-KR" strike="sngStrike" dirty="0"/>
              <a:t>row</a:t>
            </a:r>
            <a:r>
              <a:rPr lang="ko-KR" altLang="en-US" strike="sngStrike" dirty="0"/>
              <a:t>가 없이 다음과 같이 출력 되어야 함</a:t>
            </a:r>
            <a:r>
              <a:rPr lang="en-US" altLang="ko-KR" strike="sngStrike" dirty="0"/>
              <a:t>.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FC8DD8-92E6-E59C-C382-F06B25FCC7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실습과제 </a:t>
            </a:r>
            <a:r>
              <a:rPr lang="en-US" altLang="ko-KR" dirty="0"/>
              <a:t>(join)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DFC5E81-B224-4273-EEF2-541E18FD8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628" y="2630904"/>
            <a:ext cx="6383630" cy="358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501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5953</TotalTime>
  <Words>1738</Words>
  <Application>Microsoft Office PowerPoint</Application>
  <PresentationFormat>와이드스크린</PresentationFormat>
  <Paragraphs>394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7" baseType="lpstr">
      <vt:lpstr>나눔고딕</vt:lpstr>
      <vt:lpstr>맑은 고딕</vt:lpstr>
      <vt:lpstr>Arial</vt:lpstr>
      <vt:lpstr>Cambria Math</vt:lpstr>
      <vt:lpstr>Consolas</vt:lpstr>
      <vt:lpstr>Times New Roman</vt:lpstr>
      <vt:lpstr>verdana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Dongjune Ryu</dc:creator>
  <cp:lastModifiedBy>수찬 이</cp:lastModifiedBy>
  <cp:revision>92</cp:revision>
  <dcterms:created xsi:type="dcterms:W3CDTF">2024-04-10T07:08:41Z</dcterms:created>
  <dcterms:modified xsi:type="dcterms:W3CDTF">2024-04-21T18:37:00Z</dcterms:modified>
</cp:coreProperties>
</file>