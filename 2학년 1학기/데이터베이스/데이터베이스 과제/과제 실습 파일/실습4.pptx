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677" r:id="rId2"/>
    <p:sldId id="1182" r:id="rId3"/>
    <p:sldId id="1185" r:id="rId4"/>
    <p:sldId id="1156" r:id="rId5"/>
    <p:sldId id="1161" r:id="rId6"/>
    <p:sldId id="1186" r:id="rId7"/>
    <p:sldId id="1187" r:id="rId8"/>
    <p:sldId id="1157" r:id="rId9"/>
    <p:sldId id="1159" r:id="rId10"/>
    <p:sldId id="1162" r:id="rId11"/>
    <p:sldId id="1188" r:id="rId12"/>
    <p:sldId id="1183" r:id="rId13"/>
    <p:sldId id="1163" r:id="rId14"/>
    <p:sldId id="1164" r:id="rId15"/>
    <p:sldId id="1165" r:id="rId16"/>
    <p:sldId id="1166" r:id="rId17"/>
    <p:sldId id="1189" r:id="rId18"/>
    <p:sldId id="1190" r:id="rId19"/>
    <p:sldId id="1178" r:id="rId20"/>
    <p:sldId id="1179" r:id="rId21"/>
    <p:sldId id="1180" r:id="rId22"/>
    <p:sldId id="1191" r:id="rId23"/>
    <p:sldId id="1192" r:id="rId24"/>
    <p:sldId id="1193" r:id="rId25"/>
    <p:sldId id="1194" r:id="rId26"/>
    <p:sldId id="1195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24AC"/>
    <a:srgbClr val="E3E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4" autoAdjust="0"/>
    <p:restoredTop sz="89504" autoAdjust="0"/>
  </p:normalViewPr>
  <p:slideViewPr>
    <p:cSldViewPr snapToGrid="0">
      <p:cViewPr>
        <p:scale>
          <a:sx n="60" d="100"/>
          <a:sy n="60" d="100"/>
        </p:scale>
        <p:origin x="28" y="-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17716-5762-444F-9C22-D72C47DD1DDF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5F15A-C4C5-4304-AF5F-E74FC88324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827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5F15A-C4C5-4304-AF5F-E74FC88324F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20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5F15A-C4C5-4304-AF5F-E74FC88324F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590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5F15A-C4C5-4304-AF5F-E74FC88324F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858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2AB22E-622A-89A3-9D8F-F6ADB1807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FAA1D42-C313-D69E-7BDA-2B5F7A576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2C6F8C-5D6A-84EF-E8A3-7BC133D1D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4DCD-E7E2-4C6C-BD33-9B45FE7C5168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8D90E-0ADE-D923-EF2A-2C35E13B1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61D19C-35A9-338A-4F82-EBE941102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FE6FA-0BC1-4415-B9E8-E8CB8A01C2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817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B1D63A-3B7B-60DC-EACE-9751940E4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F5ED50-1740-1B06-B455-85C6DD4D2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D8DD83-C10C-CA60-3A71-295DFA518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4DCD-E7E2-4C6C-BD33-9B45FE7C5168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6D997C-58F6-A809-513B-A0225E162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F30D9D-A50E-A63A-6855-CAF1A40BC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FE6FA-0BC1-4415-B9E8-E8CB8A01C2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4857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F9DB0F-C1B9-8C16-A3A1-10CE1EA69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F87A61-CF62-7486-A462-62A542761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705F02-D77B-5B53-6973-65E51296C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4DCD-E7E2-4C6C-BD33-9B45FE7C5168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5E9209-5065-3733-CF25-104A03AD4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16E65F-340A-C1DD-64A9-28019364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FE6FA-0BC1-4415-B9E8-E8CB8A01C2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444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9E7CA-2668-52DC-CD40-5C417C96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371EDD-7F9E-24A5-D096-80F077F0D9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32F898-5658-CC89-36E1-C58A4DE15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91F152-BAAB-F9EA-9F4E-C162FD0BB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4DCD-E7E2-4C6C-BD33-9B45FE7C5168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D1FEFE-79DD-22A6-4AD6-0F913A3BA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94E6E3-7C3A-6FAC-D6EF-F80670C01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FE6FA-0BC1-4415-B9E8-E8CB8A01C2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734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5DFCE-EE8F-89C9-F189-3F4075797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CF07AE-AB01-8030-E8E9-58C3FDACE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A4E617-9807-64B9-F6FF-B77969779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F6F0C-EE11-2659-6E97-EBA3218D67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5C7010B-3986-FB1D-0D83-C355FB4BA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8E93442-F966-CC5A-ED76-52B26CAA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4DCD-E7E2-4C6C-BD33-9B45FE7C5168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36E6D4A-ECF0-3AB0-8718-18F7F272B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EC795CA-EA89-F015-6EF8-594C5BC68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FE6FA-0BC1-4415-B9E8-E8CB8A01C2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91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7D250-1368-DB38-AB01-9937BB4D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1442368-BF74-CB57-1224-872F15F6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4DCD-E7E2-4C6C-BD33-9B45FE7C5168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EAD099-E173-56DB-E794-D407156DF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F1A3E2-053C-1C33-676F-7A1EEA376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FE6FA-0BC1-4415-B9E8-E8CB8A01C2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471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F5A66BF-76D7-67F1-62CB-D4D83270A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4DCD-E7E2-4C6C-BD33-9B45FE7C5168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99D69A9-3BBF-5146-9E96-89835E588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F74D3D-AF5D-A86B-B08A-14D96AFF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FE6FA-0BC1-4415-B9E8-E8CB8A01C2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747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05DA57-8309-B91E-4391-E1E0F08E0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F85CF1-9012-C689-B26E-19707F713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E0C635-3D54-4AA6-D122-38E5B9423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52357C-8D9F-A485-A256-33BF0AB87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4DCD-E7E2-4C6C-BD33-9B45FE7C5168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7EE4EE-D8EC-B153-112A-30B972721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BEC6C8-7070-7B7B-AB81-5BE14B7FE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FE6FA-0BC1-4415-B9E8-E8CB8A01C2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05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7B29A6-73D4-8995-5DF2-F3693CD52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93FEF8-3E79-5961-2E0B-0FDC26DD4F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91A441-3DE8-768F-03CF-3353EF110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44154D-5FFD-94AC-397E-B2A8FC560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4DCD-E7E2-4C6C-BD33-9B45FE7C5168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60387F-E36F-16BE-8230-744CEFB40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6BDDB6-2F33-5ABE-ABE8-EA170F802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FE6FA-0BC1-4415-B9E8-E8CB8A01C2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957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EA519-23DA-FEA0-49E7-9B93F3BC0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ABD8FA-04A7-E670-C072-A05B68BE0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680196-95D7-06AF-D0FD-6CCB770A6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4DCD-E7E2-4C6C-BD33-9B45FE7C5168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904544-0CA4-EFD7-3D24-31729370D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7CB62D-2703-D859-B113-62AF3AA94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FE6FA-0BC1-4415-B9E8-E8CB8A01C2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761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439A8EA-9863-2D52-3B99-FC1A4D2BA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FEA17D-51F2-B742-4D02-66DB12C25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09AA4B-7C31-5E3D-8361-5EFCAD131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4DCD-E7E2-4C6C-BD33-9B45FE7C5168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5DBD69-4FF8-A651-D062-D16DBAFF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C13BC6-C080-3A42-ECC6-C0E21057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FE6FA-0BC1-4415-B9E8-E8CB8A01C2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450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 bwMode="ltGray">
          <a:xfrm>
            <a:off x="359073" y="201910"/>
            <a:ext cx="8844403" cy="703701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txBody>
          <a:bodyPr vert="horz" wrap="square" lIns="107571" tIns="67232" rIns="107571" bIns="67232" rtlCol="0" anchor="ctr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00" baseline="0">
                <a:ln w="3175">
                  <a:noFill/>
                </a:ln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r>
              <a:rPr lang="en-US" sz="21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6" name="내용 개체 틀 2"/>
          <p:cNvSpPr txBox="1">
            <a:spLocks/>
          </p:cNvSpPr>
          <p:nvPr userDrawn="1"/>
        </p:nvSpPr>
        <p:spPr>
          <a:xfrm>
            <a:off x="831177" y="1105118"/>
            <a:ext cx="10515600" cy="47067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1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59071" y="1105117"/>
            <a:ext cx="11339444" cy="5023539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359836" y="201613"/>
            <a:ext cx="8843433" cy="70326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7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1548003" y="6328166"/>
            <a:ext cx="3289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7794632-D888-4270-8AF5-7FF0A682F488}" type="slidenum">
              <a:rPr lang="ko-KR" altLang="en-US" sz="900" smtClean="0"/>
              <a:t>‹#›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179916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2CF9AD6-5A95-A339-8368-0111A32C6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84B790-EAA4-D65F-34A5-AAA5E177F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D53FC1-FBAA-FDE9-FAFA-952162B11A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B4DCD-E7E2-4C6C-BD33-9B45FE7C5168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61932B-0591-9FA2-1A8B-3BED26898D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CE432-D7DE-4CD8-5B36-114F6C417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6FE6FA-0BC1-4415-B9E8-E8CB8A01C2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544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postgresql.org/docs/current/datatype.html" TargetMode="Externa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postgresql.org/docs/current/sql-select.html" TargetMode="Externa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stgresql.org/docs/current/sql-insert.html" TargetMode="Externa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stgresql.org/docs/current/sql-update.html" TargetMode="Externa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stgresql.org/docs/current/sql-delete.html" TargetMode="Externa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ltGray">
          <a:xfrm>
            <a:off x="2934724" y="1640784"/>
            <a:ext cx="6633302" cy="1482561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txBody>
          <a:bodyPr vert="horz" wrap="square" lIns="143428" tIns="89642" rIns="143428" bIns="89642" rtlCol="0" anchor="ctr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00" baseline="0">
                <a:ln w="3175">
                  <a:noFill/>
                </a:ln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endParaRPr lang="en-US" sz="2500" b="1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90668" y="2012732"/>
            <a:ext cx="2121415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DDL,DML </a:t>
            </a:r>
            <a:r>
              <a:rPr lang="ko-KR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실습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/>
          <p:cNvSpPr/>
          <p:nvPr/>
        </p:nvSpPr>
        <p:spPr>
          <a:xfrm>
            <a:off x="2565887" y="3535592"/>
            <a:ext cx="7370976" cy="1906741"/>
          </a:xfrm>
          <a:prstGeom prst="rect">
            <a:avLst/>
          </a:prstGeom>
          <a:noFill/>
          <a:ln w="28575">
            <a:noFill/>
          </a:ln>
        </p:spPr>
        <p:txBody>
          <a:bodyPr wrap="square" lIns="0" tIns="89642" rIns="0" bIns="89642" rtlCol="0" anchor="ctr">
            <a:noAutofit/>
          </a:bodyPr>
          <a:lstStyle/>
          <a:p>
            <a:pPr marL="56024" lvl="1"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endParaRPr lang="en-US" altLang="ko-KR" sz="15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58406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4FAB95-0A1A-662F-AD25-414D6AFEF9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DDL</a:t>
            </a:r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4CCCB1B-74FD-2245-A109-1E74CF8D73E1}"/>
              </a:ext>
            </a:extLst>
          </p:cNvPr>
          <p:cNvSpPr/>
          <p:nvPr/>
        </p:nvSpPr>
        <p:spPr>
          <a:xfrm>
            <a:off x="3246127" y="4672506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/>
              <a:t>Schemas</a:t>
            </a:r>
            <a:endParaRPr lang="ko-KR" altLang="en-US" sz="120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794DDE8-79B0-7833-F901-53FA49EABB42}"/>
              </a:ext>
            </a:extLst>
          </p:cNvPr>
          <p:cNvSpPr/>
          <p:nvPr/>
        </p:nvSpPr>
        <p:spPr>
          <a:xfrm>
            <a:off x="915882" y="5728490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/>
              <a:t>Tables</a:t>
            </a:r>
            <a:endParaRPr lang="ko-KR" altLang="en-US" sz="120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E2CC474-7F21-BAA6-AFCD-4FF0A3D00175}"/>
              </a:ext>
            </a:extLst>
          </p:cNvPr>
          <p:cNvSpPr/>
          <p:nvPr/>
        </p:nvSpPr>
        <p:spPr>
          <a:xfrm>
            <a:off x="2597198" y="5728490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/>
              <a:t>Views</a:t>
            </a:r>
            <a:endParaRPr lang="ko-KR" altLang="en-US" sz="120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3ACEEEF-B692-2BF0-2138-EF6B07B00322}"/>
              </a:ext>
            </a:extLst>
          </p:cNvPr>
          <p:cNvSpPr/>
          <p:nvPr/>
        </p:nvSpPr>
        <p:spPr>
          <a:xfrm>
            <a:off x="4237218" y="5728490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/>
              <a:t>Sequences</a:t>
            </a:r>
            <a:endParaRPr lang="ko-KR" altLang="en-US" sz="12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C42D802-262C-FF4B-9077-486DEF1604A7}"/>
              </a:ext>
            </a:extLst>
          </p:cNvPr>
          <p:cNvSpPr/>
          <p:nvPr/>
        </p:nvSpPr>
        <p:spPr>
          <a:xfrm>
            <a:off x="5948030" y="5728490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/>
              <a:t>Synonyms</a:t>
            </a:r>
            <a:endParaRPr lang="ko-KR" altLang="en-US" sz="120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473E472-DD56-7FA5-45C9-6A824169C8D7}"/>
              </a:ext>
            </a:extLst>
          </p:cNvPr>
          <p:cNvSpPr/>
          <p:nvPr/>
        </p:nvSpPr>
        <p:spPr>
          <a:xfrm>
            <a:off x="7549182" y="5728490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/>
              <a:t>Domains</a:t>
            </a:r>
            <a:endParaRPr lang="ko-KR" altLang="en-US" sz="120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43723E0-E4B0-E85B-F436-F783943A7784}"/>
              </a:ext>
            </a:extLst>
          </p:cNvPr>
          <p:cNvSpPr/>
          <p:nvPr/>
        </p:nvSpPr>
        <p:spPr>
          <a:xfrm>
            <a:off x="9128057" y="5719254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/>
              <a:t>Functions</a:t>
            </a:r>
            <a:endParaRPr lang="ko-KR" altLang="en-US" sz="1200"/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C505877F-2F00-3E8E-F307-AC8DF226574A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2502810" y="4395237"/>
            <a:ext cx="336262" cy="233024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43AC2BFA-0608-F97C-E256-805377ED3217}"/>
              </a:ext>
            </a:extLst>
          </p:cNvPr>
          <p:cNvCxnSpPr>
            <a:stCxn id="7" idx="0"/>
            <a:endCxn id="5" idx="2"/>
          </p:cNvCxnSpPr>
          <p:nvPr/>
        </p:nvCxnSpPr>
        <p:spPr>
          <a:xfrm rot="5400000" flipH="1" flipV="1">
            <a:off x="3343467" y="5235895"/>
            <a:ext cx="336262" cy="648929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A6BC0F78-C7AC-E96F-9C2F-A023EEB77405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rot="16200000" flipV="1">
            <a:off x="4163478" y="5064813"/>
            <a:ext cx="336262" cy="99109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D843459B-B791-AA9D-0DB9-4D58C8C95DE3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rot="16200000" flipH="1">
            <a:off x="5018883" y="4209407"/>
            <a:ext cx="336262" cy="270190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C0B00CDD-B6E6-8F31-813E-880D47A67A37}"/>
              </a:ext>
            </a:extLst>
          </p:cNvPr>
          <p:cNvCxnSpPr>
            <a:stCxn id="10" idx="0"/>
            <a:endCxn id="5" idx="2"/>
          </p:cNvCxnSpPr>
          <p:nvPr/>
        </p:nvCxnSpPr>
        <p:spPr>
          <a:xfrm rot="16200000" flipV="1">
            <a:off x="5819460" y="3408831"/>
            <a:ext cx="336262" cy="430305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78B397E6-2B38-21AC-A932-EA16830D83E6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rot="16200000" flipV="1">
            <a:off x="6613515" y="2614776"/>
            <a:ext cx="327026" cy="588193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638582E-69A3-835A-48FE-0292F2B0A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836" y="1193987"/>
            <a:ext cx="11339444" cy="502353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800" dirty="0"/>
              <a:t>DDL</a:t>
            </a:r>
            <a:r>
              <a:rPr lang="ko-KR" altLang="en-US" sz="1800" dirty="0"/>
              <a:t> </a:t>
            </a:r>
            <a:r>
              <a:rPr lang="en-US" altLang="ko-KR" sz="1800" dirty="0"/>
              <a:t>(data</a:t>
            </a:r>
            <a:r>
              <a:rPr lang="ko-KR" altLang="en-US" sz="1800" dirty="0"/>
              <a:t> </a:t>
            </a:r>
            <a:r>
              <a:rPr lang="en-US" altLang="ko-KR" sz="1800" dirty="0"/>
              <a:t>definition</a:t>
            </a:r>
            <a:r>
              <a:rPr lang="ko-KR" altLang="en-US" sz="1800" dirty="0"/>
              <a:t> </a:t>
            </a:r>
            <a:r>
              <a:rPr lang="en-US" altLang="ko-KR" sz="1800" dirty="0"/>
              <a:t>Language) </a:t>
            </a:r>
            <a:r>
              <a:rPr lang="ko-KR" altLang="en-US" sz="1800" dirty="0"/>
              <a:t>데이터 </a:t>
            </a:r>
            <a:r>
              <a:rPr lang="ko-KR" altLang="en-US" sz="1800" dirty="0" err="1"/>
              <a:t>정의어</a:t>
            </a:r>
            <a:endParaRPr lang="en-US" altLang="ko-KR" sz="1800" dirty="0"/>
          </a:p>
          <a:p>
            <a:pPr marL="742950" lvl="1" indent="-285750"/>
            <a:r>
              <a:rPr lang="ko-KR" altLang="en-US" sz="1800" dirty="0"/>
              <a:t>데이터베이스를 정의하는 언어</a:t>
            </a:r>
            <a:r>
              <a:rPr lang="en-US" altLang="ko-KR" sz="1800" dirty="0"/>
              <a:t>, </a:t>
            </a:r>
            <a:r>
              <a:rPr lang="ko-KR" altLang="en-US" sz="1800" dirty="0"/>
              <a:t>데이터 생성 및 수정 삭제 등 전체 골격을 결정</a:t>
            </a:r>
            <a:endParaRPr lang="en-US" altLang="ko-KR" sz="1800" dirty="0"/>
          </a:p>
          <a:p>
            <a:pPr marL="742950" lvl="1" indent="-285750"/>
            <a:r>
              <a:rPr lang="en-US" altLang="ko-KR" sz="1800" dirty="0"/>
              <a:t>CREATE</a:t>
            </a:r>
          </a:p>
          <a:p>
            <a:pPr marL="1200150" lvl="2" indent="-285750"/>
            <a:r>
              <a:rPr lang="ko-KR" altLang="en-US" sz="1800" dirty="0"/>
              <a:t>데이터 베이스 테이블 등을 생성</a:t>
            </a:r>
            <a:endParaRPr lang="en-US" altLang="ko-KR" sz="1800" dirty="0"/>
          </a:p>
          <a:p>
            <a:pPr marL="742950" lvl="1" indent="-285750"/>
            <a:r>
              <a:rPr lang="en-US" altLang="ko-KR" sz="1800" dirty="0"/>
              <a:t>ALTER</a:t>
            </a:r>
            <a:r>
              <a:rPr lang="ko-KR" altLang="en-US" sz="1800" dirty="0"/>
              <a:t>수정하는 역할</a:t>
            </a:r>
            <a:endParaRPr lang="en-US" altLang="ko-KR" sz="1800" dirty="0"/>
          </a:p>
          <a:p>
            <a:pPr marL="742950" lvl="1" indent="-285750"/>
            <a:r>
              <a:rPr lang="en-US" altLang="ko-KR" sz="1800" dirty="0"/>
              <a:t>DROP</a:t>
            </a:r>
          </a:p>
          <a:p>
            <a:pPr marL="1200150" lvl="2" indent="-285750"/>
            <a:r>
              <a:rPr lang="ko-KR" altLang="en-US" sz="1800" dirty="0"/>
              <a:t>데이터베이스 테이블 삭제</a:t>
            </a:r>
            <a:endParaRPr lang="en-US" altLang="ko-KR" sz="1800" dirty="0"/>
          </a:p>
          <a:p>
            <a:pPr marL="742950" lvl="1" indent="-285750"/>
            <a:r>
              <a:rPr lang="en-US" altLang="ko-KR" sz="1800" dirty="0"/>
              <a:t>TRUNCATE</a:t>
            </a:r>
          </a:p>
          <a:p>
            <a:pPr marL="1200150" lvl="2" indent="-285750"/>
            <a:r>
              <a:rPr lang="ko-KR" altLang="en-US" sz="1800" dirty="0"/>
              <a:t>테이블 초기화 시키는 역할</a:t>
            </a:r>
            <a:endParaRPr lang="en-US" altLang="ko-KR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800" dirty="0"/>
          </a:p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857660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A5DC186-D405-AADC-436F-136B894A1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회사원과 부서 테이블을 만든다고 가정</a:t>
            </a:r>
            <a:r>
              <a:rPr lang="en-US" altLang="ko-KR" dirty="0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CCD497-A981-2FCB-9614-CD8C95CF21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Assume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F4464F4-7A6E-AEE1-1F9A-71EDFE7262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821821"/>
              </p:ext>
            </p:extLst>
          </p:nvPr>
        </p:nvGraphicFramePr>
        <p:xfrm>
          <a:off x="613336" y="2005779"/>
          <a:ext cx="7676778" cy="1472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9463">
                  <a:extLst>
                    <a:ext uri="{9D8B030D-6E8A-4147-A177-3AD203B41FA5}">
                      <a16:colId xmlns:a16="http://schemas.microsoft.com/office/drawing/2014/main" val="1917393678"/>
                    </a:ext>
                  </a:extLst>
                </a:gridCol>
                <a:gridCol w="1279463">
                  <a:extLst>
                    <a:ext uri="{9D8B030D-6E8A-4147-A177-3AD203B41FA5}">
                      <a16:colId xmlns:a16="http://schemas.microsoft.com/office/drawing/2014/main" val="3587010918"/>
                    </a:ext>
                  </a:extLst>
                </a:gridCol>
                <a:gridCol w="1279463">
                  <a:extLst>
                    <a:ext uri="{9D8B030D-6E8A-4147-A177-3AD203B41FA5}">
                      <a16:colId xmlns:a16="http://schemas.microsoft.com/office/drawing/2014/main" val="3998981390"/>
                    </a:ext>
                  </a:extLst>
                </a:gridCol>
                <a:gridCol w="1279463">
                  <a:extLst>
                    <a:ext uri="{9D8B030D-6E8A-4147-A177-3AD203B41FA5}">
                      <a16:colId xmlns:a16="http://schemas.microsoft.com/office/drawing/2014/main" val="2225188946"/>
                    </a:ext>
                  </a:extLst>
                </a:gridCol>
                <a:gridCol w="1279463">
                  <a:extLst>
                    <a:ext uri="{9D8B030D-6E8A-4147-A177-3AD203B41FA5}">
                      <a16:colId xmlns:a16="http://schemas.microsoft.com/office/drawing/2014/main" val="1137036235"/>
                    </a:ext>
                  </a:extLst>
                </a:gridCol>
                <a:gridCol w="1279463">
                  <a:extLst>
                    <a:ext uri="{9D8B030D-6E8A-4147-A177-3AD203B41FA5}">
                      <a16:colId xmlns:a16="http://schemas.microsoft.com/office/drawing/2014/main" val="32514679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사원 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부서번호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직급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급여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등록일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30719"/>
                  </a:ext>
                </a:extLst>
              </a:tr>
              <a:tr h="3598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A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9000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‘</a:t>
                      </a:r>
                      <a:r>
                        <a:rPr lang="ko-KR" altLang="en-US" sz="1600" dirty="0"/>
                        <a:t>대리</a:t>
                      </a:r>
                      <a:r>
                        <a:rPr lang="en-US" altLang="ko-KR" sz="1600" dirty="0"/>
                        <a:t>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10,000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2020-10-01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03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B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9100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‘</a:t>
                      </a:r>
                      <a:r>
                        <a:rPr lang="ko-KR" altLang="en-US" sz="1600" dirty="0"/>
                        <a:t>과장</a:t>
                      </a:r>
                      <a:r>
                        <a:rPr lang="en-US" altLang="ko-KR" sz="1600" dirty="0"/>
                        <a:t>’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20,000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2015-02-01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165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9200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‘</a:t>
                      </a:r>
                      <a:r>
                        <a:rPr lang="ko-KR" altLang="en-US" sz="1600" dirty="0"/>
                        <a:t>부장</a:t>
                      </a:r>
                      <a:r>
                        <a:rPr lang="en-US" altLang="ko-KR" sz="1600" dirty="0"/>
                        <a:t>’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30,000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2007-03-02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594144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EBCC5FC-8C31-5314-E54D-AE4B16CDE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805378"/>
              </p:ext>
            </p:extLst>
          </p:nvPr>
        </p:nvGraphicFramePr>
        <p:xfrm>
          <a:off x="613336" y="4069384"/>
          <a:ext cx="2322286" cy="1472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9173936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587010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부서 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부서 이름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30719"/>
                  </a:ext>
                </a:extLst>
              </a:tr>
              <a:tr h="3598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9000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03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9100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운영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165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9200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전산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594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134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4FAB95-0A1A-662F-AD25-414D6AFEF9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Data</a:t>
            </a:r>
            <a:r>
              <a:rPr lang="ko-KR" altLang="en-US" dirty="0"/>
              <a:t> </a:t>
            </a:r>
            <a:r>
              <a:rPr lang="en-US" altLang="ko-KR" dirty="0"/>
              <a:t>Type</a:t>
            </a:r>
            <a:endParaRPr lang="ko-KR" altLang="en-US" dirty="0"/>
          </a:p>
        </p:txBody>
      </p:sp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F97176C8-A645-98D1-29AB-7762BEC7A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모든 </a:t>
            </a:r>
            <a:r>
              <a:rPr lang="en-US" altLang="ko-KR" dirty="0"/>
              <a:t>DB</a:t>
            </a:r>
            <a:r>
              <a:rPr lang="ko-KR" altLang="en-US" dirty="0"/>
              <a:t>는 저장하고자 하는 데이터의 유형에 따른 </a:t>
            </a:r>
            <a:r>
              <a:rPr lang="ko-KR" altLang="en-US" dirty="0">
                <a:hlinkClick r:id="rId2"/>
              </a:rPr>
              <a:t>자료형을 </a:t>
            </a:r>
            <a:r>
              <a:rPr lang="ko-KR" altLang="en-US" dirty="0" err="1">
                <a:hlinkClick r:id="rId2"/>
              </a:rPr>
              <a:t>제공하고있음</a:t>
            </a:r>
            <a:r>
              <a:rPr lang="en-US" altLang="ko-KR" dirty="0">
                <a:hlinkClick r:id="rId2"/>
              </a:rPr>
              <a:t>.</a:t>
            </a:r>
            <a:endParaRPr lang="en-US" altLang="ko-KR" dirty="0"/>
          </a:p>
          <a:p>
            <a:r>
              <a:rPr lang="ko-KR" altLang="en-US" dirty="0"/>
              <a:t>또한 프로그래밍 언어에서 볼 수 있는 구조체와 같은 형태의 </a:t>
            </a:r>
            <a:r>
              <a:rPr lang="en-US" altLang="ko-KR" dirty="0"/>
              <a:t>composite datatype </a:t>
            </a:r>
            <a:r>
              <a:rPr lang="ko-KR" altLang="en-US" dirty="0"/>
              <a:t>역시 만들어 사용 가능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F364B5-BB3A-DC44-D79D-F730DDD87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3159057"/>
            <a:ext cx="6918809" cy="356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477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D31C2FE-6DBD-B366-4909-1195F4AD3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CREATE TABLE 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table_name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 </a:t>
            </a:r>
          </a:p>
          <a:p>
            <a:pPr lvl="1"/>
            <a:r>
              <a:rPr lang="ko-KR" altLang="en-US" dirty="0"/>
              <a:t>테이블 생성 </a:t>
            </a:r>
            <a:r>
              <a:rPr lang="en-US" altLang="ko-KR" dirty="0"/>
              <a:t>Syntax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ex) </a:t>
            </a:r>
            <a:r>
              <a:rPr lang="ko-KR" altLang="en-US" dirty="0"/>
              <a:t>부서 테이블을 생성하고 </a:t>
            </a:r>
            <a:r>
              <a:rPr lang="en-US" altLang="ko-KR" dirty="0"/>
              <a:t>id</a:t>
            </a:r>
            <a:r>
              <a:rPr lang="ko-KR" altLang="en-US" dirty="0"/>
              <a:t>값을 기본키로 설정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826AB1-B0E1-92D2-C543-F79A115EB1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CREATE TABLE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AB8F3B5-C54B-1034-BE00-088C47CB0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623333"/>
              </p:ext>
            </p:extLst>
          </p:nvPr>
        </p:nvGraphicFramePr>
        <p:xfrm>
          <a:off x="945776" y="2326714"/>
          <a:ext cx="10515600" cy="9144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864016093"/>
                    </a:ext>
                  </a:extLst>
                </a:gridCol>
              </a:tblGrid>
              <a:tr h="536938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000" b="0" i="0" dirty="0">
                          <a:solidFill>
                            <a:srgbClr val="7030A0"/>
                          </a:solidFill>
                          <a:effectLst/>
                          <a:latin typeface="Consolas" panose="020B0609020204030204" pitchFamily="49" charset="0"/>
                        </a:rPr>
                        <a:t>CREATE TABLE </a:t>
                      </a:r>
                      <a:r>
                        <a:rPr lang="en-US" sz="1000" b="0" i="0" dirty="0" err="1">
                          <a:effectLst/>
                          <a:latin typeface="Consolas" panose="020B0609020204030204" pitchFamily="49" charset="0"/>
                        </a:rPr>
                        <a:t>table_name</a:t>
                      </a:r>
                      <a:r>
                        <a:rPr lang="en-US" sz="1000" b="0" i="0" dirty="0">
                          <a:effectLst/>
                          <a:latin typeface="Consolas" panose="020B0609020204030204" pitchFamily="49" charset="0"/>
                        </a:rPr>
                        <a:t> ( [</a:t>
                      </a:r>
                    </a:p>
                    <a:p>
                      <a:pPr algn="l" fontAlgn="base"/>
                      <a:r>
                        <a:rPr lang="en-US" sz="1000" b="0" i="0" dirty="0">
                          <a:effectLst/>
                          <a:latin typeface="Consolas" panose="020B0609020204030204" pitchFamily="49" charset="0"/>
                        </a:rPr>
                        <a:t>  column_name1 </a:t>
                      </a:r>
                      <a:r>
                        <a:rPr lang="en-US" sz="1000" b="0" i="0" dirty="0" err="1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</a:rPr>
                        <a:t>data_type</a:t>
                      </a:r>
                      <a:r>
                        <a:rPr lang="en-US" sz="1000" b="0" i="0" dirty="0">
                          <a:effectLst/>
                          <a:latin typeface="Consolas" panose="020B0609020204030204" pitchFamily="49" charset="0"/>
                        </a:rPr>
                        <a:t> [ </a:t>
                      </a:r>
                      <a:r>
                        <a:rPr lang="en-US" sz="1000" b="0" i="0" dirty="0"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</a:rPr>
                        <a:t>COLLATE collation </a:t>
                      </a:r>
                      <a:r>
                        <a:rPr lang="en-US" sz="1000" b="0" i="0" dirty="0">
                          <a:effectLst/>
                          <a:latin typeface="Consolas" panose="020B0609020204030204" pitchFamily="49" charset="0"/>
                        </a:rPr>
                        <a:t>]  [ </a:t>
                      </a:r>
                      <a:r>
                        <a:rPr lang="en-US" sz="1000" b="0" i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column_constraint</a:t>
                      </a:r>
                      <a:r>
                        <a:rPr lang="en-US" sz="1000" b="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[ ... ] </a:t>
                      </a:r>
                      <a:r>
                        <a:rPr lang="en-US" sz="1000" b="0" i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</a:p>
                    <a:p>
                      <a:pPr algn="l" fontAlgn="base"/>
                      <a:r>
                        <a:rPr lang="en-US" sz="1000" b="0" i="0" dirty="0">
                          <a:effectLst/>
                          <a:latin typeface="Consolas" panose="020B0609020204030204" pitchFamily="49" charset="0"/>
                        </a:rPr>
                        <a:t>  column_name2 </a:t>
                      </a:r>
                      <a:r>
                        <a:rPr lang="en-US" sz="1000" b="0" i="0" dirty="0" err="1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</a:rPr>
                        <a:t>data_type</a:t>
                      </a:r>
                      <a:r>
                        <a:rPr lang="en-US" sz="1000" b="0" i="0" dirty="0">
                          <a:effectLst/>
                          <a:latin typeface="Consolas" panose="020B0609020204030204" pitchFamily="49" charset="0"/>
                        </a:rPr>
                        <a:t> [ </a:t>
                      </a:r>
                      <a:r>
                        <a:rPr lang="en-US" sz="1000" b="0" i="0" dirty="0"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</a:rPr>
                        <a:t>COLLATE collation </a:t>
                      </a:r>
                      <a:r>
                        <a:rPr lang="en-US" sz="1000" b="0" i="0" dirty="0">
                          <a:effectLst/>
                          <a:latin typeface="Consolas" panose="020B0609020204030204" pitchFamily="49" charset="0"/>
                        </a:rPr>
                        <a:t>]  [ </a:t>
                      </a:r>
                      <a:r>
                        <a:rPr lang="en-US" sz="1000" b="0" i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column_constraint</a:t>
                      </a:r>
                      <a:r>
                        <a:rPr lang="en-US" sz="1000" b="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[ ... ]</a:t>
                      </a:r>
                      <a:r>
                        <a:rPr lang="en-US" sz="1000" b="0" i="0" dirty="0">
                          <a:effectLst/>
                          <a:latin typeface="Consolas" panose="020B0609020204030204" pitchFamily="49" charset="0"/>
                        </a:rPr>
                        <a:t> ]</a:t>
                      </a:r>
                    </a:p>
                    <a:p>
                      <a:pPr algn="l" fontAlgn="base"/>
                      <a:r>
                        <a:rPr lang="en-US" sz="1000" b="0" i="0" dirty="0">
                          <a:effectLst/>
                          <a:latin typeface="Consolas" panose="020B0609020204030204" pitchFamily="49" charset="0"/>
                        </a:rPr>
                        <a:t>  column_name3 </a:t>
                      </a:r>
                      <a:r>
                        <a:rPr lang="en-US" sz="1000" b="0" i="0" dirty="0" err="1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</a:rPr>
                        <a:t>data_type</a:t>
                      </a:r>
                      <a:r>
                        <a:rPr lang="en-US" sz="1000" b="0" i="0" dirty="0">
                          <a:effectLst/>
                          <a:latin typeface="Consolas" panose="020B0609020204030204" pitchFamily="49" charset="0"/>
                        </a:rPr>
                        <a:t> [ </a:t>
                      </a:r>
                      <a:r>
                        <a:rPr lang="en-US" sz="1000" b="0" i="0" dirty="0"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</a:rPr>
                        <a:t>COLLATE collation</a:t>
                      </a:r>
                      <a:r>
                        <a:rPr lang="en-US" sz="1000" b="0" i="0" dirty="0">
                          <a:effectLst/>
                          <a:latin typeface="Consolas" panose="020B0609020204030204" pitchFamily="49" charset="0"/>
                        </a:rPr>
                        <a:t> ]  [ </a:t>
                      </a:r>
                      <a:r>
                        <a:rPr lang="en-US" sz="1000" b="0" i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column_constraint</a:t>
                      </a:r>
                      <a:r>
                        <a:rPr lang="en-US" sz="1000" b="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[ ... ] </a:t>
                      </a:r>
                      <a:r>
                        <a:rPr lang="en-US" sz="1000" b="0" i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</a:p>
                    <a:p>
                      <a:pPr algn="l" fontAlgn="base"/>
                      <a:r>
                        <a:rPr lang="en-US" sz="1000" b="0" i="0" dirty="0">
                          <a:effectLst/>
                          <a:latin typeface="Consolas" panose="020B0609020204030204" pitchFamily="49" charset="0"/>
                        </a:rPr>
                        <a:t>  …</a:t>
                      </a:r>
                    </a:p>
                    <a:p>
                      <a:pPr algn="l" fontAlgn="base"/>
                      <a:r>
                        <a:rPr lang="en-US" sz="1000" b="0" i="0" dirty="0">
                          <a:effectLst/>
                          <a:latin typeface="Consolas" panose="020B0609020204030204" pitchFamily="49" charset="0"/>
                        </a:rPr>
                        <a:t>] )</a:t>
                      </a:r>
                      <a:endParaRPr lang="en-US" sz="1000" b="0" i="0" dirty="0">
                        <a:effectLst/>
                        <a:highlight>
                          <a:srgbClr val="FFFFFF"/>
                        </a:highlight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131253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DDAB19F8-50D9-5E8D-9F31-21170A5C2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396" y="2307534"/>
            <a:ext cx="3761828" cy="19691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722020-8094-41C5-7226-92091B5E600E}"/>
              </a:ext>
            </a:extLst>
          </p:cNvPr>
          <p:cNvSpPr txBox="1"/>
          <p:nvPr/>
        </p:nvSpPr>
        <p:spPr>
          <a:xfrm>
            <a:off x="4572000" y="1615478"/>
            <a:ext cx="8337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정렬 방식 </a:t>
            </a:r>
            <a:r>
              <a:rPr lang="en-US" altLang="ko-KR" sz="1200" dirty="0"/>
              <a:t>(collation)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정렬 방식 </a:t>
            </a:r>
            <a:r>
              <a:rPr lang="en-US" altLang="ko-KR" sz="1200" dirty="0"/>
              <a:t>(Collation)</a:t>
            </a:r>
            <a:r>
              <a:rPr lang="ko-KR" altLang="en-US" sz="1200" dirty="0"/>
              <a:t>은 지원 언어</a:t>
            </a:r>
            <a:r>
              <a:rPr lang="en-US" altLang="ko-KR" sz="1200" dirty="0"/>
              <a:t>, </a:t>
            </a:r>
            <a:r>
              <a:rPr lang="ko-KR" altLang="en-US" sz="1200" dirty="0"/>
              <a:t>정렬 순서</a:t>
            </a:r>
            <a:r>
              <a:rPr lang="en-US" altLang="ko-KR" sz="1200" dirty="0"/>
              <a:t>, </a:t>
            </a:r>
            <a:r>
              <a:rPr lang="ko-KR" altLang="en-US" sz="1200" dirty="0"/>
              <a:t>대소문자 구분</a:t>
            </a:r>
            <a:r>
              <a:rPr lang="en-US" altLang="ko-KR" sz="1200" dirty="0"/>
              <a:t>, </a:t>
            </a:r>
            <a:r>
              <a:rPr lang="ko-KR" altLang="en-US" sz="1200" dirty="0"/>
              <a:t>악센트 구분 등과 같은 </a:t>
            </a:r>
            <a:endParaRPr lang="en-US" altLang="ko-KR" sz="12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문자형 데이터에 대한 여러 측면을 포괄하는 특성입니다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1D637D85-4A1C-36A4-0EFF-4B4650291DA4}"/>
              </a:ext>
            </a:extLst>
          </p:cNvPr>
          <p:cNvCxnSpPr/>
          <p:nvPr/>
        </p:nvCxnSpPr>
        <p:spPr>
          <a:xfrm flipV="1">
            <a:off x="3489512" y="1980071"/>
            <a:ext cx="1075764" cy="521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08E3477-A424-89A0-1C39-36EFA31ADA87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8740588" y="2261809"/>
            <a:ext cx="753035" cy="84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DC2AD7D2-9014-6D99-A81F-07D94D0CD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983" y="4750105"/>
            <a:ext cx="6705598" cy="200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40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E1EAB2F-1658-C4F9-EBC9-2A087A20A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부서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사원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A08E09-C250-5F28-72FC-E7E9EF2A0D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Create Example 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3DA3895-B9A9-7CF5-65C7-B97F1C709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28" y="1868086"/>
            <a:ext cx="10609729" cy="652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 Unicode MS"/>
                <a:ea typeface="Fira Mono" panose="020B0509050000020004" pitchFamily="49" charset="0"/>
              </a:rPr>
              <a:t>CREATE TABLE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Fira Mono" panose="020B0509050000020004" pitchFamily="49" charset="0"/>
              </a:rPr>
              <a:t> DEPARTMENT ( NO </a:t>
            </a:r>
            <a:r>
              <a:rPr lang="en-US" altLang="ko-KR" sz="1000" dirty="0">
                <a:solidFill>
                  <a:schemeClr val="accent1"/>
                </a:solidFill>
                <a:latin typeface="Arial Unicode MS"/>
                <a:ea typeface="Fira Mono" panose="020B0509050000020004" pitchFamily="49" charset="0"/>
              </a:rPr>
              <a:t>integer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Fira Mono" panose="020B0509050000020004" pitchFamily="49" charset="0"/>
              </a:rPr>
              <a:t>, NAME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 Unicode MS"/>
                <a:ea typeface="Fira Mono" panose="020B0509050000020004" pitchFamily="49" charset="0"/>
              </a:rPr>
              <a:t> VARCHAR(3)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Fira Mono" panose="020B0509050000020004" pitchFamily="49" charset="0"/>
              </a:rPr>
              <a:t> );</a:t>
            </a:r>
            <a:r>
              <a:rPr kumimoji="0" lang="ko-KR" altLang="ko-KR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F9ABC1C-016A-F2FF-2224-DCB5F3121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28" y="3616886"/>
            <a:ext cx="9226896" cy="1237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 Unicode MS"/>
                <a:ea typeface="Fira Mono" panose="020B0509050000020004" pitchFamily="49" charset="0"/>
              </a:rPr>
              <a:t>CREATE TABLE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Fira Mono" panose="020B0509050000020004" pitchFamily="49" charset="0"/>
              </a:rPr>
              <a:t>EMPLOYEE (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Fira Mono" panose="020B050905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Fira Mono" panose="020B0509050000020004" pitchFamily="49" charset="0"/>
              </a:rPr>
              <a:t>NO 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 Unicode MS"/>
                <a:ea typeface="Fira Mono" panose="020B0509050000020004" pitchFamily="49" charset="0"/>
              </a:rPr>
              <a:t>INTEGER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 Unicode MS"/>
                <a:ea typeface="Fira Mono" panose="020B0509050000020004" pitchFamily="49" charset="0"/>
              </a:rPr>
              <a:t> PRIMARY KEY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Fira Mono" panose="020B0509050000020004" pitchFamily="49" charset="0"/>
              </a:rPr>
              <a:t>, 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Fira Mono" panose="020B050905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Fira Mono" panose="020B0509050000020004" pitchFamily="49" charset="0"/>
              </a:rPr>
              <a:t>NAME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 Unicode MS"/>
                <a:ea typeface="Fira Mono" panose="020B0509050000020004" pitchFamily="49" charset="0"/>
              </a:rPr>
              <a:t>VARCHAR(20)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Fira Mono" panose="020B0509050000020004" pitchFamily="49" charset="0"/>
              </a:rPr>
              <a:t>, 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Fira Mono" panose="020B050905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Fira Mono" panose="020B0509050000020004" pitchFamily="49" charset="0"/>
              </a:rPr>
              <a:t>DEPTNO 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 Unicode MS"/>
                <a:ea typeface="Fira Mono" panose="020B0509050000020004" pitchFamily="49" charset="0"/>
              </a:rPr>
              <a:t>INTEGER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Fira Mono" panose="020B0509050000020004" pitchFamily="49" charset="0"/>
              </a:rPr>
              <a:t>, 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Fira Mono" panose="020B050905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Fira Mono" panose="020B0509050000020004" pitchFamily="49" charset="0"/>
              </a:rPr>
              <a:t>POSITION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 Unicode MS"/>
                <a:ea typeface="Fira Mono" panose="020B0509050000020004" pitchFamily="49" charset="0"/>
              </a:rPr>
              <a:t>VARCHAR(10)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Fira Mono" panose="020B0509050000020004" pitchFamily="49" charset="0"/>
              </a:rPr>
              <a:t>, 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Fira Mono" panose="020B050905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Fira Mono" panose="020B0509050000020004" pitchFamily="49" charset="0"/>
              </a:rPr>
              <a:t>PAY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 Unicode MS"/>
                <a:ea typeface="Fira Mono" panose="020B0509050000020004" pitchFamily="49" charset="0"/>
              </a:rPr>
              <a:t> 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 Unicode MS"/>
                <a:ea typeface="Fira Mono" panose="020B0509050000020004" pitchFamily="49" charset="0"/>
              </a:rPr>
              <a:t>INTEGER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Fira Mono" panose="020B0509050000020004" pitchFamily="49" charset="0"/>
              </a:rPr>
              <a:t>, 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Fira Mono" panose="020B050905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Fira Mono" panose="020B0509050000020004" pitchFamily="49" charset="0"/>
              </a:rPr>
              <a:t>REGDATE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 Unicode MS"/>
                <a:ea typeface="Fira Mono" panose="020B0509050000020004" pitchFamily="49" charset="0"/>
              </a:rPr>
              <a:t>DATE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Fira Mono" panose="020B0509050000020004" pitchFamily="49" charset="0"/>
              </a:rPr>
              <a:t>);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13CCB7A-F16B-69E4-9A11-52AB9B6C0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461218"/>
              </p:ext>
            </p:extLst>
          </p:nvPr>
        </p:nvGraphicFramePr>
        <p:xfrm>
          <a:off x="3791294" y="3845579"/>
          <a:ext cx="7676778" cy="1472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9463">
                  <a:extLst>
                    <a:ext uri="{9D8B030D-6E8A-4147-A177-3AD203B41FA5}">
                      <a16:colId xmlns:a16="http://schemas.microsoft.com/office/drawing/2014/main" val="1917393678"/>
                    </a:ext>
                  </a:extLst>
                </a:gridCol>
                <a:gridCol w="1279463">
                  <a:extLst>
                    <a:ext uri="{9D8B030D-6E8A-4147-A177-3AD203B41FA5}">
                      <a16:colId xmlns:a16="http://schemas.microsoft.com/office/drawing/2014/main" val="3587010918"/>
                    </a:ext>
                  </a:extLst>
                </a:gridCol>
                <a:gridCol w="1279463">
                  <a:extLst>
                    <a:ext uri="{9D8B030D-6E8A-4147-A177-3AD203B41FA5}">
                      <a16:colId xmlns:a16="http://schemas.microsoft.com/office/drawing/2014/main" val="3998981390"/>
                    </a:ext>
                  </a:extLst>
                </a:gridCol>
                <a:gridCol w="1279463">
                  <a:extLst>
                    <a:ext uri="{9D8B030D-6E8A-4147-A177-3AD203B41FA5}">
                      <a16:colId xmlns:a16="http://schemas.microsoft.com/office/drawing/2014/main" val="2225188946"/>
                    </a:ext>
                  </a:extLst>
                </a:gridCol>
                <a:gridCol w="1279463">
                  <a:extLst>
                    <a:ext uri="{9D8B030D-6E8A-4147-A177-3AD203B41FA5}">
                      <a16:colId xmlns:a16="http://schemas.microsoft.com/office/drawing/2014/main" val="1137036235"/>
                    </a:ext>
                  </a:extLst>
                </a:gridCol>
                <a:gridCol w="1279463">
                  <a:extLst>
                    <a:ext uri="{9D8B030D-6E8A-4147-A177-3AD203B41FA5}">
                      <a16:colId xmlns:a16="http://schemas.microsoft.com/office/drawing/2014/main" val="32514679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사원 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부서번호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직급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급여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등록일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30719"/>
                  </a:ext>
                </a:extLst>
              </a:tr>
              <a:tr h="3598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A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9000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‘</a:t>
                      </a:r>
                      <a:r>
                        <a:rPr lang="ko-KR" altLang="en-US" sz="1600" dirty="0"/>
                        <a:t>대리</a:t>
                      </a:r>
                      <a:r>
                        <a:rPr lang="en-US" altLang="ko-KR" sz="1600" dirty="0"/>
                        <a:t>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10,000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2020-10-01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03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B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9100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‘</a:t>
                      </a:r>
                      <a:r>
                        <a:rPr lang="ko-KR" altLang="en-US" sz="1600" dirty="0"/>
                        <a:t>과장</a:t>
                      </a:r>
                      <a:r>
                        <a:rPr lang="en-US" altLang="ko-KR" sz="1600" dirty="0"/>
                        <a:t>’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20,000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2015-02-01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165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9200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‘</a:t>
                      </a:r>
                      <a:r>
                        <a:rPr lang="ko-KR" altLang="en-US" sz="1600" dirty="0"/>
                        <a:t>부장</a:t>
                      </a:r>
                      <a:r>
                        <a:rPr lang="en-US" altLang="ko-KR" sz="1600" dirty="0"/>
                        <a:t>’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30,000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2007-03-02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594144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232BE6D-7498-BD66-578C-158C6BC2A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133314"/>
              </p:ext>
            </p:extLst>
          </p:nvPr>
        </p:nvGraphicFramePr>
        <p:xfrm>
          <a:off x="6523318" y="1493487"/>
          <a:ext cx="2322286" cy="1472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9173936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587010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no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name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30719"/>
                  </a:ext>
                </a:extLst>
              </a:tr>
              <a:tr h="3598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9000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03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9100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운영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165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9200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전산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59414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D8D4D61-80BA-BC1A-E99E-582B723897E4}"/>
              </a:ext>
            </a:extLst>
          </p:cNvPr>
          <p:cNvSpPr txBox="1"/>
          <p:nvPr/>
        </p:nvSpPr>
        <p:spPr>
          <a:xfrm>
            <a:off x="6603844" y="1083597"/>
            <a:ext cx="2161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Table : department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26DC2D-CDA4-74BD-3534-BD792E96BB63}"/>
              </a:ext>
            </a:extLst>
          </p:cNvPr>
          <p:cNvSpPr txBox="1"/>
          <p:nvPr/>
        </p:nvSpPr>
        <p:spPr>
          <a:xfrm>
            <a:off x="6523318" y="3233684"/>
            <a:ext cx="1952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Table : employee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4149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DCD0C7B-4F0C-2917-09D3-27562D4EC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>
                <a:latin typeface="+mn-ea"/>
              </a:rPr>
              <a:t>부서에 해당하는 근무 지역을 추가하고 해당 지역은 </a:t>
            </a:r>
            <a:r>
              <a:rPr lang="en-US" altLang="ko-KR" sz="1800" dirty="0">
                <a:latin typeface="+mn-ea"/>
              </a:rPr>
              <a:t>‘</a:t>
            </a:r>
            <a:r>
              <a:rPr lang="ko-KR" altLang="en-US" sz="1800" dirty="0">
                <a:latin typeface="+mn-ea"/>
              </a:rPr>
              <a:t>부산</a:t>
            </a:r>
            <a:r>
              <a:rPr lang="en-US" altLang="ko-KR" sz="1800" dirty="0">
                <a:latin typeface="+mn-ea"/>
              </a:rPr>
              <a:t>‘,‘</a:t>
            </a:r>
            <a:r>
              <a:rPr lang="ko-KR" altLang="en-US" sz="1800" dirty="0">
                <a:latin typeface="+mn-ea"/>
              </a:rPr>
              <a:t>서울</a:t>
            </a:r>
            <a:r>
              <a:rPr lang="en-US" altLang="ko-KR" sz="1800" dirty="0">
                <a:latin typeface="+mn-ea"/>
              </a:rPr>
              <a:t>’,’</a:t>
            </a:r>
            <a:r>
              <a:rPr lang="ko-KR" altLang="en-US" sz="1800" dirty="0">
                <a:latin typeface="+mn-ea"/>
              </a:rPr>
              <a:t>대전</a:t>
            </a:r>
            <a:r>
              <a:rPr lang="en-US" altLang="ko-KR" sz="1800" dirty="0">
                <a:latin typeface="+mn-ea"/>
              </a:rPr>
              <a:t>’</a:t>
            </a:r>
            <a:r>
              <a:rPr lang="ko-KR" altLang="en-US" sz="1800" dirty="0">
                <a:latin typeface="+mn-ea"/>
              </a:rPr>
              <a:t>만 가능</a:t>
            </a:r>
            <a:r>
              <a:rPr lang="en-US" altLang="ko-KR" sz="1800" dirty="0">
                <a:latin typeface="+mn-ea"/>
              </a:rPr>
              <a:t>.</a:t>
            </a:r>
          </a:p>
          <a:p>
            <a:r>
              <a:rPr lang="ko-KR" altLang="en-US" sz="1800" dirty="0">
                <a:latin typeface="+mn-ea"/>
              </a:rPr>
              <a:t>부서명의 길이는 </a:t>
            </a:r>
            <a:r>
              <a:rPr lang="en-US" altLang="ko-KR" sz="1800" dirty="0">
                <a:latin typeface="+mn-ea"/>
              </a:rPr>
              <a:t>30 byte</a:t>
            </a:r>
            <a:r>
              <a:rPr lang="ko-KR" altLang="en-US" sz="1800" dirty="0">
                <a:latin typeface="+mn-ea"/>
              </a:rPr>
              <a:t>로 제한</a:t>
            </a:r>
            <a:r>
              <a:rPr lang="en-US" altLang="ko-KR" sz="1800" dirty="0">
                <a:latin typeface="+mn-ea"/>
              </a:rPr>
              <a:t>.</a:t>
            </a:r>
          </a:p>
          <a:p>
            <a:r>
              <a:rPr lang="ko-KR" altLang="en-US" sz="1800" dirty="0">
                <a:latin typeface="+mn-ea"/>
              </a:rPr>
              <a:t>부서명은 </a:t>
            </a:r>
            <a:r>
              <a:rPr lang="en-US" altLang="ko-KR" sz="1800" dirty="0">
                <a:latin typeface="+mn-ea"/>
              </a:rPr>
              <a:t>null</a:t>
            </a:r>
            <a:r>
              <a:rPr lang="ko-KR" altLang="en-US" sz="1800" dirty="0">
                <a:latin typeface="+mn-ea"/>
              </a:rPr>
              <a:t>값을 </a:t>
            </a:r>
            <a:r>
              <a:rPr lang="ko-KR" altLang="en-US" sz="1800" dirty="0" err="1">
                <a:latin typeface="+mn-ea"/>
              </a:rPr>
              <a:t>가질수</a:t>
            </a:r>
            <a:r>
              <a:rPr lang="ko-KR" altLang="en-US" sz="1800" dirty="0">
                <a:latin typeface="+mn-ea"/>
              </a:rPr>
              <a:t> 없으며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유일한 이름을 가짐</a:t>
            </a:r>
            <a:r>
              <a:rPr lang="en-US" altLang="ko-KR" sz="1800" dirty="0">
                <a:latin typeface="+mn-ea"/>
              </a:rPr>
              <a:t>.</a:t>
            </a:r>
          </a:p>
          <a:p>
            <a:endParaRPr lang="en-US" altLang="ko-KR" sz="1800" dirty="0">
              <a:latin typeface="+mn-ea"/>
            </a:endParaRPr>
          </a:p>
          <a:p>
            <a:r>
              <a:rPr lang="ko-KR" altLang="en-US" sz="1800" dirty="0">
                <a:latin typeface="+mn-ea"/>
              </a:rPr>
              <a:t>사원의 고유번호는 단 하나이며 </a:t>
            </a:r>
            <a:r>
              <a:rPr lang="en-US" altLang="ko-KR" sz="1800" dirty="0">
                <a:latin typeface="+mn-ea"/>
              </a:rPr>
              <a:t>NULL</a:t>
            </a:r>
            <a:r>
              <a:rPr lang="ko-KR" altLang="en-US" sz="1800" dirty="0">
                <a:latin typeface="+mn-ea"/>
              </a:rPr>
              <a:t>값이 </a:t>
            </a:r>
            <a:r>
              <a:rPr lang="ko-KR" altLang="en-US" sz="1800" dirty="0" err="1">
                <a:latin typeface="+mn-ea"/>
              </a:rPr>
              <a:t>있어선</a:t>
            </a:r>
            <a:r>
              <a:rPr lang="ko-KR" altLang="en-US" sz="1800" dirty="0">
                <a:latin typeface="+mn-ea"/>
              </a:rPr>
              <a:t> 안됨</a:t>
            </a:r>
            <a:r>
              <a:rPr lang="en-US" altLang="ko-KR" sz="1800" dirty="0">
                <a:latin typeface="+mn-ea"/>
              </a:rPr>
              <a:t>.</a:t>
            </a:r>
          </a:p>
          <a:p>
            <a:r>
              <a:rPr lang="ko-KR" altLang="en-US" sz="1800" dirty="0">
                <a:latin typeface="+mn-ea"/>
              </a:rPr>
              <a:t>사원의 직급은 </a:t>
            </a:r>
            <a:r>
              <a:rPr lang="en-US" altLang="ko-KR" sz="1800" dirty="0">
                <a:latin typeface="+mn-ea"/>
              </a:rPr>
              <a:t>‘</a:t>
            </a:r>
            <a:r>
              <a:rPr lang="ko-KR" altLang="en-US" sz="1800" dirty="0">
                <a:latin typeface="+mn-ea"/>
              </a:rPr>
              <a:t>대리</a:t>
            </a:r>
            <a:r>
              <a:rPr lang="en-US" altLang="ko-KR" sz="1800" dirty="0">
                <a:latin typeface="+mn-ea"/>
              </a:rPr>
              <a:t>‘,’</a:t>
            </a:r>
            <a:r>
              <a:rPr lang="ko-KR" altLang="en-US" sz="1800" dirty="0">
                <a:latin typeface="+mn-ea"/>
              </a:rPr>
              <a:t>과장</a:t>
            </a:r>
            <a:r>
              <a:rPr lang="en-US" altLang="ko-KR" sz="1800" dirty="0">
                <a:latin typeface="+mn-ea"/>
              </a:rPr>
              <a:t>‘,’</a:t>
            </a:r>
            <a:r>
              <a:rPr lang="ko-KR" altLang="en-US" sz="1800" dirty="0">
                <a:latin typeface="+mn-ea"/>
              </a:rPr>
              <a:t>부장</a:t>
            </a:r>
            <a:r>
              <a:rPr lang="en-US" altLang="ko-KR" sz="1800" dirty="0">
                <a:latin typeface="+mn-ea"/>
              </a:rPr>
              <a:t>‘,’</a:t>
            </a:r>
            <a:r>
              <a:rPr lang="ko-KR" altLang="en-US" sz="1800" dirty="0">
                <a:latin typeface="+mn-ea"/>
              </a:rPr>
              <a:t>차장</a:t>
            </a:r>
            <a:r>
              <a:rPr lang="en-US" altLang="ko-KR" sz="1800" dirty="0">
                <a:latin typeface="+mn-ea"/>
              </a:rPr>
              <a:t>＇</a:t>
            </a:r>
            <a:r>
              <a:rPr lang="ko-KR" altLang="en-US" sz="1800" dirty="0">
                <a:latin typeface="+mn-ea"/>
              </a:rPr>
              <a:t>만 을 가짐</a:t>
            </a:r>
            <a:r>
              <a:rPr lang="en-US" altLang="ko-KR" sz="1800" dirty="0">
                <a:latin typeface="+mn-ea"/>
              </a:rPr>
              <a:t>.</a:t>
            </a:r>
          </a:p>
          <a:p>
            <a:endParaRPr lang="en-US" altLang="ko-KR" sz="1800" dirty="0">
              <a:latin typeface="+mn-ea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1121C3-BBA9-7F36-BFA0-C4D1145C81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 err="1"/>
              <a:t>Contraint</a:t>
            </a:r>
            <a:r>
              <a:rPr lang="ko-KR" altLang="en-US" dirty="0"/>
              <a:t> </a:t>
            </a:r>
            <a:r>
              <a:rPr lang="en-US" altLang="ko-KR" dirty="0"/>
              <a:t>assumption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7425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BF16DC2-7136-B51F-D00A-2B35821B2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테이블에 데이터를 작성 </a:t>
            </a:r>
            <a:r>
              <a:rPr lang="en-US" altLang="ko-KR" sz="1800" dirty="0"/>
              <a:t>(</a:t>
            </a:r>
            <a:r>
              <a:rPr lang="ko-KR" altLang="en-US" sz="1800" dirty="0"/>
              <a:t>삽입</a:t>
            </a:r>
            <a:r>
              <a:rPr lang="en-US" altLang="ko-KR" sz="1800" dirty="0"/>
              <a:t>/</a:t>
            </a:r>
            <a:r>
              <a:rPr lang="ko-KR" altLang="en-US" sz="1800" dirty="0"/>
              <a:t>갱신</a:t>
            </a:r>
            <a:r>
              <a:rPr lang="en-US" altLang="ko-KR" sz="1800" dirty="0"/>
              <a:t>) </a:t>
            </a:r>
            <a:r>
              <a:rPr lang="ko-KR" altLang="en-US" sz="1800" dirty="0" err="1"/>
              <a:t>할때</a:t>
            </a:r>
            <a:r>
              <a:rPr lang="ko-KR" altLang="en-US" sz="1800" dirty="0"/>
              <a:t> 조건에 맞지 않는 데이터를 입력 시키지 않기 위한 구조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제약을 설정 </a:t>
            </a:r>
            <a:r>
              <a:rPr lang="ko-KR" altLang="en-US" sz="1800" dirty="0" err="1"/>
              <a:t>하는것으로</a:t>
            </a:r>
            <a:r>
              <a:rPr lang="ko-KR" altLang="en-US" sz="1800" dirty="0"/>
              <a:t> 데이터의 무결성을 가질 수 있음</a:t>
            </a:r>
            <a:r>
              <a:rPr lang="en-US" altLang="ko-KR" sz="1800" dirty="0"/>
              <a:t>.</a:t>
            </a:r>
          </a:p>
          <a:p>
            <a:r>
              <a:rPr lang="en-US" altLang="ko-KR" sz="1800" dirty="0"/>
              <a:t>Check constraints</a:t>
            </a:r>
          </a:p>
          <a:p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r>
              <a:rPr lang="en-US" altLang="ko-KR" sz="1800" dirty="0"/>
              <a:t>NOT null</a:t>
            </a:r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ko-KR" altLang="en-US" sz="1800" dirty="0"/>
          </a:p>
          <a:p>
            <a:pPr marL="0" indent="0">
              <a:buNone/>
            </a:pPr>
            <a:endParaRPr lang="ko-KR" altLang="en-US" sz="18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761C1-D1A5-2310-AB1D-291E8B49D3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 err="1"/>
              <a:t>Contraint</a:t>
            </a:r>
            <a:r>
              <a:rPr lang="en-US" altLang="ko-KR" dirty="0"/>
              <a:t> condition</a:t>
            </a:r>
            <a:endParaRPr lang="ko-KR" altLang="en-US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4D1D26AB-65AA-6F27-3948-29D4D40AC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688178"/>
              </p:ext>
            </p:extLst>
          </p:nvPr>
        </p:nvGraphicFramePr>
        <p:xfrm>
          <a:off x="770993" y="2314931"/>
          <a:ext cx="10515600" cy="13716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126081401"/>
                    </a:ext>
                  </a:extLst>
                </a:gridCol>
              </a:tblGrid>
              <a:tr h="590660">
                <a:tc>
                  <a:txBody>
                    <a:bodyPr/>
                    <a:lstStyle/>
                    <a:p>
                      <a:pPr algn="l" fontAlgn="base"/>
                      <a:endParaRPr lang="en-US" sz="1000" b="0" i="0" dirty="0">
                        <a:solidFill>
                          <a:srgbClr val="7030A0"/>
                        </a:solidFill>
                        <a:effectLst/>
                        <a:highlight>
                          <a:srgbClr val="FFFFFF"/>
                        </a:highlight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CREATE TABLE </a:t>
                      </a: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EMPLOYEE (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/>
                        <a:ea typeface="Fira Mono" panose="020B05090500000200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NO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INTEGER</a:t>
                      </a: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 PRIMARY KEY</a:t>
                      </a: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, 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/>
                        <a:ea typeface="Fira Mono" panose="020B05090500000200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NAME </a:t>
                      </a: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VARCHAR(20)</a:t>
                      </a: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, 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/>
                        <a:ea typeface="Fira Mono" panose="020B05090500000200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DEPTNO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INTEGER</a:t>
                      </a: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, 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/>
                        <a:ea typeface="Fira Mono" panose="020B05090500000200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POSITION </a:t>
                      </a: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VARCHAR(10)</a:t>
                      </a: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, 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/>
                        <a:ea typeface="Fira Mono" panose="020B05090500000200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PAY</a:t>
                      </a: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Integer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 CHECK (pay &gt; x)</a:t>
                      </a: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, 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/>
                        <a:ea typeface="Fira Mono" panose="020B05090500000200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REGDATE </a:t>
                      </a: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DATE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);</a:t>
                      </a:r>
                    </a:p>
                    <a:p>
                      <a:pPr algn="l" fontAlgn="base"/>
                      <a:endParaRPr lang="en-US" sz="1000" b="0" i="0" dirty="0">
                        <a:effectLst/>
                        <a:highlight>
                          <a:srgbClr val="FFFFFF"/>
                        </a:highlight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014195"/>
                  </a:ext>
                </a:extLst>
              </a:tr>
            </a:tbl>
          </a:graphicData>
        </a:graphic>
      </p:graphicFrame>
      <p:sp>
        <p:nvSpPr>
          <p:cNvPr id="22" name="Rectangle 2">
            <a:extLst>
              <a:ext uri="{FF2B5EF4-FFF2-40B4-BE49-F238E27FC236}">
                <a16:creationId xmlns:a16="http://schemas.microsoft.com/office/drawing/2014/main" id="{2F40C1A2-9DE4-D230-11EF-5F46D80DA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712" y="18437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877F023D-9E68-BE11-F9E1-A2F3D92A3E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563717"/>
              </p:ext>
            </p:extLst>
          </p:nvPr>
        </p:nvGraphicFramePr>
        <p:xfrm>
          <a:off x="641402" y="4416552"/>
          <a:ext cx="11550597" cy="1386840"/>
        </p:xfrm>
        <a:graphic>
          <a:graphicData uri="http://schemas.openxmlformats.org/drawingml/2006/table">
            <a:tbl>
              <a:tblPr/>
              <a:tblGrid>
                <a:gridCol w="11550597">
                  <a:extLst>
                    <a:ext uri="{9D8B030D-6E8A-4147-A177-3AD203B41FA5}">
                      <a16:colId xmlns:a16="http://schemas.microsoft.com/office/drawing/2014/main" val="4126081401"/>
                    </a:ext>
                  </a:extLst>
                </a:gridCol>
              </a:tblGrid>
              <a:tr h="389339">
                <a:tc>
                  <a:txBody>
                    <a:bodyPr/>
                    <a:lstStyle/>
                    <a:p>
                      <a:pPr algn="l" fontAlgn="base"/>
                      <a:endParaRPr lang="en-US" altLang="ko-KR" sz="1000" b="0" i="0" dirty="0">
                        <a:solidFill>
                          <a:srgbClr val="7030A0"/>
                        </a:solidFill>
                        <a:effectLst/>
                        <a:highlight>
                          <a:srgbClr val="FFFFFF"/>
                        </a:highlight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CREATE TABLE </a:t>
                      </a: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EMPLOYEE (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/>
                        <a:ea typeface="Fira Mono" panose="020B05090500000200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NO </a:t>
                      </a: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NUMBER PRIMARY KEY</a:t>
                      </a: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, 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/>
                        <a:ea typeface="Fira Mono" panose="020B05090500000200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NAME </a:t>
                      </a: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VARCHAR(20)</a:t>
                      </a: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, 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/>
                        <a:ea typeface="Fira Mono" panose="020B05090500000200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DEPTNO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INTEGER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NOT NULL</a:t>
                      </a: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, 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/>
                        <a:ea typeface="Fira Mono" panose="020B05090500000200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POSITION </a:t>
                      </a: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VARCHAR(10)</a:t>
                      </a: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, 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/>
                        <a:ea typeface="Fira Mono" panose="020B05090500000200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                    ...,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  <a:ea typeface="Fira Mono" panose="020B0509050000020004" pitchFamily="49" charset="0"/>
                        </a:rPr>
                        <a:t>);</a:t>
                      </a:r>
                    </a:p>
                    <a:p>
                      <a:pPr algn="l" fontAlgn="base"/>
                      <a:endParaRPr lang="en-US" altLang="ko-KR" sz="1000" b="0" i="0" dirty="0">
                        <a:effectLst/>
                        <a:highlight>
                          <a:srgbClr val="FFFFFF"/>
                        </a:highlight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014195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08C65B0-1EDC-6DFE-3EBB-076913C1C7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917377"/>
              </p:ext>
            </p:extLst>
          </p:nvPr>
        </p:nvGraphicFramePr>
        <p:xfrm>
          <a:off x="4233155" y="2136065"/>
          <a:ext cx="737123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615">
                  <a:extLst>
                    <a:ext uri="{9D8B030D-6E8A-4147-A177-3AD203B41FA5}">
                      <a16:colId xmlns:a16="http://schemas.microsoft.com/office/drawing/2014/main" val="2082923877"/>
                    </a:ext>
                  </a:extLst>
                </a:gridCol>
                <a:gridCol w="3685615">
                  <a:extLst>
                    <a:ext uri="{9D8B030D-6E8A-4147-A177-3AD203B41FA5}">
                      <a16:colId xmlns:a16="http://schemas.microsoft.com/office/drawing/2014/main" val="7447322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제약명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375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기본키</a:t>
                      </a:r>
                      <a:r>
                        <a:rPr lang="en-US" altLang="ko-KR" dirty="0"/>
                        <a:t>(Primary Key) </a:t>
                      </a:r>
                      <a:r>
                        <a:rPr lang="ko-KR" altLang="en-US" dirty="0"/>
                        <a:t>제약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Column </a:t>
                      </a:r>
                      <a:r>
                        <a:rPr lang="ko-KR" altLang="en-US" dirty="0"/>
                        <a:t>값은 반드시 </a:t>
                      </a:r>
                      <a:r>
                        <a:rPr lang="ko-KR" altLang="en-US" dirty="0" err="1"/>
                        <a:t>존재해야하며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유일해야함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618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고유키</a:t>
                      </a:r>
                      <a:r>
                        <a:rPr lang="en-US" altLang="ko-KR" dirty="0"/>
                        <a:t>(Unique Key) </a:t>
                      </a:r>
                      <a:r>
                        <a:rPr lang="ko-KR" altLang="en-US" dirty="0"/>
                        <a:t>제약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//</a:t>
                      </a:r>
                      <a:r>
                        <a:rPr lang="ko-KR" altLang="en-US" dirty="0">
                          <a:solidFill>
                            <a:srgbClr val="C00000"/>
                          </a:solidFill>
                        </a:rPr>
                        <a:t>기본키와 </a:t>
                      </a:r>
                      <a:r>
                        <a:rPr lang="ko-KR" altLang="en-US" dirty="0" err="1">
                          <a:solidFill>
                            <a:srgbClr val="C00000"/>
                          </a:solidFill>
                        </a:rPr>
                        <a:t>다른점</a:t>
                      </a:r>
                      <a:r>
                        <a:rPr lang="ko-KR" altLang="en-US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: null </a:t>
                      </a:r>
                      <a:r>
                        <a:rPr lang="ko-KR" altLang="en-US" dirty="0">
                          <a:solidFill>
                            <a:srgbClr val="C00000"/>
                          </a:solidFill>
                        </a:rPr>
                        <a:t>가능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중복값이</a:t>
                      </a:r>
                      <a:r>
                        <a:rPr lang="ko-KR" altLang="en-US" dirty="0"/>
                        <a:t> 금지됨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해당 컬럼은 유일한 값을 가짐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863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 </a:t>
                      </a:r>
                      <a:r>
                        <a:rPr lang="ko-KR" altLang="en-US" dirty="0"/>
                        <a:t>제약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NULL</a:t>
                      </a:r>
                      <a:r>
                        <a:rPr lang="ko-KR" altLang="en-US" dirty="0"/>
                        <a:t>값을 가지지 못함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093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CHECK </a:t>
                      </a:r>
                      <a:r>
                        <a:rPr lang="ko-KR" altLang="en-US" dirty="0"/>
                        <a:t>제약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해당 컬럼에 입력 할 수 있는 값의 범위 조건 지정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448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외부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참조키</a:t>
                      </a:r>
                      <a:r>
                        <a:rPr lang="en-US" altLang="ko-KR" dirty="0"/>
                        <a:t>(Foreign key) </a:t>
                      </a:r>
                      <a:r>
                        <a:rPr lang="ko-KR" altLang="en-US" dirty="0"/>
                        <a:t>제약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다른 테이블의 기본 키 또는 고유키 만을 참조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767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218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913B0E3-33CB-2A7A-1A4C-4AD6BA932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Unique key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Primary key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Foreign key</a:t>
            </a:r>
          </a:p>
          <a:p>
            <a:pPr lvl="1"/>
            <a:endParaRPr lang="en-US" altLang="ko-KR" dirty="0"/>
          </a:p>
          <a:p>
            <a:pPr marL="457200" lvl="1" indent="0">
              <a:buNone/>
            </a:pPr>
            <a:br>
              <a:rPr lang="ko-KR" altLang="en-US" dirty="0"/>
            </a:b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5E8638-14D3-3D77-6281-E5A9C1DE6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 err="1"/>
              <a:t>Contraint</a:t>
            </a:r>
            <a:r>
              <a:rPr lang="en-US" altLang="ko-KR" dirty="0"/>
              <a:t> condition</a:t>
            </a:r>
            <a:endParaRPr lang="ko-KR" alt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5272C74-4860-8F85-F237-B90C82C16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915" y="273582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B06EAD1-4E35-DF6A-66F1-EB5547F2B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984677"/>
              </p:ext>
            </p:extLst>
          </p:nvPr>
        </p:nvGraphicFramePr>
        <p:xfrm>
          <a:off x="900470" y="1839124"/>
          <a:ext cx="10515600" cy="6096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864016093"/>
                    </a:ext>
                  </a:extLst>
                </a:gridCol>
              </a:tblGrid>
              <a:tr h="59066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000" b="0" i="0" dirty="0">
                          <a:solidFill>
                            <a:srgbClr val="7030A0"/>
                          </a:solidFill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CREATE TABLE </a:t>
                      </a:r>
                      <a:r>
                        <a:rPr lang="en-US" sz="10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products (</a:t>
                      </a:r>
                    </a:p>
                    <a:p>
                      <a:pPr algn="l" fontAlgn="base"/>
                      <a:r>
                        <a:rPr lang="en-US" sz="10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US" sz="1000" b="0" i="0" dirty="0" err="1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product_no</a:t>
                      </a:r>
                      <a:r>
                        <a:rPr lang="en-US" sz="10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000" b="0" i="0" dirty="0">
                          <a:solidFill>
                            <a:schemeClr val="accent1"/>
                          </a:solidFill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integer</a:t>
                      </a:r>
                      <a:r>
                        <a:rPr lang="en-US" sz="10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000" b="0" i="0" dirty="0">
                          <a:solidFill>
                            <a:srgbClr val="7030A0"/>
                          </a:solidFill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UNIQUE</a:t>
                      </a:r>
                      <a:r>
                        <a:rPr lang="en-US" sz="10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,</a:t>
                      </a:r>
                    </a:p>
                    <a:p>
                      <a:pPr algn="l" fontAlgn="base"/>
                      <a:r>
                        <a:rPr lang="en-US" sz="10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    name </a:t>
                      </a:r>
                      <a:r>
                        <a:rPr lang="en-US" sz="1000" b="0" i="0" dirty="0">
                          <a:solidFill>
                            <a:schemeClr val="accent1"/>
                          </a:solidFill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text</a:t>
                      </a:r>
                      <a:r>
                        <a:rPr lang="en-US" sz="10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,</a:t>
                      </a:r>
                    </a:p>
                    <a:p>
                      <a:pPr algn="l" fontAlgn="base"/>
                      <a:r>
                        <a:rPr lang="en-US" sz="10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    price </a:t>
                      </a:r>
                      <a:r>
                        <a:rPr lang="en-US" sz="1000" b="0" i="0" dirty="0">
                          <a:solidFill>
                            <a:schemeClr val="accent1"/>
                          </a:solidFill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numeric</a:t>
                      </a:r>
                      <a:r>
                        <a:rPr lang="en-US" sz="10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);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131253"/>
                  </a:ext>
                </a:extLst>
              </a:tr>
            </a:tbl>
          </a:graphicData>
        </a:graphic>
      </p:graphicFrame>
      <p:sp>
        <p:nvSpPr>
          <p:cNvPr id="9" name="Rectangle 5">
            <a:extLst>
              <a:ext uri="{FF2B5EF4-FFF2-40B4-BE49-F238E27FC236}">
                <a16:creationId xmlns:a16="http://schemas.microsoft.com/office/drawing/2014/main" id="{D5D13CAD-8FF2-4242-805C-E8657A150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282019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514E169-257F-BB48-1EE6-05A1A5C90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749694"/>
              </p:ext>
            </p:extLst>
          </p:nvPr>
        </p:nvGraphicFramePr>
        <p:xfrm>
          <a:off x="838200" y="3542019"/>
          <a:ext cx="10515600" cy="6096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864016093"/>
                    </a:ext>
                  </a:extLst>
                </a:gridCol>
              </a:tblGrid>
              <a:tr h="56930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000" b="0" i="0" dirty="0">
                          <a:solidFill>
                            <a:srgbClr val="7224AC"/>
                          </a:solidFill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CREATE TABLE </a:t>
                      </a:r>
                      <a:r>
                        <a:rPr lang="en-US" sz="10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products (</a:t>
                      </a:r>
                    </a:p>
                    <a:p>
                      <a:pPr algn="l" fontAlgn="base"/>
                      <a:r>
                        <a:rPr lang="en-US" sz="10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US" sz="1000" b="0" i="0" dirty="0" err="1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product_no</a:t>
                      </a:r>
                      <a:r>
                        <a:rPr lang="en-US" sz="10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000" b="0" i="0" dirty="0">
                          <a:solidFill>
                            <a:schemeClr val="accent1"/>
                          </a:solidFill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integer</a:t>
                      </a:r>
                      <a:r>
                        <a:rPr lang="en-US" sz="10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000" b="0" i="0" dirty="0">
                          <a:solidFill>
                            <a:srgbClr val="7030A0"/>
                          </a:solidFill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PRIMARY KEY</a:t>
                      </a:r>
                      <a:r>
                        <a:rPr lang="en-US" sz="10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,</a:t>
                      </a:r>
                    </a:p>
                    <a:p>
                      <a:pPr algn="l" fontAlgn="base"/>
                      <a:r>
                        <a:rPr lang="en-US" sz="10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    name </a:t>
                      </a:r>
                      <a:r>
                        <a:rPr lang="en-US" sz="1000" b="0" i="0" dirty="0">
                          <a:solidFill>
                            <a:schemeClr val="accent1"/>
                          </a:solidFill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text</a:t>
                      </a:r>
                      <a:r>
                        <a:rPr lang="en-US" sz="10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,</a:t>
                      </a:r>
                    </a:p>
                    <a:p>
                      <a:pPr algn="l" fontAlgn="base"/>
                      <a:r>
                        <a:rPr lang="en-US" sz="10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    price </a:t>
                      </a:r>
                      <a:r>
                        <a:rPr lang="en-US" sz="1000" b="0" i="0" dirty="0">
                          <a:solidFill>
                            <a:schemeClr val="accent1"/>
                          </a:solidFill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numeric</a:t>
                      </a:r>
                      <a:r>
                        <a:rPr lang="en-US" sz="10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);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13125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609EE22-63EE-D10D-1B2B-71F9F7311240}"/>
              </a:ext>
            </a:extLst>
          </p:cNvPr>
          <p:cNvSpPr txBox="1"/>
          <p:nvPr/>
        </p:nvSpPr>
        <p:spPr>
          <a:xfrm>
            <a:off x="723899" y="5309067"/>
            <a:ext cx="697454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CREATE TABLE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products (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a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integer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7224AC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PRIMARY KEY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b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integer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c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integer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FOREIGN KEY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(b, c) REFERENCES products2 (c1, c2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  <a:r>
              <a:rPr kumimoji="0" lang="it-IT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 DELETE CASCADE ON UPDATE CASCADE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9CCCF0-635B-17B1-E329-7B2A6DA9CDE7}"/>
              </a:ext>
            </a:extLst>
          </p:cNvPr>
          <p:cNvSpPr txBox="1"/>
          <p:nvPr/>
        </p:nvSpPr>
        <p:spPr>
          <a:xfrm>
            <a:off x="4211169" y="1959914"/>
            <a:ext cx="732309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Primarykey</a:t>
            </a:r>
            <a:r>
              <a:rPr lang="ko-KR" altLang="en-US" dirty="0"/>
              <a:t>와 </a:t>
            </a:r>
            <a:r>
              <a:rPr lang="en-US" altLang="ko-KR" dirty="0"/>
              <a:t>unique key</a:t>
            </a:r>
            <a:r>
              <a:rPr lang="ko-KR" altLang="en-US" dirty="0"/>
              <a:t>는 공통적으로 값 중복을 허용하지 않음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Primarykey</a:t>
            </a:r>
            <a:r>
              <a:rPr lang="en-US" altLang="ko-KR" dirty="0"/>
              <a:t> </a:t>
            </a:r>
            <a:r>
              <a:rPr lang="ko-KR" altLang="en-US" dirty="0"/>
              <a:t>는 한테이블에서 한 개만 </a:t>
            </a:r>
            <a:r>
              <a:rPr lang="ko-KR" altLang="en-US" dirty="0" err="1"/>
              <a:t>생성가능하며</a:t>
            </a:r>
            <a:r>
              <a:rPr lang="ko-KR" altLang="en-US" dirty="0"/>
              <a:t> </a:t>
            </a:r>
            <a:r>
              <a:rPr lang="ko-KR" altLang="en-US" dirty="0" err="1"/>
              <a:t>식별을위한</a:t>
            </a:r>
            <a:r>
              <a:rPr lang="ko-KR" altLang="en-US" dirty="0"/>
              <a:t> 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Unique null</a:t>
            </a:r>
            <a:r>
              <a:rPr lang="ko-KR" altLang="en-US" dirty="0" err="1"/>
              <a:t>값을허용하며</a:t>
            </a:r>
            <a:r>
              <a:rPr lang="ko-KR" altLang="en-US" dirty="0"/>
              <a:t> 한 테이블에서 </a:t>
            </a:r>
            <a:r>
              <a:rPr lang="ko-KR" altLang="en-US" dirty="0" err="1"/>
              <a:t>여러개</a:t>
            </a:r>
            <a:r>
              <a:rPr lang="ko-KR" altLang="en-US" dirty="0"/>
              <a:t> 생성가능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3460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E02C153-E924-24DF-C2E8-32A0CB3D6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Not</a:t>
            </a:r>
            <a:r>
              <a:rPr lang="ko-KR" altLang="en-US" dirty="0"/>
              <a:t> </a:t>
            </a:r>
            <a:r>
              <a:rPr lang="en-US" altLang="ko-KR" dirty="0"/>
              <a:t>null</a:t>
            </a:r>
            <a:r>
              <a:rPr lang="ko-KR" altLang="en-US" dirty="0"/>
              <a:t> </a:t>
            </a:r>
            <a:r>
              <a:rPr lang="en-US" altLang="ko-KR" dirty="0"/>
              <a:t>and</a:t>
            </a:r>
            <a:r>
              <a:rPr lang="ko-KR" altLang="en-US" dirty="0"/>
              <a:t> </a:t>
            </a:r>
            <a:r>
              <a:rPr lang="en-US" altLang="ko-KR" dirty="0"/>
              <a:t>unique constraints example.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C9D500-A01C-8FB7-374B-333B2C642A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CREATE Table with</a:t>
            </a:r>
            <a:r>
              <a:rPr lang="ko-KR" altLang="en-US" dirty="0"/>
              <a:t> </a:t>
            </a:r>
            <a:r>
              <a:rPr lang="en-US" altLang="ko-KR" dirty="0"/>
              <a:t>constraints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447E9A1-5B34-FA9A-AC6C-C68722404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85" y="1939266"/>
            <a:ext cx="6817344" cy="315427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1A9B3A9-54FD-314E-FCDF-02BBA724B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557" y="1939266"/>
            <a:ext cx="6817344" cy="308993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D93C93D-115C-4F09-35F9-3AABD4A4D24D}"/>
              </a:ext>
            </a:extLst>
          </p:cNvPr>
          <p:cNvSpPr/>
          <p:nvPr/>
        </p:nvSpPr>
        <p:spPr>
          <a:xfrm>
            <a:off x="974912" y="4699747"/>
            <a:ext cx="1788459" cy="1613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50B362-41E9-E282-7527-F914F1BB9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045" y="3313530"/>
            <a:ext cx="976714" cy="17070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195EBB9-8C85-5F8C-B2A7-A7022C357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5719" y="4217707"/>
            <a:ext cx="3515552" cy="27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368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A3BF49D-5012-1112-3BD0-58AA836FC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 Unicode MS"/>
              </a:rPr>
              <a:t>이미 생성된 테이블에 대해서 제약 조건을 추가 하고싶다면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제약 조건 추가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2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7224AC"/>
                </a:solidFill>
                <a:effectLst/>
                <a:latin typeface="Arial Unicode MS"/>
              </a:rPr>
              <a:t>ALTER TABLE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table_name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7224AC"/>
                </a:solidFill>
                <a:effectLst/>
                <a:latin typeface="Arial Unicode MS"/>
              </a:rPr>
              <a:t>ADD CONSTRAINT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record_pk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7224AC"/>
                </a:solidFill>
                <a:effectLst/>
                <a:latin typeface="Arial Unicode MS"/>
              </a:rPr>
              <a:t>PRIMARY KEY(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 Unicode MS"/>
              </a:rPr>
              <a:t>record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</a:p>
          <a:p>
            <a:pPr lvl="2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2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7224AC"/>
                </a:solidFill>
                <a:effectLst/>
                <a:latin typeface="Arial Unicode MS"/>
              </a:rPr>
              <a:t>ALTER TABLE </a:t>
            </a: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table_name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7224AC"/>
                </a:solidFill>
                <a:effectLst/>
                <a:latin typeface="Arial Unicode MS"/>
              </a:rPr>
              <a:t>ADD CONSTRAINT </a:t>
            </a: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record_fk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7224AC"/>
                </a:solidFill>
                <a:effectLst/>
                <a:latin typeface="Arial Unicode MS"/>
              </a:rPr>
              <a:t>FOREIGN KEY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 Unicode MS"/>
              </a:rPr>
              <a:t>record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7224AC"/>
                </a:solidFill>
                <a:effectLst/>
                <a:latin typeface="Arial Unicode MS"/>
              </a:rPr>
              <a:t>REFERENCES </a:t>
            </a: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another_table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(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 Unicode MS"/>
              </a:rPr>
              <a:t>record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</a:p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ECA445-2858-17F4-5F85-C2A0215F1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제약 조건 변경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B45D8ED-0710-34BC-10E6-7BC23878D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937" y="2983989"/>
            <a:ext cx="6430272" cy="169568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CE053C2-E890-E979-5891-A5EEDBC4B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37" y="4862171"/>
            <a:ext cx="10812384" cy="178142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FB898EA-9BB7-1D40-D77A-5313CE302087}"/>
              </a:ext>
            </a:extLst>
          </p:cNvPr>
          <p:cNvSpPr/>
          <p:nvPr/>
        </p:nvSpPr>
        <p:spPr>
          <a:xfrm>
            <a:off x="732865" y="2983989"/>
            <a:ext cx="4094629" cy="9761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8942AE-47A6-74F1-AE6B-B349DE4E86C6}"/>
              </a:ext>
            </a:extLst>
          </p:cNvPr>
          <p:cNvSpPr/>
          <p:nvPr/>
        </p:nvSpPr>
        <p:spPr>
          <a:xfrm>
            <a:off x="732865" y="4776713"/>
            <a:ext cx="4094629" cy="9761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8D4149-0DA5-99FF-81D5-0E305F325B5D}"/>
              </a:ext>
            </a:extLst>
          </p:cNvPr>
          <p:cNvSpPr/>
          <p:nvPr/>
        </p:nvSpPr>
        <p:spPr>
          <a:xfrm>
            <a:off x="732815" y="4063265"/>
            <a:ext cx="6172250" cy="6164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881C5CC-4702-0BFF-FD22-DE3B0A50157B}"/>
              </a:ext>
            </a:extLst>
          </p:cNvPr>
          <p:cNvSpPr/>
          <p:nvPr/>
        </p:nvSpPr>
        <p:spPr>
          <a:xfrm>
            <a:off x="732814" y="6002945"/>
            <a:ext cx="10004661" cy="6164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268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F4FB8D60-44A2-F2D2-D191-09C07F18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905" y="4591899"/>
            <a:ext cx="6091518" cy="1943371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0B49B5-0096-FC3D-B4F7-0FC10C3953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제약 조건 변경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23A57E4-EC44-AE63-6CAE-0F949983A5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9836" y="1120676"/>
            <a:ext cx="1108361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 Unicode MS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 Unicode MS"/>
              </a:rPr>
              <a:t>제약</a:t>
            </a:r>
            <a:r>
              <a:rPr lang="en-US" altLang="ko-KR" sz="1600" dirty="0">
                <a:latin typeface="Arial Unicode MS"/>
              </a:rPr>
              <a:t> </a:t>
            </a:r>
            <a:r>
              <a:rPr lang="ko-KR" altLang="en-US" sz="1600" dirty="0">
                <a:latin typeface="Arial Unicode MS"/>
              </a:rPr>
              <a:t>조건 삭제</a:t>
            </a:r>
            <a:endParaRPr lang="en-US" altLang="ko-KR" sz="1600" dirty="0">
              <a:latin typeface="Arial Unicode MS"/>
            </a:endParaRPr>
          </a:p>
          <a:p>
            <a:pPr lvl="2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2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7224AC"/>
                </a:solidFill>
                <a:effectLst/>
                <a:latin typeface="Arial Unicode MS"/>
              </a:rPr>
              <a:t>ALTER TABLE </a:t>
            </a: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table_name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lang="en-US" altLang="ko-KR" sz="1600" dirty="0">
                <a:solidFill>
                  <a:srgbClr val="7224AC"/>
                </a:solidFill>
                <a:latin typeface="Arial Unicode MS"/>
              </a:rPr>
              <a:t>DROP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7224AC"/>
                </a:solidFill>
                <a:effectLst/>
                <a:latin typeface="Arial Unicode MS"/>
              </a:rPr>
              <a:t> CONSTRAINT</a:t>
            </a:r>
            <a:r>
              <a:rPr lang="en-US" altLang="ko-KR" sz="1600" dirty="0">
                <a:solidFill>
                  <a:srgbClr val="7224AC"/>
                </a:solidFill>
                <a:latin typeface="Arial Unicode MS"/>
              </a:rPr>
              <a:t> </a:t>
            </a:r>
            <a:r>
              <a:rPr lang="en-US" altLang="ko-KR" sz="1600" dirty="0" err="1">
                <a:latin typeface="Arial Unicode MS"/>
              </a:rPr>
              <a:t>record_pk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</a:p>
          <a:p>
            <a:pPr lvl="2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2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7224AC"/>
                </a:solidFill>
                <a:effectLst/>
                <a:latin typeface="Arial Unicode MS"/>
              </a:rPr>
              <a:t>ALTER TABLE </a:t>
            </a: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table_name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7224AC"/>
                </a:solidFill>
                <a:effectLst/>
                <a:latin typeface="Arial Unicode MS"/>
              </a:rPr>
              <a:t>DROP CONSTRAINT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record_fk</a:t>
            </a:r>
            <a:r>
              <a:rPr lang="en-US" altLang="ko-KR" sz="1600" dirty="0">
                <a:latin typeface="Arial Unicode MS"/>
              </a:rPr>
              <a:t>;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 Unicode MS"/>
            </a:endParaRPr>
          </a:p>
          <a:p>
            <a:pPr lvl="2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 Unicode MS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12454-3C5E-5597-B256-70E3E9D84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905" y="2828921"/>
            <a:ext cx="5939601" cy="163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520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1C806B7-649B-1D35-45EB-1F8BF3D0D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테이블 변경 </a:t>
            </a:r>
            <a:r>
              <a:rPr lang="en-US" altLang="ko-KR" sz="1800" dirty="0"/>
              <a:t>Syntax</a:t>
            </a:r>
          </a:p>
          <a:p>
            <a:endParaRPr lang="en-US" altLang="ko-KR" sz="1800" dirty="0"/>
          </a:p>
          <a:p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r>
              <a:rPr lang="ko-KR" altLang="en-US" sz="1800" dirty="0"/>
              <a:t>컬럼을 추가할 때는 </a:t>
            </a:r>
            <a:r>
              <a:rPr lang="en-US" altLang="ko-KR" sz="1800" dirty="0"/>
              <a:t>ADD </a:t>
            </a:r>
          </a:p>
          <a:p>
            <a:pPr lvl="1"/>
            <a:r>
              <a:rPr lang="ko-KR" altLang="en-US" sz="1800" dirty="0"/>
              <a:t>컬럼을 삭제할 때는 </a:t>
            </a:r>
            <a:r>
              <a:rPr lang="en-US" altLang="ko-KR" sz="1800" dirty="0"/>
              <a:t>DROP</a:t>
            </a:r>
          </a:p>
          <a:p>
            <a:pPr lvl="1"/>
            <a:r>
              <a:rPr lang="ko-KR" altLang="en-US" sz="1800" dirty="0"/>
              <a:t>존재하는 컬럼의 데이터 타입을 변경할 때는 </a:t>
            </a:r>
            <a:r>
              <a:rPr lang="en-US" altLang="ko-KR" sz="1800" dirty="0"/>
              <a:t>ALTER</a:t>
            </a:r>
          </a:p>
          <a:p>
            <a:pPr lvl="1"/>
            <a:r>
              <a:rPr lang="ko-KR" altLang="en-US" sz="1800" dirty="0">
                <a:solidFill>
                  <a:schemeClr val="accent4">
                    <a:lumMod val="75000"/>
                  </a:schemeClr>
                </a:solidFill>
              </a:rPr>
              <a:t>테이블을 다른 </a:t>
            </a:r>
            <a:r>
              <a:rPr lang="en-US" altLang="ko-KR" sz="1800" dirty="0">
                <a:solidFill>
                  <a:schemeClr val="accent4">
                    <a:lumMod val="75000"/>
                  </a:schemeClr>
                </a:solidFill>
              </a:rPr>
              <a:t>TABLESPACE</a:t>
            </a:r>
            <a:r>
              <a:rPr lang="ko-KR" altLang="en-US" sz="1800" dirty="0">
                <a:solidFill>
                  <a:schemeClr val="accent4">
                    <a:lumMod val="75000"/>
                  </a:schemeClr>
                </a:solidFill>
              </a:rPr>
              <a:t>나 </a:t>
            </a:r>
            <a:r>
              <a:rPr lang="en-US" altLang="ko-KR" sz="1800" dirty="0">
                <a:solidFill>
                  <a:schemeClr val="accent4">
                    <a:lumMod val="75000"/>
                  </a:schemeClr>
                </a:solidFill>
              </a:rPr>
              <a:t>SCHEMA</a:t>
            </a:r>
            <a:r>
              <a:rPr lang="ko-KR" altLang="en-US" sz="1800" dirty="0">
                <a:solidFill>
                  <a:schemeClr val="accent4">
                    <a:lumMod val="75000"/>
                  </a:schemeClr>
                </a:solidFill>
              </a:rPr>
              <a:t>로 이동시킬 때는 </a:t>
            </a:r>
            <a:r>
              <a:rPr lang="en-US" altLang="ko-KR" sz="1800" dirty="0">
                <a:solidFill>
                  <a:schemeClr val="accent4">
                    <a:lumMod val="75000"/>
                  </a:schemeClr>
                </a:solidFill>
              </a:rPr>
              <a:t>SET </a:t>
            </a:r>
          </a:p>
          <a:p>
            <a:pPr lvl="1"/>
            <a:r>
              <a:rPr lang="ko-KR" altLang="en-US" sz="1800" dirty="0">
                <a:solidFill>
                  <a:schemeClr val="accent4">
                    <a:lumMod val="75000"/>
                  </a:schemeClr>
                </a:solidFill>
              </a:rPr>
              <a:t>테이블</a:t>
            </a:r>
            <a:r>
              <a:rPr lang="en-US" altLang="ko-KR" sz="1800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ko-KR" altLang="en-US" sz="1800" dirty="0">
                <a:solidFill>
                  <a:schemeClr val="accent4">
                    <a:lumMod val="75000"/>
                  </a:schemeClr>
                </a:solidFill>
              </a:rPr>
              <a:t>컬럼</a:t>
            </a:r>
            <a:r>
              <a:rPr lang="en-US" altLang="ko-KR" sz="1800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ko-KR" altLang="en-US" sz="1800" dirty="0">
                <a:solidFill>
                  <a:schemeClr val="accent4">
                    <a:lumMod val="75000"/>
                  </a:schemeClr>
                </a:solidFill>
              </a:rPr>
              <a:t>제약조건의 이름을 변경할 때는 </a:t>
            </a:r>
            <a:r>
              <a:rPr lang="en-US" altLang="ko-KR" sz="1800" dirty="0">
                <a:solidFill>
                  <a:schemeClr val="accent4">
                    <a:lumMod val="75000"/>
                  </a:schemeClr>
                </a:solidFill>
              </a:rPr>
              <a:t>RENAME </a:t>
            </a:r>
            <a:r>
              <a:rPr lang="ko-KR" altLang="en-US" sz="1800" dirty="0">
                <a:solidFill>
                  <a:schemeClr val="accent4">
                    <a:lumMod val="75000"/>
                  </a:schemeClr>
                </a:solidFill>
              </a:rPr>
              <a:t>사용</a:t>
            </a:r>
            <a:r>
              <a:rPr lang="en-US" altLang="ko-KR" sz="1800" dirty="0">
                <a:solidFill>
                  <a:schemeClr val="accent4">
                    <a:lumMod val="75000"/>
                  </a:schemeClr>
                </a:solidFill>
              </a:rPr>
              <a:t>.</a:t>
            </a:r>
          </a:p>
          <a:p>
            <a:pPr lvl="1"/>
            <a:endParaRPr lang="en-US" altLang="ko-KR" sz="1800" dirty="0"/>
          </a:p>
          <a:p>
            <a:pPr lvl="1"/>
            <a:r>
              <a:rPr lang="ko-KR" altLang="en-US" sz="1800" dirty="0"/>
              <a:t>테이블에 변경할 컬럼 이름을 </a:t>
            </a:r>
            <a:r>
              <a:rPr lang="en-US" altLang="ko-KR" sz="1800" dirty="0" err="1"/>
              <a:t>column_name</a:t>
            </a:r>
            <a:r>
              <a:rPr lang="ko-KR" altLang="en-US" sz="1800" dirty="0"/>
              <a:t>에 넣고 컬럼의 데이터 타입을 </a:t>
            </a:r>
            <a:r>
              <a:rPr lang="en-US" altLang="ko-KR" sz="1800" dirty="0" err="1"/>
              <a:t>data_type</a:t>
            </a:r>
            <a:r>
              <a:rPr lang="ko-KR" altLang="en-US" sz="1800" dirty="0"/>
              <a:t>에 삽입</a:t>
            </a:r>
            <a:r>
              <a:rPr lang="en-US" altLang="ko-KR" sz="1800" dirty="0"/>
              <a:t>.</a:t>
            </a:r>
          </a:p>
          <a:p>
            <a:pPr lvl="1"/>
            <a:r>
              <a:rPr lang="en-US" altLang="ko-KR" sz="1800" dirty="0" err="1"/>
              <a:t>column_constraint</a:t>
            </a:r>
            <a:r>
              <a:rPr lang="ko-KR" altLang="en-US" sz="1800" dirty="0"/>
              <a:t>에 변경할 컬럼의 제약 조건 삽입</a:t>
            </a:r>
            <a:r>
              <a:rPr lang="en-US" altLang="ko-KR" sz="1800" dirty="0"/>
              <a:t>.</a:t>
            </a:r>
          </a:p>
          <a:p>
            <a:pPr marL="457200" lvl="1" indent="0">
              <a:buNone/>
            </a:pPr>
            <a:endParaRPr lang="en-US" altLang="ko-KR" sz="1800" dirty="0"/>
          </a:p>
          <a:p>
            <a:endParaRPr lang="en-US" altLang="ko-KR" sz="1800" dirty="0"/>
          </a:p>
          <a:p>
            <a:endParaRPr lang="ko-KR" altLang="en-US" sz="18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E999BC-059F-1AF4-68F1-45FD75F8CC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ALTER TABLE</a:t>
            </a:r>
            <a:endParaRPr lang="ko-KR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9BFA89-D099-2CCA-A2CD-F99565801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365" y="1632267"/>
            <a:ext cx="106671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ALTER TABLE </a:t>
            </a:r>
            <a:r>
              <a:rPr kumimoji="0" lang="en-US" altLang="ko-KR" sz="14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table_name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|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DROP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|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|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|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RENAME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ko-KR" sz="14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column_name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ko-KR" sz="14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data_type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[ 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COLLATE collation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] [ </a:t>
            </a:r>
            <a:r>
              <a:rPr kumimoji="0" lang="en-US" altLang="ko-KR" sz="1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column_constraint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[ ... ] ];</a:t>
            </a:r>
            <a:endParaRPr kumimoji="0" lang="ko-KR" altLang="ko-KR" sz="3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882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E25A738E-C122-B87D-207D-6B75E201E2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0537707"/>
              </p:ext>
            </p:extLst>
          </p:nvPr>
        </p:nvGraphicFramePr>
        <p:xfrm>
          <a:off x="775872" y="2727875"/>
          <a:ext cx="11339513" cy="457200"/>
        </p:xfrm>
        <a:graphic>
          <a:graphicData uri="http://schemas.openxmlformats.org/drawingml/2006/table">
            <a:tbl>
              <a:tblPr/>
              <a:tblGrid>
                <a:gridCol w="11339513">
                  <a:extLst>
                    <a:ext uri="{9D8B030D-6E8A-4147-A177-3AD203B41FA5}">
                      <a16:colId xmlns:a16="http://schemas.microsoft.com/office/drawing/2014/main" val="3354025003"/>
                    </a:ext>
                  </a:extLst>
                </a:gridCol>
              </a:tblGrid>
              <a:tr h="413525">
                <a:tc>
                  <a:txBody>
                    <a:bodyPr/>
                    <a:lstStyle/>
                    <a:p>
                      <a:pPr algn="l" fontAlgn="base"/>
                      <a:br>
                        <a:rPr lang="en-US" sz="1000" b="1" i="0" dirty="0">
                          <a:effectLst/>
                          <a:highlight>
                            <a:srgbClr val="FFFFFF"/>
                          </a:highlight>
                          <a:latin typeface="나눔고딕" pitchFamily="2" charset="-127"/>
                          <a:ea typeface="나눔고딕" pitchFamily="2" charset="-127"/>
                        </a:rPr>
                      </a:br>
                      <a:r>
                        <a:rPr lang="en-US" sz="1000" b="1" i="0" dirty="0">
                          <a:solidFill>
                            <a:srgbClr val="7030A0"/>
                          </a:solidFill>
                          <a:effectLst/>
                          <a:highlight>
                            <a:srgbClr val="FFFFFF"/>
                          </a:highlight>
                          <a:latin typeface="나눔고딕" pitchFamily="2" charset="-127"/>
                          <a:ea typeface="나눔고딕" pitchFamily="2" charset="-127"/>
                        </a:rPr>
                        <a:t>ALTER TABLE </a:t>
                      </a:r>
                      <a:r>
                        <a:rPr lang="en-US" altLang="ko-KR" sz="1000" b="1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나눔고딕" pitchFamily="2" charset="-127"/>
                          <a:ea typeface="나눔고딕" pitchFamily="2" charset="-127"/>
                        </a:rPr>
                        <a:t>employee</a:t>
                      </a:r>
                      <a:r>
                        <a:rPr lang="en-US" sz="1000" b="1" i="0" dirty="0">
                          <a:effectLst/>
                          <a:highlight>
                            <a:srgbClr val="FFFFFF"/>
                          </a:highlight>
                          <a:latin typeface="나눔고딕" pitchFamily="2" charset="-127"/>
                          <a:ea typeface="나눔고딕" pitchFamily="2" charset="-127"/>
                        </a:rPr>
                        <a:t>    </a:t>
                      </a:r>
                    </a:p>
                    <a:p>
                      <a:pPr algn="l" fontAlgn="base"/>
                      <a:r>
                        <a:rPr lang="en-US" sz="1000" b="1" i="0" dirty="0">
                          <a:solidFill>
                            <a:srgbClr val="7030A0"/>
                          </a:solidFill>
                          <a:effectLst/>
                          <a:highlight>
                            <a:srgbClr val="FFFFFF"/>
                          </a:highlight>
                          <a:latin typeface="나눔고딕" pitchFamily="2" charset="-127"/>
                          <a:ea typeface="나눔고딕" pitchFamily="2" charset="-127"/>
                        </a:rPr>
                        <a:t>RENAME   COLUMN  </a:t>
                      </a:r>
                      <a:r>
                        <a:rPr lang="en-US" sz="1000" b="1" i="0" dirty="0">
                          <a:effectLst/>
                          <a:highlight>
                            <a:srgbClr val="FFFFFF"/>
                          </a:highlight>
                          <a:latin typeface="나눔고딕" pitchFamily="2" charset="-127"/>
                          <a:ea typeface="나눔고딕" pitchFamily="2" charset="-127"/>
                        </a:rPr>
                        <a:t>  address   TO   city;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3812701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0E14AD-A71A-2A6D-28BB-6842C3C0E5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ALTER TABLE Example</a:t>
            </a:r>
            <a:endParaRPr lang="ko-KR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67C7BF-EFE2-56FD-3E8A-18768789E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872" y="1827612"/>
            <a:ext cx="227305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ALTER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TABLE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employee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    </a:t>
            </a:r>
            <a:endParaRPr kumimoji="0" lang="en-US" altLang="ko-KR" sz="1000" b="1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ADD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COLUMN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 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address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    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나눔고딕" pitchFamily="2" charset="-127"/>
                <a:ea typeface="나눔고딕" pitchFamily="2" charset="-127"/>
              </a:rPr>
              <a:t>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나눔고딕" pitchFamily="2" charset="-127"/>
                <a:ea typeface="나눔고딕" pitchFamily="2" charset="-127"/>
              </a:rPr>
              <a:t>varchar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(50);</a:t>
            </a:r>
            <a:endParaRPr kumimoji="0" lang="ko-KR" altLang="ko-K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3F5B6E4-836E-9B84-EA66-37CFF516B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210483"/>
              </p:ext>
            </p:extLst>
          </p:nvPr>
        </p:nvGraphicFramePr>
        <p:xfrm>
          <a:off x="775872" y="3856368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24144452"/>
                    </a:ext>
                  </a:extLst>
                </a:gridCol>
              </a:tblGrid>
              <a:tr h="2953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000" b="1" i="0" dirty="0">
                          <a:solidFill>
                            <a:srgbClr val="7030A0"/>
                          </a:solidFill>
                          <a:effectLst/>
                          <a:highlight>
                            <a:srgbClr val="FFFFFF"/>
                          </a:highlight>
                          <a:latin typeface="나눔고딕" pitchFamily="2" charset="-127"/>
                          <a:ea typeface="나눔고딕" pitchFamily="2" charset="-127"/>
                        </a:rPr>
                        <a:t>ALTER TABLE </a:t>
                      </a:r>
                      <a:r>
                        <a:rPr lang="en-US" altLang="ko-KR" sz="1000" b="1" i="0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나눔고딕" pitchFamily="2" charset="-127"/>
                          <a:ea typeface="나눔고딕" pitchFamily="2" charset="-127"/>
                        </a:rPr>
                        <a:t>employee</a:t>
                      </a:r>
                      <a:endParaRPr lang="fr-FR" sz="1000" b="1" i="0" dirty="0">
                        <a:effectLst/>
                        <a:highlight>
                          <a:srgbClr val="FFFFFF"/>
                        </a:highlight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algn="l" fontAlgn="base"/>
                      <a:r>
                        <a:rPr lang="fr-FR" sz="1000" b="1" i="0" dirty="0">
                          <a:solidFill>
                            <a:srgbClr val="7030A0"/>
                          </a:solidFill>
                          <a:effectLst/>
                          <a:highlight>
                            <a:srgbClr val="FFFFFF"/>
                          </a:highlight>
                          <a:latin typeface="나눔고딕" pitchFamily="2" charset="-127"/>
                          <a:ea typeface="나눔고딕" pitchFamily="2" charset="-127"/>
                        </a:rPr>
                        <a:t>DROP    CONSTRAINT</a:t>
                      </a:r>
                      <a:r>
                        <a:rPr lang="fr-FR" sz="1000" b="1" i="0" dirty="0">
                          <a:effectLst/>
                          <a:highlight>
                            <a:srgbClr val="FFFFFF"/>
                          </a:highlight>
                          <a:latin typeface="나눔고딕" pitchFamily="2" charset="-127"/>
                          <a:ea typeface="나눔고딕" pitchFamily="2" charset="-127"/>
                        </a:rPr>
                        <a:t>    zipchk;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818537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43CBEF93-5548-9CC4-D3C8-06A66E926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49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D9DA913B-FC4A-7153-9605-45E926FEA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872" y="4751158"/>
            <a:ext cx="212878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ALTER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TABLE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employee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나눔고딕" pitchFamily="2" charset="-127"/>
                <a:ea typeface="나눔고딕" pitchFamily="2" charset="-127"/>
              </a:rPr>
              <a:t> </a:t>
            </a:r>
            <a:endParaRPr kumimoji="0" lang="en-US" altLang="ko-KR" sz="1000" b="1" i="0" u="none" strike="noStrike" cap="none" normalizeH="0" baseline="0" dirty="0">
              <a:ln>
                <a:noFill/>
              </a:ln>
              <a:solidFill>
                <a:srgbClr val="C7254E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SET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  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TABLESPACE   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fasttablespace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;</a:t>
            </a:r>
            <a:endParaRPr kumimoji="0" lang="ko-KR" altLang="ko-K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130BAED-22A2-3D00-765D-E67375836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872" y="5916193"/>
            <a:ext cx="2648161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ALTER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TABLE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employee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나눔고딕" pitchFamily="2" charset="-127"/>
                <a:ea typeface="나눔고딕" pitchFamily="2" charset="-127"/>
              </a:rPr>
              <a:t>    </a:t>
            </a:r>
            <a:endParaRPr kumimoji="0" lang="en-US" altLang="ko-KR" sz="1000" b="1" i="0" u="none" strike="noStrike" cap="none" normalizeH="0" baseline="0" dirty="0">
              <a:ln>
                <a:noFill/>
              </a:ln>
              <a:solidFill>
                <a:srgbClr val="C7254E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ALTER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COLUMN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address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 TYPE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나눔고딕" pitchFamily="2" charset="-127"/>
                <a:ea typeface="나눔고딕" pitchFamily="2" charset="-127"/>
              </a:rPr>
              <a:t>varchar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(80),</a:t>
            </a:r>
            <a:endParaRPr kumimoji="0" lang="ko-KR" altLang="ko-KR" sz="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ALTER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COLUMN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name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나눔고딕" pitchFamily="2" charset="-127"/>
                <a:ea typeface="나눔고딕" pitchFamily="2" charset="-127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TYPE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나눔고딕" pitchFamily="2" charset="-127"/>
                <a:ea typeface="나눔고딕" pitchFamily="2" charset="-127"/>
              </a:rPr>
              <a:t>varchar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(100);</a:t>
            </a:r>
            <a:endParaRPr kumimoji="0" lang="ko-KR" altLang="ko-K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B3FF8F-AFD5-34CC-101B-DE73B5C25343}"/>
              </a:ext>
            </a:extLst>
          </p:cNvPr>
          <p:cNvSpPr txBox="1"/>
          <p:nvPr/>
        </p:nvSpPr>
        <p:spPr>
          <a:xfrm>
            <a:off x="688905" y="4417214"/>
            <a:ext cx="9411260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employee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테이블의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tablespace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를 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fasttablespace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 tablespace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로 </a:t>
            </a:r>
            <a:r>
              <a:rPr lang="ko-KR" altLang="en-US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지정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합니다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br>
              <a:rPr lang="ko-KR" altLang="en-US" b="0" i="0" dirty="0">
                <a:solidFill>
                  <a:srgbClr val="FFFFFF"/>
                </a:solidFill>
                <a:effectLst/>
                <a:highlight>
                  <a:srgbClr val="6CE26C"/>
                </a:highlight>
                <a:latin typeface="Consolas" panose="020B0609020204030204" pitchFamily="49" charset="0"/>
                <a:ea typeface="나눔고딕" pitchFamily="2" charset="-127"/>
              </a:rPr>
            </a:b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E3D91-5D92-44BB-15DB-84A8F47EAD78}"/>
              </a:ext>
            </a:extLst>
          </p:cNvPr>
          <p:cNvSpPr txBox="1"/>
          <p:nvPr/>
        </p:nvSpPr>
        <p:spPr>
          <a:xfrm>
            <a:off x="669976" y="5348668"/>
            <a:ext cx="10621496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employee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테이블에서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address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컬럼의 데이터 타입을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varchar(80)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으로 변경하고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name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컬럼의 데이터 타입을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varchar(100)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으로 변경합니다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br>
              <a:rPr lang="ko-KR" altLang="en-US" b="0" i="0" dirty="0">
                <a:solidFill>
                  <a:srgbClr val="FFFFFF"/>
                </a:solidFill>
                <a:effectLst/>
                <a:highlight>
                  <a:srgbClr val="6CE26C"/>
                </a:highlight>
                <a:latin typeface="Consolas" panose="020B0609020204030204" pitchFamily="49" charset="0"/>
                <a:ea typeface="나눔고딕" pitchFamily="2" charset="-127"/>
              </a:rPr>
            </a:b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A5B4F7-2427-D9ED-BC82-BAF727A1CCE7}"/>
              </a:ext>
            </a:extLst>
          </p:cNvPr>
          <p:cNvSpPr txBox="1"/>
          <p:nvPr/>
        </p:nvSpPr>
        <p:spPr>
          <a:xfrm>
            <a:off x="669976" y="1359284"/>
            <a:ext cx="8658225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employee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테이블에 데이터타입이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varchar(50)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인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address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컬럼을 추가합니다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br>
              <a:rPr lang="ko-KR" altLang="en-US" b="0" i="0" dirty="0">
                <a:solidFill>
                  <a:srgbClr val="FFFFFF"/>
                </a:solidFill>
                <a:effectLst/>
                <a:highlight>
                  <a:srgbClr val="6CE26C"/>
                </a:highlight>
                <a:latin typeface="Consolas" panose="020B0609020204030204" pitchFamily="49" charset="0"/>
                <a:ea typeface="나눔고딕" pitchFamily="2" charset="-127"/>
              </a:rPr>
            </a:b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6CE195-47E4-1515-A594-F7E2E63A6DEA}"/>
              </a:ext>
            </a:extLst>
          </p:cNvPr>
          <p:cNvSpPr txBox="1"/>
          <p:nvPr/>
        </p:nvSpPr>
        <p:spPr>
          <a:xfrm>
            <a:off x="669976" y="2380824"/>
            <a:ext cx="7737101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employee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테이블에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address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컬럼의 이름을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city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로 변경합니다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br>
              <a:rPr lang="ko-KR" altLang="en-US" b="0" i="0" dirty="0">
                <a:solidFill>
                  <a:srgbClr val="FFFFFF"/>
                </a:solidFill>
                <a:effectLst/>
                <a:highlight>
                  <a:srgbClr val="6CE26C"/>
                </a:highlight>
                <a:latin typeface="Consolas" panose="020B0609020204030204" pitchFamily="49" charset="0"/>
                <a:ea typeface="나눔고딕" pitchFamily="2" charset="-127"/>
              </a:rPr>
            </a:b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7BE51A-705C-4CB9-43D9-49259EC6EDBB}"/>
              </a:ext>
            </a:extLst>
          </p:cNvPr>
          <p:cNvSpPr txBox="1"/>
          <p:nvPr/>
        </p:nvSpPr>
        <p:spPr>
          <a:xfrm>
            <a:off x="688905" y="3382880"/>
            <a:ext cx="7737100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altLang="ko-KR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employee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테이블에서 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zipchk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제약조건을 삭제합니다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br>
              <a:rPr lang="ko-KR" altLang="en-US" b="0" i="0" dirty="0">
                <a:solidFill>
                  <a:srgbClr val="FFFFFF"/>
                </a:solidFill>
                <a:effectLst/>
                <a:highlight>
                  <a:srgbClr val="6CE26C"/>
                </a:highlight>
                <a:latin typeface="Consolas" panose="020B0609020204030204" pitchFamily="49" charset="0"/>
                <a:ea typeface="나눔고딕" pitchFamily="2" charset="-127"/>
              </a:rPr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8972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2E9D980-99F7-1C09-C6BC-9D4CE9EFA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테이블 삭제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r>
              <a:rPr lang="ko-KR" altLang="en-US" sz="1800" dirty="0"/>
              <a:t>테이블을 삭제할 때는 테이블을 소유하고 있는 </a:t>
            </a:r>
            <a:r>
              <a:rPr lang="en-US" altLang="ko-KR" sz="1800" dirty="0"/>
              <a:t>USER</a:t>
            </a:r>
            <a:r>
              <a:rPr lang="ko-KR" altLang="en-US" sz="1800" dirty="0"/>
              <a:t>나 </a:t>
            </a:r>
            <a:r>
              <a:rPr lang="en-US" altLang="ko-KR" sz="1800" dirty="0"/>
              <a:t>SUPERUSER</a:t>
            </a:r>
            <a:r>
              <a:rPr lang="ko-KR" altLang="en-US" sz="1800" dirty="0"/>
              <a:t>만이 테이블을 삭제할 수 있습니다</a:t>
            </a:r>
            <a:r>
              <a:rPr lang="en-US" altLang="ko-KR" sz="1800" dirty="0"/>
              <a:t>. </a:t>
            </a:r>
            <a:r>
              <a:rPr lang="ko-KR" altLang="en-US" sz="1800" dirty="0"/>
              <a:t>테이블 전체를 삭제하는 것이 아니라 테이블 내의 행들만 삭제할 때는 </a:t>
            </a:r>
            <a:r>
              <a:rPr lang="en-US" altLang="ko-KR" sz="1800" dirty="0"/>
              <a:t>DELETE</a:t>
            </a:r>
            <a:r>
              <a:rPr lang="ko-KR" altLang="en-US" sz="1800" dirty="0"/>
              <a:t>나 </a:t>
            </a:r>
            <a:r>
              <a:rPr lang="en-US" altLang="ko-KR" sz="1800" dirty="0"/>
              <a:t>TRUNCATE</a:t>
            </a:r>
            <a:r>
              <a:rPr lang="ko-KR" altLang="en-US" sz="1800" dirty="0"/>
              <a:t>를 사용</a:t>
            </a:r>
            <a:r>
              <a:rPr lang="en-US" altLang="ko-KR" sz="1800" dirty="0"/>
              <a:t>.</a:t>
            </a:r>
          </a:p>
          <a:p>
            <a:pPr lvl="1"/>
            <a:endParaRPr lang="en-US" altLang="ko-KR" sz="1800" dirty="0"/>
          </a:p>
          <a:p>
            <a:pPr lvl="1"/>
            <a:r>
              <a:rPr lang="ko-KR" altLang="en-US" sz="1800" dirty="0"/>
              <a:t>먼저 삭제할 테이블이름을 </a:t>
            </a:r>
            <a:r>
              <a:rPr lang="en-US" altLang="ko-KR" sz="1800" dirty="0" err="1">
                <a:solidFill>
                  <a:srgbClr val="FF0000"/>
                </a:solidFill>
              </a:rPr>
              <a:t>table_name</a:t>
            </a:r>
            <a:r>
              <a:rPr lang="ko-KR" altLang="en-US" sz="1800" dirty="0"/>
              <a:t>에 넣음</a:t>
            </a:r>
            <a:r>
              <a:rPr lang="en-US" altLang="ko-KR" sz="1800" dirty="0"/>
              <a:t>. </a:t>
            </a:r>
          </a:p>
          <a:p>
            <a:pPr lvl="1"/>
            <a:r>
              <a:rPr lang="ko-KR" altLang="en-US" sz="1800" dirty="0"/>
              <a:t>제약조건으로 </a:t>
            </a:r>
            <a:r>
              <a:rPr lang="en-US" altLang="ko-KR" sz="1800" dirty="0">
                <a:solidFill>
                  <a:srgbClr val="7030A0"/>
                </a:solidFill>
              </a:rPr>
              <a:t>CASCADE</a:t>
            </a:r>
            <a:r>
              <a:rPr lang="ko-KR" altLang="en-US" sz="1800" dirty="0"/>
              <a:t>를 사용할 경우 이 테이블과 연관된 </a:t>
            </a:r>
            <a:r>
              <a:rPr lang="en-US" altLang="ko-KR" sz="1800" dirty="0"/>
              <a:t>view</a:t>
            </a:r>
            <a:r>
              <a:rPr lang="ko-KR" altLang="en-US" sz="1800" dirty="0"/>
              <a:t>나 개체들도 함께 삭제됨</a:t>
            </a:r>
            <a:r>
              <a:rPr lang="en-US" altLang="ko-KR" sz="1800" dirty="0"/>
              <a:t>. </a:t>
            </a:r>
          </a:p>
          <a:p>
            <a:pPr lvl="1"/>
            <a:r>
              <a:rPr lang="en-US" altLang="ko-KR" sz="1800" dirty="0">
                <a:solidFill>
                  <a:srgbClr val="7030A0"/>
                </a:solidFill>
              </a:rPr>
              <a:t>RESTRICT</a:t>
            </a:r>
            <a:r>
              <a:rPr lang="ko-KR" altLang="en-US" sz="1800" dirty="0"/>
              <a:t>를 사용할 경우 다른 개체가 종속되어 있을 경우 테이블삭제를 제한합니다</a:t>
            </a:r>
            <a:r>
              <a:rPr lang="en-US" altLang="ko-KR" sz="1800" dirty="0"/>
              <a:t>.</a:t>
            </a:r>
          </a:p>
          <a:p>
            <a:pPr lvl="1"/>
            <a:endParaRPr lang="en-US" altLang="ko-KR" sz="1800" dirty="0"/>
          </a:p>
          <a:p>
            <a:pPr lvl="1"/>
            <a:r>
              <a:rPr lang="ko-KR" altLang="en-US" sz="1800" dirty="0"/>
              <a:t>다음은 테이블 삭제 예</a:t>
            </a:r>
            <a:r>
              <a:rPr lang="en-US" altLang="ko-KR" sz="1800" dirty="0"/>
              <a:t>.</a:t>
            </a:r>
          </a:p>
          <a:p>
            <a:pPr lvl="1"/>
            <a:endParaRPr lang="ko-KR" altLang="en-US" sz="18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507C6F-7634-48B7-9030-ADAC73FB3A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DROP TABLE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643611-8BA0-0FAC-9C98-73A8B83E32A9}"/>
              </a:ext>
            </a:extLst>
          </p:cNvPr>
          <p:cNvSpPr txBox="1"/>
          <p:nvPr/>
        </p:nvSpPr>
        <p:spPr>
          <a:xfrm>
            <a:off x="1029426" y="1580820"/>
            <a:ext cx="9518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7030A0"/>
                </a:solidFill>
              </a:rPr>
              <a:t>DROP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ko-KR" altLang="en-US" dirty="0"/>
              <a:t>TABLE [ IF EXISTS ] </a:t>
            </a:r>
            <a:r>
              <a:rPr lang="ko-KR" altLang="en-US" dirty="0" err="1">
                <a:solidFill>
                  <a:srgbClr val="FF0000"/>
                </a:solidFill>
              </a:rPr>
              <a:t>table_name</a:t>
            </a:r>
            <a:r>
              <a:rPr lang="ko-KR" altLang="en-US" dirty="0"/>
              <a:t> [, ...] [ </a:t>
            </a:r>
            <a:r>
              <a:rPr lang="ko-KR" altLang="en-US" dirty="0">
                <a:solidFill>
                  <a:schemeClr val="accent2"/>
                </a:solidFill>
              </a:rPr>
              <a:t>CASCADE | RESTRICT </a:t>
            </a:r>
            <a:r>
              <a:rPr lang="ko-KR" altLang="en-US" dirty="0"/>
              <a:t>]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A697245-F4E1-49B4-A5BF-EA7BE79020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940649"/>
              </p:ext>
            </p:extLst>
          </p:nvPr>
        </p:nvGraphicFramePr>
        <p:xfrm>
          <a:off x="1390086" y="5140020"/>
          <a:ext cx="8228543" cy="274320"/>
        </p:xfrm>
        <a:graphic>
          <a:graphicData uri="http://schemas.openxmlformats.org/drawingml/2006/table">
            <a:tbl>
              <a:tblPr/>
              <a:tblGrid>
                <a:gridCol w="8228543">
                  <a:extLst>
                    <a:ext uri="{9D8B030D-6E8A-4147-A177-3AD203B41FA5}">
                      <a16:colId xmlns:a16="http://schemas.microsoft.com/office/drawing/2014/main" val="35886438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DROP TABLE </a:t>
                      </a:r>
                      <a:r>
                        <a:rPr lang="en-US" b="0" i="0" dirty="0" err="1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table_name</a:t>
                      </a:r>
                      <a:r>
                        <a:rPr lang="en-US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505209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CFCD9441-0637-CEFA-2B29-1203DCE65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426" y="612849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101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185E3DAC-8A28-B803-DD6F-421735AA29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>
                    <a:hlinkClick r:id="rId2"/>
                  </a:rPr>
                  <a:t>SELECT SQL Syntax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Relational algebra</a:t>
                </a:r>
              </a:p>
              <a:p>
                <a:pPr lvl="1"/>
                <a:r>
                  <a:rPr lang="en-US" altLang="ko-KR" dirty="0">
                    <a:latin typeface="+mn-ea"/>
                  </a:rPr>
                  <a:t>Selection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𝑎𝑔𝑒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≤30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Projection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𝑛𝑎𝑚𝑒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𝑎𝑔𝑒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 </a:t>
                </a:r>
              </a:p>
              <a:p>
                <a:pPr marL="457200" lvl="1" indent="0">
                  <a:buFont typeface="Arial" panose="020B0604020202020204" pitchFamily="34" charset="0"/>
                  <a:buNone/>
                </a:pPr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185E3DAC-8A28-B803-DD6F-421735AA29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8" t="-12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3DE094-BE72-689E-AA27-3ED53EF18A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SELECT</a:t>
            </a:r>
            <a:endParaRPr lang="ko-KR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31CBF79-97AD-F12F-266B-90C26240A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953" y="235323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DISTINCT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[, ...] ) ] ]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* |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 [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output_name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] [, ...] ]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from_item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[, ...] ]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]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[, ...] ]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HAVING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[, ...] ]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WINDOW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window_name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window_definition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[, ...] ]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{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INTERSECT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[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DISTINCT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ASC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 USING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] [ NULLS {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] [, ...] 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LIMIT {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FF1493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]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OFFSET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 ROW |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]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8126515-8978-B10C-675A-D01449351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232580"/>
              </p:ext>
            </p:extLst>
          </p:nvPr>
        </p:nvGraphicFramePr>
        <p:xfrm>
          <a:off x="6824382" y="987086"/>
          <a:ext cx="5308438" cy="5870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219">
                  <a:extLst>
                    <a:ext uri="{9D8B030D-6E8A-4147-A177-3AD203B41FA5}">
                      <a16:colId xmlns:a16="http://schemas.microsoft.com/office/drawing/2014/main" val="3810590244"/>
                    </a:ext>
                  </a:extLst>
                </a:gridCol>
                <a:gridCol w="2654219">
                  <a:extLst>
                    <a:ext uri="{9D8B030D-6E8A-4147-A177-3AD203B41FA5}">
                      <a16:colId xmlns:a16="http://schemas.microsoft.com/office/drawing/2014/main" val="2535161171"/>
                    </a:ext>
                  </a:extLst>
                </a:gridCol>
              </a:tblGrid>
              <a:tr h="25208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 dirty="0">
                          <a:solidFill>
                            <a:schemeClr val="tx1"/>
                          </a:solidFill>
                          <a:effectLst/>
                        </a:rPr>
                        <a:t>Option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기능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598315727"/>
                  </a:ext>
                </a:extLst>
              </a:tr>
              <a:tr h="25208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 dirty="0">
                          <a:solidFill>
                            <a:schemeClr val="tx1"/>
                          </a:solidFill>
                          <a:effectLst/>
                        </a:rPr>
                        <a:t>SELECT ALL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중복되는 열까지 결과값으로 출력해 주는 역할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276627625"/>
                  </a:ext>
                </a:extLst>
              </a:tr>
              <a:tr h="25208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 dirty="0">
                          <a:solidFill>
                            <a:schemeClr val="tx1"/>
                          </a:solidFill>
                          <a:effectLst/>
                        </a:rPr>
                        <a:t>SELECT DISTINCT ON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700">
                          <a:solidFill>
                            <a:schemeClr val="tx1"/>
                          </a:solidFill>
                          <a:effectLst/>
                        </a:rPr>
                        <a:t>중복되는 열들을 결과값에서 제거하는 역할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215838938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 dirty="0">
                          <a:solidFill>
                            <a:schemeClr val="tx1"/>
                          </a:solidFill>
                          <a:effectLst/>
                        </a:rPr>
                        <a:t>AS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en-US" altLang="ko-KR" sz="700">
                          <a:solidFill>
                            <a:schemeClr val="tx1"/>
                          </a:solidFill>
                          <a:effectLst/>
                        </a:rPr>
                        <a:t>alias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effectLst/>
                        </a:rPr>
                        <a:t>의 약자로 선택한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effectLst/>
                        </a:rPr>
                        <a:t>column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effectLst/>
                        </a:rPr>
                        <a:t>의 이름을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effectLst/>
                        </a:rPr>
                        <a:t>AS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effectLst/>
                        </a:rPr>
                        <a:t>를 사용하면 새로운 이름으로 지정하여 출력할 수 있습니다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988900491"/>
                  </a:ext>
                </a:extLst>
              </a:tr>
              <a:tr h="25208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FROM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한 개 또는 그 이상의 테이블을 지정할 수 있습니다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998816239"/>
                  </a:ext>
                </a:extLst>
              </a:tr>
              <a:tr h="353882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WHERE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FROM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절의 테이블 내에서 조건을 만족하는 행을 검사합니다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535241094"/>
                  </a:ext>
                </a:extLst>
              </a:tr>
              <a:tr h="744515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 dirty="0">
                          <a:solidFill>
                            <a:schemeClr val="tx1"/>
                          </a:solidFill>
                          <a:effectLst/>
                        </a:rPr>
                        <a:t>GROUP BY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동일한 값을 가진 데이터를 집계해서 조회하고자 할 때 사용합니다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b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예를 들어 각 부서의 평균연령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부서의 인원이 몇 명인지를 집계해서 다른 부서와 비교할 수 있습니다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02673764"/>
                  </a:ext>
                </a:extLst>
              </a:tr>
              <a:tr h="744515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 dirty="0">
                          <a:solidFill>
                            <a:schemeClr val="tx1"/>
                          </a:solidFill>
                          <a:effectLst/>
                        </a:rPr>
                        <a:t>HAVING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effectLst/>
                        </a:rPr>
                        <a:t>절은그룹을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 가지고 조건을 비교할 때 사용합니다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 GROUP BY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와 함께 쓰입니다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b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effectLst/>
                        </a:rPr>
                        <a:t>예를들어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 주어진 조건을 만족하지 않은 그룹을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effectLst/>
                        </a:rPr>
                        <a:t>제거할수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 있습니다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800802570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UNION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열의 개수가 동일하고 타입이 동일한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개의 집합들의 결과값을 결합하여 반환합니다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842151317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INTERSECT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교집합과 같은 원리로 두 집합모두에 있는 열들을 반환합니다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256229083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EXCEPT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차집합과 같은 원리로 두 집합모두에 있는 열들을 반환합니다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234010978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ORDER BY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파일을 정렬하는데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ASC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와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DESC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를 사용하여 오름차순과 내림차순을 설정할 수 있습니다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78672896"/>
                  </a:ext>
                </a:extLst>
              </a:tr>
              <a:tr h="25208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LIMIT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쿼리결과의 개수를 제한할 수 있습니다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042057467"/>
                  </a:ext>
                </a:extLst>
              </a:tr>
              <a:tr h="353882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 dirty="0">
                          <a:solidFill>
                            <a:schemeClr val="tx1"/>
                          </a:solidFill>
                          <a:effectLst/>
                        </a:rPr>
                        <a:t>OFFSET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시작 행을 반환하기 전에 많은 행을 건너뛰는 역할을 합니다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696809272"/>
                  </a:ext>
                </a:extLst>
              </a:tr>
            </a:tbl>
          </a:graphicData>
        </a:graphic>
      </p:graphicFrame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F8E5E546-30CE-D6DF-EF48-82675D4D6C60}"/>
              </a:ext>
            </a:extLst>
          </p:cNvPr>
          <p:cNvSpPr txBox="1">
            <a:spLocks/>
          </p:cNvSpPr>
          <p:nvPr/>
        </p:nvSpPr>
        <p:spPr>
          <a:xfrm>
            <a:off x="359071" y="3922543"/>
            <a:ext cx="11339444" cy="5023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E7EF0B1-4D72-C1E4-79EA-75218D4569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814631"/>
              </p:ext>
            </p:extLst>
          </p:nvPr>
        </p:nvGraphicFramePr>
        <p:xfrm>
          <a:off x="3572917" y="4582757"/>
          <a:ext cx="1738670" cy="502920"/>
        </p:xfrm>
        <a:graphic>
          <a:graphicData uri="http://schemas.openxmlformats.org/drawingml/2006/table">
            <a:tbl>
              <a:tblPr/>
              <a:tblGrid>
                <a:gridCol w="1738670">
                  <a:extLst>
                    <a:ext uri="{9D8B030D-6E8A-4147-A177-3AD203B41FA5}">
                      <a16:colId xmlns:a16="http://schemas.microsoft.com/office/drawing/2014/main" val="3738308762"/>
                    </a:ext>
                  </a:extLst>
                </a:gridCol>
              </a:tblGrid>
              <a:tr h="50030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SELECT *</a:t>
                      </a:r>
                    </a:p>
                    <a:p>
                      <a:pPr algn="l" fontAlgn="base"/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FROM R</a:t>
                      </a:r>
                    </a:p>
                    <a:p>
                      <a:pPr algn="l" fontAlgn="base"/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WHERE age &lt;= 30;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33338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17C3257-56AC-6C94-2CDD-99D30EE07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869038"/>
              </p:ext>
            </p:extLst>
          </p:nvPr>
        </p:nvGraphicFramePr>
        <p:xfrm>
          <a:off x="3614381" y="5625736"/>
          <a:ext cx="1738670" cy="500302"/>
        </p:xfrm>
        <a:graphic>
          <a:graphicData uri="http://schemas.openxmlformats.org/drawingml/2006/table">
            <a:tbl>
              <a:tblPr/>
              <a:tblGrid>
                <a:gridCol w="1738670">
                  <a:extLst>
                    <a:ext uri="{9D8B030D-6E8A-4147-A177-3AD203B41FA5}">
                      <a16:colId xmlns:a16="http://schemas.microsoft.com/office/drawing/2014/main" val="3738308762"/>
                    </a:ext>
                  </a:extLst>
                </a:gridCol>
              </a:tblGrid>
              <a:tr h="50030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SELECT </a:t>
                      </a:r>
                      <a:r>
                        <a:rPr lang="en-US" sz="1100" b="0" i="0" dirty="0" err="1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name,age</a:t>
                      </a:r>
                      <a:endParaRPr lang="en-US" sz="1100" b="0" i="0" dirty="0">
                        <a:effectLst/>
                        <a:highlight>
                          <a:srgbClr val="FFFFFF"/>
                        </a:highlight>
                        <a:latin typeface="Consolas" panose="020B0609020204030204" pitchFamily="49" charset="0"/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FROM R;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33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678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51E929D-1E5B-B075-DADE-F64E69CF6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sz="1700" dirty="0" err="1"/>
              <a:t>Weather_reports</a:t>
            </a:r>
            <a:r>
              <a:rPr lang="en-US" altLang="ko-KR" sz="1700" dirty="0"/>
              <a:t> </a:t>
            </a:r>
            <a:r>
              <a:rPr lang="ko-KR" altLang="en-US" sz="1700" dirty="0"/>
              <a:t>테이블에서 </a:t>
            </a:r>
            <a:r>
              <a:rPr lang="en-US" altLang="ko-KR" sz="1700" dirty="0"/>
              <a:t>time, report, location</a:t>
            </a:r>
            <a:r>
              <a:rPr lang="ko-KR" altLang="en-US" sz="1700" dirty="0"/>
              <a:t>컬럼을 추출합니다</a:t>
            </a:r>
            <a:r>
              <a:rPr lang="en-US" altLang="ko-KR" sz="1700" dirty="0"/>
              <a:t>.</a:t>
            </a:r>
          </a:p>
          <a:p>
            <a:r>
              <a:rPr lang="en-US" altLang="ko-KR" sz="1700" dirty="0"/>
              <a:t>location</a:t>
            </a:r>
            <a:r>
              <a:rPr lang="ko-KR" altLang="en-US" sz="1700" dirty="0"/>
              <a:t>컬럼에서 중복되는 컬럼은 제거합니다</a:t>
            </a:r>
            <a:r>
              <a:rPr lang="en-US" altLang="ko-KR" sz="1700" dirty="0"/>
              <a:t>. </a:t>
            </a:r>
            <a:r>
              <a:rPr lang="ko-KR" altLang="en-US" sz="1700" dirty="0"/>
              <a:t>마지막으로 행을 정렬할 때 </a:t>
            </a:r>
            <a:r>
              <a:rPr lang="en-US" altLang="ko-KR" sz="1700" dirty="0"/>
              <a:t>location</a:t>
            </a:r>
            <a:r>
              <a:rPr lang="ko-KR" altLang="en-US" sz="1700" dirty="0"/>
              <a:t>은 오름차순</a:t>
            </a:r>
            <a:r>
              <a:rPr lang="en-US" altLang="ko-KR" sz="1700" dirty="0"/>
              <a:t>, time</a:t>
            </a:r>
            <a:r>
              <a:rPr lang="ko-KR" altLang="en-US" sz="1700" dirty="0"/>
              <a:t>은 내림차순으로 정렬합니다</a:t>
            </a:r>
            <a:r>
              <a:rPr lang="en-US" altLang="ko-KR" sz="1700" dirty="0"/>
              <a:t>.</a:t>
            </a:r>
          </a:p>
          <a:p>
            <a:endParaRPr lang="en-US" altLang="ko-KR" sz="1700" dirty="0"/>
          </a:p>
          <a:p>
            <a:endParaRPr lang="en-US" altLang="ko-KR" dirty="0"/>
          </a:p>
          <a:p>
            <a:pPr algn="l">
              <a:lnSpc>
                <a:spcPts val="1400"/>
              </a:lnSpc>
            </a:pPr>
            <a:r>
              <a:rPr lang="en-US" altLang="ko-KR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Student </a:t>
            </a:r>
            <a:r>
              <a:rPr lang="ko-KR" alt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테이블에서 </a:t>
            </a:r>
            <a:r>
              <a:rPr lang="en-US" altLang="ko-KR" sz="16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student_no</a:t>
            </a:r>
            <a:r>
              <a:rPr lang="ko-KR" alt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가 </a:t>
            </a:r>
            <a:r>
              <a:rPr lang="en-US" altLang="ko-KR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5</a:t>
            </a:r>
            <a:r>
              <a:rPr lang="ko-KR" alt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인 사람의 모든 정보를 출력합니다</a:t>
            </a:r>
            <a:r>
              <a:rPr lang="en-US" altLang="ko-KR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br>
              <a:rPr lang="ko-KR" altLang="en-US" sz="1600" b="0" i="0" dirty="0">
                <a:solidFill>
                  <a:srgbClr val="FFFFFF"/>
                </a:solidFill>
                <a:effectLst/>
                <a:highlight>
                  <a:srgbClr val="6CE26C"/>
                </a:highlight>
                <a:latin typeface="Consolas" panose="020B0609020204030204" pitchFamily="49" charset="0"/>
                <a:ea typeface="나눔고딕" pitchFamily="2" charset="-127"/>
              </a:rPr>
            </a:br>
            <a:endParaRPr lang="en-US" altLang="ko-KR" sz="1600" dirty="0"/>
          </a:p>
          <a:p>
            <a:endParaRPr lang="en-US" altLang="ko-KR" sz="1600" dirty="0"/>
          </a:p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DE31AE-6D26-9D19-6496-F0CA9F7C51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SELECT Example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78BC39F-3BAE-5A18-C5C1-2EA345E48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984154"/>
              </p:ext>
            </p:extLst>
          </p:nvPr>
        </p:nvGraphicFramePr>
        <p:xfrm>
          <a:off x="493485" y="1584587"/>
          <a:ext cx="10515600" cy="5029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738308762"/>
                    </a:ext>
                  </a:extLst>
                </a:gridCol>
              </a:tblGrid>
              <a:tr h="50030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 i="0" dirty="0">
                          <a:solidFill>
                            <a:srgbClr val="7030A0"/>
                          </a:solidFill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SELECT DISTINCT ON</a:t>
                      </a:r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 (location) location, time, report</a:t>
                      </a: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7030A0"/>
                          </a:solidFill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FROM</a:t>
                      </a:r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b="0" i="0" dirty="0" err="1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weather_reports</a:t>
                      </a:r>
                      <a:endParaRPr lang="en-US" sz="1100" b="0" i="0" dirty="0">
                        <a:effectLst/>
                        <a:highlight>
                          <a:srgbClr val="FFFFFF"/>
                        </a:highlight>
                        <a:latin typeface="Consolas" panose="020B0609020204030204" pitchFamily="49" charset="0"/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     </a:t>
                      </a:r>
                      <a:r>
                        <a:rPr lang="en-US" sz="1100" b="0" i="0" dirty="0">
                          <a:solidFill>
                            <a:srgbClr val="7030A0"/>
                          </a:solidFill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ORDER BY </a:t>
                      </a:r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location, time DESC;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33338"/>
                  </a:ext>
                </a:extLst>
              </a:tr>
            </a:tbl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802CB3E5-F6ED-C340-58BC-8277D3E93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71" y="17393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C3D4D0B-CF2C-CAD6-8D10-E71596CFC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190739"/>
              </p:ext>
            </p:extLst>
          </p:nvPr>
        </p:nvGraphicFramePr>
        <p:xfrm>
          <a:off x="614565" y="3429000"/>
          <a:ext cx="10515600" cy="5029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573429363"/>
                    </a:ext>
                  </a:extLst>
                </a:gridCol>
              </a:tblGrid>
              <a:tr h="50030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 i="0" dirty="0">
                          <a:solidFill>
                            <a:srgbClr val="7030A0"/>
                          </a:solidFill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SELECT </a:t>
                      </a:r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* </a:t>
                      </a: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7030A0"/>
                          </a:solidFill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FROM</a:t>
                      </a:r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 student </a:t>
                      </a: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7030A0"/>
                          </a:solidFill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WHERE </a:t>
                      </a:r>
                      <a:r>
                        <a:rPr lang="en-US" sz="1100" b="0" i="0" dirty="0" err="1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student_no</a:t>
                      </a:r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= 5;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14818"/>
                  </a:ext>
                </a:extLst>
              </a:tr>
            </a:tbl>
          </a:graphicData>
        </a:graphic>
      </p:graphicFrame>
      <p:sp>
        <p:nvSpPr>
          <p:cNvPr id="8" name="Rectangle 4">
            <a:extLst>
              <a:ext uri="{FF2B5EF4-FFF2-40B4-BE49-F238E27FC236}">
                <a16:creationId xmlns:a16="http://schemas.microsoft.com/office/drawing/2014/main" id="{C87FA58A-DE25-23AD-A645-E665CA988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71" y="51145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700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015E015-C115-995A-F2F9-AA8BAE2A0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ts val="1400"/>
              </a:lnSpc>
            </a:pPr>
            <a:endParaRPr lang="en-US" altLang="ko-KR" sz="16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+mn-ea"/>
            </a:endParaRPr>
          </a:p>
          <a:p>
            <a:pPr algn="l">
              <a:lnSpc>
                <a:spcPts val="1400"/>
              </a:lnSpc>
            </a:pPr>
            <a:endParaRPr lang="en-US" altLang="ko-KR" sz="1600" dirty="0">
              <a:solidFill>
                <a:srgbClr val="333333"/>
              </a:solidFill>
              <a:highlight>
                <a:srgbClr val="FFFFFF"/>
              </a:highlight>
              <a:latin typeface="+mn-ea"/>
            </a:endParaRPr>
          </a:p>
          <a:p>
            <a:pPr algn="l">
              <a:lnSpc>
                <a:spcPts val="1400"/>
              </a:lnSpc>
            </a:pPr>
            <a:endParaRPr lang="en-US" altLang="ko-KR" sz="16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+mn-ea"/>
            </a:endParaRPr>
          </a:p>
          <a:p>
            <a:pPr algn="l">
              <a:lnSpc>
                <a:spcPts val="1400"/>
              </a:lnSpc>
            </a:pPr>
            <a:r>
              <a:rPr lang="en-US" altLang="ko-KR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films</a:t>
            </a:r>
            <a:r>
              <a:rPr lang="ko-KR" alt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테이블에서 </a:t>
            </a:r>
            <a:r>
              <a:rPr lang="en-US" altLang="ko-KR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kind</a:t>
            </a:r>
            <a:r>
              <a:rPr lang="ko-KR" alt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컬럼 값이 같은 것끼리 </a:t>
            </a:r>
            <a:r>
              <a:rPr lang="ko-KR" altLang="en-US" sz="1600" dirty="0" err="1">
                <a:solidFill>
                  <a:srgbClr val="333333"/>
                </a:solidFill>
                <a:highlight>
                  <a:srgbClr val="FFFFFF"/>
                </a:highlight>
                <a:latin typeface="+mn-ea"/>
              </a:rPr>
              <a:t>그룹지음</a:t>
            </a:r>
            <a:r>
              <a:rPr lang="en-US" altLang="ko-KR" sz="1600" dirty="0">
                <a:solidFill>
                  <a:srgbClr val="333333"/>
                </a:solidFill>
                <a:highlight>
                  <a:srgbClr val="FFFFFF"/>
                </a:highlight>
                <a:latin typeface="+mn-ea"/>
              </a:rPr>
              <a:t>.</a:t>
            </a:r>
            <a:endParaRPr lang="en-US" altLang="ko-KR" sz="16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+mn-ea"/>
            </a:endParaRPr>
          </a:p>
          <a:p>
            <a:pPr algn="l">
              <a:lnSpc>
                <a:spcPts val="1400"/>
              </a:lnSpc>
            </a:pPr>
            <a:r>
              <a:rPr lang="en-US" altLang="ko-KR" sz="1600" dirty="0" err="1">
                <a:solidFill>
                  <a:srgbClr val="333333"/>
                </a:solidFill>
                <a:highlight>
                  <a:srgbClr val="FFFFFF"/>
                </a:highlight>
                <a:latin typeface="+mn-ea"/>
              </a:rPr>
              <a:t>l</a:t>
            </a:r>
            <a:r>
              <a:rPr lang="en-US" altLang="ko-KR" sz="16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en</a:t>
            </a:r>
            <a:r>
              <a:rPr lang="ko-KR" alt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컬럼의 총합을 </a:t>
            </a:r>
            <a:r>
              <a:rPr lang="en-US" altLang="ko-KR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total</a:t>
            </a:r>
            <a:r>
              <a:rPr lang="ko-KR" alt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로 지정합니다</a:t>
            </a:r>
            <a:r>
              <a:rPr lang="en-US" altLang="ko-KR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.</a:t>
            </a:r>
          </a:p>
          <a:p>
            <a:pPr algn="l">
              <a:lnSpc>
                <a:spcPts val="1400"/>
              </a:lnSpc>
            </a:pPr>
            <a:r>
              <a:rPr lang="en-US" altLang="ko-KR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sum(</a:t>
            </a:r>
            <a:r>
              <a:rPr lang="en-US" altLang="ko-KR" sz="16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len</a:t>
            </a:r>
            <a:r>
              <a:rPr lang="en-US" altLang="ko-KR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)</a:t>
            </a:r>
            <a:r>
              <a:rPr lang="ko-KR" alt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의 값이 </a:t>
            </a:r>
            <a:r>
              <a:rPr lang="en-US" altLang="ko-KR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5</a:t>
            </a:r>
            <a:r>
              <a:rPr lang="ko-KR" alt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시간보다 작은 것들을 선택해서 출력합니다</a:t>
            </a:r>
            <a:r>
              <a:rPr lang="en-US" altLang="ko-KR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.</a:t>
            </a:r>
          </a:p>
          <a:p>
            <a:pPr algn="l">
              <a:lnSpc>
                <a:spcPts val="1400"/>
              </a:lnSpc>
            </a:pPr>
            <a:endParaRPr lang="en-US" altLang="ko-KR" sz="1600" dirty="0">
              <a:solidFill>
                <a:srgbClr val="333333"/>
              </a:solidFill>
              <a:highlight>
                <a:srgbClr val="FFFFFF"/>
              </a:highlight>
              <a:latin typeface="+mn-ea"/>
            </a:endParaRPr>
          </a:p>
          <a:p>
            <a:pPr algn="l">
              <a:lnSpc>
                <a:spcPts val="1400"/>
              </a:lnSpc>
            </a:pPr>
            <a:endParaRPr lang="en-US" altLang="ko-KR" sz="16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+mn-ea"/>
            </a:endParaRPr>
          </a:p>
          <a:p>
            <a:br>
              <a:rPr lang="ko-KR" altLang="en-US" sz="1600" b="0" i="0" dirty="0">
                <a:solidFill>
                  <a:srgbClr val="FFFFFF"/>
                </a:solidFill>
                <a:effectLst/>
                <a:highlight>
                  <a:srgbClr val="6CE26C"/>
                </a:highlight>
                <a:latin typeface="+mn-ea"/>
              </a:rPr>
            </a:br>
            <a:endParaRPr lang="en-US" altLang="ko-KR" sz="1600" b="0" i="0" dirty="0">
              <a:solidFill>
                <a:srgbClr val="FFFFFF"/>
              </a:solidFill>
              <a:effectLst/>
              <a:highlight>
                <a:srgbClr val="6CE26C"/>
              </a:highlight>
              <a:latin typeface="+mn-ea"/>
            </a:endParaRPr>
          </a:p>
          <a:p>
            <a:endParaRPr lang="en-US" altLang="ko-KR" sz="1600" dirty="0">
              <a:solidFill>
                <a:srgbClr val="FFFFFF"/>
              </a:solidFill>
              <a:highlight>
                <a:srgbClr val="6CE26C"/>
              </a:highlight>
              <a:latin typeface="+mn-ea"/>
            </a:endParaRPr>
          </a:p>
          <a:p>
            <a:pPr algn="l">
              <a:lnSpc>
                <a:spcPts val="1400"/>
              </a:lnSpc>
            </a:pPr>
            <a:endParaRPr lang="en-US" altLang="ko-KR" sz="11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+mn-ea"/>
            </a:endParaRPr>
          </a:p>
          <a:p>
            <a:pPr algn="l">
              <a:lnSpc>
                <a:spcPts val="1400"/>
              </a:lnSpc>
            </a:pPr>
            <a:r>
              <a:rPr lang="en-US" altLang="ko-KR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Distributors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테이블에서 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name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이 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W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로 시작하는 사람을 추출하고 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actors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테이블에서 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name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이 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W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로 </a:t>
            </a:r>
            <a:r>
              <a:rPr lang="ko-KR" altLang="en-US" sz="18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시작하</a:t>
            </a:r>
            <a:r>
              <a:rPr lang="ko-KR" altLang="en-US" sz="1800" dirty="0" err="1">
                <a:solidFill>
                  <a:srgbClr val="333333"/>
                </a:solidFill>
                <a:highlight>
                  <a:srgbClr val="FFFFFF"/>
                </a:highlight>
                <a:latin typeface="+mn-ea"/>
              </a:rPr>
              <a:t>는</a:t>
            </a:r>
            <a:r>
              <a:rPr lang="ko-KR" altLang="en-US" sz="18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사람을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 추출하여 함께 출력합니다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.</a:t>
            </a:r>
          </a:p>
          <a:p>
            <a:pPr marL="0" indent="0">
              <a:buNone/>
            </a:pPr>
            <a:endParaRPr lang="ko-KR" altLang="en-US" sz="1600" dirty="0">
              <a:latin typeface="+mn-ea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4E1490-84FB-D40A-D98A-0405BFE75E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SELECT Example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03315A2-3F5C-7BE8-D630-D9356F87C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08" y="1199193"/>
            <a:ext cx="2236190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n-ea"/>
              </a:rPr>
              <a:t>SELECT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kind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FF1493"/>
                </a:solidFill>
                <a:effectLst/>
                <a:latin typeface="+mn-ea"/>
              </a:rPr>
              <a:t>sum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len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n-ea"/>
              </a:rPr>
              <a:t>AS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total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n-ea"/>
              </a:rPr>
              <a:t>FROM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films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n-ea"/>
              </a:rPr>
              <a:t>GROUP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n-ea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n-ea"/>
              </a:rPr>
              <a:t>BY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kind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n-ea"/>
              </a:rPr>
              <a:t>HAVING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FF1493"/>
                </a:solidFill>
                <a:effectLst/>
                <a:latin typeface="+mn-ea"/>
              </a:rPr>
              <a:t>sum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len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 &lt;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interval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'5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hours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'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8243A4C-67E2-267B-741B-78AF4FC1F5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820953"/>
              </p:ext>
            </p:extLst>
          </p:nvPr>
        </p:nvGraphicFramePr>
        <p:xfrm>
          <a:off x="493485" y="3324752"/>
          <a:ext cx="10515600" cy="11734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019984802"/>
                    </a:ext>
                  </a:extLst>
                </a:gridCol>
              </a:tblGrid>
              <a:tr h="116737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SELECT distributors.name</a:t>
                      </a:r>
                    </a:p>
                    <a:p>
                      <a:pPr algn="l" fontAlgn="base"/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FROM distributors</a:t>
                      </a:r>
                    </a:p>
                    <a:p>
                      <a:pPr algn="l" fontAlgn="base"/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WHERE distributors.name LIKE 'W%’// </a:t>
                      </a:r>
                      <a:r>
                        <a:rPr lang="en-US" sz="1100" b="0" i="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W</a:t>
                      </a:r>
                      <a:r>
                        <a:rPr lang="ko-KR" altLang="en-US" sz="1100" b="0" i="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로 시작하는 단어를 가져오겠다</a:t>
                      </a:r>
                      <a:endParaRPr lang="en-US" sz="1100" b="0" i="0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highlight>
                          <a:srgbClr val="FFFFFF"/>
                        </a:highlight>
                        <a:latin typeface="Consolas" panose="020B0609020204030204" pitchFamily="49" charset="0"/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UNION</a:t>
                      </a:r>
                    </a:p>
                    <a:p>
                      <a:pPr algn="l" fontAlgn="base"/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SELECT actors.name</a:t>
                      </a:r>
                    </a:p>
                    <a:p>
                      <a:pPr algn="l" fontAlgn="base"/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FROM actors</a:t>
                      </a:r>
                    </a:p>
                    <a:p>
                      <a:pPr algn="l" fontAlgn="base"/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WHERE actors.name LIKE 'W%’;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997292"/>
                  </a:ext>
                </a:extLst>
              </a:tr>
            </a:tbl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68FCBF31-8532-C302-ED6F-53F70D15D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485" y="332491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594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32F3EA1-95E8-F190-9B5E-AAABF619E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600" dirty="0">
                <a:hlinkClick r:id="rId2"/>
              </a:rPr>
              <a:t>INSERT SQL syntax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  <a:p>
            <a:r>
              <a:rPr lang="en-US" altLang="ko-KR" sz="1600" dirty="0" err="1"/>
              <a:t>Product_no</a:t>
            </a:r>
            <a:r>
              <a:rPr lang="en-US" altLang="ko-KR" sz="1600" dirty="0"/>
              <a:t> </a:t>
            </a:r>
            <a:r>
              <a:rPr lang="ko-KR" altLang="en-US" sz="1600" dirty="0"/>
              <a:t>가 </a:t>
            </a:r>
            <a:r>
              <a:rPr lang="en-US" altLang="ko-KR" sz="1600" dirty="0"/>
              <a:t>1,name</a:t>
            </a:r>
            <a:r>
              <a:rPr lang="ko-KR" altLang="en-US" sz="1600" dirty="0"/>
              <a:t>은 </a:t>
            </a:r>
            <a:r>
              <a:rPr lang="en-US" altLang="ko-KR" sz="1600" dirty="0"/>
              <a:t>cheese, price</a:t>
            </a:r>
            <a:r>
              <a:rPr lang="ko-KR" altLang="en-US" sz="1600" dirty="0"/>
              <a:t>가 </a:t>
            </a:r>
            <a:r>
              <a:rPr lang="en-US" altLang="ko-KR" sz="1600" dirty="0"/>
              <a:t>9.99</a:t>
            </a:r>
            <a:r>
              <a:rPr lang="ko-KR" altLang="en-US" sz="1600" dirty="0"/>
              <a:t>인 데이터를 삽입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Column </a:t>
            </a:r>
            <a:r>
              <a:rPr lang="ko-KR" altLang="en-US" sz="1600" dirty="0"/>
              <a:t>을 선택하여 몇가지만 값을 입력가능</a:t>
            </a:r>
            <a:r>
              <a:rPr lang="en-US" altLang="ko-KR" sz="1600" dirty="0"/>
              <a:t>, </a:t>
            </a:r>
            <a:r>
              <a:rPr lang="ko-KR" altLang="en-US" sz="1600" dirty="0"/>
              <a:t>이때 테이블에 </a:t>
            </a:r>
            <a:r>
              <a:rPr lang="en-US" altLang="ko-KR" sz="1600" dirty="0">
                <a:solidFill>
                  <a:srgbClr val="7030A0"/>
                </a:solidFill>
              </a:rPr>
              <a:t>NOT NULL</a:t>
            </a:r>
            <a:r>
              <a:rPr lang="ko-KR" altLang="en-US" sz="1600" dirty="0"/>
              <a:t>이 아닌 컬럼만 생략가능</a:t>
            </a:r>
            <a:endParaRPr lang="en-US" altLang="ko-KR" sz="1600" dirty="0"/>
          </a:p>
          <a:p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  <a:p>
            <a:r>
              <a:rPr lang="ko-KR" altLang="en-US" sz="1600" dirty="0"/>
              <a:t>한번에 </a:t>
            </a:r>
            <a:r>
              <a:rPr lang="ko-KR" altLang="en-US" sz="1600" dirty="0" err="1"/>
              <a:t>여러개의</a:t>
            </a:r>
            <a:r>
              <a:rPr lang="ko-KR" altLang="en-US" sz="1600" dirty="0"/>
              <a:t> </a:t>
            </a:r>
            <a:r>
              <a:rPr lang="en-US" altLang="ko-KR" sz="1600" dirty="0"/>
              <a:t>row</a:t>
            </a:r>
            <a:r>
              <a:rPr lang="ko-KR" altLang="en-US" sz="1600" dirty="0"/>
              <a:t>도 입력가능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36421D-B0AF-60D1-63BD-72AF41288F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INSERT</a:t>
            </a:r>
            <a:endParaRPr lang="ko-KR" altLang="en-US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6CB00EB-4843-A5A5-ABDC-ABC95B217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188" y="1664031"/>
            <a:ext cx="1111132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INSERT INTO </a:t>
            </a:r>
            <a:r>
              <a:rPr kumimoji="0" lang="ko-KR" altLang="ko-KR" sz="10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[ AS </a:t>
            </a:r>
            <a:r>
              <a:rPr kumimoji="0" lang="ko-KR" altLang="ko-KR" sz="10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alias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] [ ( </a:t>
            </a:r>
            <a:r>
              <a:rPr kumimoji="0" lang="ko-KR" altLang="ko-KR" sz="10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[, ...] ) ] 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 OVERRIDING { SYSTEM | USER } VALUE ] { DEFAULT VALUES | VALUES ( { </a:t>
            </a:r>
            <a:r>
              <a:rPr kumimoji="0" lang="ko-KR" altLang="ko-KR" sz="10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expression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| DEFAULT } [, ...] ) [, ...] | </a:t>
            </a:r>
            <a:r>
              <a:rPr kumimoji="0" lang="ko-KR" altLang="ko-KR" sz="10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query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 ON CONFLICT [ </a:t>
            </a:r>
            <a:r>
              <a:rPr kumimoji="0" lang="ko-KR" altLang="ko-KR" sz="10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conflict_target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] </a:t>
            </a:r>
            <a:r>
              <a:rPr kumimoji="0" lang="ko-KR" altLang="ko-KR" sz="10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conflict_action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] [ RETURNING * | </a:t>
            </a:r>
            <a:r>
              <a:rPr kumimoji="0" lang="ko-KR" altLang="ko-KR" sz="10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output_expression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[ [ AS ] </a:t>
            </a:r>
            <a:r>
              <a:rPr kumimoji="0" lang="ko-KR" altLang="ko-KR" sz="10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output_name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] [, ...] ] </a:t>
            </a:r>
            <a:br>
              <a:rPr kumimoji="0" lang="ko-KR" altLang="ko-KR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F58DAA4-43B6-F2CA-8097-413A40A2E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508" y="2510357"/>
            <a:ext cx="1635063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product_no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ko-KR" sz="1000" dirty="0">
                <a:latin typeface="Consolas" panose="020B0609020204030204" pitchFamily="49" charset="0"/>
              </a:rPr>
              <a:t>,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numeric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487B9A-0B05-5EE0-6CBB-22073D32F437}"/>
              </a:ext>
            </a:extLst>
          </p:cNvPr>
          <p:cNvSpPr txBox="1"/>
          <p:nvPr/>
        </p:nvSpPr>
        <p:spPr>
          <a:xfrm>
            <a:off x="587188" y="3715429"/>
            <a:ext cx="6343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7030A0"/>
                </a:solidFill>
              </a:rPr>
              <a:t>INSERT INTO </a:t>
            </a:r>
            <a:r>
              <a:rPr lang="ko-KR" altLang="en-US" dirty="0" err="1"/>
              <a:t>products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7030A0"/>
                </a:solidFill>
              </a:rPr>
              <a:t>VALUES</a:t>
            </a:r>
            <a:r>
              <a:rPr lang="ko-KR" altLang="en-US" dirty="0"/>
              <a:t> (1, '</a:t>
            </a:r>
            <a:r>
              <a:rPr lang="ko-KR" altLang="en-US" dirty="0" err="1"/>
              <a:t>Cheese</a:t>
            </a:r>
            <a:r>
              <a:rPr lang="ko-KR" altLang="en-US" dirty="0"/>
              <a:t>', 9.99);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8A3D87-91A2-9F4D-9E14-B4826E8DA5F4}"/>
              </a:ext>
            </a:extLst>
          </p:cNvPr>
          <p:cNvSpPr txBox="1"/>
          <p:nvPr/>
        </p:nvSpPr>
        <p:spPr>
          <a:xfrm>
            <a:off x="614508" y="4553923"/>
            <a:ext cx="8993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7030A0"/>
                </a:solidFill>
              </a:rPr>
              <a:t>INSERT INTO </a:t>
            </a:r>
            <a:r>
              <a:rPr lang="ko-KR" altLang="en-US" dirty="0" err="1"/>
              <a:t>products</a:t>
            </a:r>
            <a:r>
              <a:rPr lang="ko-KR" altLang="en-US" dirty="0"/>
              <a:t> (</a:t>
            </a:r>
            <a:r>
              <a:rPr lang="ko-KR" altLang="en-US" dirty="0" err="1"/>
              <a:t>product_no</a:t>
            </a:r>
            <a:r>
              <a:rPr lang="ko-KR" altLang="en-US" dirty="0"/>
              <a:t>, </a:t>
            </a:r>
            <a:r>
              <a:rPr lang="ko-KR" altLang="en-US" dirty="0" err="1"/>
              <a:t>name</a:t>
            </a:r>
            <a:r>
              <a:rPr lang="ko-KR" altLang="en-US" dirty="0"/>
              <a:t>) </a:t>
            </a:r>
            <a:r>
              <a:rPr lang="ko-KR" altLang="en-US" dirty="0">
                <a:solidFill>
                  <a:srgbClr val="7030A0"/>
                </a:solidFill>
              </a:rPr>
              <a:t>VALUES</a:t>
            </a:r>
            <a:r>
              <a:rPr lang="ko-KR" altLang="en-US" dirty="0"/>
              <a:t> (1, '</a:t>
            </a:r>
            <a:r>
              <a:rPr lang="ko-KR" altLang="en-US" dirty="0" err="1"/>
              <a:t>Cheese</a:t>
            </a:r>
            <a:r>
              <a:rPr lang="ko-KR" altLang="en-US" dirty="0"/>
              <a:t>');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B03D97-CCFA-1341-15BB-DB48B4C0B603}"/>
              </a:ext>
            </a:extLst>
          </p:cNvPr>
          <p:cNvSpPr txBox="1"/>
          <p:nvPr/>
        </p:nvSpPr>
        <p:spPr>
          <a:xfrm>
            <a:off x="614508" y="5618781"/>
            <a:ext cx="97262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7030A0"/>
                </a:solidFill>
              </a:rPr>
              <a:t>INSERT INTO </a:t>
            </a:r>
            <a:r>
              <a:rPr lang="en-US" altLang="ko-KR" dirty="0"/>
              <a:t>products</a:t>
            </a:r>
            <a:r>
              <a:rPr lang="en-US" altLang="ko-KR" dirty="0">
                <a:solidFill>
                  <a:srgbClr val="7030A0"/>
                </a:solidFill>
              </a:rPr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product_no</a:t>
            </a:r>
            <a:r>
              <a:rPr lang="en-US" altLang="ko-KR" dirty="0"/>
              <a:t>, name, price)</a:t>
            </a:r>
            <a:r>
              <a:rPr lang="en-US" altLang="ko-KR" dirty="0">
                <a:solidFill>
                  <a:srgbClr val="7030A0"/>
                </a:solidFill>
              </a:rPr>
              <a:t> VALUES</a:t>
            </a:r>
          </a:p>
          <a:p>
            <a:r>
              <a:rPr lang="en-US" altLang="ko-KR" dirty="0"/>
              <a:t>   (1, 'Cheese', 9.99),</a:t>
            </a:r>
          </a:p>
          <a:p>
            <a:r>
              <a:rPr lang="en-US" altLang="ko-KR" dirty="0"/>
              <a:t>   (2, 'Bread', 1.99),</a:t>
            </a:r>
          </a:p>
          <a:p>
            <a:r>
              <a:rPr lang="en-US" altLang="ko-KR" dirty="0"/>
              <a:t>   (3, 'Milk', 2.99);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9423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B628C46-87FE-7145-E83D-E6C2BF243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sz="1800" dirty="0">
                <a:hlinkClick r:id="rId2"/>
              </a:rPr>
              <a:t>UPDATE SQL syntax</a:t>
            </a:r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r>
              <a:rPr lang="en-US" altLang="ko-KR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UPDATE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는 이미 데이터베이스에 존재하고 있는 데이터를 수정 할 때 사용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endParaRPr lang="en-US" altLang="ko-KR" sz="1800" dirty="0">
              <a:solidFill>
                <a:srgbClr val="333333"/>
              </a:solidFill>
              <a:highlight>
                <a:srgbClr val="FFFFFF"/>
              </a:highlight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800" dirty="0">
              <a:solidFill>
                <a:srgbClr val="333333"/>
              </a:solidFill>
              <a:highlight>
                <a:srgbClr val="FFFFFF"/>
              </a:highlight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Price</a:t>
            </a:r>
            <a:r>
              <a:rPr lang="ko-KR" altLang="en-US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값이 </a:t>
            </a:r>
            <a:r>
              <a:rPr lang="en-US" altLang="ko-KR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5</a:t>
            </a:r>
            <a:r>
              <a:rPr lang="ko-KR" altLang="en-US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인 레코드의 </a:t>
            </a:r>
            <a:r>
              <a:rPr lang="en-US" altLang="ko-KR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price</a:t>
            </a:r>
            <a:r>
              <a:rPr lang="ko-KR" altLang="en-US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값을 </a:t>
            </a:r>
            <a:r>
              <a:rPr lang="en-US" altLang="ko-KR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10</a:t>
            </a:r>
            <a:r>
              <a:rPr lang="ko-KR" altLang="en-US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으로 갱신</a:t>
            </a:r>
            <a:r>
              <a:rPr lang="en-US" altLang="ko-KR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endParaRPr lang="en-US" altLang="ko-KR" sz="1800" dirty="0">
              <a:solidFill>
                <a:srgbClr val="333333"/>
              </a:solidFill>
              <a:highlight>
                <a:srgbClr val="FFFFFF"/>
              </a:highlight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Products </a:t>
            </a:r>
            <a:r>
              <a:rPr lang="ko-KR" altLang="en-US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테이블에서 모든 레코드의 </a:t>
            </a:r>
            <a:r>
              <a:rPr lang="en-US" altLang="ko-KR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price</a:t>
            </a:r>
            <a:r>
              <a:rPr lang="ko-KR" altLang="en-US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값에 </a:t>
            </a:r>
            <a:r>
              <a:rPr lang="en-US" altLang="ko-KR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1.1</a:t>
            </a:r>
            <a:r>
              <a:rPr lang="ko-KR" altLang="en-US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을 곱하여 갱신</a:t>
            </a:r>
            <a:r>
              <a:rPr lang="en-US" altLang="ko-KR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marL="0" indent="0">
              <a:buNone/>
            </a:pPr>
            <a:endParaRPr lang="en-US" altLang="ko-KR" sz="1800" dirty="0">
              <a:solidFill>
                <a:srgbClr val="333333"/>
              </a:solidFill>
              <a:highlight>
                <a:srgbClr val="FFFFFF"/>
              </a:highlight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800" dirty="0">
              <a:solidFill>
                <a:srgbClr val="333333"/>
              </a:solidFill>
              <a:highlight>
                <a:srgbClr val="FFFFFF"/>
              </a:highlight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800" dirty="0">
              <a:solidFill>
                <a:srgbClr val="333333"/>
              </a:solidFill>
              <a:highlight>
                <a:srgbClr val="FFFFFF"/>
              </a:highlight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800" dirty="0" err="1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Mytable</a:t>
            </a:r>
            <a:r>
              <a:rPr lang="ko-KR" altLang="en-US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에 </a:t>
            </a:r>
            <a:r>
              <a:rPr lang="en-US" altLang="ko-KR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a</a:t>
            </a:r>
            <a:r>
              <a:rPr lang="ko-KR" altLang="en-US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열이 </a:t>
            </a:r>
            <a:r>
              <a:rPr lang="en-US" altLang="ko-KR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0</a:t>
            </a:r>
            <a:r>
              <a:rPr lang="ko-KR" altLang="en-US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보다 큰 레코드들의 </a:t>
            </a:r>
            <a:r>
              <a:rPr lang="en-US" altLang="ko-KR" sz="1800" dirty="0" err="1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a,b,c</a:t>
            </a:r>
            <a:r>
              <a:rPr lang="ko-KR" altLang="en-US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값을 각각 </a:t>
            </a:r>
            <a:r>
              <a:rPr lang="en-US" altLang="ko-KR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5,3,1</a:t>
            </a:r>
            <a:r>
              <a:rPr lang="ko-KR" altLang="en-US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로 갱신</a:t>
            </a:r>
            <a:endParaRPr lang="en-US" altLang="ko-KR" sz="1800" dirty="0">
              <a:solidFill>
                <a:srgbClr val="333333"/>
              </a:solidFill>
              <a:highlight>
                <a:srgbClr val="FFFFFF"/>
              </a:highlight>
              <a:latin typeface="나눔고딕" pitchFamily="2" charset="-127"/>
              <a:ea typeface="나눔고딕" pitchFamily="2" charset="-127"/>
            </a:endParaRPr>
          </a:p>
          <a:p>
            <a:endParaRPr lang="ko-KR" altLang="en-US" sz="18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666862-8DCE-0C07-B57B-446C992406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UPDATE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85DE73-E80F-BC74-A48C-D2937C00D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564" y="1650771"/>
            <a:ext cx="972222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UPDATE [ ONLY ] </a:t>
            </a:r>
            <a:r>
              <a:rPr kumimoji="0" lang="ko-KR" altLang="ko-KR" sz="10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[ * ] [ [ AS ] </a:t>
            </a:r>
            <a:r>
              <a:rPr kumimoji="0" lang="ko-KR" altLang="ko-KR" sz="10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alias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] 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SET { </a:t>
            </a:r>
            <a:r>
              <a:rPr kumimoji="0" lang="ko-KR" altLang="ko-KR" sz="10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{ </a:t>
            </a:r>
            <a:r>
              <a:rPr kumimoji="0" lang="ko-KR" altLang="ko-KR" sz="10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expression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| DEFAULT } | ( </a:t>
            </a:r>
            <a:r>
              <a:rPr kumimoji="0" lang="ko-KR" altLang="ko-KR" sz="10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[, ...] ) = [ ROW ] ( { </a:t>
            </a:r>
            <a:r>
              <a:rPr kumimoji="0" lang="ko-KR" altLang="ko-KR" sz="10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expression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| DEFAULT } [, ...] ) | ( </a:t>
            </a:r>
            <a:r>
              <a:rPr kumimoji="0" lang="ko-KR" altLang="ko-KR" sz="10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[, ...] ) = ( </a:t>
            </a:r>
            <a:r>
              <a:rPr kumimoji="0" lang="ko-KR" altLang="ko-KR" sz="10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sub</a:t>
            </a:r>
            <a:r>
              <a:rPr kumimoji="0" lang="ko-KR" altLang="ko-KR" sz="10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-SELECT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) } [, ...]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 FROM </a:t>
            </a:r>
            <a:r>
              <a:rPr kumimoji="0" lang="ko-KR" altLang="ko-KR" sz="10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from_item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[, ...] ] [ WHERE </a:t>
            </a:r>
            <a:r>
              <a:rPr kumimoji="0" lang="ko-KR" altLang="ko-KR" sz="10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| WHERE CURRENT OF </a:t>
            </a:r>
            <a:r>
              <a:rPr kumimoji="0" lang="ko-KR" altLang="ko-KR" sz="10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cursor_name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] [ RETURNING * | </a:t>
            </a:r>
            <a:r>
              <a:rPr kumimoji="0" lang="ko-KR" altLang="ko-KR" sz="10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output_expression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[ [ AS ] </a:t>
            </a:r>
            <a:r>
              <a:rPr kumimoji="0" lang="ko-KR" altLang="ko-KR" sz="10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output_name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] [, ...] ]</a:t>
            </a:r>
            <a:r>
              <a:rPr kumimoji="0" lang="ko-KR" altLang="ko-KR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D93DFF-063C-DD50-212B-FEE711A2B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589" y="30581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10 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5;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AE7CADC-D78C-D96C-D29C-3AF130AB2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589" y="391605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1.10;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0AB31367-5792-3C3F-A367-2CE1652A4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589" y="51292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mytable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5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3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c = 1 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0;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425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5890C1-206E-4C55-BBEB-EC50A2A348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DELETE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20357F4-F5B8-FB64-0F03-BF69122AD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sz="1800" dirty="0">
                <a:hlinkClick r:id="rId2"/>
              </a:rPr>
              <a:t>DELETE SQL syntax</a:t>
            </a:r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pPr algn="l">
              <a:lnSpc>
                <a:spcPts val="1400"/>
              </a:lnSpc>
            </a:pPr>
            <a:r>
              <a:rPr lang="ko-KR" alt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테이블에서 데이터를 제거 </a:t>
            </a:r>
            <a:r>
              <a:rPr lang="ko-KR" altLang="en-US" sz="18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할때는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DELETE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를 사용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algn="l">
              <a:lnSpc>
                <a:spcPts val="1400"/>
              </a:lnSpc>
            </a:pPr>
            <a:r>
              <a:rPr lang="ko-KR" alt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한번에 한 데이터를 삭제하거나 여러 개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전부를 삭제 할 수도 있</a:t>
            </a:r>
            <a:r>
              <a:rPr lang="ko-KR" altLang="en-US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음</a:t>
            </a:r>
            <a:r>
              <a:rPr lang="en-US" altLang="ko-KR" sz="1800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.</a:t>
            </a:r>
            <a:endParaRPr lang="en-US" altLang="ko-KR" sz="18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나눔고딕" pitchFamily="2" charset="-127"/>
              <a:ea typeface="나눔고딕" pitchFamily="2" charset="-127"/>
            </a:endParaRPr>
          </a:p>
          <a:p>
            <a:pPr algn="l">
              <a:lnSpc>
                <a:spcPts val="1400"/>
              </a:lnSpc>
            </a:pPr>
            <a:r>
              <a:rPr lang="ko-KR" alt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이 때 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primary key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의 값을 알고 있다면 지정한 데이터만 정확하게 삭제 할 수 있음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algn="l">
              <a:lnSpc>
                <a:spcPts val="1400"/>
              </a:lnSpc>
            </a:pPr>
            <a:r>
              <a:rPr lang="en-US" altLang="ko-KR" sz="1800" b="0" i="0" dirty="0">
                <a:solidFill>
                  <a:schemeClr val="accent4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*</a:t>
            </a:r>
            <a:r>
              <a:rPr lang="en-US" altLang="ko-KR" sz="1800" dirty="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drop</a:t>
            </a:r>
            <a:r>
              <a:rPr lang="ko-KR" altLang="en-US" sz="1800" dirty="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은 테이블 삭제</a:t>
            </a:r>
            <a:r>
              <a:rPr lang="en-US" altLang="ko-KR" sz="1800" dirty="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 // delete</a:t>
            </a:r>
            <a:r>
              <a:rPr lang="ko-KR" altLang="en-US" sz="1800" dirty="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는 레코드 삭제</a:t>
            </a:r>
            <a:endParaRPr lang="en-US" altLang="ko-KR" sz="1800" b="0" i="0" dirty="0">
              <a:solidFill>
                <a:schemeClr val="accent4">
                  <a:lumMod val="75000"/>
                </a:schemeClr>
              </a:solidFill>
              <a:effectLst/>
              <a:highlight>
                <a:srgbClr val="FFFFFF"/>
              </a:highlight>
              <a:latin typeface="나눔고딕" pitchFamily="2" charset="-127"/>
              <a:ea typeface="나눔고딕" pitchFamily="2" charset="-127"/>
            </a:endParaRPr>
          </a:p>
          <a:p>
            <a:pPr algn="l">
              <a:lnSpc>
                <a:spcPts val="1400"/>
              </a:lnSpc>
            </a:pPr>
            <a:endParaRPr lang="en-US" altLang="ko-KR" sz="1800" dirty="0">
              <a:solidFill>
                <a:srgbClr val="333333"/>
              </a:solidFill>
              <a:highlight>
                <a:srgbClr val="FFFFFF"/>
              </a:highlight>
              <a:latin typeface="나눔고딕" pitchFamily="2" charset="-127"/>
              <a:ea typeface="나눔고딕" pitchFamily="2" charset="-127"/>
            </a:endParaRPr>
          </a:p>
          <a:p>
            <a:pPr algn="l">
              <a:lnSpc>
                <a:spcPts val="1400"/>
              </a:lnSpc>
            </a:pPr>
            <a:endParaRPr lang="en-US" altLang="ko-KR" sz="1800" dirty="0"/>
          </a:p>
          <a:p>
            <a:pPr algn="l">
              <a:lnSpc>
                <a:spcPts val="1400"/>
              </a:lnSpc>
            </a:pPr>
            <a:endParaRPr lang="en-US" altLang="ko-KR" sz="1800" dirty="0"/>
          </a:p>
          <a:p>
            <a:pPr algn="l">
              <a:lnSpc>
                <a:spcPts val="1400"/>
              </a:lnSpc>
            </a:pPr>
            <a:endParaRPr lang="en-US" altLang="ko-KR" sz="1800" dirty="0"/>
          </a:p>
          <a:p>
            <a:pPr algn="l">
              <a:lnSpc>
                <a:spcPts val="1400"/>
              </a:lnSpc>
            </a:pPr>
            <a:r>
              <a:rPr lang="ko-KR" altLang="en-US" sz="1800" dirty="0"/>
              <a:t>테이블에서 </a:t>
            </a:r>
            <a:r>
              <a:rPr lang="en-US" altLang="ko-KR" sz="1800" dirty="0"/>
              <a:t>price</a:t>
            </a:r>
            <a:r>
              <a:rPr lang="ko-KR" altLang="en-US" sz="1800" dirty="0"/>
              <a:t>값이 </a:t>
            </a:r>
            <a:r>
              <a:rPr lang="en-US" altLang="ko-KR" sz="1800" dirty="0"/>
              <a:t>10</a:t>
            </a:r>
            <a:r>
              <a:rPr lang="ko-KR" altLang="en-US" sz="1800" dirty="0"/>
              <a:t>인 행을 삭제</a:t>
            </a:r>
            <a:r>
              <a:rPr lang="en-US" altLang="ko-KR" sz="1800" dirty="0"/>
              <a:t>.</a:t>
            </a:r>
          </a:p>
          <a:p>
            <a:pPr algn="l">
              <a:lnSpc>
                <a:spcPts val="1400"/>
              </a:lnSpc>
            </a:pPr>
            <a:endParaRPr lang="en-US" altLang="ko-KR" sz="1800" dirty="0"/>
          </a:p>
          <a:p>
            <a:pPr algn="l">
              <a:lnSpc>
                <a:spcPts val="1400"/>
              </a:lnSpc>
            </a:pPr>
            <a:endParaRPr lang="en-US" altLang="ko-KR" sz="1800" dirty="0"/>
          </a:p>
          <a:p>
            <a:pPr algn="l">
              <a:lnSpc>
                <a:spcPts val="1400"/>
              </a:lnSpc>
            </a:pPr>
            <a:endParaRPr lang="en-US" altLang="ko-KR" sz="1800" dirty="0"/>
          </a:p>
          <a:p>
            <a:pPr algn="l">
              <a:lnSpc>
                <a:spcPts val="1400"/>
              </a:lnSpc>
            </a:pPr>
            <a:r>
              <a:rPr lang="en-US" altLang="ko-KR" sz="1800" dirty="0"/>
              <a:t>Products </a:t>
            </a:r>
            <a:r>
              <a:rPr lang="ko-KR" altLang="en-US" sz="1800" dirty="0"/>
              <a:t>테이블의 모든 행을 삭제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0C247F2-D185-313E-FC8F-8B3E77339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48" y="1648541"/>
            <a:ext cx="92047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ko-KR" altLang="ko-KR" sz="1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 FROM [ ONLY ] </a:t>
            </a:r>
            <a:r>
              <a:rPr lang="ko-KR" altLang="ko-KR" sz="10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ko-KR" altLang="ko-KR" sz="1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 * ] [ [ AS ] </a:t>
            </a:r>
            <a:r>
              <a:rPr lang="ko-KR" altLang="ko-KR" sz="10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alias</a:t>
            </a:r>
            <a:r>
              <a:rPr lang="ko-KR" altLang="ko-KR" sz="1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] [ USING </a:t>
            </a:r>
            <a:r>
              <a:rPr lang="ko-KR" altLang="ko-KR" sz="10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from_item</a:t>
            </a:r>
            <a:r>
              <a:rPr lang="ko-KR" altLang="ko-KR" sz="1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[, ...] ] 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ko-KR" altLang="ko-KR" sz="1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 WHERE </a:t>
            </a:r>
            <a:r>
              <a:rPr lang="ko-KR" altLang="ko-KR" sz="10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ko-KR" altLang="ko-KR" sz="1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| WHERE CURRENT OF </a:t>
            </a:r>
            <a:r>
              <a:rPr lang="ko-KR" altLang="ko-KR" sz="10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cursor_name</a:t>
            </a:r>
            <a:r>
              <a:rPr lang="ko-KR" altLang="ko-KR" sz="1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] [ RETURNING * | </a:t>
            </a:r>
            <a:r>
              <a:rPr lang="ko-KR" altLang="ko-KR" sz="10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output_expression</a:t>
            </a:r>
            <a:r>
              <a:rPr lang="ko-KR" altLang="ko-KR" sz="1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 [ AS ] </a:t>
            </a:r>
            <a:r>
              <a:rPr lang="ko-KR" altLang="ko-KR" sz="10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output_name</a:t>
            </a:r>
            <a:r>
              <a:rPr lang="ko-KR" altLang="ko-KR" sz="1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] [, ...] ]</a:t>
            </a:r>
            <a:r>
              <a:rPr lang="ko-KR" altLang="ko-KR" sz="400" dirty="0"/>
              <a:t> </a:t>
            </a:r>
            <a:endParaRPr lang="ko-KR" altLang="ko-KR" sz="1800" dirty="0"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DF892AD-677E-5E4A-4572-50A4C1E47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48" y="352779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0CCDE19-BFF1-A451-498D-BE24F6920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48" y="505401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AA95A491-918F-D15E-0E39-63D84DDF6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48" y="3710420"/>
            <a:ext cx="120545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DELETE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10;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1707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012CEE8-2CEA-A621-95C9-3CF41E81C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/>
              <a:t>부서 테이블 생성</a:t>
            </a:r>
            <a:endParaRPr lang="en-US" altLang="ko-KR" dirty="0"/>
          </a:p>
          <a:p>
            <a:pPr lvl="1"/>
            <a:r>
              <a:rPr lang="en-US" altLang="ko-KR" dirty="0"/>
              <a:t>CREATE TABLE DEPARTMENT</a:t>
            </a:r>
          </a:p>
          <a:p>
            <a:pPr lvl="1"/>
            <a:r>
              <a:rPr lang="en-US" altLang="ko-KR" dirty="0" err="1"/>
              <a:t>DataType</a:t>
            </a:r>
            <a:endParaRPr lang="en-US" altLang="ko-KR" dirty="0"/>
          </a:p>
          <a:p>
            <a:pPr lvl="2"/>
            <a:r>
              <a:rPr lang="en-US" altLang="ko-KR" dirty="0"/>
              <a:t>No </a:t>
            </a:r>
            <a:r>
              <a:rPr lang="en-US" altLang="ko-KR" dirty="0" err="1"/>
              <a:t>bigint</a:t>
            </a:r>
            <a:endParaRPr lang="en-US" altLang="ko-KR" dirty="0"/>
          </a:p>
          <a:p>
            <a:pPr lvl="2"/>
            <a:r>
              <a:rPr lang="en-US" altLang="ko-KR" dirty="0"/>
              <a:t>Name varchar(3)</a:t>
            </a:r>
          </a:p>
          <a:p>
            <a:endParaRPr lang="en-US" altLang="ko-KR" dirty="0"/>
          </a:p>
          <a:p>
            <a:r>
              <a:rPr lang="ko-KR" altLang="en-US" dirty="0"/>
              <a:t>테이블 변경</a:t>
            </a:r>
            <a:endParaRPr lang="en-US" altLang="ko-KR" dirty="0"/>
          </a:p>
          <a:p>
            <a:pPr lvl="1"/>
            <a:r>
              <a:rPr lang="en-US" altLang="ko-KR" dirty="0"/>
              <a:t>ALTER TABLE DEPARTMENT ...</a:t>
            </a:r>
          </a:p>
          <a:p>
            <a:pPr lvl="2"/>
            <a:r>
              <a:rPr lang="ko-KR" altLang="en-US" dirty="0"/>
              <a:t>부서 테이블의 </a:t>
            </a:r>
            <a:r>
              <a:rPr lang="en-US" altLang="ko-KR" dirty="0"/>
              <a:t>no column</a:t>
            </a:r>
            <a:r>
              <a:rPr lang="ko-KR" altLang="en-US" dirty="0"/>
              <a:t>을 </a:t>
            </a:r>
            <a:r>
              <a:rPr lang="ko-KR" altLang="en-US" dirty="0" err="1"/>
              <a:t>기본키</a:t>
            </a:r>
            <a:r>
              <a:rPr lang="en-US" altLang="ko-KR" dirty="0"/>
              <a:t>(primary</a:t>
            </a:r>
            <a:r>
              <a:rPr lang="ko-KR" altLang="en-US" dirty="0"/>
              <a:t> </a:t>
            </a:r>
            <a:r>
              <a:rPr lang="en-US" altLang="ko-KR" dirty="0"/>
              <a:t>key)</a:t>
            </a:r>
            <a:r>
              <a:rPr lang="ko-KR" altLang="en-US" dirty="0"/>
              <a:t>로 설정</a:t>
            </a:r>
            <a:endParaRPr lang="en-US" altLang="ko-KR" dirty="0"/>
          </a:p>
          <a:p>
            <a:pPr lvl="2"/>
            <a:r>
              <a:rPr lang="ko-KR" altLang="en-US" dirty="0"/>
              <a:t>부서 테이블에 지역 컬럼 </a:t>
            </a:r>
            <a:r>
              <a:rPr lang="en-US" altLang="ko-KR" dirty="0"/>
              <a:t>“area” </a:t>
            </a:r>
            <a:r>
              <a:rPr lang="ko-KR" altLang="en-US" dirty="0"/>
              <a:t>를 추가</a:t>
            </a:r>
            <a:r>
              <a:rPr lang="en-US" altLang="ko-KR" dirty="0"/>
              <a:t>, Data type</a:t>
            </a:r>
            <a:r>
              <a:rPr lang="ko-KR" altLang="en-US" dirty="0"/>
              <a:t>은 </a:t>
            </a:r>
            <a:r>
              <a:rPr lang="en-US" altLang="ko-KR" dirty="0">
                <a:solidFill>
                  <a:schemeClr val="accent1"/>
                </a:solidFill>
              </a:rPr>
              <a:t>varchar(20)</a:t>
            </a:r>
            <a:r>
              <a:rPr lang="ko-KR" altLang="en-US" dirty="0"/>
              <a:t>으로</a:t>
            </a:r>
            <a:r>
              <a:rPr lang="en-US" altLang="ko-KR" dirty="0"/>
              <a:t>.</a:t>
            </a:r>
          </a:p>
          <a:p>
            <a:pPr lvl="3"/>
            <a:r>
              <a:rPr lang="en-US" altLang="ko-KR" dirty="0"/>
              <a:t>Hint</a:t>
            </a:r>
          </a:p>
          <a:p>
            <a:pPr lvl="4"/>
            <a:r>
              <a:rPr lang="en-US" altLang="ko-KR" dirty="0">
                <a:solidFill>
                  <a:srgbClr val="7030A0"/>
                </a:solidFill>
              </a:rPr>
              <a:t>ADD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7030A0"/>
                </a:solidFill>
              </a:rPr>
              <a:t>TABLE</a:t>
            </a:r>
            <a:r>
              <a:rPr lang="en-US" altLang="ko-KR" dirty="0"/>
              <a:t> DEPARTMENT </a:t>
            </a:r>
            <a:r>
              <a:rPr lang="en-US" altLang="ko-KR" dirty="0">
                <a:solidFill>
                  <a:srgbClr val="7030A0"/>
                </a:solidFill>
              </a:rPr>
              <a:t>COLUMN</a:t>
            </a:r>
            <a:r>
              <a:rPr lang="en-US" altLang="ko-KR" dirty="0"/>
              <a:t> “area” datatype(length);</a:t>
            </a:r>
          </a:p>
          <a:p>
            <a:pPr lvl="2"/>
            <a:r>
              <a:rPr lang="ko-KR" altLang="en-US" dirty="0"/>
              <a:t>지역</a:t>
            </a:r>
            <a:r>
              <a:rPr lang="en-US" altLang="ko-KR" dirty="0"/>
              <a:t>(area)</a:t>
            </a:r>
            <a:r>
              <a:rPr lang="ko-KR" altLang="en-US" dirty="0"/>
              <a:t> 컬럼에 </a:t>
            </a:r>
            <a:r>
              <a:rPr lang="en-US" altLang="ko-KR" dirty="0"/>
              <a:t>NOT NULL </a:t>
            </a:r>
            <a:r>
              <a:rPr lang="ko-KR" altLang="en-US" dirty="0"/>
              <a:t>제약 조건 추가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제약 조건 지역</a:t>
            </a:r>
            <a:r>
              <a:rPr lang="en-US" altLang="ko-KR" dirty="0"/>
              <a:t>(area)</a:t>
            </a:r>
            <a:r>
              <a:rPr lang="ko-KR" altLang="en-US" dirty="0"/>
              <a:t> 컬럼은 </a:t>
            </a:r>
            <a:r>
              <a:rPr lang="en-US" altLang="ko-KR" dirty="0"/>
              <a:t>(‘</a:t>
            </a:r>
            <a:r>
              <a:rPr lang="ko-KR" altLang="en-US" dirty="0"/>
              <a:t>전주</a:t>
            </a:r>
            <a:r>
              <a:rPr lang="en-US" altLang="ko-KR" dirty="0"/>
              <a:t>’ ,’</a:t>
            </a:r>
            <a:r>
              <a:rPr lang="ko-KR" altLang="en-US" dirty="0"/>
              <a:t>군산</a:t>
            </a:r>
            <a:r>
              <a:rPr lang="en-US" altLang="ko-KR" dirty="0"/>
              <a:t>’, ‘</a:t>
            </a:r>
            <a:r>
              <a:rPr lang="ko-KR" altLang="en-US" dirty="0"/>
              <a:t>김제</a:t>
            </a:r>
            <a:r>
              <a:rPr lang="en-US" altLang="ko-KR" dirty="0"/>
              <a:t>’) </a:t>
            </a:r>
            <a:r>
              <a:rPr lang="ko-KR" altLang="en-US" dirty="0"/>
              <a:t>중 하나만을 </a:t>
            </a:r>
            <a:r>
              <a:rPr lang="ko-KR" altLang="en-US" dirty="0" err="1"/>
              <a:t>가질수있음</a:t>
            </a:r>
            <a:r>
              <a:rPr lang="en-US" altLang="ko-KR" dirty="0"/>
              <a:t>.</a:t>
            </a:r>
          </a:p>
          <a:p>
            <a:pPr lvl="3"/>
            <a:r>
              <a:rPr lang="en-US" altLang="ko-KR" dirty="0"/>
              <a:t>Hint</a:t>
            </a:r>
          </a:p>
          <a:p>
            <a:pPr lvl="4"/>
            <a:r>
              <a:rPr lang="en-US" altLang="ko-KR" dirty="0">
                <a:solidFill>
                  <a:srgbClr val="7030A0"/>
                </a:solidFill>
              </a:rPr>
              <a:t>ADD CONSTRAINT Check</a:t>
            </a:r>
            <a:r>
              <a:rPr lang="en-US" altLang="ko-KR" dirty="0"/>
              <a:t> (AREA IN (‘</a:t>
            </a:r>
            <a:r>
              <a:rPr lang="en-US" altLang="ko-KR" dirty="0" err="1"/>
              <a:t>cityname</a:t>
            </a:r>
            <a:r>
              <a:rPr lang="en-US" altLang="ko-KR" dirty="0"/>
              <a:t>’, ... , ) ); </a:t>
            </a:r>
            <a:r>
              <a:rPr lang="ko-KR" altLang="en-US" dirty="0"/>
              <a:t>제약을 통해 가능</a:t>
            </a:r>
            <a:r>
              <a:rPr lang="en-US" altLang="ko-KR" dirty="0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CF6904-0540-AEFB-4004-A2E6135D9A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실습 과제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F4319C5-B345-065A-E3B1-4F969B2F4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601469"/>
              </p:ext>
            </p:extLst>
          </p:nvPr>
        </p:nvGraphicFramePr>
        <p:xfrm>
          <a:off x="5887597" y="1546661"/>
          <a:ext cx="484094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471">
                  <a:extLst>
                    <a:ext uri="{9D8B030D-6E8A-4147-A177-3AD203B41FA5}">
                      <a16:colId xmlns:a16="http://schemas.microsoft.com/office/drawing/2014/main" val="1533251483"/>
                    </a:ext>
                  </a:extLst>
                </a:gridCol>
                <a:gridCol w="2420471">
                  <a:extLst>
                    <a:ext uri="{9D8B030D-6E8A-4147-A177-3AD203B41FA5}">
                      <a16:colId xmlns:a16="http://schemas.microsoft.com/office/drawing/2014/main" val="23952335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Name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667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842992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F4308DC-E880-ECAD-9370-7B61A5DFF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769044"/>
              </p:ext>
            </p:extLst>
          </p:nvPr>
        </p:nvGraphicFramePr>
        <p:xfrm>
          <a:off x="5887598" y="2875206"/>
          <a:ext cx="484094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647">
                  <a:extLst>
                    <a:ext uri="{9D8B030D-6E8A-4147-A177-3AD203B41FA5}">
                      <a16:colId xmlns:a16="http://schemas.microsoft.com/office/drawing/2014/main" val="1533251483"/>
                    </a:ext>
                  </a:extLst>
                </a:gridCol>
                <a:gridCol w="1613647">
                  <a:extLst>
                    <a:ext uri="{9D8B030D-6E8A-4147-A177-3AD203B41FA5}">
                      <a16:colId xmlns:a16="http://schemas.microsoft.com/office/drawing/2014/main" val="2395233586"/>
                    </a:ext>
                  </a:extLst>
                </a:gridCol>
                <a:gridCol w="1613647">
                  <a:extLst>
                    <a:ext uri="{9D8B030D-6E8A-4147-A177-3AD203B41FA5}">
                      <a16:colId xmlns:a16="http://schemas.microsoft.com/office/drawing/2014/main" val="35904231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Area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667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‘</a:t>
                      </a:r>
                      <a:r>
                        <a:rPr lang="ko-KR" altLang="en-US" dirty="0"/>
                        <a:t>전주</a:t>
                      </a:r>
                      <a:r>
                        <a:rPr lang="en-US" altLang="ko-KR" dirty="0"/>
                        <a:t>’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842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2763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C7F3F4E-6359-F13A-0342-E01851776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부서명</a:t>
            </a:r>
            <a:r>
              <a:rPr lang="en-US" altLang="ko-KR" dirty="0"/>
              <a:t>(name)</a:t>
            </a:r>
            <a:r>
              <a:rPr lang="ko-KR" altLang="en-US" dirty="0"/>
              <a:t>의 길이를 </a:t>
            </a:r>
            <a:r>
              <a:rPr lang="en-US" altLang="ko-KR" dirty="0"/>
              <a:t>30</a:t>
            </a:r>
            <a:r>
              <a:rPr lang="ko-KR" altLang="en-US" dirty="0"/>
              <a:t>으로 변경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hint</a:t>
            </a:r>
          </a:p>
          <a:p>
            <a:pPr lvl="2"/>
            <a:r>
              <a:rPr lang="en-US" altLang="ko-KR" dirty="0">
                <a:solidFill>
                  <a:srgbClr val="7030A0"/>
                </a:solidFill>
              </a:rPr>
              <a:t>ALTER TABLE</a:t>
            </a:r>
            <a:r>
              <a:rPr lang="en-US" altLang="ko-KR" dirty="0"/>
              <a:t> </a:t>
            </a:r>
            <a:r>
              <a:rPr lang="en-US" altLang="ko-KR" dirty="0" err="1"/>
              <a:t>table_name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7030A0"/>
                </a:solidFill>
              </a:rPr>
              <a:t>ALTER COLUMN </a:t>
            </a:r>
            <a:r>
              <a:rPr lang="en-US" altLang="ko-KR" dirty="0" err="1"/>
              <a:t>table_column_name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7030A0"/>
                </a:solidFill>
              </a:rPr>
              <a:t>type</a:t>
            </a:r>
            <a:r>
              <a:rPr lang="en-US" altLang="ko-KR" dirty="0"/>
              <a:t> datatype(length);</a:t>
            </a:r>
          </a:p>
          <a:p>
            <a:endParaRPr lang="en-US" altLang="ko-KR" dirty="0"/>
          </a:p>
          <a:p>
            <a:r>
              <a:rPr lang="ko-KR" altLang="en-US" dirty="0"/>
              <a:t>부서명</a:t>
            </a:r>
            <a:r>
              <a:rPr lang="en-US" altLang="ko-KR" dirty="0"/>
              <a:t>(name)</a:t>
            </a:r>
            <a:r>
              <a:rPr lang="ko-KR" altLang="en-US" dirty="0"/>
              <a:t>에 </a:t>
            </a:r>
            <a:r>
              <a:rPr lang="en-US" altLang="ko-KR" dirty="0"/>
              <a:t>NOT_NULL </a:t>
            </a:r>
            <a:r>
              <a:rPr lang="ko-KR" altLang="en-US" dirty="0"/>
              <a:t>추가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hint</a:t>
            </a:r>
          </a:p>
          <a:p>
            <a:pPr lvl="2"/>
            <a:r>
              <a:rPr lang="en-US" altLang="ko-KR" dirty="0">
                <a:solidFill>
                  <a:srgbClr val="7030A0"/>
                </a:solidFill>
              </a:rPr>
              <a:t>ALTER TABLE</a:t>
            </a:r>
            <a:r>
              <a:rPr lang="en-US" altLang="ko-KR" dirty="0"/>
              <a:t> ... </a:t>
            </a:r>
            <a:r>
              <a:rPr lang="en-US" altLang="ko-KR" dirty="0">
                <a:solidFill>
                  <a:srgbClr val="7030A0"/>
                </a:solidFill>
              </a:rPr>
              <a:t>ALTER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7030A0"/>
                </a:solidFill>
              </a:rPr>
              <a:t>COLUMN</a:t>
            </a:r>
            <a:r>
              <a:rPr lang="en-US" altLang="ko-KR" dirty="0"/>
              <a:t> </a:t>
            </a:r>
            <a:r>
              <a:rPr lang="en-US" altLang="ko-KR" dirty="0" err="1"/>
              <a:t>column_name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7030A0"/>
                </a:solidFill>
              </a:rPr>
              <a:t>SET</a:t>
            </a:r>
            <a:r>
              <a:rPr lang="en-US" altLang="ko-KR" dirty="0"/>
              <a:t> NOT NULL;</a:t>
            </a:r>
          </a:p>
          <a:p>
            <a:endParaRPr lang="en-US" altLang="ko-KR" dirty="0"/>
          </a:p>
          <a:p>
            <a:r>
              <a:rPr lang="ko-KR" altLang="en-US" dirty="0"/>
              <a:t>부서명</a:t>
            </a:r>
            <a:r>
              <a:rPr lang="en-US" altLang="ko-KR" dirty="0"/>
              <a:t>(name)</a:t>
            </a:r>
            <a:r>
              <a:rPr lang="ko-KR" altLang="en-US" dirty="0"/>
              <a:t>에 </a:t>
            </a:r>
            <a:r>
              <a:rPr lang="en-US" altLang="ko-KR" dirty="0"/>
              <a:t>UNIQUE </a:t>
            </a:r>
            <a:r>
              <a:rPr lang="ko-KR" altLang="en-US" dirty="0"/>
              <a:t>제약 조건 설정</a:t>
            </a:r>
            <a:endParaRPr lang="en-US" altLang="ko-KR" dirty="0"/>
          </a:p>
          <a:p>
            <a:pPr lvl="1"/>
            <a:r>
              <a:rPr lang="en-US" altLang="ko-KR" dirty="0"/>
              <a:t>hint</a:t>
            </a:r>
          </a:p>
          <a:p>
            <a:pPr lvl="2"/>
            <a:r>
              <a:rPr lang="en-US" altLang="ko-KR" dirty="0">
                <a:solidFill>
                  <a:srgbClr val="7030A0"/>
                </a:solidFill>
              </a:rPr>
              <a:t>ALTER TABLE ... ADD COLUMN CONSTRAINT </a:t>
            </a:r>
            <a:r>
              <a:rPr lang="en-US" altLang="ko-KR" dirty="0" err="1"/>
              <a:t>constraint_name</a:t>
            </a:r>
            <a:r>
              <a:rPr lang="en-US" altLang="ko-KR" dirty="0">
                <a:solidFill>
                  <a:srgbClr val="7030A0"/>
                </a:solidFill>
              </a:rPr>
              <a:t> unique(</a:t>
            </a:r>
            <a:r>
              <a:rPr lang="en-US" altLang="ko-KR" dirty="0" err="1"/>
              <a:t>column_name</a:t>
            </a:r>
            <a:r>
              <a:rPr lang="en-US" altLang="ko-KR" dirty="0">
                <a:solidFill>
                  <a:srgbClr val="7030A0"/>
                </a:solidFill>
              </a:rPr>
              <a:t>);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D70767-4876-95CB-AEFB-14EA5DB907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실습 과제</a:t>
            </a:r>
          </a:p>
        </p:txBody>
      </p:sp>
    </p:spTree>
    <p:extLst>
      <p:ext uri="{BB962C8B-B14F-4D97-AF65-F5344CB8AC3E}">
        <p14:creationId xmlns:p14="http://schemas.microsoft.com/office/powerpoint/2010/main" val="11419024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14F1940-1C0F-E055-1C57-317062B9D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테이블의 제약조건을 조회하는 </a:t>
            </a:r>
            <a:r>
              <a:rPr lang="en-US" altLang="ko-KR" dirty="0"/>
              <a:t>query</a:t>
            </a:r>
            <a:r>
              <a:rPr lang="ko-KR" altLang="en-US" dirty="0" err="1"/>
              <a:t>실행시</a:t>
            </a:r>
            <a:r>
              <a:rPr lang="ko-KR" altLang="en-US" dirty="0"/>
              <a:t> 다음과 같이 나온 테이블을 스크린샷 </a:t>
            </a:r>
            <a:r>
              <a:rPr lang="ko-KR" altLang="en-US" dirty="0" err="1"/>
              <a:t>찍을것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사진</a:t>
            </a:r>
            <a:r>
              <a:rPr lang="en-US" altLang="ko-KR" dirty="0"/>
              <a:t>1). 	</a:t>
            </a:r>
          </a:p>
          <a:p>
            <a:pPr lvl="1"/>
            <a:r>
              <a:rPr lang="en-US" altLang="ko-KR" dirty="0" err="1"/>
              <a:t>Contraint_name</a:t>
            </a:r>
            <a:r>
              <a:rPr lang="ko-KR" altLang="en-US" dirty="0"/>
              <a:t>값은 어떠한 값이 들어가도 상관없음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앞의 제약조건에 따른 </a:t>
            </a:r>
            <a:r>
              <a:rPr lang="en-US" altLang="ko-KR" dirty="0" err="1"/>
              <a:t>constraint_type</a:t>
            </a:r>
            <a:r>
              <a:rPr lang="ko-KR" altLang="en-US" dirty="0"/>
              <a:t>은 아래와 같이 총 </a:t>
            </a:r>
            <a:r>
              <a:rPr lang="en-US" altLang="ko-KR" dirty="0"/>
              <a:t>6</a:t>
            </a:r>
            <a:r>
              <a:rPr lang="ko-KR" altLang="en-US" dirty="0"/>
              <a:t>개를 </a:t>
            </a:r>
            <a:r>
              <a:rPr lang="ko-KR" altLang="en-US" dirty="0" err="1"/>
              <a:t>가져야함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C73980-029B-371A-CAF1-37EAB88F7D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실습과제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A5C0996-EEF8-A730-E62B-DED35C1A4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140" y="3095696"/>
            <a:ext cx="7670412" cy="122690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E1DD8FE-DF81-307A-9D7D-933D0463D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527" y="4356778"/>
            <a:ext cx="10845053" cy="225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2350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E9A0E76-85A7-76D6-E1EA-5A46C071E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생성한 부서 테이블 컬럼 </a:t>
            </a:r>
            <a:r>
              <a:rPr lang="ko-KR" altLang="en-US" dirty="0" err="1"/>
              <a:t>조회시</a:t>
            </a:r>
            <a:r>
              <a:rPr lang="ko-KR" altLang="en-US" dirty="0"/>
              <a:t> 다음과 같이 나온 화면을 스크린샷으로 찍을 것 </a:t>
            </a:r>
            <a:r>
              <a:rPr lang="en-US" altLang="ko-KR" dirty="0"/>
              <a:t>(</a:t>
            </a:r>
            <a:r>
              <a:rPr lang="ko-KR" altLang="en-US" dirty="0"/>
              <a:t>사진</a:t>
            </a:r>
            <a:r>
              <a:rPr lang="en-US" altLang="ko-KR" dirty="0"/>
              <a:t>2).</a:t>
            </a:r>
          </a:p>
          <a:p>
            <a:pPr lvl="1"/>
            <a:r>
              <a:rPr lang="ko-KR" altLang="en-US" dirty="0"/>
              <a:t>제약 조건에 따라 </a:t>
            </a:r>
            <a:r>
              <a:rPr lang="en-US" altLang="ko-KR" dirty="0" err="1"/>
              <a:t>no,name,area</a:t>
            </a:r>
            <a:r>
              <a:rPr lang="ko-KR" altLang="en-US" dirty="0"/>
              <a:t>는 </a:t>
            </a:r>
            <a:r>
              <a:rPr lang="en-US" altLang="ko-KR" dirty="0"/>
              <a:t>nullable</a:t>
            </a:r>
            <a:r>
              <a:rPr lang="ko-KR" altLang="en-US" dirty="0"/>
              <a:t>값이 </a:t>
            </a:r>
            <a:r>
              <a:rPr lang="en-US" altLang="ko-KR" dirty="0"/>
              <a:t>no </a:t>
            </a:r>
            <a:r>
              <a:rPr lang="ko-KR" altLang="en-US" dirty="0"/>
              <a:t>여야 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Name</a:t>
            </a:r>
            <a:r>
              <a:rPr lang="ko-KR" altLang="en-US" dirty="0"/>
              <a:t>과</a:t>
            </a:r>
            <a:r>
              <a:rPr lang="en-US" altLang="ko-KR" dirty="0"/>
              <a:t>,area</a:t>
            </a:r>
            <a:r>
              <a:rPr lang="ko-KR" altLang="en-US" dirty="0"/>
              <a:t>는 각기 </a:t>
            </a:r>
            <a:r>
              <a:rPr lang="en-US" altLang="ko-KR" dirty="0"/>
              <a:t>30,20</a:t>
            </a:r>
            <a:r>
              <a:rPr lang="ko-KR" altLang="en-US" dirty="0"/>
              <a:t>자만을 최대로 가질 수 있음을 확인 가능 해야함</a:t>
            </a:r>
            <a:r>
              <a:rPr lang="en-US" altLang="ko-KR" dirty="0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F4ACCC-5D0E-0CA6-6D66-33F9A87B52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실습과제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5698EA3-B11D-44C1-217A-227FE5FF1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240" y="3101751"/>
            <a:ext cx="8791555" cy="363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748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9A66DAC-60D5-CAEB-0599-F4B7EF4CC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다음의 </a:t>
            </a:r>
            <a:r>
              <a:rPr lang="en-US" altLang="ko-KR" dirty="0"/>
              <a:t>insert </a:t>
            </a:r>
            <a:r>
              <a:rPr lang="ko-KR" altLang="en-US" dirty="0"/>
              <a:t>구문을 하나씩 </a:t>
            </a:r>
            <a:r>
              <a:rPr lang="ko-KR" altLang="en-US"/>
              <a:t>수행하고 질의 결과 메시지를 각각 </a:t>
            </a:r>
            <a:r>
              <a:rPr lang="ko-KR" altLang="en-US" dirty="0" err="1"/>
              <a:t>캡처할것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사진 </a:t>
            </a:r>
            <a:r>
              <a:rPr lang="en-US" altLang="ko-KR" dirty="0"/>
              <a:t>3~8).</a:t>
            </a:r>
          </a:p>
          <a:p>
            <a:pPr lvl="1"/>
            <a:r>
              <a:rPr lang="ko-KR" altLang="en-US" dirty="0"/>
              <a:t>캡처한 모든 메시지를 </a:t>
            </a:r>
            <a:r>
              <a:rPr lang="en-US" altLang="ko-KR" dirty="0"/>
              <a:t>zip</a:t>
            </a:r>
            <a:r>
              <a:rPr lang="ko-KR" altLang="en-US" dirty="0"/>
              <a:t>파일로 묶어 과제 게시판에 업로드</a:t>
            </a:r>
            <a:r>
              <a:rPr lang="en-US" altLang="ko-KR" dirty="0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FBAB6F-33F2-B83E-DAE7-FE508F36BD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실습과제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3021EB1-7F79-843C-D976-8C1DC4AFB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980" y="2906907"/>
            <a:ext cx="7335777" cy="362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373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2028</TotalTime>
  <Words>2482</Words>
  <Application>Microsoft Office PowerPoint</Application>
  <PresentationFormat>와이드스크린</PresentationFormat>
  <Paragraphs>502</Paragraphs>
  <Slides>26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5" baseType="lpstr">
      <vt:lpstr>Arial Unicode MS</vt:lpstr>
      <vt:lpstr>나눔고딕</vt:lpstr>
      <vt:lpstr>맑은 고딕</vt:lpstr>
      <vt:lpstr>Arial</vt:lpstr>
      <vt:lpstr>Cambria Math</vt:lpstr>
      <vt:lpstr>Consolas</vt:lpstr>
      <vt:lpstr>Courier New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류동준</dc:creator>
  <cp:lastModifiedBy>수찬 이</cp:lastModifiedBy>
  <cp:revision>436</cp:revision>
  <dcterms:created xsi:type="dcterms:W3CDTF">2023-12-08T12:55:35Z</dcterms:created>
  <dcterms:modified xsi:type="dcterms:W3CDTF">2024-04-11T05:46:42Z</dcterms:modified>
</cp:coreProperties>
</file>