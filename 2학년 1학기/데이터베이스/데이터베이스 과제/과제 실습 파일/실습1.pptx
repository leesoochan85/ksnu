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814" r:id="rId2"/>
    <p:sldId id="612" r:id="rId3"/>
    <p:sldId id="626" r:id="rId4"/>
    <p:sldId id="929" r:id="rId5"/>
    <p:sldId id="617" r:id="rId6"/>
    <p:sldId id="627" r:id="rId7"/>
    <p:sldId id="618" r:id="rId8"/>
    <p:sldId id="900" r:id="rId9"/>
    <p:sldId id="903" r:id="rId10"/>
    <p:sldId id="931" r:id="rId11"/>
    <p:sldId id="930" r:id="rId12"/>
    <p:sldId id="619" r:id="rId13"/>
    <p:sldId id="620" r:id="rId14"/>
    <p:sldId id="628" r:id="rId15"/>
    <p:sldId id="611" r:id="rId16"/>
    <p:sldId id="904" r:id="rId17"/>
    <p:sldId id="905" r:id="rId18"/>
    <p:sldId id="906" r:id="rId19"/>
    <p:sldId id="907" r:id="rId20"/>
    <p:sldId id="908" r:id="rId21"/>
    <p:sldId id="909" r:id="rId22"/>
    <p:sldId id="910" r:id="rId23"/>
    <p:sldId id="911" r:id="rId24"/>
    <p:sldId id="932" r:id="rId25"/>
    <p:sldId id="912" r:id="rId26"/>
    <p:sldId id="926" r:id="rId27"/>
    <p:sldId id="927" r:id="rId28"/>
    <p:sldId id="928" r:id="rId29"/>
    <p:sldId id="914" r:id="rId30"/>
    <p:sldId id="915" r:id="rId31"/>
    <p:sldId id="913" r:id="rId32"/>
    <p:sldId id="917" r:id="rId33"/>
    <p:sldId id="918" r:id="rId34"/>
    <p:sldId id="919" r:id="rId35"/>
    <p:sldId id="920" r:id="rId36"/>
    <p:sldId id="921" r:id="rId37"/>
    <p:sldId id="922" r:id="rId38"/>
    <p:sldId id="924" r:id="rId39"/>
    <p:sldId id="923" r:id="rId40"/>
    <p:sldId id="925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5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9D11E-DC70-4A2A-8BEF-7622890CF355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F7C4F-5B24-4D3C-954E-3E1765AC3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03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99552-7695-4804-81B3-0A4C37722C5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170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9EF66-9C88-3AC7-1D0C-BD31472D6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3E6F82-8DDE-128F-62CD-F42C4B1E9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192B73-E2CB-A83D-DD05-A9BD9AAF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FFDFCF-05DF-349A-6F44-8AA85103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0DD54-BBFD-ED82-0D0D-FBE157EB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29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FC9DB-FB96-4DE0-E956-6956A522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3C9C63-F690-156E-6CA2-87CE22624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64E9CD-9058-98FD-A9B4-0D9C301B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F1C6BC-F531-A598-03BA-FD23C82A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A1489D-DD6C-0C76-B52D-7C69B962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35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1012D-8FEF-8F7E-EDA5-EDCE8063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5743FA-AA73-BDE6-4E3C-06E6A85A3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7B5E65-07F7-3D89-D28B-EB0FC3728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42A42-2EC6-9ED9-3F6B-30E9C80F1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85A395-1CE6-8238-1280-D7C3172D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28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A7381-6902-A4E0-40E5-9AD3F4B9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9554A-7511-D5C3-0DE6-C7FE0074F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EACFF-9439-1137-9376-35920DE52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C6D04E-BF70-D61D-1B10-10F0906B9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9EB05F-7E00-6A7F-8F5E-CC3B8EB9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5788C7-20EF-428E-7BC0-8DED2188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95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BB159-91AD-5D73-C31D-A3EA83FD4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323982-F21C-2B0C-3856-87094A386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27FF7-5692-B196-5212-7ADE2B533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BE11E0-8790-7EAA-4B7B-1AFDB1BBD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B50D16-155E-4DB7-266D-2F36A84DC4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288697-4935-7D00-692C-440F9689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32A62E-85B6-DEFC-5ADD-92C537EA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B9F1CF-702A-17B8-5CBA-C1160B96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1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D74EDF-49CD-57F6-52B1-3D4145B5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3B5ECB-0350-2EE3-016B-C3C94B2C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721E53-45E3-953C-67D6-C433567A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B57F67-9658-9D9B-C3AD-F21F4077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663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694030-00F4-3321-0E25-E56A88F8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53D8B7-6424-AF08-E584-13A66E52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7FD275-BEB6-7B6A-0031-4BF479DC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84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45B8D-3B5F-B444-01C3-F97E07AD5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014659-7EB9-9FE9-C563-CBB7F7EC2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4056F1-ED6C-52DD-C66B-B22AB2496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3EFE49-91B4-FC2D-12F4-D962056F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EDE9C4-CB8B-0B2A-B694-21419B7D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244DA4-E244-B54B-AB8B-091DA306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85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B1610-7B1C-4F0B-7910-299FCF18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D8DD12-0E3E-5997-0D71-A67159008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19F9F9-7D12-FF8F-556B-82376D4F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021998-6C4C-5CC1-395A-AED1BC57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74A423-CF6D-CD1F-4D72-31B3851B4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8596CC-E276-01FB-E2F7-C6EC794E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29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9A196-64C5-96CC-3C56-5660CCE6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5E947D-7C92-C135-AC59-1C6C1E3F9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86E98-0AD2-AD3B-26D7-5F2BBA8F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F4F63-DC14-E431-2B58-A6421DF7D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3CEA1A-B2C0-1FA3-2D78-85D1F4B88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54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E2D3CDD-ADB5-86D2-905E-92E78A879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610486-DA4E-9087-794E-9738BAD0D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D3199D-D501-44BA-C15E-37627737A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9F32D0-88A3-7E6A-9197-7BCBC9B2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432189-DC52-9D0F-1E3E-7237C707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718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359072" y="201908"/>
            <a:ext cx="8844403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831177" y="1105118"/>
            <a:ext cx="105156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9071" y="1105117"/>
            <a:ext cx="11339444" cy="502353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359834" y="201613"/>
            <a:ext cx="8843433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1548003" y="6328166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1200" smtClean="0"/>
              <a:t>‹#›</a:t>
            </a:fld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87623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8EEC65-45A8-C3DF-1A3C-EA0BCF3D5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4D4938-1CEE-1A1B-C4D9-B29AC4BCF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C3BCB8-7690-E8E7-C0FC-5A3E6EB2E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C9756-B86C-49F8-85EA-B65B2E874DB7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EE7FC7-CC1B-D421-78F3-45C246C6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4D96D7-70B3-94EC-6D10-EFDDD4567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59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understanding-cap-theorem-sanjeev-sin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ko.wikipedia.org/wiki/ACID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ko.wikipedia.org/wiki/ACID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en.wikipedia.org/wiki/Ingres_(database)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postgresql.org/download/product-categories/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leader.tistory.com/34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ostgresqltutorial.com/postgresql-tutorial/postgresql-vs-mysql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tutorial.com/postgresql-tutorial/postgresql-vs-mysql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b-engines.com/en/system/MongoDB%3BMySQL%3BPostgreSQL" TargetMode="Externa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postgresql.org/about/featurematrix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postgresql.org/download/" TargetMode="Externa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postgresql.org/docs/current/app-psql.html" TargetMode="Externa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2326167" y="908778"/>
            <a:ext cx="7886700" cy="1835282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57621" y="1395532"/>
            <a:ext cx="4223849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2800" b="1" dirty="0">
                <a:solidFill>
                  <a:schemeClr val="bg1"/>
                </a:solidFill>
                <a:latin typeface="+mn-ea"/>
              </a:rPr>
              <a:t>PostgreSQL </a:t>
            </a:r>
            <a:r>
              <a:rPr lang="en-US" sz="2800" b="1">
                <a:solidFill>
                  <a:schemeClr val="bg1"/>
                </a:solidFill>
                <a:latin typeface="+mn-ea"/>
              </a:rPr>
              <a:t>&amp; PGADMIN</a:t>
            </a: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2800" b="1">
                <a:solidFill>
                  <a:schemeClr val="bg1"/>
                </a:solidFill>
                <a:latin typeface="+mn-ea"/>
              </a:rPr>
              <a:t>설치 및 실습</a:t>
            </a:r>
            <a:endParaRPr 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2654452" y="3623899"/>
            <a:ext cx="7370976" cy="2133634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altLang="ko-KR" sz="1961" b="1">
                <a:latin typeface="+mn-ea"/>
              </a:rPr>
              <a:t>2024. 03.13</a:t>
            </a:r>
          </a:p>
        </p:txBody>
      </p:sp>
    </p:spTree>
    <p:extLst>
      <p:ext uri="{BB962C8B-B14F-4D97-AF65-F5344CB8AC3E}">
        <p14:creationId xmlns:p14="http://schemas.microsoft.com/office/powerpoint/2010/main" val="211175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F9CB20-4D12-A01D-38AB-49A68051F7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DBMS </a:t>
            </a:r>
            <a:r>
              <a:rPr lang="ko-KR" altLang="en-US" dirty="0">
                <a:latin typeface="+mj-lt"/>
              </a:rPr>
              <a:t>와 </a:t>
            </a:r>
            <a:r>
              <a:rPr lang="en-US" altLang="ko-KR" dirty="0">
                <a:latin typeface="+mj-lt"/>
              </a:rPr>
              <a:t>DBMS </a:t>
            </a:r>
            <a:r>
              <a:rPr lang="ko-KR" altLang="en-US" dirty="0">
                <a:latin typeface="+mj-lt"/>
              </a:rPr>
              <a:t>종류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2B6660F-4C4D-3363-1BC4-B1EDB0F9F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latinLnBrk="1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DBMS (</a:t>
            </a:r>
            <a:r>
              <a:rPr lang="en-US" altLang="ko-KR" sz="2000" dirty="0" err="1">
                <a:latin typeface="나눔고딕" pitchFamily="2" charset="-127"/>
                <a:ea typeface="나눔고딕" pitchFamily="2" charset="-127"/>
              </a:rPr>
              <a:t>DataBase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 Management System)</a:t>
            </a:r>
          </a:p>
          <a:p>
            <a:pPr lvl="1"/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사용자와 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DB</a:t>
            </a:r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사이에서 사용자 요구에 따라 정보 생성 및 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DB</a:t>
            </a:r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를 관리해주는 소프트웨어</a:t>
            </a:r>
            <a:endParaRPr lang="en-US" altLang="ko-KR" sz="1600" dirty="0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sz="1600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SQL (Structured Query Language)</a:t>
            </a:r>
          </a:p>
          <a:p>
            <a:pPr lvl="1"/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DB </a:t>
            </a:r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관리 시스템의 데이터를 관리하기위해 만들어짐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DB</a:t>
            </a:r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 검색 관리 및 스키마 생성 수정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접근 조정을 위해 고안됨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DBMS </a:t>
            </a:r>
            <a:r>
              <a:rPr lang="ko-KR" altLang="en-US" sz="2000" dirty="0">
                <a:latin typeface="나눔고딕" pitchFamily="2" charset="-127"/>
                <a:ea typeface="나눔고딕" pitchFamily="2" charset="-127"/>
              </a:rPr>
              <a:t>시스템은 크게 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RDBMS</a:t>
            </a:r>
            <a:r>
              <a:rPr lang="ko-KR" altLang="en-US" sz="2000" dirty="0">
                <a:latin typeface="나눔고딕" pitchFamily="2" charset="-127"/>
                <a:ea typeface="나눔고딕" pitchFamily="2" charset="-127"/>
              </a:rPr>
              <a:t>와 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NOSQL</a:t>
            </a:r>
            <a:r>
              <a:rPr lang="ko-KR" altLang="en-US" sz="2000" dirty="0">
                <a:latin typeface="나눔고딕" pitchFamily="2" charset="-127"/>
                <a:ea typeface="나눔고딕" pitchFamily="2" charset="-127"/>
              </a:rPr>
              <a:t>로 나뉨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사용하고자 하는 용도에 따라 선택하는 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DB</a:t>
            </a:r>
            <a:r>
              <a:rPr lang="ko-KR" altLang="en-US" sz="1600" dirty="0">
                <a:latin typeface="나눔고딕" pitchFamily="2" charset="-127"/>
                <a:ea typeface="나눔고딕" pitchFamily="2" charset="-127"/>
              </a:rPr>
              <a:t>가 다름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	</a:t>
            </a:r>
          </a:p>
          <a:p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</p:txBody>
      </p:sp>
      <p:pic>
        <p:nvPicPr>
          <p:cNvPr id="2" name="Picture 2" descr="데이터베이스] SQL(구조화 쿼리 언어) vs NoSQL(비구조화 쿼리 언어) - 하나몬">
            <a:extLst>
              <a:ext uri="{FF2B5EF4-FFF2-40B4-BE49-F238E27FC236}">
                <a16:creationId xmlns:a16="http://schemas.microsoft.com/office/drawing/2014/main" id="{8DAA2476-B905-D473-F138-A0791711B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111" y="2070937"/>
            <a:ext cx="2976312" cy="334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328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FB22B99-DF7D-638B-9541-D573DA9C0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71" y="1105118"/>
            <a:ext cx="5672613" cy="4624564"/>
          </a:xfrm>
        </p:spPr>
        <p:txBody>
          <a:bodyPr>
            <a:normAutofit lnSpcReduction="10000"/>
          </a:bodyPr>
          <a:lstStyle/>
          <a:p>
            <a:pPr algn="l" latinLnBrk="1"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일관성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(Consistency): 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모든 노드는 동일한 데이터를 동시에 본다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 lvl="1"/>
            <a:r>
              <a:rPr lang="ko-KR" altLang="en-US" sz="16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추가 읽기를 허용하기 전에 여러 노드를 업데이트하여 일관성을 확보한다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0" indent="0" algn="l">
              <a:buNone/>
            </a:pPr>
            <a:endParaRPr lang="ko-KR" altLang="en-US" sz="2000" b="0" i="0" dirty="0">
              <a:solidFill>
                <a:srgbClr val="555555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가용성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(Availability): 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모든 요청은 성공이나 실패에 대한 응답을 받아야 한다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 lvl="1"/>
            <a:r>
              <a:rPr lang="ko-KR" altLang="en-US" sz="16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가용성은 서로 다른 서버에 데이터를 복제함으로써 달성된다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0" indent="0" algn="l">
              <a:buNone/>
            </a:pPr>
            <a:endParaRPr lang="ko-KR" altLang="en-US" sz="2000" b="0" i="0" dirty="0">
              <a:solidFill>
                <a:srgbClr val="555555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분할 내성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(Partition tolerance): </a:t>
            </a:r>
            <a:r>
              <a:rPr lang="ko-KR" altLang="en-US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메시지 손실 또는 부분 장애에도 불구하고 시스템은 계속 작동한다</a:t>
            </a:r>
            <a:r>
              <a:rPr lang="en-US" altLang="ko-KR" sz="20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 lvl="1"/>
            <a:r>
              <a:rPr lang="ko-KR" altLang="en-US" sz="16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분할 내성이 있는 시스템은 전체 네트워크 내의 </a:t>
            </a:r>
            <a:r>
              <a:rPr lang="ko-KR" altLang="en-US" sz="1600" b="0" i="0" dirty="0" err="1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장애수와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 상관없이 계속해서 얼마든지 지속할 수 있다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 lvl="1"/>
            <a:r>
              <a:rPr lang="ko-KR" altLang="en-US" sz="16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노드와 네트워크의 조합에 걸쳐 데이터가 충분히 복제되어 간헐적인 가동 중단을 통해 시스템을 유지할 수 있다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2A63D5-D97F-43BF-6DEA-5543F405D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CAP</a:t>
            </a:r>
            <a:r>
              <a:rPr lang="ko-KR" altLang="en-US" dirty="0">
                <a:latin typeface="+mj-ea"/>
                <a:ea typeface="+mj-ea"/>
              </a:rPr>
              <a:t> 이론</a:t>
            </a:r>
          </a:p>
        </p:txBody>
      </p:sp>
      <p:pic>
        <p:nvPicPr>
          <p:cNvPr id="5126" name="Picture 6" descr="Understanding the CAP Theorem">
            <a:extLst>
              <a:ext uri="{FF2B5EF4-FFF2-40B4-BE49-F238E27FC236}">
                <a16:creationId xmlns:a16="http://schemas.microsoft.com/office/drawing/2014/main" id="{FA021650-E2CC-39BC-EDA0-DB1AC0619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762" y="1256120"/>
            <a:ext cx="450532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377AB0-B9D5-DD9A-B43A-553463348F1D}"/>
              </a:ext>
            </a:extLst>
          </p:cNvPr>
          <p:cNvSpPr txBox="1"/>
          <p:nvPr/>
        </p:nvSpPr>
        <p:spPr>
          <a:xfrm>
            <a:off x="922789" y="5989739"/>
            <a:ext cx="1206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3"/>
              </a:rPr>
              <a:t>Reference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577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5DA9C8E-97C2-D8AF-0D78-7D4427ECC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RDBMS</a:t>
            </a:r>
          </a:p>
          <a:p>
            <a:pPr lvl="1"/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Relation ship(R) </a:t>
            </a:r>
          </a:p>
          <a:p>
            <a:pPr lvl="1"/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모든 데이터를 </a:t>
            </a:r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2</a:t>
            </a:r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차원 테이블 형태로 표현하는 </a:t>
            </a:r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DB</a:t>
            </a:r>
          </a:p>
          <a:p>
            <a:pPr lvl="1"/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테이블이 다른 테이블들과 관계를 맺고 모여 있는 집합체</a:t>
            </a:r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관계를 나타내기 위해 외래 키</a:t>
            </a:r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(foreign key)</a:t>
            </a:r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사용 하며 조인을 통해 데이터 추출</a:t>
            </a:r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en-US" altLang="ko-KR" sz="1200" dirty="0">
              <a:latin typeface="나눔고딕" pitchFamily="2" charset="-127"/>
              <a:ea typeface="나눔고딕" pitchFamily="2" charset="-127"/>
            </a:endParaRP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장점</a:t>
            </a:r>
            <a:endParaRPr lang="en-US" altLang="ko-KR" sz="1200" b="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RDBMS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는 위에서 설명을 하였듯이 정해진 스키마에 따라 데이터를 저장하여야 하므로 명확한 데이터 구조를 보장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0" i="0" dirty="0">
              <a:solidFill>
                <a:srgbClr val="333333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각 데이터를 중복없이 한 번만 저장 가능</a:t>
            </a:r>
            <a:endParaRPr lang="en-US" altLang="ko-KR" sz="1200" b="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 sz="1200" dirty="0">
                <a:latin typeface="나눔고딕" pitchFamily="2" charset="-127"/>
                <a:ea typeface="나눔고딕" pitchFamily="2" charset="-127"/>
                <a:hlinkClick r:id="rId2"/>
              </a:rPr>
              <a:t>ACID</a:t>
            </a:r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보장</a:t>
            </a:r>
            <a:endParaRPr lang="en-US" altLang="ko-KR" sz="1200" dirty="0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Index</a:t>
            </a:r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를 통한 테이블 검색속도 향상</a:t>
            </a:r>
            <a:endParaRPr lang="en-US" altLang="ko-KR" sz="1200" dirty="0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sz="1200" b="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단점</a:t>
            </a:r>
            <a:endParaRPr lang="en-US" altLang="ko-KR" sz="1200" dirty="0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테이블간 테이블 간 관계를 맺고 있어 시스템이 커질 경우 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JOIN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문이 많은 복잡한 쿼리가 문제 될 수 있음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0" i="0" dirty="0">
              <a:solidFill>
                <a:srgbClr val="333333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스키마로 인해 데이터</a:t>
            </a:r>
            <a:r>
              <a:rPr lang="ko-KR" altLang="en-US" sz="12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가 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유연하지 못함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en-US" altLang="ko-KR" sz="1200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ORDBMS</a:t>
            </a:r>
          </a:p>
          <a:p>
            <a:pPr lvl="1"/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기존 </a:t>
            </a:r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RDBMS</a:t>
            </a:r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의 안전한 성능과 객체 지향 모델을 지원</a:t>
            </a:r>
            <a:endParaRPr lang="en-US" altLang="ko-KR" sz="1200" dirty="0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테이블 상속</a:t>
            </a:r>
            <a:r>
              <a:rPr lang="en-US" altLang="ko-KR" sz="1200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사용자 정의 타입 지원</a:t>
            </a:r>
            <a:endParaRPr lang="en-US" altLang="ko-KR" sz="1200" dirty="0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1200" dirty="0">
                <a:latin typeface="나눔고딕" pitchFamily="2" charset="-127"/>
                <a:ea typeface="나눔고딕" pitchFamily="2" charset="-127"/>
              </a:rPr>
              <a:t>참조 타입 지원</a:t>
            </a:r>
            <a:endParaRPr lang="en-US" altLang="ko-KR" sz="1200" dirty="0">
              <a:latin typeface="나눔고딕" pitchFamily="2" charset="-127"/>
              <a:ea typeface="나눔고딕" pitchFamily="2" charset="-127"/>
            </a:endParaRPr>
          </a:p>
          <a:p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  <a:p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200" dirty="0">
              <a:latin typeface="나눔고딕" pitchFamily="2" charset="-127"/>
              <a:ea typeface="나눔고딕" pitchFamily="2" charset="-127"/>
            </a:endParaRPr>
          </a:p>
          <a:p>
            <a:endParaRPr lang="ko-KR" altLang="en-US" sz="12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7FD978-05D1-292D-8B67-BBF30397E2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3600" dirty="0">
                <a:latin typeface="+mj-lt"/>
              </a:rPr>
              <a:t>RDBMS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05599E-98BB-F2A4-B4A4-F823D6830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915" y="3126160"/>
            <a:ext cx="2943008" cy="245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1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58CB3D7-A5F1-CAF8-071F-383DA3149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Not only SQL</a:t>
            </a:r>
          </a:p>
          <a:p>
            <a:pPr lvl="1"/>
            <a:r>
              <a:rPr lang="en-US" altLang="ko-KR" dirty="0" err="1"/>
              <a:t>Document,key:value,graph</a:t>
            </a:r>
            <a:r>
              <a:rPr lang="ko-KR" altLang="en-US" dirty="0"/>
              <a:t>와 같은</a:t>
            </a:r>
            <a:r>
              <a:rPr lang="en-US" altLang="ko-KR" dirty="0"/>
              <a:t> </a:t>
            </a:r>
            <a:r>
              <a:rPr lang="ko-KR" altLang="en-US" dirty="0"/>
              <a:t>형식의 데이터 관리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212B36"/>
                </a:solidFill>
                <a:effectLst/>
              </a:rPr>
              <a:t>수평 확장 가능한 분산 시스템</a:t>
            </a:r>
            <a:r>
              <a:rPr lang="ko-KR" altLang="en-US" dirty="0">
                <a:solidFill>
                  <a:srgbClr val="212B36"/>
                </a:solidFill>
              </a:rPr>
              <a:t>에 초점을 둠</a:t>
            </a:r>
            <a:r>
              <a:rPr lang="en-US" altLang="ko-KR" dirty="0">
                <a:solidFill>
                  <a:srgbClr val="212B36"/>
                </a:solidFill>
              </a:rPr>
              <a:t>.</a:t>
            </a:r>
            <a:endParaRPr lang="ko-KR" altLang="en-US" b="0" i="0" dirty="0">
              <a:solidFill>
                <a:srgbClr val="212B36"/>
              </a:solidFill>
              <a:effectLst/>
            </a:endParaRPr>
          </a:p>
          <a:p>
            <a:pPr lvl="1"/>
            <a:r>
              <a:rPr lang="en-US" altLang="ko-KR" b="0" i="0" dirty="0">
                <a:solidFill>
                  <a:srgbClr val="212B36"/>
                </a:solidFill>
                <a:effectLst/>
              </a:rPr>
              <a:t>Schema-less</a:t>
            </a:r>
          </a:p>
          <a:p>
            <a:pPr lvl="1"/>
            <a:r>
              <a:rPr lang="ko-KR" altLang="en-US" b="0" i="0" dirty="0">
                <a:solidFill>
                  <a:srgbClr val="212B36"/>
                </a:solidFill>
                <a:effectLst/>
              </a:rPr>
              <a:t>완화된 </a:t>
            </a:r>
            <a:r>
              <a:rPr lang="en-US" altLang="ko-KR" b="0" i="0" dirty="0">
                <a:solidFill>
                  <a:srgbClr val="212B36"/>
                </a:solidFill>
                <a:effectLst/>
                <a:hlinkClick r:id="rId2"/>
              </a:rPr>
              <a:t>ACID</a:t>
            </a:r>
            <a:endParaRPr lang="en-US" altLang="ko-KR" b="0" i="0" dirty="0">
              <a:solidFill>
                <a:srgbClr val="212B36"/>
              </a:solidFill>
              <a:effectLst/>
            </a:endParaRPr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3EADC-901F-60BA-3981-35463E8942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NOSQL</a:t>
            </a:r>
            <a:endParaRPr lang="ko-KR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0BB1F2E-2872-438F-FC2E-B794F0C36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585" y="3511098"/>
            <a:ext cx="4229247" cy="281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harding Considerations - Practical MongoDB Aggregations Book">
            <a:extLst>
              <a:ext uri="{FF2B5EF4-FFF2-40B4-BE49-F238E27FC236}">
                <a16:creationId xmlns:a16="http://schemas.microsoft.com/office/drawing/2014/main" id="{0091191E-FC38-5CAC-9E8E-270073BC4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875" y="3016415"/>
            <a:ext cx="4951413" cy="351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52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8ED068B-1DC8-1361-38F5-3196E77B6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C-P </a:t>
            </a:r>
            <a:r>
              <a:rPr lang="ko-KR" altLang="en-US" dirty="0"/>
              <a:t>조건 만족</a:t>
            </a:r>
            <a:endParaRPr lang="en-US" altLang="ko-KR" dirty="0"/>
          </a:p>
          <a:p>
            <a:r>
              <a:rPr lang="en-US" altLang="ko-KR" dirty="0"/>
              <a:t>Document storage</a:t>
            </a:r>
          </a:p>
          <a:p>
            <a:r>
              <a:rPr lang="ko-KR" altLang="en-US" dirty="0"/>
              <a:t>인덱스 지원</a:t>
            </a:r>
            <a:endParaRPr lang="en-US" altLang="ko-KR" dirty="0"/>
          </a:p>
          <a:p>
            <a:r>
              <a:rPr lang="ko-KR" altLang="en-US" dirty="0"/>
              <a:t>복제 </a:t>
            </a:r>
            <a:r>
              <a:rPr lang="en-US" altLang="ko-KR" dirty="0"/>
              <a:t>&amp; </a:t>
            </a:r>
            <a:r>
              <a:rPr lang="ko-KR" altLang="en-US" dirty="0"/>
              <a:t>고 가용성</a:t>
            </a:r>
            <a:endParaRPr lang="en-US" altLang="ko-KR" dirty="0"/>
          </a:p>
          <a:p>
            <a:r>
              <a:rPr lang="en-US" altLang="ko-KR" dirty="0"/>
              <a:t>Auto-</a:t>
            </a:r>
            <a:r>
              <a:rPr lang="en-US" altLang="ko-KR" dirty="0" err="1"/>
              <a:t>Sharding</a:t>
            </a:r>
            <a:endParaRPr lang="en-US" altLang="ko-KR" dirty="0"/>
          </a:p>
          <a:p>
            <a:r>
              <a:rPr lang="en-US" altLang="ko-KR" dirty="0"/>
              <a:t>Map/Reduce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36EFC0-9BA0-9BB0-EA84-80BF28E911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MongoDB</a:t>
            </a:r>
            <a:endParaRPr lang="ko-KR" altLang="en-US" dirty="0"/>
          </a:p>
        </p:txBody>
      </p:sp>
      <p:pic>
        <p:nvPicPr>
          <p:cNvPr id="2052" name="Picture 4" descr="MongoDB: The Developer Data Platform | MongoDB">
            <a:extLst>
              <a:ext uri="{FF2B5EF4-FFF2-40B4-BE49-F238E27FC236}">
                <a16:creationId xmlns:a16="http://schemas.microsoft.com/office/drawing/2014/main" id="{62127FCD-C60B-3606-87D1-873884F4B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947" y="1318161"/>
            <a:ext cx="6112163" cy="306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73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E13F5D-EB24-F569-66EF-E2B17E17ED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  <a:cs typeface="Times New Roman" panose="02020603050405020304" pitchFamily="18" charset="0"/>
              </a:rPr>
              <a:t>RDBMS vs NOSQL</a:t>
            </a:r>
            <a:endParaRPr lang="ko-KR" altLang="en-US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BE51D25-CCE3-DB7E-8C27-BBE8A97CFDDA}"/>
              </a:ext>
            </a:extLst>
          </p:cNvPr>
          <p:cNvGraphicFramePr>
            <a:graphicFrameLocks noGrp="1"/>
          </p:cNvGraphicFramePr>
          <p:nvPr/>
        </p:nvGraphicFramePr>
        <p:xfrm>
          <a:off x="359834" y="1598440"/>
          <a:ext cx="8127999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2421436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023777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336125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RDBMS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NOSQL</a:t>
                      </a:r>
                      <a:endParaRPr lang="ko-KR" altLang="en-US" sz="1200" dirty="0">
                        <a:latin typeface="나눔고딕" pitchFamily="2" charset="-127"/>
                        <a:ea typeface="나눔고딕" pitchFamily="2" charset="-127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2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적합한 </a:t>
                      </a:r>
                      <a:r>
                        <a:rPr lang="ko-KR" altLang="en-US" sz="1200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사용예</a:t>
                      </a:r>
                      <a:endParaRPr lang="ko-KR" altLang="en-US" sz="1200" dirty="0"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데이터 정합성이 보장되어야 하는 은행 시스템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낮은 지연 시간</a:t>
                      </a:r>
                      <a:r>
                        <a:rPr lang="en-US" altLang="ko-KR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가용성이 중요한 </a:t>
                      </a:r>
                      <a:r>
                        <a:rPr lang="en-US" altLang="ko-KR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SNS </a:t>
                      </a:r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시스템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17429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데이터 모델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정규화와 참조 무결성이 보장된 스키마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스키마가 없는 자유로운 데이터 모델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677200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트랜젝션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강력한 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ACID </a:t>
                      </a:r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지원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완화된 </a:t>
                      </a:r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ACID(BASE)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54372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확장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하드웨어 강화</a:t>
                      </a:r>
                      <a:r>
                        <a:rPr lang="en-US" altLang="ko-KR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Scale up)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수평 확장 가능한 분산 아키텍처</a:t>
                      </a:r>
                      <a:r>
                        <a:rPr lang="en-US" altLang="ko-KR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(Scale out)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60098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API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SQL </a:t>
                      </a:r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쿼리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객체 기반 </a:t>
                      </a:r>
                      <a:r>
                        <a:rPr lang="en-US" altLang="ko-KR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API </a:t>
                      </a:r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제공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77020945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EE0DCE40-0DBD-0D7F-3ABB-3C7035127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896" y="4513181"/>
            <a:ext cx="4051094" cy="192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06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6BB637-DF49-F845-41DF-36900BF645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PostgreSQL?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2B3AD-92F6-D817-2E25-B3A23DEB5D72}"/>
              </a:ext>
            </a:extLst>
          </p:cNvPr>
          <p:cNvSpPr txBox="1"/>
          <p:nvPr/>
        </p:nvSpPr>
        <p:spPr>
          <a:xfrm>
            <a:off x="300252" y="1318657"/>
            <a:ext cx="89625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PostgreSQL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 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엔터프라이즈급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 오픈소스 데이터베이스 관리 시스템</a:t>
            </a:r>
            <a:r>
              <a:rPr lang="en-US" altLang="ko-KR" dirty="0">
                <a:solidFill>
                  <a:srgbClr val="222222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222222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확장성과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SQL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규정 준수를 위한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나눔고딕" pitchFamily="2" charset="-127"/>
                <a:ea typeface="나눔고딕" pitchFamily="2" charset="-127"/>
              </a:rPr>
              <a:t>관계형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 및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나눔고딕" pitchFamily="2" charset="-127"/>
                <a:ea typeface="나눔고딕" pitchFamily="2" charset="-127"/>
              </a:rPr>
              <a:t>비관계형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 쿼리에 대해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SQL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과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JSON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을 모두 지원합니다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. PostgreSQL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다음과 같은 고가의 상용 데이터베이스에서만 사용할 수 있는 고급 데이터 유형 및 성능 최적화 기능을 지원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333333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PostgreSQL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은 </a:t>
            </a:r>
            <a:r>
              <a:rPr lang="en-US" altLang="ko-KR" b="0" i="0" u="none" strike="noStrike" dirty="0">
                <a:solidFill>
                  <a:srgbClr val="337AB7"/>
                </a:solidFill>
                <a:effectLst/>
                <a:latin typeface="나눔고딕" pitchFamily="2" charset="-127"/>
                <a:ea typeface="나눔고딕" pitchFamily="2" charset="-127"/>
                <a:hlinkClick r:id="rId2"/>
              </a:rPr>
              <a:t>Ingres(Interactive Graphics Retrieval System)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에 뿌리를 두고 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333333"/>
              </a:solidFill>
              <a:latin typeface="나눔고딕" pitchFamily="2" charset="-127"/>
              <a:ea typeface="나눔고딕" pitchFamily="2" charset="-12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초기 개발 단계부터 완벽한 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ACID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와 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MVCC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를 지원하는 </a:t>
            </a:r>
            <a:r>
              <a:rPr lang="ko-KR" altLang="en-US" dirty="0" err="1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아키텍쳐로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 설계된 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PostgreSQL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은 대용량의 복잡한 트랜잭션 처리를 위한 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RDBMS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이다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333333"/>
              </a:solidFill>
              <a:latin typeface="나눔고딕" pitchFamily="2" charset="-127"/>
              <a:ea typeface="나눔고딕" pitchFamily="2" charset="-12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과거 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IBM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에서 작성된 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RDBMS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의 화이트페이퍼를 기반으로 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Oracle, DB2 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그리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PostgreSQL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이 구현되었기 때문에 </a:t>
            </a:r>
            <a:r>
              <a:rPr lang="en-US" altLang="ko-KR" dirty="0" err="1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mysql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이나 </a:t>
            </a:r>
            <a:r>
              <a:rPr lang="en-US" altLang="ko-KR" dirty="0" err="1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mariaDB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와 같은 오픈소스 제품과 달리 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PostgreSQL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의 경우 상용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RDBMS </a:t>
            </a:r>
            <a:r>
              <a:rPr lang="ko-KR" altLang="en-US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급의 기능을 제공함</a:t>
            </a:r>
            <a:r>
              <a:rPr lang="en-US" altLang="ko-KR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pic>
        <p:nvPicPr>
          <p:cNvPr id="7174" name="Picture 6" descr="PostgreSQL] 1. PostgreSQL 시작하기 : 네이버 블로그">
            <a:extLst>
              <a:ext uri="{FF2B5EF4-FFF2-40B4-BE49-F238E27FC236}">
                <a16:creationId xmlns:a16="http://schemas.microsoft.com/office/drawing/2014/main" id="{CB45FCEF-0261-A0FA-38C6-940AADB84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020" y="4500101"/>
            <a:ext cx="4915644" cy="230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0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DEF731-B5B0-D8E2-E172-734271D9F0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PostgreSQL Feature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F926EF-3C02-64C9-766C-7FA135F3B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71" y="4850879"/>
            <a:ext cx="18473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BF926EF-3C02-64C9-766C-7FA135F3B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71" y="4850879"/>
            <a:ext cx="18473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7A5B9E87-82A9-D166-2639-AFA5ED54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71" y="1088339"/>
            <a:ext cx="11339444" cy="5023539"/>
          </a:xfrm>
        </p:spPr>
        <p:txBody>
          <a:bodyPr>
            <a:noAutofit/>
          </a:bodyPr>
          <a:lstStyle/>
          <a:p>
            <a:r>
              <a:rPr lang="ko-KR" altLang="en-US" sz="1400" dirty="0">
                <a:solidFill>
                  <a:srgbClr val="222222"/>
                </a:solidFill>
                <a:latin typeface="나눔고딕" pitchFamily="2" charset="-127"/>
                <a:ea typeface="나눔고딕" pitchFamily="2" charset="-127"/>
              </a:rPr>
              <a:t>오픈 라이센스</a:t>
            </a:r>
            <a:endParaRPr lang="en-US" altLang="ko-KR" sz="1400" dirty="0">
              <a:solidFill>
                <a:srgbClr val="222222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400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ACID </a:t>
            </a:r>
            <a:r>
              <a:rPr lang="ko-KR" altLang="en-US" sz="1400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보장</a:t>
            </a:r>
            <a:endParaRPr lang="en-US" altLang="ko-KR" sz="1400" dirty="0">
              <a:solidFill>
                <a:srgbClr val="333333"/>
              </a:solidFill>
              <a:latin typeface="나눔고딕" pitchFamily="2" charset="-127"/>
              <a:ea typeface="나눔고딕" pitchFamily="2" charset="-127"/>
            </a:endParaRPr>
          </a:p>
          <a:p>
            <a:pPr lv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 err="1">
                <a:latin typeface="나눔고딕" pitchFamily="2" charset="-127"/>
                <a:ea typeface="나눔고딕" pitchFamily="2" charset="-127"/>
              </a:rPr>
              <a:t>원자성</a:t>
            </a:r>
            <a:r>
              <a:rPr lang="ko-KR" altLang="ko-KR" sz="1400" dirty="0">
                <a:latin typeface="나눔고딕" pitchFamily="2" charset="-127"/>
                <a:ea typeface="나눔고딕" pitchFamily="2" charset="-127"/>
              </a:rPr>
              <a:t> - </a:t>
            </a:r>
            <a:r>
              <a:rPr lang="ko-KR" altLang="ko-KR" sz="1400" dirty="0" err="1">
                <a:latin typeface="나눔고딕" pitchFamily="2" charset="-127"/>
                <a:ea typeface="나눔고딕" pitchFamily="2" charset="-127"/>
              </a:rPr>
              <a:t>Atomicity</a:t>
            </a:r>
            <a:r>
              <a:rPr lang="ko-KR" altLang="ko-KR" sz="1400" dirty="0">
                <a:latin typeface="나눔고딕" pitchFamily="2" charset="-127"/>
                <a:ea typeface="나눔고딕" pitchFamily="2" charset="-127"/>
              </a:rPr>
              <a:t> </a:t>
            </a:r>
            <a:endParaRPr lang="en-US" altLang="ko-KR" sz="1400" dirty="0">
              <a:latin typeface="나눔고딕" pitchFamily="2" charset="-127"/>
              <a:ea typeface="나눔고딕" pitchFamily="2" charset="-127"/>
            </a:endParaRP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latin typeface="나눔고딕" pitchFamily="2" charset="-127"/>
                <a:ea typeface="나눔고딕" pitchFamily="2" charset="-127"/>
              </a:rPr>
              <a:t>트랜잭션의 작업 내용이 데이터베이스에 모두 반영되거나, 아예 반영되지 않아야 </a:t>
            </a:r>
            <a:r>
              <a:rPr lang="ko-KR" altLang="en-US" sz="1400" dirty="0">
                <a:latin typeface="나눔고딕" pitchFamily="2" charset="-127"/>
                <a:ea typeface="나눔고딕" pitchFamily="2" charset="-127"/>
              </a:rPr>
              <a:t>함</a:t>
            </a:r>
            <a:endParaRPr lang="en-US" altLang="ko-KR" sz="1400" dirty="0">
              <a:latin typeface="나눔고딕" pitchFamily="2" charset="-127"/>
              <a:ea typeface="나눔고딕" pitchFamily="2" charset="-127"/>
            </a:endParaRP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latin typeface="나눔고딕" pitchFamily="2" charset="-127"/>
                <a:ea typeface="나눔고딕" pitchFamily="2" charset="-127"/>
              </a:rPr>
              <a:t>작업 단위를 일부분만 실행하지 않</a:t>
            </a:r>
            <a:r>
              <a:rPr lang="ko-KR" altLang="en-US" sz="1400" dirty="0">
                <a:latin typeface="나눔고딕" pitchFamily="2" charset="-127"/>
                <a:ea typeface="나눔고딕" pitchFamily="2" charset="-127"/>
              </a:rPr>
              <a:t>음</a:t>
            </a:r>
            <a:r>
              <a:rPr lang="en-US" altLang="ko-KR" sz="1400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ko-KR" sz="1400" dirty="0">
              <a:latin typeface="나눔고딕" pitchFamily="2" charset="-127"/>
              <a:ea typeface="나눔고딕" pitchFamily="2" charset="-127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ko-KR" altLang="ko-KR" sz="1400" dirty="0">
              <a:latin typeface="나눔고딕" pitchFamily="2" charset="-127"/>
              <a:ea typeface="나눔고딕" pitchFamily="2" charset="-127"/>
            </a:endParaRPr>
          </a:p>
          <a:p>
            <a:pPr lv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일관성 - </a:t>
            </a: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Consistency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endParaRPr lang="en-US" altLang="ko-KR" sz="1400" dirty="0">
              <a:solidFill>
                <a:srgbClr val="212529"/>
              </a:solidFill>
              <a:latin typeface="나눔고딕" pitchFamily="2" charset="-127"/>
              <a:ea typeface="나눔고딕" pitchFamily="2" charset="-127"/>
            </a:endParaRP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트랜잭션이 성공적으로 완료되면 일관적인 </a:t>
            </a: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DB상태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Datatype이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 변하지 </a:t>
            </a: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않는것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 등의 상태 변화가 일어나지 </a:t>
            </a: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않는것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를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 유지</a:t>
            </a:r>
            <a:r>
              <a:rPr lang="en-US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ko-KR" sz="1400" dirty="0">
              <a:solidFill>
                <a:srgbClr val="212529"/>
              </a:solidFill>
              <a:latin typeface="나눔고딕" pitchFamily="2" charset="-127"/>
              <a:ea typeface="나눔고딕" pitchFamily="2" charset="-127"/>
            </a:endParaRPr>
          </a:p>
          <a:p>
            <a:pPr lv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격리성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 - </a:t>
            </a: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Isolation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endParaRPr lang="en-US" altLang="ko-KR" sz="1400" dirty="0">
              <a:solidFill>
                <a:srgbClr val="212529"/>
              </a:solidFill>
              <a:latin typeface="나눔고딕" pitchFamily="2" charset="-127"/>
              <a:ea typeface="나눔고딕" pitchFamily="2" charset="-127"/>
            </a:endParaRP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하나의 트랜잭션 작업이 수행 시 다른 트랜잭션 작업이 중간에 수행될 수 </a:t>
            </a:r>
            <a:r>
              <a:rPr lang="ko-KR" altLang="en-US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없음</a:t>
            </a:r>
            <a:r>
              <a:rPr lang="en-US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트랜잭션 작업 사이의 간섭이 </a:t>
            </a: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있어선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 안되고, 서로 간섭</a:t>
            </a:r>
            <a:r>
              <a:rPr lang="ko-KR" altLang="en-US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불가</a:t>
            </a:r>
            <a:r>
              <a:rPr lang="en-US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ko-KR" sz="1400" dirty="0">
              <a:latin typeface="나눔고딕" pitchFamily="2" charset="-127"/>
              <a:ea typeface="나눔고딕" pitchFamily="2" charset="-127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ko-KR" altLang="ko-KR" sz="1400" dirty="0">
                <a:latin typeface="나눔고딕" pitchFamily="2" charset="-127"/>
                <a:ea typeface="나눔고딕" pitchFamily="2" charset="-127"/>
              </a:rPr>
              <a:t> </a:t>
            </a:r>
          </a:p>
          <a:p>
            <a:pPr lv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지속성 - </a:t>
            </a: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Durability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endParaRPr lang="en-US" altLang="ko-KR" sz="1400" dirty="0">
              <a:solidFill>
                <a:srgbClr val="212529"/>
              </a:solidFill>
              <a:latin typeface="나눔고딕" pitchFamily="2" charset="-127"/>
              <a:ea typeface="나눔고딕" pitchFamily="2" charset="-127"/>
            </a:endParaRP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트랜잭션이 성공적으로 완료되면 수행된 트랜잭션은 영원히 반영</a:t>
            </a:r>
            <a:r>
              <a:rPr lang="ko-KR" altLang="en-US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됨</a:t>
            </a:r>
            <a:r>
              <a:rPr lang="en-US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 </a:t>
            </a:r>
            <a:endParaRPr lang="en-US" altLang="ko-KR" sz="1400" dirty="0">
              <a:solidFill>
                <a:srgbClr val="212529"/>
              </a:solidFill>
              <a:latin typeface="나눔고딕" pitchFamily="2" charset="-127"/>
              <a:ea typeface="나눔고딕" pitchFamily="2" charset="-127"/>
            </a:endParaRP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 err="1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commit을</a:t>
            </a:r>
            <a:r>
              <a:rPr lang="ko-KR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 통하여 트랜잭션 작업 내용을 완료</a:t>
            </a:r>
            <a:r>
              <a:rPr lang="en-US" altLang="ko-KR" sz="1400" dirty="0">
                <a:solidFill>
                  <a:srgbClr val="212529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solidFill>
                <a:srgbClr val="212529"/>
              </a:solidFill>
              <a:latin typeface="나눔고딕" pitchFamily="2" charset="-127"/>
              <a:ea typeface="나눔고딕" pitchFamily="2" charset="-127"/>
            </a:endParaRPr>
          </a:p>
          <a:p>
            <a:pPr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고딕" pitchFamily="2" charset="-127"/>
                <a:ea typeface="나눔고딕" pitchFamily="2" charset="-127"/>
              </a:rPr>
              <a:t>다중버전 동시성 제어 제공</a:t>
            </a:r>
            <a:r>
              <a:rPr lang="en-US" altLang="ko-KR" sz="1400" dirty="0">
                <a:latin typeface="나눔고딕" pitchFamily="2" charset="-127"/>
                <a:ea typeface="나눔고딕" pitchFamily="2" charset="-127"/>
              </a:rPr>
              <a:t>(MVCC).</a:t>
            </a:r>
          </a:p>
          <a:p>
            <a:pPr lv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고딕" pitchFamily="2" charset="-127"/>
                <a:ea typeface="나눔고딕" pitchFamily="2" charset="-127"/>
              </a:rPr>
              <a:t>동시성 </a:t>
            </a:r>
            <a:r>
              <a:rPr lang="ko-KR" altLang="en-US" sz="1400" dirty="0" err="1">
                <a:latin typeface="나눔고딕" pitchFamily="2" charset="-127"/>
                <a:ea typeface="나눔고딕" pitchFamily="2" charset="-127"/>
              </a:rPr>
              <a:t>제어란</a:t>
            </a:r>
            <a:r>
              <a:rPr lang="en-US" altLang="ko-KR" sz="1400" dirty="0">
                <a:latin typeface="나눔고딕" pitchFamily="2" charset="-127"/>
                <a:ea typeface="나눔고딕" pitchFamily="2" charset="-127"/>
              </a:rPr>
              <a:t>?</a:t>
            </a: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다수의 사용자가 동시에 DBMS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트랜잭선을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 일으켜 상호간섭이 발생하는 사항에서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Database를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 보호하는 통제방법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동시성의 허용은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DBMS의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 일관성에 큰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위해를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 가하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기때문에 이에 대한 처리가 중요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데이터에 접근하는 사용자는 갱신</a:t>
            </a:r>
            <a:r>
              <a:rPr lang="en-US" altLang="ko-KR" sz="1400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400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변경된 데이터를 다른 이전 데이터와 버전을 달리해 관리하여 이를 기반으로 일관성 유지</a:t>
            </a:r>
            <a:r>
              <a:rPr lang="en-US" altLang="ko-KR" sz="1400" dirty="0">
                <a:solidFill>
                  <a:srgbClr val="333333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2"/>
            <a:endParaRPr lang="ko-KR" altLang="en-US" sz="1400" dirty="0">
              <a:latin typeface="나눔고딕" pitchFamily="2" charset="-127"/>
              <a:ea typeface="나눔고딕" pitchFamily="2" charset="-127"/>
            </a:endParaRP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26519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1E68353-4C01-F10C-49C5-71411AA98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PostgreSQL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관련 인터페이스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확장 프로그램 및 소프트웨어는 매우 다양하게 개발되고 </a:t>
            </a:r>
            <a:r>
              <a:rPr lang="ko-KR" altLang="en-US" sz="2000" b="0" i="0" dirty="0" err="1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지원되고있음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r>
              <a:rPr lang="ko-KR" altLang="en-US" sz="2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  <a:hlinkClick r:id="rId2"/>
              </a:rPr>
              <a:t>목록</a:t>
            </a:r>
            <a:endParaRPr lang="en-US" altLang="ko-KR" sz="2000" b="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3E1ABE-FFEF-6D4A-04DB-3094C0CD38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PostgreSQL Feature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30CF3F-F659-AF70-E188-DDFFD5ADC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97" y="2055992"/>
            <a:ext cx="7544853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55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9BF7F2-3094-3269-76CD-105AF7BB0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PostgreSQL vs MySQL</a:t>
            </a:r>
            <a:endParaRPr lang="ko-KR" alt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303DC423-9F52-3B61-DA07-1C9F897BA2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9004723"/>
              </p:ext>
            </p:extLst>
          </p:nvPr>
        </p:nvGraphicFramePr>
        <p:xfrm>
          <a:off x="358776" y="1104900"/>
          <a:ext cx="8843433" cy="3911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50">
                  <a:extLst>
                    <a:ext uri="{9D8B030D-6E8A-4147-A177-3AD203B41FA5}">
                      <a16:colId xmlns:a16="http://schemas.microsoft.com/office/drawing/2014/main" val="3730792114"/>
                    </a:ext>
                  </a:extLst>
                </a:gridCol>
                <a:gridCol w="2311572">
                  <a:extLst>
                    <a:ext uri="{9D8B030D-6E8A-4147-A177-3AD203B41FA5}">
                      <a16:colId xmlns:a16="http://schemas.microsoft.com/office/drawing/2014/main" val="59463659"/>
                    </a:ext>
                  </a:extLst>
                </a:gridCol>
                <a:gridCol w="2947811">
                  <a:extLst>
                    <a:ext uri="{9D8B030D-6E8A-4147-A177-3AD203B41FA5}">
                      <a16:colId xmlns:a16="http://schemas.microsoft.com/office/drawing/2014/main" val="1764598087"/>
                    </a:ext>
                  </a:extLst>
                </a:gridCol>
              </a:tblGrid>
              <a:tr h="358738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나눔고딕" pitchFamily="2" charset="-127"/>
                          <a:ea typeface="나눔고딕" pitchFamily="2" charset="-127"/>
                        </a:rPr>
                        <a:t>최대 </a:t>
                      </a:r>
                      <a:r>
                        <a:rPr lang="en-US" sz="1200" dirty="0">
                          <a:latin typeface="나눔고딕" pitchFamily="2" charset="-127"/>
                          <a:ea typeface="나눔고딕" pitchFamily="2" charset="-127"/>
                        </a:rPr>
                        <a:t>DB </a:t>
                      </a:r>
                      <a:r>
                        <a:rPr lang="ko-KR" altLang="en-US" sz="1200" dirty="0">
                          <a:latin typeface="나눔고딕" pitchFamily="2" charset="-127"/>
                          <a:ea typeface="나눔고딕" pitchFamily="2" charset="-127"/>
                        </a:rPr>
                        <a:t>크기</a:t>
                      </a:r>
                      <a:r>
                        <a:rPr lang="en-US" altLang="ko-KR" sz="1200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en-US" sz="1200" dirty="0">
                          <a:latin typeface="나눔고딕" pitchFamily="2" charset="-127"/>
                          <a:ea typeface="나눔고딕" pitchFamily="2" charset="-127"/>
                        </a:rPr>
                        <a:t>Database Size)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무제한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무제한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4184484"/>
                  </a:ext>
                </a:extLst>
              </a:tr>
              <a:tr h="619191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나눔고딕" pitchFamily="2" charset="-127"/>
                          <a:ea typeface="나눔고딕" pitchFamily="2" charset="-127"/>
                        </a:rPr>
                        <a:t>최대 테이블 크기</a:t>
                      </a:r>
                      <a:r>
                        <a:rPr lang="en-US" altLang="ko-KR" sz="1200" dirty="0">
                          <a:latin typeface="나눔고딕" pitchFamily="2" charset="-127"/>
                          <a:ea typeface="나눔고딕" pitchFamily="2" charset="-127"/>
                        </a:rPr>
                        <a:t>(Table Size / 8KB </a:t>
                      </a:r>
                      <a:r>
                        <a:rPr lang="ko-KR" altLang="en-US" sz="1200" dirty="0">
                          <a:latin typeface="나눔고딕" pitchFamily="2" charset="-127"/>
                          <a:ea typeface="나눔고딕" pitchFamily="2" charset="-127"/>
                        </a:rPr>
                        <a:t>기준</a:t>
                      </a:r>
                      <a:r>
                        <a:rPr lang="en-US" altLang="ko-KR" sz="1200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32TB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32TB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665176"/>
                  </a:ext>
                </a:extLst>
              </a:tr>
              <a:tr h="358738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나눔고딕" pitchFamily="2" charset="-127"/>
                          <a:ea typeface="나눔고딕" pitchFamily="2" charset="-127"/>
                        </a:rPr>
                        <a:t>최대 레코드 크기</a:t>
                      </a:r>
                      <a:r>
                        <a:rPr lang="en-US" altLang="ko-KR" sz="1200" dirty="0">
                          <a:latin typeface="나눔고딕" pitchFamily="2" charset="-127"/>
                          <a:ea typeface="나눔고딕" pitchFamily="2" charset="-127"/>
                        </a:rPr>
                        <a:t>(Row Size)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16TB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512GB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556169"/>
                  </a:ext>
                </a:extLst>
              </a:tr>
              <a:tr h="358738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나눔고딕" pitchFamily="2" charset="-127"/>
                          <a:ea typeface="나눔고딕" pitchFamily="2" charset="-127"/>
                        </a:rPr>
                        <a:t>최대 컬럼크기</a:t>
                      </a:r>
                      <a:r>
                        <a:rPr lang="en-US" altLang="ko-KR" sz="1200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en-US" sz="1200" dirty="0">
                          <a:latin typeface="나눔고딕" pitchFamily="2" charset="-127"/>
                          <a:ea typeface="나눔고딕" pitchFamily="2" charset="-127"/>
                        </a:rPr>
                        <a:t>Field Size)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1GB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4GB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867229"/>
                  </a:ext>
                </a:extLst>
              </a:tr>
              <a:tr h="619191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테이블 당 최대 레크드 개수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(Rows per Table)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무제한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무제한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941755"/>
                  </a:ext>
                </a:extLst>
              </a:tr>
              <a:tr h="619191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테이블당 최대 컬럼 개수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(Column per Table)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1,600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1,017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351942"/>
                  </a:ext>
                </a:extLst>
              </a:tr>
              <a:tr h="619191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테이블당 최대 인덱스 개수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(Indexes per Table)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무제한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06482"/>
                  </a:ext>
                </a:extLst>
              </a:tr>
              <a:tr h="358738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나눔고딕" pitchFamily="2" charset="-127"/>
                          <a:ea typeface="나눔고딕" pitchFamily="2" charset="-127"/>
                        </a:rPr>
                        <a:t>최대 </a:t>
                      </a:r>
                      <a:r>
                        <a:rPr lang="en-US" sz="1200" dirty="0">
                          <a:latin typeface="나눔고딕" pitchFamily="2" charset="-127"/>
                          <a:ea typeface="나눔고딕" pitchFamily="2" charset="-127"/>
                        </a:rPr>
                        <a:t>DB </a:t>
                      </a:r>
                      <a:r>
                        <a:rPr lang="ko-KR" altLang="en-US" sz="1200" dirty="0">
                          <a:latin typeface="나눔고딕" pitchFamily="2" charset="-127"/>
                          <a:ea typeface="나눔고딕" pitchFamily="2" charset="-127"/>
                        </a:rPr>
                        <a:t>크기</a:t>
                      </a:r>
                      <a:r>
                        <a:rPr lang="en-US" altLang="ko-KR" sz="1200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en-US" sz="1200" dirty="0">
                          <a:latin typeface="나눔고딕" pitchFamily="2" charset="-127"/>
                          <a:ea typeface="나눔고딕" pitchFamily="2" charset="-127"/>
                        </a:rPr>
                        <a:t>Database Size)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무제한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무제한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189620"/>
                  </a:ext>
                </a:extLst>
              </a:tr>
            </a:tbl>
          </a:graphicData>
        </a:graphic>
      </p:graphicFrame>
      <p:sp>
        <p:nvSpPr>
          <p:cNvPr id="9" name="Rectangle 1">
            <a:hlinkClick r:id="rId2"/>
            <a:extLst>
              <a:ext uri="{FF2B5EF4-FFF2-40B4-BE49-F238E27FC236}">
                <a16:creationId xmlns:a16="http://schemas.microsoft.com/office/drawing/2014/main" id="{AD2FB839-0E8C-77B2-EA37-E4163314A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053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3450B2F0-7A60-DC50-F0E5-8BFCEFA007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478174"/>
              </p:ext>
            </p:extLst>
          </p:nvPr>
        </p:nvGraphicFramePr>
        <p:xfrm>
          <a:off x="359834" y="1019175"/>
          <a:ext cx="8369169" cy="4326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1263">
                  <a:extLst>
                    <a:ext uri="{9D8B030D-6E8A-4147-A177-3AD203B41FA5}">
                      <a16:colId xmlns:a16="http://schemas.microsoft.com/office/drawing/2014/main" val="1764656031"/>
                    </a:ext>
                  </a:extLst>
                </a:gridCol>
                <a:gridCol w="2600587">
                  <a:extLst>
                    <a:ext uri="{9D8B030D-6E8A-4147-A177-3AD203B41FA5}">
                      <a16:colId xmlns:a16="http://schemas.microsoft.com/office/drawing/2014/main" val="1384125172"/>
                    </a:ext>
                  </a:extLst>
                </a:gridCol>
                <a:gridCol w="2697319">
                  <a:extLst>
                    <a:ext uri="{9D8B030D-6E8A-4147-A177-3AD203B41FA5}">
                      <a16:colId xmlns:a16="http://schemas.microsoft.com/office/drawing/2014/main" val="1869557340"/>
                    </a:ext>
                  </a:extLst>
                </a:gridCol>
              </a:tblGrid>
              <a:tr h="309039">
                <a:tc>
                  <a:txBody>
                    <a:bodyPr/>
                    <a:lstStyle/>
                    <a:p>
                      <a:pPr algn="ctr" fontAlgn="t"/>
                      <a:endParaRPr lang="en-US" sz="1200" b="1" dirty="0">
                        <a:effectLst/>
                        <a:latin typeface="나눔고딕" pitchFamily="2" charset="-127"/>
                        <a:ea typeface="나눔고딕" pitchFamily="2" charset="-127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505717"/>
                  </a:ext>
                </a:extLst>
              </a:tr>
              <a:tr h="51506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Implementation 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C/C++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38759"/>
                  </a:ext>
                </a:extLst>
              </a:tr>
              <a:tr h="309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375148"/>
                  </a:ext>
                </a:extLst>
              </a:tr>
              <a:tr h="51506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Storage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Single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 storage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Multiple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2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storage engines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e.g., (</a:t>
                      </a:r>
                      <a:r>
                        <a:rPr lang="en-US" sz="1200" dirty="0" err="1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InnoDB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200" dirty="0" err="1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MyISAM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500017"/>
                  </a:ext>
                </a:extLst>
              </a:tr>
              <a:tr h="309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Full-text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Yes (Limited)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413939"/>
                  </a:ext>
                </a:extLst>
              </a:tr>
              <a:tr h="72109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DROP TABLE</a:t>
                      </a:r>
                      <a:endParaRPr lang="en-US" sz="1200" dirty="0">
                        <a:effectLst/>
                        <a:latin typeface="나눔고딕" pitchFamily="2" charset="-127"/>
                        <a:ea typeface="나눔고딕" pitchFamily="2" charset="-127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Support CASCADE option to drop table’s dependent objects e.g., tables and views.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Does not support CASCADE option.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883246"/>
                  </a:ext>
                </a:extLst>
              </a:tr>
              <a:tr h="92711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 TRUNCATE TABLE</a:t>
                      </a:r>
                      <a:endParaRPr lang="en-US" sz="1200" dirty="0">
                        <a:effectLst/>
                        <a:latin typeface="나눔고딕" pitchFamily="2" charset="-127"/>
                        <a:ea typeface="나눔고딕" pitchFamily="2" charset="-127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PostgreSQL TRUNCATE TABLE supports more features like CASCADE, RESTART IDENTITY, CONTINUE IDENTITY, transaction-safe,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MySQL TRUNCATE TABLE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 does not support CASCADE and transaction safe </a:t>
                      </a:r>
                      <a:r>
                        <a:rPr lang="en-US" sz="1200" dirty="0" err="1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i.e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,. once data is deleted, it cannot be rolled back.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122626"/>
                  </a:ext>
                </a:extLst>
              </a:tr>
              <a:tr h="72109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Data types</a:t>
                      </a:r>
                      <a:endParaRPr lang="en-US" sz="1200" dirty="0">
                        <a:effectLst/>
                        <a:latin typeface="나눔고딕" pitchFamily="2" charset="-127"/>
                        <a:ea typeface="나눔고딕" pitchFamily="2" charset="-127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Support many advanced types such as </a:t>
                      </a:r>
                      <a:r>
                        <a:rPr lang="en-US" sz="12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array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12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hstore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, and </a:t>
                      </a:r>
                      <a:r>
                        <a:rPr lang="en-US" sz="12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user-defined type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  <a:cs typeface="Times New Roman" panose="02020603050405020304" pitchFamily="18" charset="0"/>
                        </a:rPr>
                        <a:t>SQL-standard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310335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F8E446-DDFC-A262-E145-67C95F0087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PostgreSQL vs MySQL</a:t>
            </a:r>
            <a:endParaRPr lang="ko-KR" altLang="en-US" dirty="0"/>
          </a:p>
        </p:txBody>
      </p:sp>
      <p:pic>
        <p:nvPicPr>
          <p:cNvPr id="7172" name="Picture 4" descr="PostgreSQL vs. MySQL">
            <a:extLst>
              <a:ext uri="{FF2B5EF4-FFF2-40B4-BE49-F238E27FC236}">
                <a16:creationId xmlns:a16="http://schemas.microsoft.com/office/drawing/2014/main" id="{9C9EBB6B-EF6B-15CC-EF94-5C3F55E47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460021"/>
            <a:ext cx="3543885" cy="116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217875-9E83-5875-33AD-EE1B1AA0AA41}"/>
              </a:ext>
            </a:extLst>
          </p:cNvPr>
          <p:cNvSpPr txBox="1"/>
          <p:nvPr/>
        </p:nvSpPr>
        <p:spPr>
          <a:xfrm>
            <a:off x="359834" y="5953363"/>
            <a:ext cx="3883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Reference </a:t>
            </a:r>
            <a:r>
              <a:rPr lang="en-US" altLang="ko-KR" dirty="0">
                <a:hlinkClick r:id="rId4"/>
              </a:rPr>
              <a:t>PostgreSQL vs MySQL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65564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8FCD7C-6D25-E7A4-21CD-9B0602537D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PostgreSQL vs MySQL</a:t>
            </a:r>
            <a:endParaRPr lang="ko-KR" altLang="en-US" dirty="0"/>
          </a:p>
        </p:txBody>
      </p:sp>
      <p:pic>
        <p:nvPicPr>
          <p:cNvPr id="4" name="Picture 4" descr="PostgreSQL vs. MySQL">
            <a:extLst>
              <a:ext uri="{FF2B5EF4-FFF2-40B4-BE49-F238E27FC236}">
                <a16:creationId xmlns:a16="http://schemas.microsoft.com/office/drawing/2014/main" id="{7C2A62A9-CADE-251B-C74D-D83A8C442D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675" y="5032049"/>
            <a:ext cx="3930683" cy="129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F090CC5-A51F-2E93-8B67-966B20464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488789"/>
              </p:ext>
            </p:extLst>
          </p:nvPr>
        </p:nvGraphicFramePr>
        <p:xfrm>
          <a:off x="359834" y="1107016"/>
          <a:ext cx="5799093" cy="4020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31">
                  <a:extLst>
                    <a:ext uri="{9D8B030D-6E8A-4147-A177-3AD203B41FA5}">
                      <a16:colId xmlns:a16="http://schemas.microsoft.com/office/drawing/2014/main" val="209542249"/>
                    </a:ext>
                  </a:extLst>
                </a:gridCol>
                <a:gridCol w="1933031">
                  <a:extLst>
                    <a:ext uri="{9D8B030D-6E8A-4147-A177-3AD203B41FA5}">
                      <a16:colId xmlns:a16="http://schemas.microsoft.com/office/drawing/2014/main" val="327628103"/>
                    </a:ext>
                  </a:extLst>
                </a:gridCol>
                <a:gridCol w="1933031">
                  <a:extLst>
                    <a:ext uri="{9D8B030D-6E8A-4147-A177-3AD203B41FA5}">
                      <a16:colId xmlns:a16="http://schemas.microsoft.com/office/drawing/2014/main" val="1861550957"/>
                    </a:ext>
                  </a:extLst>
                </a:gridCol>
              </a:tblGrid>
              <a:tr h="281262">
                <a:tc>
                  <a:txBody>
                    <a:bodyPr/>
                    <a:lstStyle/>
                    <a:p>
                      <a:pPr algn="ctr" fontAlgn="t"/>
                      <a:endParaRPr lang="en-US" sz="900" b="1" dirty="0"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440718"/>
                  </a:ext>
                </a:extLst>
              </a:tr>
              <a:tr h="28126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 FULL OUTER JOIN</a:t>
                      </a:r>
                      <a:endParaRPr lang="en-US" sz="900" dirty="0"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705531"/>
                  </a:ext>
                </a:extLst>
              </a:tr>
              <a:tr h="28126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 </a:t>
                      </a:r>
                      <a:r>
                        <a:rPr lang="en-US" sz="9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INTERSECT</a:t>
                      </a:r>
                      <a:endParaRPr lang="en-US" sz="900" dirty="0"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072139"/>
                  </a:ext>
                </a:extLst>
              </a:tr>
              <a:tr h="28126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 EXCEPT</a:t>
                      </a:r>
                      <a:endParaRPr lang="en-US" sz="900" dirty="0"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219377"/>
                  </a:ext>
                </a:extLst>
              </a:tr>
              <a:tr h="28126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Partial indexes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479576"/>
                  </a:ext>
                </a:extLst>
              </a:tr>
              <a:tr h="28126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Bitmap indexes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626719"/>
                  </a:ext>
                </a:extLst>
              </a:tr>
              <a:tr h="28126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Expression indexes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614679"/>
                  </a:ext>
                </a:extLst>
              </a:tr>
              <a:tr h="269084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Covering indexes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 (since version 9.2)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582316"/>
                  </a:ext>
                </a:extLst>
              </a:tr>
              <a:tr h="53170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Triggers</a:t>
                      </a:r>
                      <a:endParaRPr lang="en-US" sz="900" dirty="0"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Support triggers that can fire on most types of command, except for ones affecting the database globally e.g., roles and tablespaces.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Limited to some commands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801858"/>
                  </a:ext>
                </a:extLst>
              </a:tr>
              <a:tr h="53170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Partitioning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RANGE,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RANGE, LIST, HASH, KEY, and composite partitioning using a combination of RANGE or LIST with HASH or KEY </a:t>
                      </a:r>
                      <a:r>
                        <a:rPr lang="en-US" sz="900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subpartitions</a:t>
                      </a:r>
                      <a:endParaRPr lang="en-US" sz="900" dirty="0"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26302"/>
                  </a:ext>
                </a:extLst>
              </a:tr>
              <a:tr h="28126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Connection 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Each new connection is an OS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Each new connection is an OS thread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7366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CDD8451-226F-F0D1-000A-4A76F6E3B026}"/>
              </a:ext>
            </a:extLst>
          </p:cNvPr>
          <p:cNvSpPr txBox="1"/>
          <p:nvPr/>
        </p:nvSpPr>
        <p:spPr>
          <a:xfrm>
            <a:off x="359834" y="5870765"/>
            <a:ext cx="3883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Reference </a:t>
            </a:r>
            <a:r>
              <a:rPr lang="en-US" altLang="ko-KR" dirty="0">
                <a:hlinkClick r:id="rId3"/>
              </a:rPr>
              <a:t>PostgreSQL vs MySQL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0037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FB76B2D-2408-0223-1730-7DF5983D4B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13077"/>
              </p:ext>
            </p:extLst>
          </p:nvPr>
        </p:nvGraphicFramePr>
        <p:xfrm>
          <a:off x="358774" y="1104900"/>
          <a:ext cx="8843432" cy="2688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58">
                  <a:extLst>
                    <a:ext uri="{9D8B030D-6E8A-4147-A177-3AD203B41FA5}">
                      <a16:colId xmlns:a16="http://schemas.microsoft.com/office/drawing/2014/main" val="2358417640"/>
                    </a:ext>
                  </a:extLst>
                </a:gridCol>
                <a:gridCol w="2366817">
                  <a:extLst>
                    <a:ext uri="{9D8B030D-6E8A-4147-A177-3AD203B41FA5}">
                      <a16:colId xmlns:a16="http://schemas.microsoft.com/office/drawing/2014/main" val="1465362935"/>
                    </a:ext>
                  </a:extLst>
                </a:gridCol>
                <a:gridCol w="2054899">
                  <a:extLst>
                    <a:ext uri="{9D8B030D-6E8A-4147-A177-3AD203B41FA5}">
                      <a16:colId xmlns:a16="http://schemas.microsoft.com/office/drawing/2014/main" val="2586274299"/>
                    </a:ext>
                  </a:extLst>
                </a:gridCol>
                <a:gridCol w="2210858">
                  <a:extLst>
                    <a:ext uri="{9D8B030D-6E8A-4147-A177-3AD203B41FA5}">
                      <a16:colId xmlns:a16="http://schemas.microsoft.com/office/drawing/2014/main" val="2610401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DB Name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MongoDB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MySQL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PostgreSQL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33219"/>
                  </a:ext>
                </a:extLst>
              </a:tr>
              <a:tr h="2428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Primary</a:t>
                      </a:r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database</a:t>
                      </a:r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model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Document Store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Relational DBMS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ORDBMS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15661"/>
                  </a:ext>
                </a:extLst>
              </a:tr>
              <a:tr h="3818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나눔고딕" pitchFamily="2" charset="-127"/>
                          <a:ea typeface="나눔고딕" pitchFamily="2" charset="-127"/>
                        </a:rPr>
                        <a:t>Scondary</a:t>
                      </a:r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 Database models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Spatial DBMS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Search engine info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Time Series DBMS 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Document Store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Spatial DBMS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Document Store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Spatial DBMS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136493"/>
                  </a:ext>
                </a:extLst>
              </a:tr>
              <a:tr h="416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Data schema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Schema-free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필요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706730"/>
                  </a:ext>
                </a:extLst>
              </a:tr>
              <a:tr h="2427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Xml support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나눔고딕" pitchFamily="2" charset="-127"/>
                          <a:ea typeface="나눔고딕" pitchFamily="2" charset="-127"/>
                        </a:rPr>
                        <a:t>X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370574"/>
                  </a:ext>
                </a:extLst>
              </a:tr>
              <a:tr h="28096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Secondary indexes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24209"/>
                  </a:ext>
                </a:extLst>
              </a:tr>
              <a:tr h="2949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SQL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2" charset="-127"/>
                          <a:ea typeface="나눔고딕" pitchFamily="2" charset="-127"/>
                        </a:rPr>
                        <a:t>MongoDB BI</a:t>
                      </a:r>
                      <a:endParaRPr lang="ko-KR" altLang="en-US" sz="10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2" charset="-127"/>
                          <a:ea typeface="나눔고딕" pitchFamily="2" charset="-127"/>
                        </a:rPr>
                        <a:t>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963283"/>
                  </a:ext>
                </a:extLst>
              </a:tr>
              <a:tr h="41638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Server-side scripts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PL/PGSQL</a:t>
                      </a:r>
                      <a:endParaRPr lang="en-US" sz="1000" dirty="0"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PL/PGSQL PL/PYTHON PL/JAVA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73941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4A41B6-46A3-863C-F743-EC5A16717E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  <a:cs typeface="Times New Roman" panose="02020603050405020304" pitchFamily="18" charset="0"/>
              </a:rPr>
              <a:t>Feature comparison</a:t>
            </a:r>
            <a:endParaRPr lang="ko-KR" alt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DBF7F-6B13-EFC4-64EF-9CF12E780C5B}"/>
              </a:ext>
            </a:extLst>
          </p:cNvPr>
          <p:cNvSpPr txBox="1"/>
          <p:nvPr/>
        </p:nvSpPr>
        <p:spPr>
          <a:xfrm>
            <a:off x="358774" y="4756150"/>
            <a:ext cx="1967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DBEngine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844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529E19-5F45-8D4A-9A83-65678E3A6E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  <a:cs typeface="Times New Roman" panose="02020603050405020304" pitchFamily="18" charset="0"/>
              </a:rPr>
              <a:t>Feature comparison</a:t>
            </a:r>
            <a:endParaRPr lang="ko-KR" altLang="en-US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9E3A8B8-6E68-FBFA-B4E7-D02F7655A4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37871"/>
              </p:ext>
            </p:extLst>
          </p:nvPr>
        </p:nvGraphicFramePr>
        <p:xfrm>
          <a:off x="358773" y="1104900"/>
          <a:ext cx="8843432" cy="4079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58">
                  <a:extLst>
                    <a:ext uri="{9D8B030D-6E8A-4147-A177-3AD203B41FA5}">
                      <a16:colId xmlns:a16="http://schemas.microsoft.com/office/drawing/2014/main" val="2358417640"/>
                    </a:ext>
                  </a:extLst>
                </a:gridCol>
                <a:gridCol w="2254039">
                  <a:extLst>
                    <a:ext uri="{9D8B030D-6E8A-4147-A177-3AD203B41FA5}">
                      <a16:colId xmlns:a16="http://schemas.microsoft.com/office/drawing/2014/main" val="1465362935"/>
                    </a:ext>
                  </a:extLst>
                </a:gridCol>
                <a:gridCol w="2167677">
                  <a:extLst>
                    <a:ext uri="{9D8B030D-6E8A-4147-A177-3AD203B41FA5}">
                      <a16:colId xmlns:a16="http://schemas.microsoft.com/office/drawing/2014/main" val="2586274299"/>
                    </a:ext>
                  </a:extLst>
                </a:gridCol>
                <a:gridCol w="2210858">
                  <a:extLst>
                    <a:ext uri="{9D8B030D-6E8A-4147-A177-3AD203B41FA5}">
                      <a16:colId xmlns:a16="http://schemas.microsoft.com/office/drawing/2014/main" val="2610401244"/>
                    </a:ext>
                  </a:extLst>
                </a:gridCol>
              </a:tblGrid>
              <a:tr h="3931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고딕" pitchFamily="2" charset="-127"/>
                          <a:ea typeface="나눔고딕" pitchFamily="2" charset="-127"/>
                        </a:rPr>
                        <a:t>DB Name</a:t>
                      </a:r>
                      <a:endParaRPr lang="ko-KR" altLang="en-US" sz="14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고딕" pitchFamily="2" charset="-127"/>
                          <a:ea typeface="나눔고딕" pitchFamily="2" charset="-127"/>
                        </a:rPr>
                        <a:t>MongoDB</a:t>
                      </a:r>
                      <a:endParaRPr lang="ko-KR" altLang="en-US" sz="14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고딕" pitchFamily="2" charset="-127"/>
                          <a:ea typeface="나눔고딕" pitchFamily="2" charset="-127"/>
                        </a:rPr>
                        <a:t>MySQL</a:t>
                      </a:r>
                      <a:endParaRPr lang="ko-KR" altLang="en-US" sz="14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고딕" pitchFamily="2" charset="-127"/>
                          <a:ea typeface="나눔고딕" pitchFamily="2" charset="-127"/>
                        </a:rPr>
                        <a:t>PostgreSQL</a:t>
                      </a:r>
                      <a:endParaRPr lang="ko-KR" altLang="en-US" sz="14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33219"/>
                  </a:ext>
                </a:extLst>
              </a:tr>
              <a:tr h="37959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Partitioning methods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Sharding</a:t>
                      </a:r>
                      <a:endParaRPr lang="ko-KR" altLang="en-US" sz="12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horizontal partitioning, </a:t>
                      </a:r>
                      <a:r>
                        <a:rPr lang="en-US" sz="1200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sharding</a:t>
                      </a: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partitioning by range, 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list,hash</a:t>
                      </a:r>
                      <a:endParaRPr lang="ko-KR" altLang="en-US" sz="12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15661"/>
                  </a:ext>
                </a:extLst>
              </a:tr>
              <a:tr h="61684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Replication methods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Multi-Source replication</a:t>
                      </a:r>
                      <a:b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Source-replica 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Multi-source replication</a:t>
                      </a:r>
                      <a:b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Source-replica 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Source-replica replication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136493"/>
                  </a:ext>
                </a:extLst>
              </a:tr>
              <a:tr h="39316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MapReduce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706730"/>
                  </a:ext>
                </a:extLst>
              </a:tr>
              <a:tr h="61684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Consistency concepts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Eventual Consistency</a:t>
                      </a:r>
                      <a:b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Immediate Consistency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Immediate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Immediate Consistency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370574"/>
                  </a:ext>
                </a:extLst>
              </a:tr>
              <a:tr h="39316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Foreign keys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24209"/>
                  </a:ext>
                </a:extLst>
              </a:tr>
              <a:tr h="39316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Concurrency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963283"/>
                  </a:ext>
                </a:extLst>
              </a:tr>
              <a:tr h="43671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Durability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783881"/>
                  </a:ext>
                </a:extLst>
              </a:tr>
              <a:tr h="37959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In-memory capabilities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739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966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9DD35FB-87EC-52D7-2F86-C2BE6E2D5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Feature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848300-B717-B180-5A38-8065D41C8F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Current PostgreSQL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4447CA-7EE8-BA61-283F-EB4C527E2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96" y="1819044"/>
            <a:ext cx="4840849" cy="28200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F232B7F-ED73-91C2-E918-9530F729F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232" y="1715548"/>
            <a:ext cx="4448816" cy="292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19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DA1E41-4B2E-5D32-6B4A-A6E4B07CD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hlinkClick r:id="rId2"/>
              </a:rPr>
              <a:t>Website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66A93F-6F1F-4FA3-E638-7E82FE703D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Install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9EB28D-65B8-565D-F21E-6EC1E4E4E57D}"/>
              </a:ext>
            </a:extLst>
          </p:cNvPr>
          <p:cNvGrpSpPr/>
          <p:nvPr/>
        </p:nvGrpSpPr>
        <p:grpSpPr>
          <a:xfrm>
            <a:off x="639371" y="1893016"/>
            <a:ext cx="7410338" cy="3811660"/>
            <a:chOff x="639371" y="1893016"/>
            <a:chExt cx="7410338" cy="381166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2DE863D-B862-0478-0F81-7883EBDD9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9371" y="1893016"/>
              <a:ext cx="7410338" cy="381166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0B05C98-625A-7ED1-AD23-027361E647F0}"/>
                </a:ext>
              </a:extLst>
            </p:cNvPr>
            <p:cNvSpPr/>
            <p:nvPr/>
          </p:nvSpPr>
          <p:spPr>
            <a:xfrm>
              <a:off x="2442333" y="2867085"/>
              <a:ext cx="820011" cy="2831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4142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26F0FFE-8AF4-8123-5CC5-CF232289E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775" y="1365770"/>
            <a:ext cx="11339513" cy="4502697"/>
          </a:xfr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70EC4E-295C-8F67-6A55-7C1C0AE33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Install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6A6E3D-D65C-EFD5-8A7B-D6E8F4D6824B}"/>
              </a:ext>
            </a:extLst>
          </p:cNvPr>
          <p:cNvSpPr/>
          <p:nvPr/>
        </p:nvSpPr>
        <p:spPr>
          <a:xfrm>
            <a:off x="407056" y="2023479"/>
            <a:ext cx="1002890" cy="171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196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3AA41D-273E-C7F3-3921-29F241B50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Select OS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9D44C9-A6DD-556A-6422-CF1382E843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Install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B9A490-0986-5AF7-6583-42BE5A11C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903" y="1632183"/>
            <a:ext cx="5563716" cy="426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86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F463AE8-134D-AF08-DBA7-6F37DF1DA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D0132F-7B9C-02E1-DE4F-B089CA2257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Install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A7EDCD-DFE6-035A-5D2E-AA13FDC5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81" y="2088371"/>
            <a:ext cx="4105274" cy="32496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D0EC5D-D05A-4AD5-052F-477306222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176" y="1990573"/>
            <a:ext cx="4320602" cy="334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52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FED59F5-F5CC-29E9-5951-546B6BA4A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StackBuilder</a:t>
            </a:r>
          </a:p>
          <a:p>
            <a:pPr lvl="1"/>
            <a:r>
              <a:rPr lang="en-US" altLang="ko-KR"/>
              <a:t>Postgresql extension installer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CB6712-B184-50E2-F7BC-8D3B22A2CC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Install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5AF723-936C-9A2D-4061-378A18A43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71" y="2121256"/>
            <a:ext cx="5363323" cy="41153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D4237A0-15CB-4DC1-345B-4CECB1076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263" y="2121256"/>
            <a:ext cx="5239481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29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A2D3580-D217-FBB2-3EB2-8797269E7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Setup</a:t>
            </a:r>
            <a:r>
              <a:rPr lang="ko-KR" altLang="en-US"/>
              <a:t> </a:t>
            </a:r>
            <a:r>
              <a:rPr lang="en-US" altLang="ko-KR"/>
              <a:t>password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C3649C-94A5-175E-386F-7ECA2C8FE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Install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CFCB06-29D3-1455-683F-434CE64B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59" y="1766377"/>
            <a:ext cx="5210902" cy="40867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3B6101-6D0C-16D9-F41B-8C155FC95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241" y="1766376"/>
            <a:ext cx="5258534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41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27F087-D969-3F33-F4C6-7274D56725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Install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CE2E8B-1B66-D9B1-496D-EE6D75636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5" y="1439832"/>
            <a:ext cx="5268060" cy="40963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D507389-9A0B-2355-BFEE-FD7592B8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774" y="1463648"/>
            <a:ext cx="5268060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02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87F813C-8F02-2100-B264-7DBFEFDC4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설치 완료후 다음의 </a:t>
            </a:r>
            <a:r>
              <a:rPr lang="en-US" altLang="ko-KR"/>
              <a:t>program</a:t>
            </a:r>
            <a:r>
              <a:rPr lang="ko-KR" altLang="en-US"/>
              <a:t>이 설치되어있음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Psql(shell) </a:t>
            </a:r>
          </a:p>
          <a:p>
            <a:pPr lvl="2"/>
            <a:r>
              <a:rPr lang="en-US" altLang="ko-KR"/>
              <a:t>Command promp</a:t>
            </a:r>
            <a:r>
              <a:rPr lang="ko-KR" altLang="en-US"/>
              <a:t>를 통해 </a:t>
            </a:r>
            <a:r>
              <a:rPr lang="en-US" altLang="ko-KR"/>
              <a:t>DB </a:t>
            </a:r>
            <a:r>
              <a:rPr lang="ko-KR" altLang="en-US"/>
              <a:t>접근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Pgadmin4</a:t>
            </a:r>
          </a:p>
          <a:p>
            <a:pPr lvl="2"/>
            <a:r>
              <a:rPr lang="en-US" altLang="ko-KR"/>
              <a:t>GUI</a:t>
            </a:r>
            <a:r>
              <a:rPr lang="ko-KR" altLang="en-US"/>
              <a:t>를 통해 </a:t>
            </a:r>
            <a:r>
              <a:rPr lang="en-US" altLang="ko-KR"/>
              <a:t>DB </a:t>
            </a:r>
            <a:r>
              <a:rPr lang="ko-KR" altLang="en-US"/>
              <a:t>접근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6D3E65-7D2B-9C00-7107-DD3F81F0C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Install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963B73-165E-0E73-FBD7-DCD482DCE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819" y="4069586"/>
            <a:ext cx="2305372" cy="15623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9D787E-71FD-5E1B-BBD1-A7AE21E50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15" y="1826042"/>
            <a:ext cx="2276793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65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961A56-436B-678E-91C6-48EFD78D4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000" dirty="0">
                <a:latin typeface="나눔고딕" pitchFamily="2" charset="-127"/>
                <a:ea typeface="나눔고딕" pitchFamily="2" charset="-127"/>
              </a:rPr>
              <a:t>시스템 환경 변수 설정</a:t>
            </a:r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2000" dirty="0">
                <a:latin typeface="나눔고딕" pitchFamily="2" charset="-127"/>
                <a:ea typeface="나눔고딕" pitchFamily="2" charset="-127"/>
              </a:rPr>
              <a:t>환경 변수 설정을 통해 아래와 같은 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tool </a:t>
            </a:r>
            <a:r>
              <a:rPr lang="ko-KR" altLang="en-US" sz="2000" dirty="0">
                <a:latin typeface="나눔고딕" pitchFamily="2" charset="-127"/>
                <a:ea typeface="나눔고딕" pitchFamily="2" charset="-127"/>
              </a:rPr>
              <a:t>사용가능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marL="457200" lvl="1" indent="0">
              <a:buNone/>
            </a:pPr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marL="457200" lvl="1" indent="0">
              <a:buNone/>
            </a:pPr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marL="457200" lvl="1" indent="0">
              <a:buNone/>
            </a:pPr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marL="457200" lvl="1" indent="0">
              <a:buNone/>
            </a:pPr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sz="2000" dirty="0"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 sz="2000" dirty="0" err="1">
                <a:latin typeface="나눔고딕" pitchFamily="2" charset="-127"/>
                <a:ea typeface="나눔고딕" pitchFamily="2" charset="-127"/>
              </a:rPr>
              <a:t>pg_ctl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 (</a:t>
            </a:r>
            <a:r>
              <a:rPr lang="ko-KR" altLang="en-US" sz="2000" dirty="0">
                <a:latin typeface="나눔고딕" pitchFamily="2" charset="-127"/>
                <a:ea typeface="나눔고딕" pitchFamily="2" charset="-127"/>
              </a:rPr>
              <a:t>서버 제반 작업 수행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)  </a:t>
            </a:r>
          </a:p>
          <a:p>
            <a:pPr lvl="1"/>
            <a:r>
              <a:rPr lang="en-US" altLang="ko-KR" sz="2000" dirty="0" err="1">
                <a:latin typeface="나눔고딕" pitchFamily="2" charset="-127"/>
                <a:ea typeface="나눔고딕" pitchFamily="2" charset="-127"/>
              </a:rPr>
              <a:t>pg_dump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 (database backup)</a:t>
            </a:r>
          </a:p>
          <a:p>
            <a:pPr lvl="1"/>
            <a:r>
              <a:rPr lang="en-US" altLang="ko-KR" sz="2000" dirty="0" err="1">
                <a:latin typeface="나눔고딕" pitchFamily="2" charset="-127"/>
                <a:ea typeface="나눔고딕" pitchFamily="2" charset="-127"/>
              </a:rPr>
              <a:t>pg_restore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 (database </a:t>
            </a:r>
            <a:r>
              <a:rPr lang="ko-KR" altLang="en-US" sz="2000" dirty="0">
                <a:latin typeface="나눔고딕" pitchFamily="2" charset="-127"/>
                <a:ea typeface="나눔고딕" pitchFamily="2" charset="-127"/>
              </a:rPr>
              <a:t>복구</a:t>
            </a:r>
            <a:r>
              <a:rPr lang="en-US" altLang="ko-KR" sz="2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2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C8B843-B2C5-7486-ADC6-1640E1BEDE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Install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0928B36-10FE-3014-A219-9577251B6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17" y="1949126"/>
            <a:ext cx="5583607" cy="318392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6CDE947-3655-BAC4-56F1-193E7F956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770" y="2151695"/>
            <a:ext cx="4222519" cy="224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24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CA68613-9413-3049-2261-37915030A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70" y="1247730"/>
            <a:ext cx="11339444" cy="5023539"/>
          </a:xfrm>
        </p:spPr>
        <p:txBody>
          <a:bodyPr/>
          <a:lstStyle/>
          <a:p>
            <a:r>
              <a:rPr lang="en-US" altLang="ko-KR"/>
              <a:t>DB </a:t>
            </a:r>
            <a:r>
              <a:rPr lang="ko-KR" altLang="en-US"/>
              <a:t>디렉토리 구조</a:t>
            </a:r>
            <a:endParaRPr lang="en-US" altLang="ko-KR"/>
          </a:p>
          <a:p>
            <a:pPr lvl="1"/>
            <a:r>
              <a:rPr lang="ko-KR" altLang="en-US"/>
              <a:t>앞의 </a:t>
            </a:r>
            <a:r>
              <a:rPr lang="en-US" altLang="ko-KR"/>
              <a:t>pg_ctl, pg_dump, pg_restore</a:t>
            </a:r>
            <a:r>
              <a:rPr lang="ko-KR" altLang="en-US"/>
              <a:t>와 같은 </a:t>
            </a:r>
            <a:r>
              <a:rPr lang="en-US" altLang="ko-KR"/>
              <a:t>tool</a:t>
            </a:r>
            <a:r>
              <a:rPr lang="ko-KR" altLang="en-US"/>
              <a:t>을 사용할때 디렉토리 혹은 안의 파일을 지정하여 서버 실행</a:t>
            </a:r>
            <a:r>
              <a:rPr lang="en-US" altLang="ko-KR"/>
              <a:t>, </a:t>
            </a:r>
            <a:r>
              <a:rPr lang="ko-KR" altLang="en-US"/>
              <a:t>백업</a:t>
            </a:r>
            <a:r>
              <a:rPr lang="en-US" altLang="ko-KR"/>
              <a:t>, </a:t>
            </a:r>
            <a:r>
              <a:rPr lang="ko-KR" altLang="en-US"/>
              <a:t>복구를 수행가능</a:t>
            </a:r>
            <a:r>
              <a:rPr lang="en-US" altLang="ko-KR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56B971-A2C6-FEF8-C5F5-37DC09FADD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PostgreSQL </a:t>
            </a:r>
            <a:r>
              <a:rPr lang="ko-KR" altLang="en-US" dirty="0"/>
              <a:t>디렉터리 구조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488426-2849-2E4D-690C-D5F060740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5" y="2872300"/>
            <a:ext cx="5835585" cy="1774397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CC92478-28AB-BF04-10CF-3423957BD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749685"/>
              </p:ext>
            </p:extLst>
          </p:nvPr>
        </p:nvGraphicFramePr>
        <p:xfrm>
          <a:off x="6485918" y="2611603"/>
          <a:ext cx="505574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874">
                  <a:extLst>
                    <a:ext uri="{9D8B030D-6E8A-4147-A177-3AD203B41FA5}">
                      <a16:colId xmlns:a16="http://schemas.microsoft.com/office/drawing/2014/main" val="4249740190"/>
                    </a:ext>
                  </a:extLst>
                </a:gridCol>
                <a:gridCol w="2527874">
                  <a:extLst>
                    <a:ext uri="{9D8B030D-6E8A-4147-A177-3AD203B41FA5}">
                      <a16:colId xmlns:a16="http://schemas.microsoft.com/office/drawing/2014/main" val="2967697519"/>
                    </a:ext>
                  </a:extLst>
                </a:gridCol>
              </a:tblGrid>
              <a:tr h="2285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디렉토리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640739"/>
                  </a:ext>
                </a:extLst>
              </a:tr>
              <a:tr h="391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bin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PostgreSQL(DB)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에서 사용하는 실행파일 위치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549450"/>
                  </a:ext>
                </a:extLst>
              </a:tr>
              <a:tr h="234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data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DB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의 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Data 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디렉토리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9097"/>
                  </a:ext>
                </a:extLst>
              </a:tr>
              <a:tr h="234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doc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Documentation 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파일 위치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09647"/>
                  </a:ext>
                </a:extLst>
              </a:tr>
              <a:tr h="391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include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Header files 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(cluster 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생성시에 사용됨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939509"/>
                  </a:ext>
                </a:extLst>
              </a:tr>
              <a:tr h="28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lib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PostgreSQL(DB)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에 필요한 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library 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46298"/>
                  </a:ext>
                </a:extLst>
              </a:tr>
              <a:tr h="234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pgAdmin4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그래픽 관리자 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Tool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588694"/>
                  </a:ext>
                </a:extLst>
              </a:tr>
              <a:tr h="391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stackbuilder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GUI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기반의 업데이트 및 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extension 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설치 관리 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Tool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819049"/>
                  </a:ext>
                </a:extLst>
              </a:tr>
              <a:tr h="234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Uninstall-postgresql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PostgreSQL 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제거를 위한 </a:t>
                      </a:r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uninstall </a:t>
                      </a:r>
                      <a:r>
                        <a:rPr lang="ko-KR" altLang="en-US" sz="1200">
                          <a:latin typeface="나눔고딕" pitchFamily="2" charset="-127"/>
                          <a:ea typeface="나눔고딕" pitchFamily="2" charset="-127"/>
                        </a:rPr>
                        <a:t>파일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145296"/>
                  </a:ext>
                </a:extLst>
              </a:tr>
              <a:tr h="234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고딕" pitchFamily="2" charset="-127"/>
                          <a:ea typeface="나눔고딕" pitchFamily="2" charset="-127"/>
                        </a:rPr>
                        <a:t>Uninstall-postgresql.dat</a:t>
                      </a:r>
                      <a:endParaRPr lang="ko-KR" altLang="en-US" sz="120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529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026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6D6B1B-8D5F-CBC8-97FD-C48E0455E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원격접속을 위한 클라이언트 인증설정 파일 </a:t>
            </a:r>
            <a:r>
              <a:rPr lang="en-US" altLang="ko-KR" sz="2000" i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: </a:t>
            </a:r>
            <a:r>
              <a:rPr lang="en-US" altLang="ko-KR" sz="200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data/</a:t>
            </a:r>
            <a:r>
              <a:rPr lang="en-US" altLang="ko-KR" sz="2000" i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pg</a:t>
            </a:r>
            <a:r>
              <a:rPr lang="en-US" altLang="ko-KR" sz="2000" i="0" dirty="0" err="1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_hba.conf</a:t>
            </a:r>
            <a:endParaRPr lang="en-US" altLang="ko-KR" sz="200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원격지에서의 접속을 위한 클라이언트 인증에 대한 설정을 지정해주는 파일로 </a:t>
            </a:r>
            <a:r>
              <a:rPr lang="en-US" altLang="ko-KR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Type, Database, User, Address, Method </a:t>
            </a:r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로 구분하여 설정</a:t>
            </a:r>
            <a:r>
              <a:rPr lang="en-US" altLang="ko-KR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457200" lvl="1" indent="0">
              <a:buNone/>
            </a:pPr>
            <a:endParaRPr lang="en-US" altLang="ko-KR" sz="200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예를 들어서 </a:t>
            </a:r>
            <a:r>
              <a:rPr lang="en-US" altLang="ko-KR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localhost</a:t>
            </a:r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와 특정</a:t>
            </a:r>
            <a:r>
              <a:rPr lang="en-US" altLang="ko-KR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IP </a:t>
            </a:r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대역으로부터의 모든 접속은 반드시 </a:t>
            </a:r>
            <a:r>
              <a:rPr lang="ko-KR" altLang="en-US" sz="2000" i="0" dirty="0" err="1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패드워드를</a:t>
            </a:r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 입력해야 접속이 가능하도록 설정하고 싶을 경우 아래와 같이 설정</a:t>
            </a:r>
            <a:r>
              <a:rPr lang="ko-KR" altLang="en-US" sz="2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가능</a:t>
            </a:r>
            <a:r>
              <a:rPr lang="en-US" altLang="ko-KR" sz="2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en-US" altLang="ko-KR" sz="200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sz="200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혹은 모든 대역에 대하여 접속이 가능하도록 하려면</a:t>
            </a:r>
            <a:r>
              <a:rPr lang="en-US" altLang="ko-KR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, ADDRESS </a:t>
            </a:r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부분에 대하여 </a:t>
            </a:r>
            <a:r>
              <a:rPr lang="en-US" altLang="ko-KR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0.0.0.0/0 </a:t>
            </a:r>
            <a:r>
              <a:rPr lang="ko-KR" altLang="en-US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으로 설정</a:t>
            </a:r>
            <a:r>
              <a:rPr lang="en-US" altLang="ko-KR" sz="2000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en-US" altLang="ko-KR" sz="2000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2000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2000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sz="200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algn="l"/>
            <a:endParaRPr lang="en-US" altLang="ko-KR" sz="2000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F55516-D79A-4EF6-BC01-F749AAC65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주요 환경 설정 파일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4CFFF7-E461-880B-2861-1331754FF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489" y="3867033"/>
            <a:ext cx="5388239" cy="264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49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EA6570A-AE97-B0B1-11EE-8625E8653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ko-KR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PostgreSQL(DB)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튜닝과 환경설정 파일 </a:t>
            </a:r>
            <a:r>
              <a:rPr lang="en-US" altLang="ko-KR" i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: data/postgresql</a:t>
            </a:r>
            <a:r>
              <a:rPr lang="en-US" altLang="ko-KR" i="0" dirty="0" err="1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.con</a:t>
            </a:r>
            <a:r>
              <a:rPr lang="en-US" altLang="ko-KR" dirty="0" err="1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f</a:t>
            </a:r>
            <a:endParaRPr lang="en-US" altLang="ko-KR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000000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pPr lvl="1"/>
            <a:endParaRPr lang="en-US" altLang="ko-KR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PostgreSQL(DB)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에 대한 환경설정 값에 대해서 </a:t>
            </a:r>
            <a:r>
              <a:rPr lang="en-US" altLang="ko-KR" i="0" dirty="0" err="1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postgresql.conf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파일을 이용하여 설정할 수 있다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 lvl="1"/>
            <a:r>
              <a:rPr lang="en-US" altLang="ko-KR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PostgreSQL(DB)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의 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port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정보나 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address(IP)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값을 설정해 줄 수 있으며 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DB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에 대한 튜닝 또한 이 파일에서 관리 가능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DA49C-0BE3-D22C-FBA0-D7111E92B2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주요 환경설정 파일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B3DB25-422C-D943-5E0C-9BEC0945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581" y="1601604"/>
            <a:ext cx="5153586" cy="268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40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A883E96-5843-5513-3849-A29F8F9F2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/>
              <a:t>CMD</a:t>
            </a:r>
          </a:p>
          <a:p>
            <a:pPr lvl="1"/>
            <a:r>
              <a:rPr lang="en-US" altLang="ko-KR"/>
              <a:t>psql –U postgres </a:t>
            </a:r>
            <a:r>
              <a:rPr lang="ko-KR" altLang="en-US"/>
              <a:t>명령어로 간단하게 접속가능</a:t>
            </a:r>
            <a:endParaRPr lang="en-US" altLang="ko-KR"/>
          </a:p>
          <a:p>
            <a:pPr lvl="1"/>
            <a:r>
              <a:rPr lang="ko-KR" altLang="en-US"/>
              <a:t>그외의 여러 </a:t>
            </a:r>
            <a:r>
              <a:rPr lang="en-US" altLang="ko-KR"/>
              <a:t>option</a:t>
            </a:r>
            <a:r>
              <a:rPr lang="ko-KR" altLang="en-US"/>
              <a:t>들은 </a:t>
            </a:r>
            <a:r>
              <a:rPr lang="en-US" altLang="ko-KR"/>
              <a:t>psql </a:t>
            </a:r>
            <a:r>
              <a:rPr lang="ko-KR" altLang="en-US"/>
              <a:t>실행시 </a:t>
            </a:r>
            <a:r>
              <a:rPr lang="en-US" altLang="ko-KR"/>
              <a:t>default</a:t>
            </a:r>
            <a:r>
              <a:rPr lang="ko-KR" altLang="en-US"/>
              <a:t>값이 지정되어 있기 때문에 필요에 따라 생략가능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>
                <a:hlinkClick r:id="rId2"/>
              </a:rPr>
              <a:t>그외 </a:t>
            </a:r>
            <a:r>
              <a:rPr lang="en-US" altLang="ko-KR">
                <a:hlinkClick r:id="rId2"/>
              </a:rPr>
              <a:t>options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B8ED87-3F59-0650-B113-2ACB52DEAE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Connect to Postgresql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9B8860-1DA5-E02D-5491-F59650DE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219" y="2660609"/>
            <a:ext cx="5305541" cy="274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18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D7CA4E4-F37C-329C-3BD3-3DDBBF2DB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\dt</a:t>
            </a:r>
          </a:p>
          <a:p>
            <a:pPr lvl="1"/>
            <a:r>
              <a:rPr lang="ko-KR" altLang="en-US" dirty="0"/>
              <a:t>테이블 릴레이션 목록 출력</a:t>
            </a:r>
            <a:endParaRPr lang="en-US" altLang="ko-KR" dirty="0"/>
          </a:p>
          <a:p>
            <a:r>
              <a:rPr lang="en-US" altLang="ko-KR" dirty="0"/>
              <a:t>\du </a:t>
            </a:r>
          </a:p>
          <a:p>
            <a:pPr lvl="1"/>
            <a:r>
              <a:rPr lang="ko-KR" altLang="en-US" dirty="0"/>
              <a:t>실행중인 데이터베이스의 유저 목록 출력</a:t>
            </a:r>
            <a:endParaRPr lang="en-US" altLang="ko-KR" dirty="0"/>
          </a:p>
          <a:p>
            <a:r>
              <a:rPr lang="en-US" altLang="ko-KR" dirty="0"/>
              <a:t>\l or \list</a:t>
            </a:r>
          </a:p>
          <a:p>
            <a:pPr lvl="1"/>
            <a:r>
              <a:rPr lang="ko-KR" altLang="en-US" dirty="0"/>
              <a:t>생성된 데이터베이스 목록 출력</a:t>
            </a:r>
            <a:endParaRPr lang="en-US" altLang="ko-KR" dirty="0"/>
          </a:p>
          <a:p>
            <a:r>
              <a:rPr lang="en-US" altLang="ko-KR" dirty="0"/>
              <a:t>\c or \connect</a:t>
            </a:r>
          </a:p>
          <a:p>
            <a:pPr lvl="1"/>
            <a:r>
              <a:rPr lang="ko-KR" altLang="en-US" dirty="0"/>
              <a:t>데이터베이스 연결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이외 </a:t>
            </a:r>
            <a:r>
              <a:rPr lang="en-US" altLang="ko-KR" dirty="0">
                <a:solidFill>
                  <a:srgbClr val="FF0000"/>
                </a:solidFill>
              </a:rPr>
              <a:t>DDL,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DML, DCL</a:t>
            </a:r>
            <a:r>
              <a:rPr lang="ko-KR" altLang="en-US" dirty="0"/>
              <a:t>을 수행 가능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38F3EF-A665-6D37-E5E6-90CAEDCF0B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Psql command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AD4CC3-96E8-83ED-36A2-61ED6E5D6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479" y="1503706"/>
            <a:ext cx="4645354" cy="264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374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1BA2298-4E02-D5AF-2A35-0403C125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Postgresql</a:t>
            </a:r>
            <a:r>
              <a:rPr lang="en-US" altLang="ko-KR" dirty="0"/>
              <a:t> GUI tool</a:t>
            </a:r>
          </a:p>
          <a:p>
            <a:r>
              <a:rPr lang="en-US" altLang="ko-KR" dirty="0"/>
              <a:t>Command prompt </a:t>
            </a:r>
            <a:r>
              <a:rPr lang="ko-KR" altLang="en-US" dirty="0"/>
              <a:t>기반보다 사용하기 쉬움</a:t>
            </a:r>
            <a:endParaRPr lang="en-US" altLang="ko-KR" dirty="0"/>
          </a:p>
          <a:p>
            <a:r>
              <a:rPr lang="en-US" altLang="ko-KR" dirty="0"/>
              <a:t>DB</a:t>
            </a:r>
            <a:r>
              <a:rPr lang="ko-KR" altLang="en-US" dirty="0" err="1"/>
              <a:t>에대한</a:t>
            </a:r>
            <a:r>
              <a:rPr lang="ko-KR" altLang="en-US" dirty="0"/>
              <a:t> 관리 및 접근 뿐만 아니라 모니터링을 위한 정보도 </a:t>
            </a:r>
            <a:r>
              <a:rPr lang="ko-KR" altLang="en-US" dirty="0" err="1"/>
              <a:t>제공하고있음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C611D1-F674-F604-3A10-26FBB51A2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Pgadmin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064F7B1-CB15-F341-53A0-279CDDA1B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7" y="2739047"/>
            <a:ext cx="7136533" cy="352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79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5259FDF-5118-F96A-CA82-18A0D0660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Servers</a:t>
            </a:r>
          </a:p>
          <a:p>
            <a:pPr lvl="1"/>
            <a:r>
              <a:rPr lang="ko-KR" altLang="en-US"/>
              <a:t>여러 서버에대해 접근하기 위한 탭 여러 서버를 등록할수있음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Server</a:t>
            </a:r>
          </a:p>
          <a:p>
            <a:pPr lvl="2"/>
            <a:r>
              <a:rPr lang="ko-KR" altLang="en-US"/>
              <a:t>기본적으로 기기에 설치된 </a:t>
            </a:r>
            <a:r>
              <a:rPr lang="en-US" altLang="ko-KR"/>
              <a:t>DB</a:t>
            </a:r>
            <a:r>
              <a:rPr lang="ko-KR" altLang="en-US"/>
              <a:t>에 접근하기위해 </a:t>
            </a:r>
            <a:r>
              <a:rPr lang="en-US" altLang="ko-KR"/>
              <a:t>server</a:t>
            </a:r>
            <a:r>
              <a:rPr lang="ko-KR" altLang="en-US"/>
              <a:t>와 연결함</a:t>
            </a:r>
            <a:endParaRPr lang="en-US" altLang="ko-KR"/>
          </a:p>
          <a:p>
            <a:pPr lvl="2"/>
            <a:r>
              <a:rPr lang="ko-KR" altLang="en-US"/>
              <a:t>다른 </a:t>
            </a:r>
            <a:r>
              <a:rPr lang="ko-KR" altLang="en-US" dirty="0"/>
              <a:t>호스트나 원하는 </a:t>
            </a:r>
            <a:r>
              <a:rPr lang="en-US" altLang="ko-KR" dirty="0"/>
              <a:t>user </a:t>
            </a:r>
            <a:r>
              <a:rPr lang="ko-KR" altLang="en-US" dirty="0"/>
              <a:t>계정으로 연결을 </a:t>
            </a:r>
            <a:r>
              <a:rPr lang="ko-KR" altLang="en-US" err="1"/>
              <a:t>원할시</a:t>
            </a:r>
            <a:r>
              <a:rPr lang="ko-KR" altLang="en-US"/>
              <a:t> </a:t>
            </a:r>
            <a:r>
              <a:rPr lang="en-US" altLang="ko-KR"/>
              <a:t>server properties</a:t>
            </a:r>
            <a:r>
              <a:rPr lang="ko-KR" altLang="en-US"/>
              <a:t> 변경가능</a:t>
            </a:r>
            <a:r>
              <a:rPr lang="en-US" altLang="ko-KR"/>
              <a:t>.</a:t>
            </a:r>
          </a:p>
          <a:p>
            <a:pPr lvl="2"/>
            <a:r>
              <a:rPr lang="en-US" altLang="ko-KR"/>
              <a:t>localhost</a:t>
            </a:r>
            <a:r>
              <a:rPr lang="ko-KR" altLang="en-US"/>
              <a:t>는 자신 컴퓨터를 의미</a:t>
            </a:r>
            <a:r>
              <a:rPr lang="en-US" altLang="ko-KR"/>
              <a:t>.</a:t>
            </a:r>
          </a:p>
          <a:p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4A60F2-CD58-EE30-1EA4-1CDACCD14F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Pgadmin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CDA1FE4-7D29-2D62-7B6A-52E288CB2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52" y="3490408"/>
            <a:ext cx="5966414" cy="31659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CFB22F-6654-3711-F7C1-E43D67730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966" y="3084097"/>
            <a:ext cx="4427660" cy="354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86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C8CCBFD-DEB3-C0F9-9C5A-786F03014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/>
          </a:p>
          <a:p>
            <a:r>
              <a:rPr lang="ko-KR" altLang="en-US"/>
              <a:t>연결 성공시 아래와같은 화면이 출력됨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Databases </a:t>
            </a:r>
            <a:r>
              <a:rPr lang="ko-KR" altLang="en-US"/>
              <a:t>탭 </a:t>
            </a:r>
            <a:r>
              <a:rPr lang="en-US" altLang="ko-KR"/>
              <a:t>(DB Databases </a:t>
            </a:r>
            <a:r>
              <a:rPr lang="ko-KR" altLang="en-US"/>
              <a:t>에 대한 조작 가능</a:t>
            </a:r>
            <a:r>
              <a:rPr lang="en-US" altLang="ko-KR"/>
              <a:t>)</a:t>
            </a:r>
          </a:p>
          <a:p>
            <a:r>
              <a:rPr lang="en-US" altLang="ko-KR"/>
              <a:t>Roles( DB</a:t>
            </a:r>
            <a:r>
              <a:rPr lang="ko-KR" altLang="en-US"/>
              <a:t>관리 계정에 대한 조작 가능</a:t>
            </a:r>
            <a:r>
              <a:rPr lang="en-US" altLang="ko-KR"/>
              <a:t>)</a:t>
            </a:r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789998-DFDA-5E6B-4E7F-336CA526BD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Pgadmin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D1065C-B690-9306-4C00-2D8A5955E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287" y="2476933"/>
            <a:ext cx="2857899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99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70DDDA5-6C6F-1D2B-3F97-7E2C7ABDE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Pgadmin</a:t>
            </a:r>
            <a:r>
              <a:rPr lang="ko-KR" altLang="en-US"/>
              <a:t>에서 데이터베이스 생성</a:t>
            </a:r>
            <a:endParaRPr lang="en-US" altLang="ko-KR"/>
          </a:p>
          <a:p>
            <a:pPr lvl="1"/>
            <a:r>
              <a:rPr lang="en-US" altLang="ko-KR"/>
              <a:t>Databases </a:t>
            </a:r>
            <a:r>
              <a:rPr lang="ko-KR" altLang="en-US"/>
              <a:t>탭을 우클릭하여 생성가능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DB</a:t>
            </a:r>
            <a:r>
              <a:rPr lang="ko-KR" altLang="en-US"/>
              <a:t>명과 그에 대한 제약사항을 클릭을 통해 정의하여 생성할수있음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288F33-D0BF-5BAC-881C-59D96E7B07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Pgadmin Database </a:t>
            </a:r>
            <a:r>
              <a:rPr lang="ko-KR" altLang="en-US"/>
              <a:t>생성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319DED5-631F-0B6D-3B01-CED956291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04" y="2491200"/>
            <a:ext cx="6650183" cy="383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93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3CB597D-027F-EDF4-7B7E-7169FB25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DB </a:t>
            </a:r>
            <a:r>
              <a:rPr lang="ko-KR" altLang="en-US"/>
              <a:t>탭을 펼치면 </a:t>
            </a:r>
            <a:r>
              <a:rPr lang="en-US" altLang="ko-KR"/>
              <a:t>schemas </a:t>
            </a:r>
            <a:r>
              <a:rPr lang="ko-KR" altLang="en-US"/>
              <a:t>아래와 같은 탭을 볼수있음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Schema</a:t>
            </a:r>
            <a:r>
              <a:rPr lang="ko-KR" altLang="en-US"/>
              <a:t>는 </a:t>
            </a:r>
            <a:r>
              <a:rPr lang="en-US" altLang="ko-KR"/>
              <a:t>DB</a:t>
            </a:r>
            <a:r>
              <a:rPr lang="ko-KR" altLang="en-US"/>
              <a:t>내에서 사용되는 테이블 함수 사용자 정의 데이터 등 전반적인 기능의 구조를 보여줌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테이블 탭을 우클릭하여 간단한 </a:t>
            </a:r>
            <a:r>
              <a:rPr lang="ko-KR" altLang="en-US" dirty="0"/>
              <a:t>조작을 통해 </a:t>
            </a:r>
            <a:r>
              <a:rPr lang="en-US" altLang="ko-KR" dirty="0"/>
              <a:t>Table </a:t>
            </a:r>
            <a:r>
              <a:rPr lang="ko-KR" altLang="en-US" dirty="0"/>
              <a:t>생성 </a:t>
            </a:r>
            <a:r>
              <a:rPr lang="ko-KR" altLang="en-US"/>
              <a:t>가능</a:t>
            </a:r>
            <a:r>
              <a:rPr lang="en-US" altLang="ko-KR"/>
              <a:t>.</a:t>
            </a:r>
          </a:p>
          <a:p>
            <a:pPr lvl="2"/>
            <a:r>
              <a:rPr lang="en-US" altLang="ko-KR"/>
              <a:t>General </a:t>
            </a:r>
            <a:r>
              <a:rPr lang="ko-KR" altLang="en-US"/>
              <a:t>탭에서 테이블 정의</a:t>
            </a:r>
            <a:r>
              <a:rPr lang="en-US" altLang="ko-KR"/>
              <a:t>.</a:t>
            </a:r>
          </a:p>
          <a:p>
            <a:pPr lvl="2"/>
            <a:r>
              <a:rPr lang="en-US" altLang="ko-KR"/>
              <a:t>Columns </a:t>
            </a:r>
            <a:r>
              <a:rPr lang="ko-KR" altLang="en-US"/>
              <a:t>에서 테이블에 들어갈 데이터의 타입과 열을정의</a:t>
            </a:r>
            <a:r>
              <a:rPr lang="en-US" altLang="ko-KR"/>
              <a:t> </a:t>
            </a:r>
            <a:r>
              <a:rPr lang="ko-KR" altLang="en-US"/>
              <a:t>할수있음</a:t>
            </a:r>
            <a:r>
              <a:rPr lang="en-US" altLang="ko-KR"/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DC341A-F90B-40D7-A4C3-B0DC7A175B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Database</a:t>
            </a:r>
            <a:r>
              <a:rPr lang="ko-KR" altLang="en-US"/>
              <a:t>에 </a:t>
            </a:r>
            <a:r>
              <a:rPr lang="en-US" altLang="ko-KR"/>
              <a:t>Table </a:t>
            </a:r>
            <a:r>
              <a:rPr lang="ko-KR" altLang="en-US"/>
              <a:t>생성 </a:t>
            </a:r>
            <a:r>
              <a:rPr lang="en-US" altLang="ko-KR"/>
              <a:t>(1)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CECCB4-9D43-19B4-CB99-427288B31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714" y="3304651"/>
            <a:ext cx="2112949" cy="34452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0FAD90-F3E9-8B67-65EC-BAE0F02A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355" y="3304651"/>
            <a:ext cx="5725007" cy="348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36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DB5680-A63F-E550-46DC-7C971F4C75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Database</a:t>
            </a:r>
            <a:r>
              <a:rPr lang="ko-KR" altLang="en-US"/>
              <a:t>에 </a:t>
            </a:r>
            <a:r>
              <a:rPr lang="en-US" altLang="ko-KR"/>
              <a:t>Table </a:t>
            </a:r>
            <a:r>
              <a:rPr lang="ko-KR" altLang="en-US"/>
              <a:t>생성 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589B7B1-061F-D66C-33DF-905595017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그외에 우클릭을 통해 </a:t>
            </a:r>
            <a:r>
              <a:rPr lang="en-US" altLang="ko-KR"/>
              <a:t>Query Tool</a:t>
            </a:r>
            <a:r>
              <a:rPr lang="ko-KR" altLang="en-US"/>
              <a:t>을 이용하여 </a:t>
            </a:r>
            <a:r>
              <a:rPr lang="en-US" altLang="ko-KR"/>
              <a:t>Table </a:t>
            </a:r>
            <a:r>
              <a:rPr lang="ko-KR" altLang="en-US"/>
              <a:t>생성가능</a:t>
            </a:r>
            <a:r>
              <a:rPr lang="en-US" altLang="ko-KR"/>
              <a:t>.</a:t>
            </a:r>
          </a:p>
          <a:p>
            <a:r>
              <a:rPr lang="en-US" altLang="ko-KR"/>
              <a:t>Query Tool</a:t>
            </a:r>
            <a:r>
              <a:rPr lang="ko-KR" altLang="en-US"/>
              <a:t>을통해 </a:t>
            </a:r>
            <a:r>
              <a:rPr lang="en-US" altLang="ko-KR"/>
              <a:t>DB</a:t>
            </a:r>
            <a:r>
              <a:rPr lang="ko-KR" altLang="en-US"/>
              <a:t>의 </a:t>
            </a:r>
            <a:r>
              <a:rPr lang="en-US" altLang="ko-KR"/>
              <a:t>SQL</a:t>
            </a:r>
            <a:r>
              <a:rPr lang="ko-KR" altLang="en-US"/>
              <a:t>을 수행하게 할수잇음</a:t>
            </a:r>
            <a:r>
              <a:rPr lang="en-US" altLang="ko-KR"/>
              <a:t>.</a:t>
            </a:r>
          </a:p>
          <a:p>
            <a:r>
              <a:rPr lang="en-US" altLang="ko-KR"/>
              <a:t>F5 </a:t>
            </a:r>
            <a:r>
              <a:rPr lang="ko-KR" altLang="en-US"/>
              <a:t>혹은 재생버튼을 클릭하여 생성할수있음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CA9F84F-95E8-406C-5FCE-6E5C8ABC4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99" y="2988674"/>
            <a:ext cx="8154538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73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9BDBC17-231D-210A-A062-247C436DC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Pgadmin</a:t>
            </a:r>
            <a:r>
              <a:rPr lang="ko-KR" altLang="en-US" dirty="0"/>
              <a:t>의 혹은 </a:t>
            </a:r>
            <a:r>
              <a:rPr lang="en-US" altLang="ko-KR" dirty="0" err="1"/>
              <a:t>cmd</a:t>
            </a:r>
            <a:r>
              <a:rPr lang="ko-KR" altLang="en-US" dirty="0"/>
              <a:t>창에서 </a:t>
            </a:r>
            <a:r>
              <a:rPr lang="en-US" altLang="ko-KR" dirty="0" err="1"/>
              <a:t>psql</a:t>
            </a:r>
            <a:r>
              <a:rPr lang="ko-KR" altLang="en-US" dirty="0"/>
              <a:t>을 이용하여 설치한 </a:t>
            </a:r>
            <a:r>
              <a:rPr lang="en-US" altLang="ko-KR" dirty="0" err="1"/>
              <a:t>db</a:t>
            </a:r>
            <a:r>
              <a:rPr lang="ko-KR" altLang="en-US" dirty="0"/>
              <a:t>에 연결하고  </a:t>
            </a:r>
            <a:r>
              <a:rPr lang="ko-KR" altLang="en-US" dirty="0">
                <a:solidFill>
                  <a:srgbClr val="FF0000"/>
                </a:solidFill>
              </a:rPr>
              <a:t>본인이름</a:t>
            </a:r>
            <a:r>
              <a:rPr lang="ko-KR" altLang="en-US" dirty="0"/>
              <a:t>의 </a:t>
            </a:r>
            <a:r>
              <a:rPr lang="en-US" altLang="ko-KR" dirty="0"/>
              <a:t>user</a:t>
            </a:r>
            <a:r>
              <a:rPr lang="ko-KR" altLang="en-US" dirty="0"/>
              <a:t>생성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37F6FB-F1FD-22AB-F2C1-6694B4F591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 과제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4C053-527D-920C-5753-1069EA0D289C}"/>
              </a:ext>
            </a:extLst>
          </p:cNvPr>
          <p:cNvSpPr txBox="1"/>
          <p:nvPr/>
        </p:nvSpPr>
        <p:spPr>
          <a:xfrm>
            <a:off x="5638800" y="297397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92DEF-114F-58FF-211A-EAEBF44AE48A}"/>
              </a:ext>
            </a:extLst>
          </p:cNvPr>
          <p:cNvSpPr txBox="1"/>
          <p:nvPr/>
        </p:nvSpPr>
        <p:spPr>
          <a:xfrm>
            <a:off x="724834" y="4651491"/>
            <a:ext cx="3767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예</a:t>
            </a:r>
            <a:r>
              <a:rPr lang="en-US" altLang="ko-KR"/>
              <a:t>) CREATE USER ryu SUPERUSER;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A4124A0-F683-9A26-051E-8EA5525DC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34" y="2314419"/>
            <a:ext cx="7705063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95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895B3D9-CFAE-68DE-0B13-25694FA37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982" y="1709465"/>
            <a:ext cx="8152353" cy="5024438"/>
          </a:xfr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05BE74-1828-DDB3-8094-4D6511B2E8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실습과제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C5AA7-E44F-DCE1-F707-82AC6446A49A}"/>
              </a:ext>
            </a:extLst>
          </p:cNvPr>
          <p:cNvSpPr txBox="1"/>
          <p:nvPr/>
        </p:nvSpPr>
        <p:spPr>
          <a:xfrm>
            <a:off x="179809" y="1018902"/>
            <a:ext cx="92034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Pgadmin</a:t>
            </a:r>
            <a:r>
              <a:rPr lang="ko-KR" altLang="en-US" dirty="0"/>
              <a:t>의 혹은 </a:t>
            </a:r>
            <a:r>
              <a:rPr lang="en-US" altLang="ko-KR" dirty="0" err="1"/>
              <a:t>cmd</a:t>
            </a:r>
            <a:r>
              <a:rPr lang="ko-KR" altLang="en-US" dirty="0"/>
              <a:t>창에서 </a:t>
            </a:r>
            <a:r>
              <a:rPr lang="en-US" altLang="ko-KR" dirty="0" err="1"/>
              <a:t>psql</a:t>
            </a:r>
            <a:r>
              <a:rPr lang="ko-KR" altLang="en-US" dirty="0"/>
              <a:t>을 이용하여 설치한 </a:t>
            </a:r>
            <a:r>
              <a:rPr lang="en-US" altLang="ko-KR" dirty="0" err="1"/>
              <a:t>db</a:t>
            </a:r>
            <a:r>
              <a:rPr lang="ko-KR" altLang="en-US" dirty="0"/>
              <a:t>에 연결하고  </a:t>
            </a:r>
            <a:r>
              <a:rPr lang="en-US" altLang="ko-KR" dirty="0"/>
              <a:t>database </a:t>
            </a:r>
            <a:r>
              <a:rPr lang="ko-KR" altLang="en-US" dirty="0"/>
              <a:t>생성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Username</a:t>
            </a:r>
            <a:r>
              <a:rPr lang="ko-KR" altLang="en-US" dirty="0"/>
              <a:t>과 같은 이름으로 </a:t>
            </a:r>
            <a:r>
              <a:rPr lang="en-US" altLang="ko-KR" dirty="0"/>
              <a:t>database</a:t>
            </a:r>
            <a:r>
              <a:rPr lang="ko-KR" altLang="en-US" dirty="0"/>
              <a:t> </a:t>
            </a:r>
            <a:r>
              <a:rPr lang="ko-KR" altLang="en-US" dirty="0" err="1"/>
              <a:t>생성할것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FD9003-D723-D152-36D0-839788659D00}"/>
              </a:ext>
            </a:extLst>
          </p:cNvPr>
          <p:cNvSpPr/>
          <p:nvPr/>
        </p:nvSpPr>
        <p:spPr>
          <a:xfrm>
            <a:off x="8468269" y="2654380"/>
            <a:ext cx="299948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/>
              <a:t>예</a:t>
            </a:r>
            <a:r>
              <a:rPr lang="en-US" altLang="ko-KR" sz="1600" dirty="0"/>
              <a:t>) CREATE DATABASE </a:t>
            </a:r>
            <a:r>
              <a:rPr lang="en-US" altLang="ko-KR" sz="1600" dirty="0" err="1"/>
              <a:t>ryu</a:t>
            </a:r>
            <a:r>
              <a:rPr lang="en-US" altLang="ko-KR" sz="1600" dirty="0"/>
              <a:t>;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55706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549C464-7CE9-46B2-D2DF-2746BF545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본인이름의 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database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에 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major 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테이블을 생성 본인 학번과 이름을 삽입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1"/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Table 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생성 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DDL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과 레코드 삽입을 위한 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DML 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은 </a:t>
            </a:r>
            <a:r>
              <a:rPr lang="ko-KR" altLang="en-US" dirty="0" err="1">
                <a:latin typeface="나눔고딕" pitchFamily="2" charset="-127"/>
                <a:ea typeface="나눔고딕" pitchFamily="2" charset="-127"/>
              </a:rPr>
              <a:t>다음과같음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나눔고딕" pitchFamily="2" charset="-127"/>
              <a:ea typeface="나눔고딕" pitchFamily="2" charset="-127"/>
            </a:endParaRPr>
          </a:p>
          <a:p>
            <a:pPr marL="0" indent="0">
              <a:buNone/>
            </a:pPr>
            <a:endParaRPr lang="en-US" altLang="ko-KR" dirty="0">
              <a:latin typeface="나눔고딕" pitchFamily="2" charset="-127"/>
              <a:ea typeface="나눔고딕" pitchFamily="2" charset="-127"/>
            </a:endParaRPr>
          </a:p>
          <a:p>
            <a:endParaRPr lang="en-US" altLang="ko-KR" dirty="0"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삽입한 테이블 정보 출력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0629A4-EAFE-6CB8-DD95-62D4DF118B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실습과제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B403C4-413A-012A-D90C-3A4F48E22ECD}"/>
              </a:ext>
            </a:extLst>
          </p:cNvPr>
          <p:cNvSpPr/>
          <p:nvPr/>
        </p:nvSpPr>
        <p:spPr>
          <a:xfrm>
            <a:off x="535532" y="2052202"/>
            <a:ext cx="5669137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/>
              <a:t>CREATE TABLE major (</a:t>
            </a:r>
          </a:p>
          <a:p>
            <a:r>
              <a:rPr lang="en-US" altLang="ko-KR" sz="1600" dirty="0"/>
              <a:t>    id </a:t>
            </a:r>
            <a:r>
              <a:rPr lang="en-US" altLang="ko-KR" sz="1600" dirty="0" err="1"/>
              <a:t>bigint</a:t>
            </a:r>
            <a:r>
              <a:rPr lang="en-US" altLang="ko-KR" sz="1600" dirty="0"/>
              <a:t> NOT NULL,</a:t>
            </a:r>
          </a:p>
          <a:p>
            <a:r>
              <a:rPr lang="en-US" altLang="ko-KR" sz="1600" dirty="0"/>
              <a:t>    name text NOT NULL</a:t>
            </a:r>
          </a:p>
          <a:p>
            <a:r>
              <a:rPr lang="en-US" altLang="ko-KR" sz="1600" dirty="0"/>
              <a:t>);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61BCCE-E780-819E-4FCD-8D6DEA76021E}"/>
              </a:ext>
            </a:extLst>
          </p:cNvPr>
          <p:cNvSpPr/>
          <p:nvPr/>
        </p:nvSpPr>
        <p:spPr>
          <a:xfrm>
            <a:off x="6368699" y="2039955"/>
            <a:ext cx="5287770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INSERT INTO </a:t>
            </a:r>
            <a:r>
              <a:rPr lang="en-US" altLang="ko-KR" sz="1600" dirty="0" err="1">
                <a:latin typeface="나눔고딕" pitchFamily="2" charset="-127"/>
                <a:ea typeface="나눔고딕" pitchFamily="2" charset="-127"/>
              </a:rPr>
              <a:t>public.major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(id, name)</a:t>
            </a:r>
          </a:p>
          <a:p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	VALUES (‘</a:t>
            </a:r>
            <a:r>
              <a:rPr lang="ko-KR" altLang="en-US" sz="1600" dirty="0" err="1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본인학번</a:t>
            </a:r>
            <a:r>
              <a:rPr lang="en-US" altLang="ko-KR" sz="16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’, '</a:t>
            </a:r>
            <a:r>
              <a:rPr lang="ko-KR" altLang="en-US" sz="16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본인이름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’);</a:t>
            </a:r>
          </a:p>
          <a:p>
            <a:endParaRPr lang="en-US" altLang="ko-KR" sz="1600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	 	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361230-8C26-34C7-2DF7-DC21B7519038}"/>
              </a:ext>
            </a:extLst>
          </p:cNvPr>
          <p:cNvSpPr/>
          <p:nvPr/>
        </p:nvSpPr>
        <p:spPr>
          <a:xfrm>
            <a:off x="612431" y="4385740"/>
            <a:ext cx="5669137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/>
              <a:t>SELECT</a:t>
            </a:r>
            <a:r>
              <a:rPr lang="ko-KR" altLang="en-US" sz="1600" dirty="0"/>
              <a:t> </a:t>
            </a:r>
            <a:r>
              <a:rPr lang="en-US" altLang="ko-KR" sz="1600" dirty="0"/>
              <a:t>*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FROM major;</a:t>
            </a:r>
          </a:p>
        </p:txBody>
      </p:sp>
    </p:spTree>
    <p:extLst>
      <p:ext uri="{BB962C8B-B14F-4D97-AF65-F5344CB8AC3E}">
        <p14:creationId xmlns:p14="http://schemas.microsoft.com/office/powerpoint/2010/main" val="1842163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659D024-3E0D-05A0-96EF-88A5E5D24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조교에게 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query 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실행결과를 아래와 같이 </a:t>
            </a:r>
            <a:r>
              <a:rPr lang="ko-KR" altLang="en-US" dirty="0" err="1">
                <a:latin typeface="나눔고딕" pitchFamily="2" charset="-127"/>
                <a:ea typeface="나눔고딕" pitchFamily="2" charset="-127"/>
              </a:rPr>
              <a:t>보여줄것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작성한 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DDL,DML SQL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코드가 보이도록 </a:t>
            </a:r>
            <a:r>
              <a:rPr lang="en-US" altLang="ko-KR" dirty="0" err="1">
                <a:latin typeface="나눔고딕" pitchFamily="2" charset="-127"/>
                <a:ea typeface="나눔고딕" pitchFamily="2" charset="-127"/>
              </a:rPr>
              <a:t>eclass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과제 게시판에 사진 업로드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endParaRPr lang="en-US" altLang="ko-KR" dirty="0">
              <a:latin typeface="나눔고딕" pitchFamily="2" charset="-127"/>
              <a:ea typeface="나눔고딕" pitchFamily="2" charset="-127"/>
            </a:endParaRPr>
          </a:p>
          <a:p>
            <a:endParaRPr lang="en-US" altLang="ko-KR" dirty="0">
              <a:latin typeface="나눔고딕" pitchFamily="2" charset="-127"/>
              <a:ea typeface="나눔고딕" pitchFamily="2" charset="-127"/>
            </a:endParaRPr>
          </a:p>
          <a:p>
            <a:endParaRPr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74E163-42FD-75C9-DB8A-5BDD7BDEB5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실습과제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66731D-BF61-F42E-46B2-066A7300D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969" y="2253703"/>
            <a:ext cx="6970862" cy="421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6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1872</Words>
  <Application>Microsoft Office PowerPoint</Application>
  <PresentationFormat>와이드스크린</PresentationFormat>
  <Paragraphs>470</Paragraphs>
  <Slides>40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5" baseType="lpstr">
      <vt:lpstr>나눔고딕</vt:lpstr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Dongjune Ryu</dc:creator>
  <cp:lastModifiedBy>Dongjune Ryu</cp:lastModifiedBy>
  <cp:revision>108</cp:revision>
  <dcterms:created xsi:type="dcterms:W3CDTF">2024-03-13T04:22:55Z</dcterms:created>
  <dcterms:modified xsi:type="dcterms:W3CDTF">2024-03-15T09:10:19Z</dcterms:modified>
</cp:coreProperties>
</file>