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814" r:id="rId2"/>
    <p:sldId id="928" r:id="rId3"/>
    <p:sldId id="914" r:id="rId4"/>
    <p:sldId id="929" r:id="rId5"/>
    <p:sldId id="930" r:id="rId6"/>
    <p:sldId id="931" r:id="rId7"/>
    <p:sldId id="932" r:id="rId8"/>
    <p:sldId id="933" r:id="rId9"/>
    <p:sldId id="926" r:id="rId10"/>
    <p:sldId id="934" r:id="rId11"/>
    <p:sldId id="935" r:id="rId12"/>
    <p:sldId id="936" r:id="rId13"/>
    <p:sldId id="937" r:id="rId14"/>
    <p:sldId id="938" r:id="rId15"/>
    <p:sldId id="939" r:id="rId16"/>
    <p:sldId id="940" r:id="rId17"/>
    <p:sldId id="941" r:id="rId18"/>
    <p:sldId id="942" r:id="rId19"/>
    <p:sldId id="943" r:id="rId20"/>
    <p:sldId id="944" r:id="rId21"/>
    <p:sldId id="922" r:id="rId22"/>
    <p:sldId id="924" r:id="rId23"/>
    <p:sldId id="947" r:id="rId24"/>
    <p:sldId id="948" r:id="rId25"/>
    <p:sldId id="949" r:id="rId26"/>
    <p:sldId id="950" r:id="rId27"/>
    <p:sldId id="951" r:id="rId28"/>
    <p:sldId id="952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49D11E-DC70-4A2A-8BEF-7622890CF355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5F7C4F-5B24-4D3C-954E-3E1765AC37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031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9EF66-9C88-3AC7-1D0C-BD31472D6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3E6F82-8DDE-128F-62CD-F42C4B1E9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192B73-E2CB-A83D-DD05-A9BD9AAF5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FFDFCF-05DF-349A-6F44-8AA85103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D0DD54-BBFD-ED82-0D0D-FBE157EB0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298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FC9DB-FB96-4DE0-E956-6956A522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3C9C63-F690-156E-6CA2-87CE22624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64E9CD-9058-98FD-A9B4-0D9C301B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F1C6BC-F531-A598-03BA-FD23C82A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A1489D-DD6C-0C76-B52D-7C69B9624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35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61012D-8FEF-8F7E-EDA5-EDCE80634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5743FA-AA73-BDE6-4E3C-06E6A85A3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7B5E65-07F7-3D89-D28B-EB0FC3728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42A42-2EC6-9ED9-3F6B-30E9C80F1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85A395-1CE6-8238-1280-D7C3172D0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281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1A7381-6902-A4E0-40E5-9AD3F4B94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99554A-7511-D5C3-0DE6-C7FE0074F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EEACFF-9439-1137-9376-35920DE52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C6D04E-BF70-D61D-1B10-10F0906B9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9EB05F-7E00-6A7F-8F5E-CC3B8EB9B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5788C7-20EF-428E-7BC0-8DED2188C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952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BB159-91AD-5D73-C31D-A3EA83FD4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323982-F21C-2B0C-3856-87094A386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627FF7-5692-B196-5212-7ADE2B533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BE11E0-8790-7EAA-4B7B-1AFDB1BBDA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B50D16-155E-4DB7-266D-2F36A84DC4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288697-4935-7D00-692C-440F96890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032A62E-85B6-DEFC-5ADD-92C537EAF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BB9F1CF-702A-17B8-5CBA-C1160B965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17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D74EDF-49CD-57F6-52B1-3D4145B5F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3B5ECB-0350-2EE3-016B-C3C94B2C7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721E53-45E3-953C-67D6-C433567AC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B57F67-9658-9D9B-C3AD-F21F40779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663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694030-00F4-3321-0E25-E56A88F85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953D8B7-6424-AF08-E584-13A66E52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7FD275-BEB6-7B6A-0031-4BF479DC8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847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45B8D-3B5F-B444-01C3-F97E07AD5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014659-7EB9-9FE9-C563-CBB7F7EC2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4056F1-ED6C-52DD-C66B-B22AB2496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3EFE49-91B4-FC2D-12F4-D962056F8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EDE9C4-CB8B-0B2A-B694-21419B7D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244DA4-E244-B54B-AB8B-091DA3063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858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EB1610-7B1C-4F0B-7910-299FCF186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BD8DD12-0E3E-5997-0D71-A671590081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19F9F9-7D12-FF8F-556B-82376D4F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021998-6C4C-5CC1-395A-AED1BC57C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74A423-CF6D-CD1F-4D72-31B3851B4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8596CC-E276-01FB-E2F7-C6EC794E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298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49A196-64C5-96CC-3C56-5660CCE61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5E947D-7C92-C135-AC59-1C6C1E3F9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886E98-0AD2-AD3B-26D7-5F2BBA8F0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BF4F63-DC14-E431-2B58-A6421DF7D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3CEA1A-B2C0-1FA3-2D78-85D1F4B88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541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E2D3CDD-ADB5-86D2-905E-92E78A879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610486-DA4E-9087-794E-9738BAD0D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D3199D-D501-44BA-C15E-37627737A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9756-B86C-49F8-85EA-B65B2E874DB7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9F32D0-88A3-7E6A-9197-7BCBC9B2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432189-DC52-9D0F-1E3E-7237C707C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718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 bwMode="ltGray">
          <a:xfrm>
            <a:off x="359072" y="201908"/>
            <a:ext cx="8844403" cy="70370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r>
              <a:rPr lang="en-US" sz="2800" b="1">
                <a:solidFill>
                  <a:schemeClr val="bg1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6" name="내용 개체 틀 2"/>
          <p:cNvSpPr txBox="1">
            <a:spLocks/>
          </p:cNvSpPr>
          <p:nvPr userDrawn="1"/>
        </p:nvSpPr>
        <p:spPr>
          <a:xfrm>
            <a:off x="831177" y="1105118"/>
            <a:ext cx="10515600" cy="4706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59071" y="1105117"/>
            <a:ext cx="11339444" cy="5023539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359834" y="201613"/>
            <a:ext cx="8843433" cy="70326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1548003" y="6328166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7794632-D888-4270-8AF5-7FF0A682F488}" type="slidenum">
              <a:rPr lang="ko-KR" altLang="en-US" sz="1200" smtClean="0"/>
              <a:t>‹#›</a:t>
            </a:fld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876239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8EEC65-45A8-C3DF-1A3C-EA0BCF3D5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4D4938-1CEE-1A1B-C4D9-B29AC4BCF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C3BCB8-7690-E8E7-C0FC-5A3E6EB2E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C9756-B86C-49F8-85EA-B65B2E874DB7}" type="datetimeFigureOut">
              <a:rPr lang="ko-KR" altLang="en-US" smtClean="0"/>
              <a:t>2024-03-28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EE7FC7-CC1B-D421-78F3-45C246C68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4D96D7-70B3-94EC-6D10-EFDDD4567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4A8DB7-085F-430E-BCC3-05145BF4A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1595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ltGray">
          <a:xfrm>
            <a:off x="2326167" y="908778"/>
            <a:ext cx="7886700" cy="1835282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endParaRPr lang="en-US" sz="2500" b="1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25293" y="1395532"/>
            <a:ext cx="3688510" cy="8617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en-US" sz="2800" b="1">
                <a:solidFill>
                  <a:schemeClr val="bg1"/>
                </a:solidFill>
                <a:latin typeface="+mn-ea"/>
              </a:rPr>
              <a:t>PostgreSQL </a:t>
            </a:r>
          </a:p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en-US" sz="2800" b="1">
                <a:solidFill>
                  <a:schemeClr val="bg1"/>
                </a:solidFill>
                <a:latin typeface="+mn-ea"/>
              </a:rPr>
              <a:t>DB </a:t>
            </a:r>
            <a:r>
              <a:rPr lang="ko-KR" altLang="en-US" sz="2800" b="1">
                <a:solidFill>
                  <a:schemeClr val="bg1"/>
                </a:solidFill>
                <a:latin typeface="+mn-ea"/>
              </a:rPr>
              <a:t>및 </a:t>
            </a:r>
            <a:r>
              <a:rPr lang="en-US" altLang="ko-KR" sz="2800" b="1">
                <a:solidFill>
                  <a:schemeClr val="bg1"/>
                </a:solidFill>
                <a:latin typeface="+mn-ea"/>
              </a:rPr>
              <a:t>USER </a:t>
            </a:r>
            <a:r>
              <a:rPr lang="ko-KR" altLang="en-US" sz="2800" b="1">
                <a:solidFill>
                  <a:schemeClr val="bg1"/>
                </a:solidFill>
                <a:latin typeface="+mn-ea"/>
              </a:rPr>
              <a:t>생성 관리</a:t>
            </a:r>
            <a:endParaRPr lang="en-US" sz="2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Rectangle 3"/>
          <p:cNvSpPr/>
          <p:nvPr/>
        </p:nvSpPr>
        <p:spPr>
          <a:xfrm>
            <a:off x="2654452" y="3623899"/>
            <a:ext cx="7370976" cy="2133634"/>
          </a:xfrm>
          <a:prstGeom prst="rect">
            <a:avLst/>
          </a:prstGeom>
          <a:noFill/>
          <a:ln w="28575">
            <a:noFill/>
          </a:ln>
        </p:spPr>
        <p:txBody>
          <a:bodyPr wrap="square" lIns="0" tIns="89642" rIns="0" bIns="89642" rtlCol="0" anchor="ctr">
            <a:noAutofit/>
          </a:bodyPr>
          <a:lstStyle/>
          <a:p>
            <a:pPr marL="56024" lvl="1"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en-US" altLang="ko-KR" sz="1961" b="1">
                <a:latin typeface="+mn-ea"/>
              </a:rPr>
              <a:t>2024. 03.28</a:t>
            </a:r>
          </a:p>
        </p:txBody>
      </p:sp>
    </p:spTree>
    <p:extLst>
      <p:ext uri="{BB962C8B-B14F-4D97-AF65-F5344CB8AC3E}">
        <p14:creationId xmlns:p14="http://schemas.microsoft.com/office/powerpoint/2010/main" val="211175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A883E96-5843-5513-3849-A29F8F9F2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본인이 설치한 </a:t>
            </a:r>
            <a:r>
              <a:rPr lang="en-US" altLang="ko-KR"/>
              <a:t>ubuntu (</a:t>
            </a:r>
            <a:r>
              <a:rPr lang="ko-KR" altLang="en-US"/>
              <a:t>버전 체크할것</a:t>
            </a:r>
            <a:r>
              <a:rPr lang="en-US" altLang="ko-KR"/>
              <a:t>) docker container </a:t>
            </a:r>
            <a:r>
              <a:rPr lang="ko-KR" altLang="en-US"/>
              <a:t>실행할것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기본적으로 </a:t>
            </a:r>
            <a:r>
              <a:rPr lang="en-US" altLang="ko-KR"/>
              <a:t>docker containner</a:t>
            </a:r>
            <a:r>
              <a:rPr lang="ko-KR" altLang="en-US"/>
              <a:t>는 꺼져있음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저번주 실습자료 참고하여 </a:t>
            </a:r>
            <a:r>
              <a:rPr lang="en-US" altLang="ko-KR"/>
              <a:t>run </a:t>
            </a:r>
            <a:r>
              <a:rPr lang="ko-KR" altLang="en-US"/>
              <a:t>시킬것</a:t>
            </a:r>
            <a:r>
              <a:rPr lang="en-US" altLang="ko-KR"/>
              <a:t>.</a:t>
            </a:r>
          </a:p>
          <a:p>
            <a:pPr marL="0" indent="0">
              <a:buNone/>
            </a:pP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B8ED87-3F59-0650-B113-2ACB52DEAE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시작하기 앞서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6C6C03-91A6-6F8E-319D-F64684D26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423" y="2199839"/>
            <a:ext cx="9126224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000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A883E96-5843-5513-3849-A29F8F9F2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DB</a:t>
            </a:r>
            <a:r>
              <a:rPr lang="ko-KR" altLang="en-US"/>
              <a:t>에서 </a:t>
            </a:r>
            <a:r>
              <a:rPr lang="en-US" altLang="ko-KR"/>
              <a:t>user</a:t>
            </a:r>
            <a:r>
              <a:rPr lang="ko-KR" altLang="en-US"/>
              <a:t>는 </a:t>
            </a:r>
            <a:r>
              <a:rPr lang="en-US" altLang="ko-KR"/>
              <a:t>DB</a:t>
            </a:r>
            <a:r>
              <a:rPr lang="ko-KR" altLang="en-US"/>
              <a:t>를 사용하는 주체 </a:t>
            </a:r>
            <a:endParaRPr lang="en-US" altLang="ko-KR"/>
          </a:p>
          <a:p>
            <a:pPr lvl="1"/>
            <a:r>
              <a:rPr lang="en-US" altLang="ko-KR"/>
              <a:t>OS</a:t>
            </a:r>
            <a:r>
              <a:rPr lang="ko-KR" altLang="en-US"/>
              <a:t>의 </a:t>
            </a:r>
            <a:r>
              <a:rPr lang="en-US" altLang="ko-KR"/>
              <a:t>USER</a:t>
            </a:r>
            <a:r>
              <a:rPr lang="ko-KR" altLang="en-US"/>
              <a:t>와는 분리되어있음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USER</a:t>
            </a:r>
            <a:r>
              <a:rPr lang="ko-KR" altLang="en-US"/>
              <a:t>는 소유하고있는 </a:t>
            </a:r>
            <a:r>
              <a:rPr lang="en-US" altLang="ko-KR"/>
              <a:t>DATABASE</a:t>
            </a:r>
            <a:r>
              <a:rPr lang="ko-KR" altLang="en-US"/>
              <a:t>안에 있는 </a:t>
            </a:r>
            <a:r>
              <a:rPr lang="en-US" altLang="ko-KR"/>
              <a:t>object</a:t>
            </a:r>
            <a:r>
              <a:rPr lang="ko-KR" altLang="en-US"/>
              <a:t>의 권한 변경 및 제어를 할수있음</a:t>
            </a:r>
            <a:r>
              <a:rPr lang="en-US" altLang="ko-KR"/>
              <a:t>.</a:t>
            </a:r>
          </a:p>
          <a:p>
            <a:pPr lvl="1"/>
            <a:endParaRPr lang="en-US" altLang="ko-KR"/>
          </a:p>
          <a:p>
            <a:r>
              <a:rPr lang="en-US" altLang="ko-KR"/>
              <a:t>USER </a:t>
            </a:r>
            <a:r>
              <a:rPr lang="ko-KR" altLang="en-US"/>
              <a:t>조회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SELECT * FROM PG_SHADOW; or PSQL</a:t>
            </a:r>
            <a:r>
              <a:rPr lang="ko-KR" altLang="en-US"/>
              <a:t>에서 </a:t>
            </a:r>
            <a:r>
              <a:rPr lang="en-US" altLang="ko-KR"/>
              <a:t>\du </a:t>
            </a:r>
            <a:r>
              <a:rPr lang="ko-KR" altLang="en-US"/>
              <a:t>실행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B8ED87-3F59-0650-B113-2ACB52DEAE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USER </a:t>
            </a:r>
            <a:r>
              <a:rPr lang="ko-KR" altLang="en-US"/>
              <a:t>관리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DA1617-F0C0-6D48-3952-99CC0AFB2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85" y="3973766"/>
            <a:ext cx="5979978" cy="247807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B8EDCD-4EE7-36BE-7330-893851C94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179" y="4239237"/>
            <a:ext cx="4662175" cy="177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518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8CB139D-9BC8-74F7-2631-10BAA18134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0558380"/>
              </p:ext>
            </p:extLst>
          </p:nvPr>
        </p:nvGraphicFramePr>
        <p:xfrm>
          <a:off x="426244" y="3935444"/>
          <a:ext cx="113395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756">
                  <a:extLst>
                    <a:ext uri="{9D8B030D-6E8A-4147-A177-3AD203B41FA5}">
                      <a16:colId xmlns:a16="http://schemas.microsoft.com/office/drawing/2014/main" val="1126412408"/>
                    </a:ext>
                  </a:extLst>
                </a:gridCol>
                <a:gridCol w="5669756">
                  <a:extLst>
                    <a:ext uri="{9D8B030D-6E8A-4147-A177-3AD203B41FA5}">
                      <a16:colId xmlns:a16="http://schemas.microsoft.com/office/drawing/2014/main" val="13872695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ROLE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기능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330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SUPERUSER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USER</a:t>
                      </a:r>
                      <a:r>
                        <a:rPr lang="ko-KR" altLang="en-US"/>
                        <a:t>를 생성 권한을 부여하는 </a:t>
                      </a:r>
                      <a:r>
                        <a:rPr lang="en-US" altLang="ko-KR"/>
                        <a:t>USER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364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CREATE ROLE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USER</a:t>
                      </a:r>
                      <a:r>
                        <a:rPr lang="ko-KR" altLang="en-US"/>
                        <a:t>가 새로운 </a:t>
                      </a:r>
                      <a:r>
                        <a:rPr lang="en-US" altLang="ko-KR"/>
                        <a:t>ROLE</a:t>
                      </a:r>
                      <a:r>
                        <a:rPr lang="ko-KR" altLang="en-US"/>
                        <a:t>을 정의하는 기능을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792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CREATE DB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USER</a:t>
                      </a:r>
                      <a:r>
                        <a:rPr lang="ko-KR" altLang="en-US"/>
                        <a:t>가 </a:t>
                      </a:r>
                      <a:r>
                        <a:rPr lang="en-US" altLang="ko-KR"/>
                        <a:t>DB</a:t>
                      </a:r>
                      <a:r>
                        <a:rPr lang="ko-KR" altLang="en-US"/>
                        <a:t>를 생성하는 권한 부여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42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REPLICATION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USER</a:t>
                      </a:r>
                      <a:r>
                        <a:rPr lang="ko-KR" altLang="en-US"/>
                        <a:t>가 </a:t>
                      </a:r>
                      <a:r>
                        <a:rPr lang="en-US" altLang="ko-KR"/>
                        <a:t>DB</a:t>
                      </a:r>
                      <a:r>
                        <a:rPr lang="ko-KR" altLang="en-US"/>
                        <a:t>를 실시간으로 복사하는기능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06729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FD9C37-D357-6060-CED5-99E5C6FD02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USER </a:t>
            </a:r>
            <a:r>
              <a:rPr lang="ko-KR" altLang="en-US"/>
              <a:t>권한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0EE7C2-70FA-3F83-25E3-CE4284A70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29" y="1335212"/>
            <a:ext cx="5317771" cy="216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08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E511E1E-77A3-451A-5CDF-90518658B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CREATE USER ‘username’ [[WITH] option [ …]]</a:t>
            </a:r>
          </a:p>
          <a:p>
            <a:r>
              <a:rPr lang="en-US" altLang="ko-KR"/>
              <a:t>where option can be: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F5A82A-D3A2-AF6F-63C5-4343208D7B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USER </a:t>
            </a:r>
            <a:r>
              <a:rPr lang="ko-KR" altLang="en-US"/>
              <a:t>생성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73B02BF-DE27-2084-EB5F-8F09633A41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3267968"/>
              </p:ext>
            </p:extLst>
          </p:nvPr>
        </p:nvGraphicFramePr>
        <p:xfrm>
          <a:off x="493485" y="2189234"/>
          <a:ext cx="10656296" cy="3989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8148">
                  <a:extLst>
                    <a:ext uri="{9D8B030D-6E8A-4147-A177-3AD203B41FA5}">
                      <a16:colId xmlns:a16="http://schemas.microsoft.com/office/drawing/2014/main" val="1126412408"/>
                    </a:ext>
                  </a:extLst>
                </a:gridCol>
                <a:gridCol w="5328148">
                  <a:extLst>
                    <a:ext uri="{9D8B030D-6E8A-4147-A177-3AD203B41FA5}">
                      <a16:colId xmlns:a16="http://schemas.microsoft.com/office/drawing/2014/main" val="13872695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Option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Option</a:t>
                      </a:r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330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400">
                          <a:effectLst/>
                        </a:rPr>
                        <a:t>SUPERUSER | NOSUPERUSER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1000">
                          <a:effectLst/>
                        </a:rPr>
                        <a:t>해당 </a:t>
                      </a:r>
                      <a:r>
                        <a:rPr lang="en-US" altLang="ko-KR" sz="1000">
                          <a:effectLst/>
                        </a:rPr>
                        <a:t>USER</a:t>
                      </a:r>
                      <a:r>
                        <a:rPr lang="ko-KR" altLang="en-US" sz="1000">
                          <a:effectLst/>
                        </a:rPr>
                        <a:t>를 </a:t>
                      </a:r>
                      <a:r>
                        <a:rPr lang="en-US" altLang="ko-KR" sz="1000">
                          <a:effectLst/>
                        </a:rPr>
                        <a:t>SUPERUSER</a:t>
                      </a:r>
                      <a:r>
                        <a:rPr lang="ko-KR" altLang="en-US" sz="1000">
                          <a:effectLst/>
                        </a:rPr>
                        <a:t>권한을 주는 것입니다</a:t>
                      </a:r>
                      <a:r>
                        <a:rPr lang="en-US" altLang="ko-KR" sz="1000">
                          <a:effectLst/>
                        </a:rPr>
                        <a:t>. </a:t>
                      </a:r>
                      <a:r>
                        <a:rPr lang="ko-KR" altLang="en-US" sz="1000">
                          <a:effectLst/>
                        </a:rPr>
                        <a:t>따로 지정하지 않을 경우 </a:t>
                      </a:r>
                      <a:r>
                        <a:rPr lang="en-US" altLang="ko-KR" sz="1000">
                          <a:effectLst/>
                        </a:rPr>
                        <a:t>DEFAULT</a:t>
                      </a:r>
                      <a:r>
                        <a:rPr lang="ko-KR" altLang="en-US" sz="1000">
                          <a:effectLst/>
                        </a:rPr>
                        <a:t>값으로 </a:t>
                      </a:r>
                      <a:r>
                        <a:rPr lang="en-US" altLang="ko-KR" sz="1000">
                          <a:effectLst/>
                        </a:rPr>
                        <a:t>NOSUPERUSER</a:t>
                      </a:r>
                      <a:r>
                        <a:rPr lang="ko-KR" altLang="en-US" sz="1000">
                          <a:effectLst/>
                        </a:rPr>
                        <a:t>가 됩니다</a:t>
                      </a:r>
                      <a:r>
                        <a:rPr lang="en-US" altLang="ko-KR" sz="1000"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455364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400">
                          <a:effectLst/>
                        </a:rPr>
                        <a:t>CREATEDB | NOCREATEDB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en-US" altLang="ko-KR" sz="1000">
                          <a:effectLst/>
                        </a:rPr>
                        <a:t>DATABASE</a:t>
                      </a:r>
                      <a:r>
                        <a:rPr lang="ko-KR" altLang="en-US" sz="1000">
                          <a:effectLst/>
                        </a:rPr>
                        <a:t>를 생성하는 권한을 정의합니다</a:t>
                      </a:r>
                      <a:r>
                        <a:rPr lang="en-US" altLang="ko-KR" sz="1000">
                          <a:effectLst/>
                        </a:rPr>
                        <a:t>.</a:t>
                      </a:r>
                      <a:br>
                        <a:rPr lang="en-US" altLang="ko-KR" sz="1000">
                          <a:effectLst/>
                        </a:rPr>
                      </a:br>
                      <a:r>
                        <a:rPr lang="en-US" altLang="ko-KR" sz="1000">
                          <a:effectLst/>
                        </a:rPr>
                        <a:t>CREATEDB</a:t>
                      </a:r>
                      <a:r>
                        <a:rPr lang="ko-KR" altLang="en-US" sz="1000">
                          <a:effectLst/>
                        </a:rPr>
                        <a:t>를 선택할 경우 </a:t>
                      </a:r>
                      <a:r>
                        <a:rPr lang="en-US" altLang="ko-KR" sz="1000">
                          <a:effectLst/>
                        </a:rPr>
                        <a:t>USER</a:t>
                      </a:r>
                      <a:r>
                        <a:rPr lang="ko-KR" altLang="en-US" sz="1000">
                          <a:effectLst/>
                        </a:rPr>
                        <a:t>는 </a:t>
                      </a:r>
                      <a:r>
                        <a:rPr lang="en-US" altLang="ko-KR" sz="1000">
                          <a:effectLst/>
                        </a:rPr>
                        <a:t>DATABASE</a:t>
                      </a:r>
                      <a:r>
                        <a:rPr lang="ko-KR" altLang="en-US" sz="1000">
                          <a:effectLst/>
                        </a:rPr>
                        <a:t>를 생성할 권한이 부여됩니다</a:t>
                      </a:r>
                      <a:r>
                        <a:rPr lang="en-US" altLang="ko-KR" sz="1000">
                          <a:effectLst/>
                        </a:rPr>
                        <a:t>.</a:t>
                      </a:r>
                      <a:br>
                        <a:rPr lang="en-US" altLang="ko-KR" sz="1000">
                          <a:effectLst/>
                        </a:rPr>
                      </a:br>
                      <a:r>
                        <a:rPr lang="en-US" altLang="ko-KR" sz="1000">
                          <a:effectLst/>
                        </a:rPr>
                        <a:t>NOCREATEDB</a:t>
                      </a:r>
                      <a:r>
                        <a:rPr lang="ko-KR" altLang="en-US" sz="1000">
                          <a:effectLst/>
                        </a:rPr>
                        <a:t>를 선택할 경우 </a:t>
                      </a:r>
                      <a:r>
                        <a:rPr lang="en-US" altLang="ko-KR" sz="1000">
                          <a:effectLst/>
                        </a:rPr>
                        <a:t>USER</a:t>
                      </a:r>
                      <a:r>
                        <a:rPr lang="ko-KR" altLang="en-US" sz="1000">
                          <a:effectLst/>
                        </a:rPr>
                        <a:t>는 </a:t>
                      </a:r>
                      <a:r>
                        <a:rPr lang="en-US" altLang="ko-KR" sz="1000">
                          <a:effectLst/>
                        </a:rPr>
                        <a:t>DATABASE</a:t>
                      </a:r>
                      <a:r>
                        <a:rPr lang="ko-KR" altLang="en-US" sz="1000">
                          <a:effectLst/>
                        </a:rPr>
                        <a:t>를 생성할 권한이 거부됩니다</a:t>
                      </a:r>
                      <a:r>
                        <a:rPr lang="en-US" altLang="ko-KR" sz="1000">
                          <a:effectLst/>
                        </a:rPr>
                        <a:t>.</a:t>
                      </a:r>
                      <a:br>
                        <a:rPr lang="en-US" altLang="ko-KR" sz="1000">
                          <a:effectLst/>
                        </a:rPr>
                      </a:br>
                      <a:r>
                        <a:rPr lang="ko-KR" altLang="en-US" sz="1000">
                          <a:effectLst/>
                        </a:rPr>
                        <a:t>따로 정의 되어있지 않을 경우 </a:t>
                      </a:r>
                      <a:r>
                        <a:rPr lang="en-US" altLang="ko-KR" sz="1000">
                          <a:effectLst/>
                        </a:rPr>
                        <a:t>NOCREATEDB</a:t>
                      </a:r>
                      <a:r>
                        <a:rPr lang="ko-KR" altLang="en-US" sz="1000">
                          <a:effectLst/>
                        </a:rPr>
                        <a:t>값이 </a:t>
                      </a:r>
                      <a:r>
                        <a:rPr lang="en-US" altLang="ko-KR" sz="1000">
                          <a:effectLst/>
                        </a:rPr>
                        <a:t>default</a:t>
                      </a:r>
                      <a:r>
                        <a:rPr lang="ko-KR" altLang="en-US" sz="1000">
                          <a:effectLst/>
                        </a:rPr>
                        <a:t>값으로 설정 되어 있습니다</a:t>
                      </a:r>
                      <a:r>
                        <a:rPr lang="en-US" altLang="ko-KR" sz="1000"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094792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400">
                          <a:effectLst/>
                        </a:rPr>
                        <a:t>CREATEUSER | NOCREATEUSER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1000">
                          <a:effectLst/>
                        </a:rPr>
                        <a:t>스스로 새로운 유저를 생성하는 권한을 부여하는 것을 정의합니다</a:t>
                      </a:r>
                      <a:r>
                        <a:rPr lang="en-US" altLang="ko-KR" sz="1000">
                          <a:effectLst/>
                        </a:rPr>
                        <a:t>.</a:t>
                      </a:r>
                      <a:br>
                        <a:rPr lang="en-US" altLang="ko-KR" sz="1000">
                          <a:effectLst/>
                        </a:rPr>
                      </a:br>
                      <a:r>
                        <a:rPr lang="en-US" altLang="ko-KR" sz="1000">
                          <a:effectLst/>
                        </a:rPr>
                        <a:t>CREATEUSER</a:t>
                      </a:r>
                      <a:r>
                        <a:rPr lang="ko-KR" altLang="en-US" sz="1000">
                          <a:effectLst/>
                        </a:rPr>
                        <a:t>를 선택할 경우 </a:t>
                      </a:r>
                      <a:r>
                        <a:rPr lang="en-US" altLang="ko-KR" sz="1000">
                          <a:effectLst/>
                        </a:rPr>
                        <a:t>USER</a:t>
                      </a:r>
                      <a:r>
                        <a:rPr lang="ko-KR" altLang="en-US" sz="1000">
                          <a:effectLst/>
                        </a:rPr>
                        <a:t>를 생성할 수 있는 권한이 부여됩니다</a:t>
                      </a:r>
                      <a:r>
                        <a:rPr lang="en-US" altLang="ko-KR" sz="1000">
                          <a:effectLst/>
                        </a:rPr>
                        <a:t>.</a:t>
                      </a:r>
                      <a:br>
                        <a:rPr lang="en-US" altLang="ko-KR" sz="1000">
                          <a:effectLst/>
                        </a:rPr>
                      </a:br>
                      <a:r>
                        <a:rPr lang="en-US" altLang="ko-KR" sz="1000">
                          <a:effectLst/>
                        </a:rPr>
                        <a:t>NOCREATEUSER</a:t>
                      </a:r>
                      <a:r>
                        <a:rPr lang="ko-KR" altLang="en-US" sz="1000">
                          <a:effectLst/>
                        </a:rPr>
                        <a:t>를 선택할 경우 </a:t>
                      </a:r>
                      <a:r>
                        <a:rPr lang="en-US" altLang="ko-KR" sz="1000">
                          <a:effectLst/>
                        </a:rPr>
                        <a:t>USER</a:t>
                      </a:r>
                      <a:r>
                        <a:rPr lang="ko-KR" altLang="en-US" sz="1000">
                          <a:effectLst/>
                        </a:rPr>
                        <a:t>를 생성할 권한이 거부됩니다</a:t>
                      </a:r>
                      <a:r>
                        <a:rPr lang="en-US" altLang="ko-KR" sz="1000"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00342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400">
                          <a:effectLst/>
                        </a:rPr>
                        <a:t>INHERIT |NOINHERIT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en-US" altLang="ko-KR" sz="1000">
                          <a:effectLst/>
                        </a:rPr>
                        <a:t>DATABASE</a:t>
                      </a:r>
                      <a:r>
                        <a:rPr lang="ko-KR" altLang="en-US" sz="1000">
                          <a:effectLst/>
                        </a:rPr>
                        <a:t>의 권한을 다른 구성원들에게 상속하는 역할을 합니다</a:t>
                      </a:r>
                      <a:r>
                        <a:rPr lang="en-US" altLang="ko-KR" sz="1000">
                          <a:effectLst/>
                        </a:rPr>
                        <a:t>.</a:t>
                      </a:r>
                      <a:br>
                        <a:rPr lang="en-US" altLang="ko-KR" sz="1000">
                          <a:effectLst/>
                        </a:rPr>
                      </a:br>
                      <a:r>
                        <a:rPr lang="ko-KR" altLang="en-US" sz="1000">
                          <a:effectLst/>
                        </a:rPr>
                        <a:t>따로 정의 되어있지 않을 경우 </a:t>
                      </a:r>
                      <a:r>
                        <a:rPr lang="en-US" altLang="ko-KR" sz="1000">
                          <a:effectLst/>
                        </a:rPr>
                        <a:t>INHERIT </a:t>
                      </a:r>
                      <a:r>
                        <a:rPr lang="ko-KR" altLang="en-US" sz="1000">
                          <a:effectLst/>
                        </a:rPr>
                        <a:t>값이 </a:t>
                      </a:r>
                      <a:r>
                        <a:rPr lang="en-US" altLang="ko-KR" sz="1000">
                          <a:effectLst/>
                        </a:rPr>
                        <a:t>default</a:t>
                      </a:r>
                      <a:r>
                        <a:rPr lang="ko-KR" altLang="en-US" sz="1000">
                          <a:effectLst/>
                        </a:rPr>
                        <a:t>값으로 설정 되어 있습니다</a:t>
                      </a:r>
                      <a:r>
                        <a:rPr lang="en-US" altLang="ko-KR" sz="1000"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4970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400">
                          <a:effectLst/>
                        </a:rPr>
                        <a:t>LOGIN | NOLOGIN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en-US" altLang="ko-KR" sz="1000">
                          <a:effectLst/>
                        </a:rPr>
                        <a:t>USER</a:t>
                      </a:r>
                      <a:r>
                        <a:rPr lang="ko-KR" altLang="en-US" sz="1000">
                          <a:effectLst/>
                        </a:rPr>
                        <a:t>가 </a:t>
                      </a:r>
                      <a:r>
                        <a:rPr lang="en-US" altLang="ko-KR" sz="1000">
                          <a:effectLst/>
                        </a:rPr>
                        <a:t>LOGIN</a:t>
                      </a:r>
                      <a:r>
                        <a:rPr lang="ko-KR" altLang="en-US" sz="1000">
                          <a:effectLst/>
                        </a:rPr>
                        <a:t>을 하는 역할을 부여한다</a:t>
                      </a:r>
                      <a:r>
                        <a:rPr lang="en-US" altLang="ko-KR" sz="1000"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33810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400">
                          <a:effectLst/>
                        </a:rPr>
                        <a:t>CONNECTION LIMIT connlimit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1000">
                          <a:effectLst/>
                        </a:rPr>
                        <a:t>로그인 할 때 동시연결을 지원 하는 기능으로 </a:t>
                      </a:r>
                      <a:r>
                        <a:rPr lang="en-US" altLang="ko-KR" sz="1000">
                          <a:effectLst/>
                        </a:rPr>
                        <a:t>default</a:t>
                      </a:r>
                      <a:r>
                        <a:rPr lang="ko-KR" altLang="en-US" sz="1000">
                          <a:effectLst/>
                        </a:rPr>
                        <a:t>값으로 </a:t>
                      </a:r>
                      <a:r>
                        <a:rPr lang="en-US" altLang="ko-KR" sz="1000">
                          <a:effectLst/>
                        </a:rPr>
                        <a:t>-1(</a:t>
                      </a:r>
                      <a:r>
                        <a:rPr lang="ko-KR" altLang="en-US" sz="1000">
                          <a:effectLst/>
                        </a:rPr>
                        <a:t>제한없음</a:t>
                      </a:r>
                      <a:r>
                        <a:rPr lang="en-US" altLang="ko-KR" sz="1000">
                          <a:effectLst/>
                        </a:rPr>
                        <a:t>)</a:t>
                      </a:r>
                      <a:r>
                        <a:rPr lang="ko-KR" altLang="en-US" sz="1000">
                          <a:effectLst/>
                        </a:rPr>
                        <a:t>로 설정 되어 있습니다</a:t>
                      </a:r>
                      <a:r>
                        <a:rPr lang="en-US" altLang="ko-KR" sz="1000"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160204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400">
                          <a:effectLst/>
                        </a:rPr>
                        <a:t>[ENCRYPTED | UNCRYPTED ]</a:t>
                      </a:r>
                      <a:br>
                        <a:rPr lang="en-US" sz="1400">
                          <a:effectLst/>
                        </a:rPr>
                      </a:br>
                      <a:r>
                        <a:rPr lang="en-US" sz="1400">
                          <a:effectLst/>
                        </a:rPr>
                        <a:t>PASSWORD 'password'’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1000">
                          <a:effectLst/>
                        </a:rPr>
                        <a:t>‘</a:t>
                      </a:r>
                      <a:r>
                        <a:rPr lang="en-US" altLang="ko-KR" sz="1000">
                          <a:effectLst/>
                        </a:rPr>
                        <a:t>password’</a:t>
                      </a:r>
                      <a:r>
                        <a:rPr lang="ko-KR" altLang="en-US" sz="1000">
                          <a:effectLst/>
                        </a:rPr>
                        <a:t>를 입력하고 인증이 필요 없는 경우 옵션을 생략이 가능합니다</a:t>
                      </a:r>
                      <a:r>
                        <a:rPr lang="en-US" altLang="ko-KR" sz="1000"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430170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12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1FAA404-BB29-1B05-513E-C14AE308D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CREATE USER TEST1;</a:t>
            </a:r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7F78D0-EF99-66EF-9459-9C784972B5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USER </a:t>
            </a:r>
            <a:r>
              <a:rPr lang="ko-KR" altLang="en-US"/>
              <a:t>생성 예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49CA820-B828-409E-B115-AC792B36B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74" y="1970170"/>
            <a:ext cx="7924865" cy="429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747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0746A52-8527-E333-35FA-8B761406C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User</a:t>
            </a:r>
            <a:r>
              <a:rPr lang="ko-KR" altLang="en-US"/>
              <a:t>와 </a:t>
            </a:r>
            <a:r>
              <a:rPr lang="en-US" altLang="ko-KR"/>
              <a:t>password </a:t>
            </a:r>
            <a:r>
              <a:rPr lang="ko-KR" altLang="en-US"/>
              <a:t>생성 예</a:t>
            </a:r>
            <a:endParaRPr lang="en-US" altLang="ko-KR"/>
          </a:p>
          <a:p>
            <a:pPr lvl="1"/>
            <a:r>
              <a:rPr lang="en-US" altLang="ko-KR"/>
              <a:t>CREATE USER test2 PASSWORD ‘</a:t>
            </a:r>
            <a:r>
              <a:rPr lang="en-US" altLang="ko-KR">
                <a:solidFill>
                  <a:srgbClr val="FF0000"/>
                </a:solidFill>
              </a:rPr>
              <a:t>password</a:t>
            </a:r>
            <a:r>
              <a:rPr lang="en-US" altLang="ko-KR"/>
              <a:t>’;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A6EF0E-3A60-E066-945F-0591952CFC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USER </a:t>
            </a:r>
            <a:r>
              <a:rPr lang="ko-KR" altLang="en-US"/>
              <a:t>생성 예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1DD0F9-FAB3-3439-5790-7922ECF5E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315" y="2255092"/>
            <a:ext cx="8791389" cy="234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75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DFF4347-51CF-AC37-8F64-0429D4092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altLang="ko-KR"/>
          </a:p>
          <a:p>
            <a:pPr algn="l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altLang="ko-KR" i="0">
                <a:solidFill>
                  <a:srgbClr val="333333"/>
                </a:solidFill>
                <a:effectLst/>
                <a:latin typeface="+mn-ea"/>
              </a:rPr>
              <a:t>User </a:t>
            </a:r>
            <a:r>
              <a:rPr lang="ko-KR" altLang="en-US" i="0">
                <a:solidFill>
                  <a:srgbClr val="333333"/>
                </a:solidFill>
                <a:effectLst/>
                <a:latin typeface="+mn-ea"/>
              </a:rPr>
              <a:t>와 </a:t>
            </a:r>
            <a:r>
              <a:rPr lang="en-US" altLang="ko-KR" i="0">
                <a:solidFill>
                  <a:srgbClr val="333333"/>
                </a:solidFill>
                <a:effectLst/>
                <a:latin typeface="+mn-ea"/>
              </a:rPr>
              <a:t>DB</a:t>
            </a:r>
            <a:r>
              <a:rPr lang="ko-KR" altLang="en-US" i="0">
                <a:solidFill>
                  <a:srgbClr val="333333"/>
                </a:solidFill>
                <a:effectLst/>
                <a:latin typeface="+mn-ea"/>
              </a:rPr>
              <a:t>생성 권한 설정 예</a:t>
            </a:r>
            <a:endParaRPr lang="en-US" altLang="ko-KR" i="0">
              <a:solidFill>
                <a:srgbClr val="333333"/>
              </a:solidFill>
              <a:effectLst/>
              <a:latin typeface="+mn-ea"/>
            </a:endParaRPr>
          </a:p>
          <a:p>
            <a:pPr algn="l">
              <a:lnSpc>
                <a:spcPts val="1600"/>
              </a:lnSpc>
              <a:buFont typeface="Arial" panose="020B0604020202020204" pitchFamily="34" charset="0"/>
              <a:buChar char="•"/>
            </a:pPr>
            <a:endParaRPr lang="ko-KR" altLang="en-US" i="0">
              <a:solidFill>
                <a:srgbClr val="333333"/>
              </a:solidFill>
              <a:effectLst/>
              <a:latin typeface="나눔고딕" pitchFamily="2" charset="-127"/>
              <a:ea typeface="나눔고딕" pitchFamily="2" charset="-127"/>
            </a:endParaRPr>
          </a:p>
          <a:p>
            <a:br>
              <a:rPr lang="ko-KR" altLang="en-US" b="0" i="0">
                <a:solidFill>
                  <a:srgbClr val="FFFFFF"/>
                </a:solidFill>
                <a:effectLst/>
                <a:latin typeface="Consolas" panose="020B0609020204030204" pitchFamily="49" charset="0"/>
                <a:ea typeface="나눔고딕" pitchFamily="2" charset="-127"/>
              </a:rPr>
            </a:b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B7D9AC-FFB2-AF35-7CAF-468EAA2B12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USER</a:t>
            </a:r>
            <a:r>
              <a:rPr lang="ko-KR" altLang="en-US"/>
              <a:t> 생성 예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65604AC-CC8E-CE0E-4CFA-8FBE37441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412" y="2125379"/>
            <a:ext cx="604011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USER TEST3 PASSWORD ‘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TEST3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’ 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CREATEDB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2D31D36-BDCB-E374-0D38-4FFDAA747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346" y="2845798"/>
            <a:ext cx="9211961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290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9898F30-5139-9332-1E57-6E8112F1D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DATABASE</a:t>
            </a:r>
            <a:r>
              <a:rPr lang="ko-KR" altLang="en-US"/>
              <a:t>구조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C5343B-1C41-F504-FA3F-7FCD77BCF8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DATABASE / SCHEMA </a:t>
            </a:r>
            <a:r>
              <a:rPr lang="ko-KR" altLang="en-US"/>
              <a:t>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18C3127-5266-09AC-C31B-ABE5D2E67177}"/>
              </a:ext>
            </a:extLst>
          </p:cNvPr>
          <p:cNvSpPr/>
          <p:nvPr/>
        </p:nvSpPr>
        <p:spPr>
          <a:xfrm>
            <a:off x="2630323" y="1675416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cluster</a:t>
            </a:r>
            <a:endParaRPr lang="ko-KR" altLang="en-US" sz="120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E68683F-BA03-6DA4-094A-4BD56457C135}"/>
              </a:ext>
            </a:extLst>
          </p:cNvPr>
          <p:cNvSpPr/>
          <p:nvPr/>
        </p:nvSpPr>
        <p:spPr>
          <a:xfrm>
            <a:off x="949007" y="2784495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Users/Groups</a:t>
            </a:r>
            <a:endParaRPr lang="ko-KR" altLang="en-US" sz="120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E1007C1-545D-C184-F0BB-EC5EB2C6DBEE}"/>
              </a:ext>
            </a:extLst>
          </p:cNvPr>
          <p:cNvSpPr/>
          <p:nvPr/>
        </p:nvSpPr>
        <p:spPr>
          <a:xfrm>
            <a:off x="2689316" y="2784495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Databases</a:t>
            </a:r>
            <a:endParaRPr lang="ko-KR" altLang="en-US" sz="120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CCBA4C2-F997-1DE9-46D1-700055C1342E}"/>
              </a:ext>
            </a:extLst>
          </p:cNvPr>
          <p:cNvSpPr/>
          <p:nvPr/>
        </p:nvSpPr>
        <p:spPr>
          <a:xfrm>
            <a:off x="4270343" y="2784495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Tablespaces</a:t>
            </a:r>
            <a:endParaRPr lang="ko-KR" altLang="en-US" sz="120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4CCCB1B-74FD-2245-A109-1E74CF8D73E1}"/>
              </a:ext>
            </a:extLst>
          </p:cNvPr>
          <p:cNvSpPr/>
          <p:nvPr/>
        </p:nvSpPr>
        <p:spPr>
          <a:xfrm>
            <a:off x="2689316" y="3890237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Schemas</a:t>
            </a:r>
            <a:endParaRPr lang="ko-KR" altLang="en-US" sz="12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794DDE8-79B0-7833-F901-53FA49EABB42}"/>
              </a:ext>
            </a:extLst>
          </p:cNvPr>
          <p:cNvSpPr/>
          <p:nvPr/>
        </p:nvSpPr>
        <p:spPr>
          <a:xfrm>
            <a:off x="359071" y="4946221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Tables</a:t>
            </a:r>
            <a:endParaRPr lang="ko-KR" altLang="en-US" sz="120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E2CC474-7F21-BAA6-AFCD-4FF0A3D00175}"/>
              </a:ext>
            </a:extLst>
          </p:cNvPr>
          <p:cNvSpPr/>
          <p:nvPr/>
        </p:nvSpPr>
        <p:spPr>
          <a:xfrm>
            <a:off x="2040387" y="4946221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Views</a:t>
            </a:r>
            <a:endParaRPr lang="ko-KR" altLang="en-US" sz="120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3ACEEEF-B692-2BF0-2138-EF6B07B00322}"/>
              </a:ext>
            </a:extLst>
          </p:cNvPr>
          <p:cNvSpPr/>
          <p:nvPr/>
        </p:nvSpPr>
        <p:spPr>
          <a:xfrm>
            <a:off x="3680407" y="4946221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Sequences</a:t>
            </a:r>
            <a:endParaRPr lang="ko-KR" altLang="en-US" sz="12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C42D802-262C-FF4B-9077-486DEF1604A7}"/>
              </a:ext>
            </a:extLst>
          </p:cNvPr>
          <p:cNvSpPr/>
          <p:nvPr/>
        </p:nvSpPr>
        <p:spPr>
          <a:xfrm>
            <a:off x="5391219" y="4946221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Synonyms</a:t>
            </a:r>
            <a:endParaRPr lang="ko-KR" altLang="en-US" sz="120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473E472-DD56-7FA5-45C9-6A824169C8D7}"/>
              </a:ext>
            </a:extLst>
          </p:cNvPr>
          <p:cNvSpPr/>
          <p:nvPr/>
        </p:nvSpPr>
        <p:spPr>
          <a:xfrm>
            <a:off x="6992371" y="4946221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Domains</a:t>
            </a:r>
            <a:endParaRPr lang="ko-KR" altLang="en-US" sz="120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43723E0-E4B0-E85B-F436-F783943A7784}"/>
              </a:ext>
            </a:extLst>
          </p:cNvPr>
          <p:cNvSpPr/>
          <p:nvPr/>
        </p:nvSpPr>
        <p:spPr>
          <a:xfrm>
            <a:off x="8571246" y="4936985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Functions</a:t>
            </a:r>
            <a:endParaRPr lang="ko-KR" altLang="en-US" sz="1200"/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C53C8F6D-7B77-F43F-2C8F-884D0AFD7733}"/>
              </a:ext>
            </a:extLst>
          </p:cNvPr>
          <p:cNvCxnSpPr>
            <a:endCxn id="6" idx="0"/>
          </p:cNvCxnSpPr>
          <p:nvPr/>
        </p:nvCxnSpPr>
        <p:spPr>
          <a:xfrm rot="16200000" flipH="1">
            <a:off x="3055077" y="2560319"/>
            <a:ext cx="389357" cy="5899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3C5FD3C4-C439-8014-9F93-8E54BD28586C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2184923" y="1749158"/>
            <a:ext cx="389357" cy="1681316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220AAC10-8EC4-A35C-1568-08C8D5D37FA8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3845591" y="1769806"/>
            <a:ext cx="389357" cy="164002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2D3ABB6-8B49-85F0-8E82-CD3E06C7B5E8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3279252" y="3504217"/>
            <a:ext cx="0" cy="386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C505877F-2F00-3E8E-F307-AC8DF226574A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1945999" y="3612968"/>
            <a:ext cx="336262" cy="233024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43AC2BFA-0608-F97C-E256-805377ED3217}"/>
              </a:ext>
            </a:extLst>
          </p:cNvPr>
          <p:cNvCxnSpPr>
            <a:stCxn id="10" idx="0"/>
            <a:endCxn id="8" idx="2"/>
          </p:cNvCxnSpPr>
          <p:nvPr/>
        </p:nvCxnSpPr>
        <p:spPr>
          <a:xfrm rot="5400000" flipH="1" flipV="1">
            <a:off x="2786656" y="4453626"/>
            <a:ext cx="336262" cy="648929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A6BC0F78-C7AC-E96F-9C2F-A023EEB77405}"/>
              </a:ext>
            </a:extLst>
          </p:cNvPr>
          <p:cNvCxnSpPr>
            <a:cxnSpLocks/>
            <a:stCxn id="11" idx="0"/>
            <a:endCxn id="8" idx="2"/>
          </p:cNvCxnSpPr>
          <p:nvPr/>
        </p:nvCxnSpPr>
        <p:spPr>
          <a:xfrm rot="16200000" flipV="1">
            <a:off x="3606667" y="4282544"/>
            <a:ext cx="336262" cy="99109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D843459B-B791-AA9D-0DB9-4D58C8C95DE3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rot="16200000" flipH="1">
            <a:off x="4462072" y="3427138"/>
            <a:ext cx="336262" cy="270190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C0B00CDD-B6E6-8F31-813E-880D47A67A37}"/>
              </a:ext>
            </a:extLst>
          </p:cNvPr>
          <p:cNvCxnSpPr>
            <a:stCxn id="13" idx="0"/>
            <a:endCxn id="8" idx="2"/>
          </p:cNvCxnSpPr>
          <p:nvPr/>
        </p:nvCxnSpPr>
        <p:spPr>
          <a:xfrm rot="16200000" flipV="1">
            <a:off x="5262649" y="2626562"/>
            <a:ext cx="336262" cy="430305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78B397E6-2B38-21AC-A932-EA16830D83E6}"/>
              </a:ext>
            </a:extLst>
          </p:cNvPr>
          <p:cNvCxnSpPr>
            <a:stCxn id="14" idx="0"/>
            <a:endCxn id="8" idx="2"/>
          </p:cNvCxnSpPr>
          <p:nvPr/>
        </p:nvCxnSpPr>
        <p:spPr>
          <a:xfrm rot="16200000" flipV="1">
            <a:off x="6056704" y="1832507"/>
            <a:ext cx="327026" cy="588193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9E24DCC-8B54-7B7A-6B9A-E13352CEEE32}"/>
              </a:ext>
            </a:extLst>
          </p:cNvPr>
          <p:cNvSpPr txBox="1"/>
          <p:nvPr/>
        </p:nvSpPr>
        <p:spPr>
          <a:xfrm>
            <a:off x="4995860" y="1666874"/>
            <a:ext cx="69681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/>
              <a:t>DATABASE</a:t>
            </a:r>
            <a:r>
              <a:rPr lang="ko-KR" altLang="en-US" sz="1400"/>
              <a:t>는 여러 개의 </a:t>
            </a:r>
            <a:r>
              <a:rPr lang="en-US" altLang="ko-KR" sz="1400"/>
              <a:t>SCHEMA</a:t>
            </a:r>
            <a:r>
              <a:rPr lang="ko-KR" altLang="en-US" sz="1400"/>
              <a:t>로 구성됨</a:t>
            </a:r>
            <a:r>
              <a:rPr lang="en-US" altLang="ko-KR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/>
              <a:t>SCHEMA</a:t>
            </a:r>
            <a:r>
              <a:rPr lang="ko-KR" altLang="en-US" sz="1400"/>
              <a:t>는 </a:t>
            </a:r>
            <a:r>
              <a:rPr lang="en-US" altLang="ko-KR" sz="1400"/>
              <a:t>OBJECT</a:t>
            </a:r>
            <a:r>
              <a:rPr lang="ko-KR" altLang="en-US" sz="1400"/>
              <a:t>의 논리적인 집합</a:t>
            </a:r>
            <a:r>
              <a:rPr lang="en-US" altLang="ko-KR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/>
              <a:t>SCHEMA</a:t>
            </a:r>
            <a:r>
              <a:rPr lang="ko-KR" altLang="en-US" sz="1400"/>
              <a:t>는</a:t>
            </a:r>
            <a:r>
              <a:rPr lang="en-US" altLang="ko-KR" sz="1400"/>
              <a:t>TABLE, VIEW, SEQUENCE, SYNONYM, DOMAIN, FUNCTION</a:t>
            </a:r>
            <a:r>
              <a:rPr lang="ko-KR" altLang="en-US" sz="1400"/>
              <a:t>으로 구성</a:t>
            </a:r>
            <a:endParaRPr lang="en-US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/>
              <a:t>DB</a:t>
            </a:r>
            <a:r>
              <a:rPr lang="ko-KR" altLang="en-US" sz="1400"/>
              <a:t>들과 </a:t>
            </a:r>
            <a:r>
              <a:rPr lang="en-US" altLang="ko-KR" sz="1400"/>
              <a:t>USER/GROUPS, TABLESPACES</a:t>
            </a:r>
            <a:r>
              <a:rPr lang="ko-KR" altLang="en-US" sz="1400"/>
              <a:t>가 모여 </a:t>
            </a:r>
            <a:r>
              <a:rPr lang="en-US" altLang="ko-KR" sz="1400"/>
              <a:t>CLUSTER </a:t>
            </a:r>
            <a:r>
              <a:rPr lang="ko-KR" altLang="en-US" sz="1400"/>
              <a:t>구성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514358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954D390-A36F-44C6-6842-567DFAE0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DATABASE</a:t>
            </a:r>
            <a:r>
              <a:rPr lang="ko-KR" altLang="en-US"/>
              <a:t>를 생성하기 위해서 </a:t>
            </a:r>
            <a:r>
              <a:rPr lang="en-US" altLang="ko-KR"/>
              <a:t>SUPERUSER </a:t>
            </a:r>
            <a:r>
              <a:rPr lang="ko-KR" altLang="en-US"/>
              <a:t>이거나 </a:t>
            </a:r>
            <a:r>
              <a:rPr lang="en-US" altLang="ko-KR"/>
              <a:t>CREATEDB </a:t>
            </a:r>
            <a:r>
              <a:rPr lang="ko-KR" altLang="en-US"/>
              <a:t>권한이 있는 </a:t>
            </a:r>
            <a:r>
              <a:rPr lang="en-US" altLang="ko-KR"/>
              <a:t>USER</a:t>
            </a:r>
            <a:r>
              <a:rPr lang="ko-KR" altLang="en-US"/>
              <a:t>여야함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SUPERUSER</a:t>
            </a:r>
            <a:r>
              <a:rPr lang="ko-KR" altLang="en-US"/>
              <a:t>는 다른 </a:t>
            </a:r>
            <a:r>
              <a:rPr lang="en-US" altLang="ko-KR"/>
              <a:t>USER</a:t>
            </a:r>
            <a:r>
              <a:rPr lang="ko-KR" altLang="en-US"/>
              <a:t>가 만든 </a:t>
            </a:r>
            <a:r>
              <a:rPr lang="en-US" altLang="ko-KR"/>
              <a:t>DATABASE</a:t>
            </a:r>
            <a:r>
              <a:rPr lang="ko-KR" altLang="en-US"/>
              <a:t>에 대한 권한도 가짐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일반 </a:t>
            </a:r>
            <a:r>
              <a:rPr lang="en-US" altLang="ko-KR"/>
              <a:t>USER</a:t>
            </a:r>
            <a:r>
              <a:rPr lang="ko-KR" altLang="en-US"/>
              <a:t>들의 경우 자신이 생성한 </a:t>
            </a:r>
            <a:r>
              <a:rPr lang="en-US" altLang="ko-KR"/>
              <a:t>DB</a:t>
            </a:r>
            <a:r>
              <a:rPr lang="ko-KR" altLang="en-US"/>
              <a:t>만 소유 할 수 있음</a:t>
            </a:r>
            <a:r>
              <a:rPr lang="en-US" altLang="ko-KR"/>
              <a:t>.</a:t>
            </a:r>
          </a:p>
          <a:p>
            <a:pPr lvl="1"/>
            <a:endParaRPr lang="en-US" altLang="ko-KR"/>
          </a:p>
          <a:p>
            <a:r>
              <a:rPr lang="en-US" altLang="ko-KR"/>
              <a:t>DATABASE </a:t>
            </a:r>
            <a:r>
              <a:rPr lang="ko-KR" altLang="en-US"/>
              <a:t>조회</a:t>
            </a:r>
            <a:r>
              <a:rPr lang="en-US" altLang="ko-KR"/>
              <a:t>	</a:t>
            </a:r>
          </a:p>
          <a:p>
            <a:pPr lvl="1"/>
            <a:r>
              <a:rPr lang="en-US" altLang="ko-KR"/>
              <a:t>psql </a:t>
            </a:r>
            <a:r>
              <a:rPr lang="ko-KR" altLang="en-US"/>
              <a:t>상에서 </a:t>
            </a:r>
            <a:r>
              <a:rPr lang="en-US" altLang="ko-KR"/>
              <a:t>\l</a:t>
            </a:r>
            <a:r>
              <a:rPr lang="ko-KR" altLang="en-US"/>
              <a:t>명령어 혹은 </a:t>
            </a:r>
            <a:r>
              <a:rPr lang="en-US" altLang="ko-KR"/>
              <a:t>pgadmin</a:t>
            </a:r>
            <a:r>
              <a:rPr lang="ko-KR" altLang="en-US"/>
              <a:t>에서 확인 가능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D6527B-A2DE-E28E-811B-490B824F36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DATABASE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3A7E230-C770-5A9C-72A9-9CA159591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0" y="4040645"/>
            <a:ext cx="6891354" cy="2088011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91437C15-88AC-5DC4-3754-B9F389AAC0DE}"/>
              </a:ext>
            </a:extLst>
          </p:cNvPr>
          <p:cNvGrpSpPr/>
          <p:nvPr/>
        </p:nvGrpSpPr>
        <p:grpSpPr>
          <a:xfrm>
            <a:off x="845043" y="4108479"/>
            <a:ext cx="3177404" cy="2728318"/>
            <a:chOff x="1304369" y="1928086"/>
            <a:chExt cx="3953427" cy="434400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12EE03F-40D0-79EC-FF6D-B9B20B74A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04369" y="1928086"/>
              <a:ext cx="3953427" cy="4344006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F7B979F-80C3-8576-AB3D-BC7C5577C877}"/>
                </a:ext>
              </a:extLst>
            </p:cNvPr>
            <p:cNvSpPr/>
            <p:nvPr/>
          </p:nvSpPr>
          <p:spPr>
            <a:xfrm>
              <a:off x="1780988" y="2342776"/>
              <a:ext cx="1512047" cy="3287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1917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9E15F96-A015-E457-6282-4F79DF77C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DATABASE </a:t>
            </a:r>
            <a:r>
              <a:rPr lang="ko-KR" altLang="en-US"/>
              <a:t>생성</a:t>
            </a:r>
            <a:endParaRPr lang="en-US" altLang="ko-KR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C8F9B8-C554-B7D7-2AB3-3DF1DA13FA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DATABASE</a:t>
            </a:r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5BEB6B8-A505-63ED-3235-3781502BB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692849"/>
              </p:ext>
            </p:extLst>
          </p:nvPr>
        </p:nvGraphicFramePr>
        <p:xfrm>
          <a:off x="1964793" y="2058819"/>
          <a:ext cx="8128000" cy="417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9848055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74652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600">
                          <a:effectLst/>
                          <a:latin typeface="+mj-ea"/>
                          <a:ea typeface="+mj-ea"/>
                        </a:rPr>
                        <a:t>Option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기능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388758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600">
                          <a:effectLst/>
                          <a:latin typeface="+mj-ea"/>
                          <a:ea typeface="+mj-ea"/>
                        </a:rPr>
                        <a:t>[[WITH] [OWNER [=] dbowner]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DATABASE</a:t>
                      </a: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를 소유하는 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USER</a:t>
                      </a: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를 지정합니다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. </a:t>
                      </a: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따로 지정하지 않을 경우에는 명령을 실행시킨 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USER</a:t>
                      </a: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가 주인이 됩니다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678647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600">
                          <a:effectLst/>
                          <a:latin typeface="+mj-ea"/>
                          <a:ea typeface="+mj-ea"/>
                        </a:rPr>
                        <a:t>[TEMPLATE [=] template]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지정한 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TEMPLATE</a:t>
                      </a: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을 복제해서 미리 정의 된 표준객체를 포함한 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DATABASE</a:t>
                      </a: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를 생성할 수 있습니다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071873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600">
                          <a:effectLst/>
                          <a:latin typeface="+mj-ea"/>
                          <a:ea typeface="+mj-ea"/>
                        </a:rPr>
                        <a:t>[ENCODING [=] encoding]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DATABASE</a:t>
                      </a: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에서 사용할 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ENCODING</a:t>
                      </a: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을 설정합니다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. EX) SQL_ASCII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190988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600">
                          <a:effectLst/>
                          <a:latin typeface="+mj-ea"/>
                          <a:ea typeface="+mj-ea"/>
                        </a:rPr>
                        <a:t>[ LC_COLLATE [=] lc_collate ]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컬럼과 인덱스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, ORDER BY</a:t>
                      </a: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절에서 문자열에 적용되는 정렬 순서에 영향을 줍니다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655182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600">
                          <a:effectLst/>
                          <a:latin typeface="+mj-ea"/>
                          <a:ea typeface="+mj-ea"/>
                        </a:rPr>
                        <a:t>[ LC_CTYPE [=] lc_ctype ]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문자 분류로 대 소문자 숫자분류를 설정 합니다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748966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600">
                          <a:effectLst/>
                          <a:latin typeface="+mj-ea"/>
                          <a:ea typeface="+mj-ea"/>
                        </a:rPr>
                        <a:t>[TABLESPACE [=] tablespace]]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지정한 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TABLESPACE</a:t>
                      </a: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가 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DATABASE</a:t>
                      </a: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에서 만든 개체에 사용되는 기본 테이블이 됩니다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690495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600">
                          <a:effectLst/>
                          <a:latin typeface="+mj-ea"/>
                          <a:ea typeface="+mj-ea"/>
                        </a:rPr>
                        <a:t>[ CONNECTION LIMIT [=] connlimit ] ]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DATABASE</a:t>
                      </a: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에 동시접속 할 수 있는 것을 제한합니다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. DEFAULT</a:t>
                      </a: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로 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-1(</a:t>
                      </a: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제한없음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) </a:t>
                      </a:r>
                      <a:r>
                        <a:rPr lang="ko-KR" altLang="en-US" sz="1600">
                          <a:effectLst/>
                          <a:latin typeface="+mj-ea"/>
                          <a:ea typeface="+mj-ea"/>
                        </a:rPr>
                        <a:t>으로 설정 되어있습니다</a:t>
                      </a:r>
                      <a:r>
                        <a:rPr lang="en-US" altLang="ko-KR" sz="1600"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749827821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86780CD7-627E-CBFD-F042-E32AAF0B6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6562" y="1668125"/>
            <a:ext cx="282122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DATABASE 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name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00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9940BF1-83C7-35EE-70BD-F8922DB74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DATABASE </a:t>
            </a:r>
            <a:r>
              <a:rPr lang="ko-KR" altLang="en-US"/>
              <a:t>생성 예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3199F-6730-75DF-5D80-56FD4ED3DB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DATABASE</a:t>
            </a: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961E2D1-2A94-1B92-13F8-6DAB18316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6562" y="1668125"/>
            <a:ext cx="293663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DATABASE testdb;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E3FE5A-483D-7811-D499-6A8B8C87D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88" y="2376256"/>
            <a:ext cx="3667637" cy="418205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D008CFF-71E7-B125-B03B-95C63533F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560" y="3300011"/>
            <a:ext cx="6345480" cy="314866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0665A70-D685-63A7-6D16-73E00FCB2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9560" y="1430702"/>
            <a:ext cx="5639587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943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5A1FBC5-EF72-BD3B-D569-CC89F466E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DATABASE OWNER </a:t>
            </a:r>
            <a:r>
              <a:rPr lang="ko-KR" altLang="en-US"/>
              <a:t>지정후 생성 예</a:t>
            </a:r>
            <a:r>
              <a:rPr lang="en-US" altLang="ko-KR"/>
              <a:t>.</a:t>
            </a:r>
          </a:p>
          <a:p>
            <a:pPr lvl="1"/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E72E3A-541D-5145-ED88-597035D083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DATABASE</a:t>
            </a:r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CAC40FD-A460-45F2-C1FA-705C76A12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6562" y="1668125"/>
            <a:ext cx="444987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DATABASE 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testdb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OWNER 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test2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69308A3-560E-275F-D1A0-C36BB48FE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878" y="4408393"/>
            <a:ext cx="7260139" cy="24496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21F679E-57F4-1BF4-12F4-9EFC4A921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878" y="2037574"/>
            <a:ext cx="8230749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737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40FA4DA3-0774-4DE6-5AB7-8CC6E1058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5052369"/>
            <a:ext cx="6908146" cy="1639084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B80CBB-B950-398A-02B6-ED0C2ACE60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DATABASE </a:t>
            </a:r>
            <a:r>
              <a:rPr lang="ko-KR" altLang="en-US"/>
              <a:t>수정 및 삭제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F30B331-18D5-481B-A846-C876CAB63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39" y="1455748"/>
            <a:ext cx="272343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 DATABASE 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‘name’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BEC6463-A90D-BE40-BC73-582A03324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426247"/>
              </p:ext>
            </p:extLst>
          </p:nvPr>
        </p:nvGraphicFramePr>
        <p:xfrm>
          <a:off x="1206089" y="2745268"/>
          <a:ext cx="8993894" cy="83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6947">
                  <a:extLst>
                    <a:ext uri="{9D8B030D-6E8A-4147-A177-3AD203B41FA5}">
                      <a16:colId xmlns:a16="http://schemas.microsoft.com/office/drawing/2014/main" val="1304312970"/>
                    </a:ext>
                  </a:extLst>
                </a:gridCol>
                <a:gridCol w="4496947">
                  <a:extLst>
                    <a:ext uri="{9D8B030D-6E8A-4147-A177-3AD203B41FA5}">
                      <a16:colId xmlns:a16="http://schemas.microsoft.com/office/drawing/2014/main" val="1341167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600">
                          <a:effectLst/>
                        </a:rPr>
                        <a:t>Option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ko-KR" altLang="en-US" sz="1600">
                          <a:effectLst/>
                        </a:rPr>
                        <a:t>기능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029523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600">
                          <a:effectLst/>
                        </a:rPr>
                        <a:t>CONNECTION LIMIT connlimit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en-US" altLang="ko-KR" sz="1600">
                          <a:effectLst/>
                        </a:rPr>
                        <a:t>DATABASE</a:t>
                      </a:r>
                      <a:r>
                        <a:rPr lang="ko-KR" altLang="en-US" sz="1600">
                          <a:effectLst/>
                        </a:rPr>
                        <a:t>에 동시접속을 몇 개까지 가능하게 할 것인지 설정합니다</a:t>
                      </a:r>
                      <a:r>
                        <a:rPr lang="en-US" altLang="ko-KR" sz="1600">
                          <a:effectLst/>
                        </a:rPr>
                        <a:t>. (-1</a:t>
                      </a:r>
                      <a:r>
                        <a:rPr lang="ko-KR" altLang="en-US" sz="1600">
                          <a:effectLst/>
                        </a:rPr>
                        <a:t>일경우 무한대</a:t>
                      </a:r>
                      <a:r>
                        <a:rPr lang="en-US" altLang="ko-KR" sz="1600">
                          <a:effectLst/>
                        </a:rPr>
                        <a:t>)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92508046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3679FA6-F66C-40C5-7A5E-4A2CA5A0E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490251"/>
              </p:ext>
            </p:extLst>
          </p:nvPr>
        </p:nvGraphicFramePr>
        <p:xfrm>
          <a:off x="982677" y="2051809"/>
          <a:ext cx="10515600" cy="4876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944801800"/>
                    </a:ext>
                  </a:extLst>
                </a:gridCol>
              </a:tblGrid>
              <a:tr h="47856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>
                          <a:effectLst/>
                          <a:latin typeface="Consolas" panose="020B0609020204030204" pitchFamily="49" charset="0"/>
                        </a:rPr>
                        <a:t>ALTER DATABASE </a:t>
                      </a:r>
                      <a:r>
                        <a:rPr lang="en-US" sz="1600" b="0" i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name</a:t>
                      </a:r>
                      <a:r>
                        <a:rPr lang="en-US" sz="1600" b="0" i="0">
                          <a:effectLst/>
                          <a:latin typeface="Consolas" panose="020B0609020204030204" pitchFamily="49" charset="0"/>
                        </a:rPr>
                        <a:t> [ [ WITH ] option [ ... ] ]</a:t>
                      </a:r>
                    </a:p>
                    <a:p>
                      <a:pPr algn="l" fontAlgn="base"/>
                      <a:r>
                        <a:rPr lang="en-US" sz="1600" b="0" i="0">
                          <a:effectLst/>
                          <a:latin typeface="Consolas" panose="020B0609020204030204" pitchFamily="49" charset="0"/>
                        </a:rPr>
                        <a:t> where option can be: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907181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F40271E1-B83E-12B4-FAE9-D1CA3FB90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413" y="161754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6358F7-61BD-653A-D3D0-7C2C935C7C74}"/>
              </a:ext>
            </a:extLst>
          </p:cNvPr>
          <p:cNvSpPr txBox="1"/>
          <p:nvPr/>
        </p:nvSpPr>
        <p:spPr>
          <a:xfrm>
            <a:off x="445835" y="4146988"/>
            <a:ext cx="3269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DATABASE OWNER </a:t>
            </a:r>
            <a:r>
              <a:rPr lang="ko-KR" altLang="en-US"/>
              <a:t>지정 변경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5D82789-E4C9-7D03-8480-2C2A0CB01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77" y="4721156"/>
            <a:ext cx="437741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 DATABASE 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testdb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owner TO 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test3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6F5A561-81D8-3A94-71DF-0D022CF98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094" y="4998155"/>
            <a:ext cx="6267218" cy="174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30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3E0B753-4C4C-7BF0-ECA9-80B050AA2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DATABASE</a:t>
            </a:r>
            <a:r>
              <a:rPr lang="ko-KR" altLang="en-US"/>
              <a:t> 이름 변경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DATABASE </a:t>
            </a:r>
            <a:r>
              <a:rPr lang="ko-KR" altLang="en-US"/>
              <a:t>삭제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2C86A2-77B6-CF2F-048D-BDA84BDC2A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DATABASE </a:t>
            </a:r>
            <a:r>
              <a:rPr lang="ko-KR" altLang="en-US"/>
              <a:t>수정 및 삭제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154FE98-B272-C222-7C94-A85C490D4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594" y="1709419"/>
            <a:ext cx="499297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 DATABASE 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testdb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RENAME TO 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testdb2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99981B8-A8AA-4C4C-FCCC-70DEA1376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890" y="4930888"/>
            <a:ext cx="274440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/>
              <a:t>DROP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 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testdb</a:t>
            </a:r>
            <a:r>
              <a:rPr kumimoji="0" lang="en-US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1D8FF2B-F472-FCF4-21A5-6C982D39B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71" y="2186660"/>
            <a:ext cx="6030167" cy="174331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C933C03-E067-563F-8AA3-B8DFBB293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178624"/>
            <a:ext cx="4765896" cy="175135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626A368-C1F7-507C-CD73-4D25BCA34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94" y="5652340"/>
            <a:ext cx="3620005" cy="47631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1514DC9-F2A2-5C74-F0D4-C4CF48DA6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3216" y="4759124"/>
            <a:ext cx="5481590" cy="156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901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FF3E1CB-7DAD-675A-B7E6-A24D449DF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SCHEMA </a:t>
            </a:r>
            <a:r>
              <a:rPr lang="ko-KR" altLang="en-US"/>
              <a:t>구조</a:t>
            </a:r>
            <a:endParaRPr lang="en-US" altLang="ko-KR"/>
          </a:p>
          <a:p>
            <a:pPr lvl="1"/>
            <a:r>
              <a:rPr lang="en-US" altLang="ko-KR"/>
              <a:t>OBJECT</a:t>
            </a:r>
            <a:r>
              <a:rPr lang="ko-KR" altLang="en-US"/>
              <a:t>들의 논리적 집합</a:t>
            </a:r>
            <a:endParaRPr lang="en-US" altLang="ko-KR"/>
          </a:p>
          <a:p>
            <a:pPr lvl="1"/>
            <a:r>
              <a:rPr lang="ko-KR" altLang="en-US"/>
              <a:t>논리적 집합체를 만들어서 관리의 편이성을 높이고 여러 </a:t>
            </a:r>
            <a:r>
              <a:rPr lang="en-US" altLang="ko-KR"/>
              <a:t>USER</a:t>
            </a:r>
            <a:r>
              <a:rPr lang="ko-KR" altLang="en-US"/>
              <a:t>들 간의 간섭없이 접속 가능케함</a:t>
            </a:r>
            <a:r>
              <a:rPr lang="en-US" altLang="ko-KR"/>
              <a:t>.</a:t>
            </a:r>
          </a:p>
          <a:p>
            <a:pPr lvl="1"/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FC63C8-D8EA-80D6-C24B-CC986585E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SCHEMA</a:t>
            </a:r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004A9C6-FB9D-850E-E6EC-9C72C1B3F7C3}"/>
              </a:ext>
            </a:extLst>
          </p:cNvPr>
          <p:cNvSpPr/>
          <p:nvPr/>
        </p:nvSpPr>
        <p:spPr>
          <a:xfrm>
            <a:off x="2950573" y="3069139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Schemas</a:t>
            </a:r>
            <a:endParaRPr lang="ko-KR" altLang="en-US" sz="120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921E3CD-96C0-9F41-93D6-1788F6AC1C41}"/>
              </a:ext>
            </a:extLst>
          </p:cNvPr>
          <p:cNvSpPr/>
          <p:nvPr/>
        </p:nvSpPr>
        <p:spPr>
          <a:xfrm>
            <a:off x="620328" y="4125123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Tables</a:t>
            </a:r>
            <a:endParaRPr lang="ko-KR" altLang="en-US" sz="120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4249736-C5FC-DFF3-AAC2-6BF4E15090A9}"/>
              </a:ext>
            </a:extLst>
          </p:cNvPr>
          <p:cNvSpPr/>
          <p:nvPr/>
        </p:nvSpPr>
        <p:spPr>
          <a:xfrm>
            <a:off x="2301644" y="4125123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Views</a:t>
            </a:r>
            <a:endParaRPr lang="ko-KR" altLang="en-US" sz="120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B50622C-4DAE-4F96-B0AB-75B333C7508B}"/>
              </a:ext>
            </a:extLst>
          </p:cNvPr>
          <p:cNvSpPr/>
          <p:nvPr/>
        </p:nvSpPr>
        <p:spPr>
          <a:xfrm>
            <a:off x="3941664" y="4125123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Sequences</a:t>
            </a:r>
            <a:endParaRPr lang="ko-KR" altLang="en-US" sz="120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B4575C5-5526-02D9-159D-93B74287D48F}"/>
              </a:ext>
            </a:extLst>
          </p:cNvPr>
          <p:cNvSpPr/>
          <p:nvPr/>
        </p:nvSpPr>
        <p:spPr>
          <a:xfrm>
            <a:off x="5652476" y="4125123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Synonyms</a:t>
            </a:r>
            <a:endParaRPr lang="ko-KR" altLang="en-US" sz="12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05CF948-C825-091A-42B2-50DE305F9BFA}"/>
              </a:ext>
            </a:extLst>
          </p:cNvPr>
          <p:cNvSpPr/>
          <p:nvPr/>
        </p:nvSpPr>
        <p:spPr>
          <a:xfrm>
            <a:off x="7253628" y="4125123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Domains</a:t>
            </a:r>
            <a:endParaRPr lang="ko-KR" altLang="en-US" sz="120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4CD1ABD-B30C-9146-837C-536477D92562}"/>
              </a:ext>
            </a:extLst>
          </p:cNvPr>
          <p:cNvSpPr/>
          <p:nvPr/>
        </p:nvSpPr>
        <p:spPr>
          <a:xfrm>
            <a:off x="8832503" y="4115887"/>
            <a:ext cx="1179871" cy="71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Functions</a:t>
            </a:r>
            <a:endParaRPr lang="ko-KR" altLang="en-US" sz="1200"/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18398937-81C0-82ED-B2B0-3B28A1D1B6B4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2207256" y="2791870"/>
            <a:ext cx="336262" cy="233024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04A644E3-A849-1405-57AF-3D5425520F04}"/>
              </a:ext>
            </a:extLst>
          </p:cNvPr>
          <p:cNvCxnSpPr>
            <a:stCxn id="6" idx="0"/>
            <a:endCxn id="4" idx="2"/>
          </p:cNvCxnSpPr>
          <p:nvPr/>
        </p:nvCxnSpPr>
        <p:spPr>
          <a:xfrm rot="5400000" flipH="1" flipV="1">
            <a:off x="3047913" y="3632528"/>
            <a:ext cx="336262" cy="648929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CFB96168-0F0B-1F91-4A1D-AFD336767185}"/>
              </a:ext>
            </a:extLst>
          </p:cNvPr>
          <p:cNvCxnSpPr>
            <a:cxnSpLocks/>
            <a:stCxn id="7" idx="0"/>
            <a:endCxn id="4" idx="2"/>
          </p:cNvCxnSpPr>
          <p:nvPr/>
        </p:nvCxnSpPr>
        <p:spPr>
          <a:xfrm rot="16200000" flipV="1">
            <a:off x="3867924" y="3461446"/>
            <a:ext cx="336262" cy="99109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91900231-77AB-0073-9FE2-84D873A592D1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4723329" y="2606040"/>
            <a:ext cx="336262" cy="270190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679B7A0D-2BA0-154F-70C1-F57EA59CE40A}"/>
              </a:ext>
            </a:extLst>
          </p:cNvPr>
          <p:cNvCxnSpPr>
            <a:stCxn id="9" idx="0"/>
            <a:endCxn id="4" idx="2"/>
          </p:cNvCxnSpPr>
          <p:nvPr/>
        </p:nvCxnSpPr>
        <p:spPr>
          <a:xfrm rot="16200000" flipV="1">
            <a:off x="5523906" y="1805464"/>
            <a:ext cx="336262" cy="430305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F62FFD6C-A203-4D96-B7BD-A7D42839E948}"/>
              </a:ext>
            </a:extLst>
          </p:cNvPr>
          <p:cNvCxnSpPr>
            <a:stCxn id="10" idx="0"/>
            <a:endCxn id="4" idx="2"/>
          </p:cNvCxnSpPr>
          <p:nvPr/>
        </p:nvCxnSpPr>
        <p:spPr>
          <a:xfrm rot="16200000" flipV="1">
            <a:off x="6317961" y="1011409"/>
            <a:ext cx="327026" cy="588193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818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A5DDDCB-8616-A2DB-34D3-7582C2D97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SCHEMA </a:t>
            </a:r>
            <a:r>
              <a:rPr lang="ko-KR" altLang="en-US"/>
              <a:t>조회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457200" lvl="1" indent="0">
              <a:buNone/>
            </a:pPr>
            <a:endParaRPr lang="ko-KR" altLang="en-US"/>
          </a:p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0EC3FD-BA26-274D-6E20-06CFC0673E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SCHEMA 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F6DC2D6-1791-76B2-90D1-76E30D35B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31" y="2000570"/>
            <a:ext cx="3057952" cy="68589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466063A-7FC0-F5F9-E9B1-4027CCA95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150" y="1876208"/>
            <a:ext cx="5010849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76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D0DE094-55CC-08E2-76E7-4E0FDC3EF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SCHEMA </a:t>
            </a:r>
            <a:r>
              <a:rPr lang="ko-KR" altLang="en-US" dirty="0"/>
              <a:t>생성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1. CREATE SCHEMA ‘</a:t>
            </a:r>
            <a:r>
              <a:rPr lang="en-US" altLang="ko-KR" sz="1200" b="0" i="0" dirty="0" err="1">
                <a:solidFill>
                  <a:srgbClr val="333333"/>
                </a:solidFill>
                <a:effectLst/>
                <a:latin typeface="+mn-ea"/>
              </a:rPr>
              <a:t>schemaname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’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을 입력하여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SCHEMA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를 생성합니다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.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이름을 입력하지 않을 경우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USER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의 이름이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SCHEMA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이름으로 사용됩니다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. (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단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Pg_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로 시작하는 이름은 스키마로 불가능 합니다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.)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2. AUTHORIZATION ‘username’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스키마를 소유한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USER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의 이름을 입력합니다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.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이를 생략할 경우 접속되어 있던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USER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가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default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값으로 저장되고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SUPERUSER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만이 다른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USER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가 소유한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SCHEMA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를 접근할 수 있습니다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.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3. </a:t>
            </a:r>
            <a:r>
              <a:rPr lang="en-US" altLang="ko-KR" sz="1200" b="0" i="0" dirty="0" err="1">
                <a:solidFill>
                  <a:srgbClr val="333333"/>
                </a:solidFill>
                <a:effectLst/>
                <a:latin typeface="+mn-ea"/>
              </a:rPr>
              <a:t>schema_element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 [...]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을 입력하여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SCHEMA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내에서 객체를 정의하는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SQL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문을 작성합니다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. CREATE TABLE, CREATE VIEW, CREATE INDEX, CREATE SEQUENCE, CREATE TRIGGER, GRANT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등이 포함될 수 있습니다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.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4. CREATE SCHEMA IF NOT EXISTS ‘</a:t>
            </a:r>
            <a:r>
              <a:rPr lang="en-US" altLang="ko-KR" sz="1200" b="0" i="0" dirty="0" err="1">
                <a:solidFill>
                  <a:srgbClr val="333333"/>
                </a:solidFill>
                <a:effectLst/>
                <a:latin typeface="+mn-ea"/>
              </a:rPr>
              <a:t>schema_name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’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을 입력하면 특정 이름이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SCHEMA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에 없을 경우 그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SCHEMA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를 생성합니다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.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5. CREATE SCHEMA IF NOT EXISTS AUTHORIZATION ‘</a:t>
            </a:r>
            <a:r>
              <a:rPr lang="en-US" altLang="ko-KR" sz="1200" b="0" i="0" dirty="0" err="1">
                <a:solidFill>
                  <a:srgbClr val="333333"/>
                </a:solidFill>
                <a:effectLst/>
                <a:latin typeface="+mn-ea"/>
              </a:rPr>
              <a:t>user_name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’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은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USER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가 소유한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SCHEMA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가 존재하지 않을 때 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SCHEMA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를 생성합니다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.</a:t>
            </a:r>
          </a:p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E9CDEE-ECAE-03C6-5501-36EADDC897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SCHEMA</a:t>
            </a:r>
            <a:endParaRPr lang="ko-KR" altLang="en-US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23CC85C5-8BFB-1F80-A2C3-0C2E5D668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511" y="1797088"/>
            <a:ext cx="549188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1.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CREATE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SCHEMA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schema_name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[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AUTHORIZATION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effectLst/>
                <a:latin typeface="+mn-ea"/>
              </a:rPr>
              <a:t>user_name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] [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effectLst/>
                <a:latin typeface="+mn-ea"/>
              </a:rPr>
              <a:t>schema_element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[ ... ] ]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 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2.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CREATE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SCHEMA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AUTHORIZATION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user_name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[3.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effectLst/>
                <a:latin typeface="+mn-ea"/>
              </a:rPr>
              <a:t>schema_element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[ ... ] ]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 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+mn-ea"/>
              </a:rPr>
              <a:t>4</a:t>
            </a:r>
            <a:r>
              <a:rPr kumimoji="0" lang="en-US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.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CREATE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SCHEMA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IF NOT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EXISTS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schema_name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[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AUTHORIZATION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effectLst/>
                <a:latin typeface="+mn-ea"/>
              </a:rPr>
              <a:t>user_name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]</a:t>
            </a:r>
            <a:endParaRPr kumimoji="0" lang="ko-KR" altLang="ko-KR" sz="600" b="0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000" b="1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latin typeface="+mn-ea"/>
              </a:rPr>
              <a:t>5</a:t>
            </a:r>
            <a:r>
              <a:rPr kumimoji="0" lang="en-US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.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CREATE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SCHEMA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IF NOT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EXISTS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AUTHORIZATION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user_name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4968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B9BD565-1BCC-EA19-916D-E0B8F2B36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SCHEMA </a:t>
            </a:r>
            <a:r>
              <a:rPr lang="ko-KR" altLang="en-US"/>
              <a:t>생성 예</a:t>
            </a:r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43070D-8A62-34C7-7CCF-6A979763A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SCHEMA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1FDBA-6EE5-4596-8E48-31491C1AE36A}"/>
              </a:ext>
            </a:extLst>
          </p:cNvPr>
          <p:cNvSpPr txBox="1"/>
          <p:nvPr/>
        </p:nvSpPr>
        <p:spPr>
          <a:xfrm>
            <a:off x="789040" y="1648113"/>
            <a:ext cx="6096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ko-KR" sz="1800" b="1" i="0" u="none" strike="noStrike" cap="none" normalizeH="0" baseline="0">
                <a:ln>
                  <a:noFill/>
                </a:ln>
                <a:effectLst/>
                <a:latin typeface="+mn-ea"/>
              </a:rPr>
              <a:t>CREATE</a:t>
            </a:r>
            <a:r>
              <a:rPr kumimoji="0" lang="ko-KR" altLang="ko-KR" sz="2400" b="0" i="0" u="none" strike="noStrike" cap="none" normalizeH="0" baseline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800" b="1" i="0" u="none" strike="noStrike" cap="none" normalizeH="0" baseline="0">
                <a:ln>
                  <a:noFill/>
                </a:ln>
                <a:effectLst/>
                <a:latin typeface="+mn-ea"/>
              </a:rPr>
              <a:t>SCHEMA</a:t>
            </a:r>
            <a:r>
              <a:rPr kumimoji="0" lang="en-US" altLang="ko-KR" sz="1800" b="1" i="0" u="none" strike="noStrike" cap="none" normalizeH="0" baseline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en-US" altLang="ko-KR" sz="1800" i="0" u="none" strike="noStrike" cap="none" normalizeH="0" baseline="0">
                <a:ln>
                  <a:noFill/>
                </a:ln>
                <a:effectLst/>
                <a:latin typeface="+mn-ea"/>
              </a:rPr>
              <a:t>test_s;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F2A57A-C09E-F406-28D8-8062145FA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5" y="4401435"/>
            <a:ext cx="3238952" cy="98121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5F6EA3B-D109-5A72-42DC-2A2DE35AC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5" y="2279941"/>
            <a:ext cx="6465804" cy="183318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586BE5-5B1C-CB63-842A-B566236FE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483" y="4271022"/>
            <a:ext cx="6420746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18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1DE38C-E36F-51D7-0B1C-51CE7F0F0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/>
              <a:t>USER </a:t>
            </a:r>
            <a:r>
              <a:rPr lang="ko-KR" altLang="en-US"/>
              <a:t>지정 </a:t>
            </a:r>
            <a:r>
              <a:rPr lang="en-US" altLang="ko-KR"/>
              <a:t>SCHEMA </a:t>
            </a:r>
            <a:r>
              <a:rPr lang="ko-KR" altLang="en-US"/>
              <a:t>생성 예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test2 user</a:t>
            </a:r>
            <a:r>
              <a:rPr lang="ko-KR" altLang="en-US"/>
              <a:t>로 </a:t>
            </a:r>
            <a:r>
              <a:rPr lang="en-US" altLang="ko-KR"/>
              <a:t>connection </a:t>
            </a:r>
            <a:r>
              <a:rPr lang="ko-KR" altLang="en-US"/>
              <a:t>연결시 </a:t>
            </a:r>
            <a:r>
              <a:rPr lang="en-US" altLang="ko-KR"/>
              <a:t>publi</a:t>
            </a:r>
            <a:r>
              <a:rPr lang="ko-KR" altLang="en-US"/>
              <a:t>과 </a:t>
            </a:r>
            <a:r>
              <a:rPr lang="en-US" altLang="ko-KR"/>
              <a:t>test_schema</a:t>
            </a:r>
            <a:r>
              <a:rPr lang="ko-KR" altLang="en-US"/>
              <a:t>에 대한 접근은 제한됨</a:t>
            </a:r>
            <a:r>
              <a:rPr lang="en-US" altLang="ko-KR"/>
              <a:t>. </a:t>
            </a:r>
          </a:p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F1BA09-F272-B0F4-BEA8-4A4102C09E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SCHEMA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04AB3-9143-CE50-554A-C00F55D64D0A}"/>
              </a:ext>
            </a:extLst>
          </p:cNvPr>
          <p:cNvSpPr txBox="1"/>
          <p:nvPr/>
        </p:nvSpPr>
        <p:spPr>
          <a:xfrm>
            <a:off x="706447" y="1782768"/>
            <a:ext cx="69273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CREATE SCHEMA </a:t>
            </a:r>
            <a:r>
              <a:rPr lang="en-US" altLang="ko-KR">
                <a:solidFill>
                  <a:srgbClr val="FF0000"/>
                </a:solidFill>
              </a:rPr>
              <a:t>test_schema_2</a:t>
            </a:r>
            <a:r>
              <a:rPr lang="ko-KR" altLang="en-US">
                <a:solidFill>
                  <a:srgbClr val="FF0000"/>
                </a:solidFill>
              </a:rPr>
              <a:t> </a:t>
            </a:r>
            <a:r>
              <a:rPr lang="ko-KR" altLang="en-US" b="1"/>
              <a:t>AUTHORIZATION</a:t>
            </a:r>
            <a:r>
              <a:rPr lang="ko-KR" altLang="en-US"/>
              <a:t> </a:t>
            </a:r>
            <a:r>
              <a:rPr lang="en-US" altLang="ko-KR">
                <a:solidFill>
                  <a:srgbClr val="FF0000"/>
                </a:solidFill>
              </a:rPr>
              <a:t>test2</a:t>
            </a:r>
            <a:r>
              <a:rPr lang="ko-KR" altLang="en-US"/>
              <a:t>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0C43CA-1CE9-CB9A-C5B8-3FE5AB8D0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47" y="2301999"/>
            <a:ext cx="7602011" cy="8859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D3B9997-6B23-D06C-6E4C-BE251E20B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02" y="3288069"/>
            <a:ext cx="8031495" cy="19719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2E34BFB-7384-E150-9D41-FBB935803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701" y="3192806"/>
            <a:ext cx="6009818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956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9BDBC17-231D-210A-A062-247C436DC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본인 </a:t>
            </a:r>
            <a:r>
              <a:rPr lang="en-US" altLang="ko-KR" dirty="0" err="1"/>
              <a:t>postgresql</a:t>
            </a:r>
            <a:r>
              <a:rPr lang="en-US" altLang="ko-KR" dirty="0"/>
              <a:t> </a:t>
            </a:r>
            <a:r>
              <a:rPr lang="ko-KR" altLang="en-US" dirty="0"/>
              <a:t>환경에서 </a:t>
            </a:r>
            <a:r>
              <a:rPr lang="en-US" altLang="ko-KR" dirty="0" err="1"/>
              <a:t>postgres</a:t>
            </a:r>
            <a:r>
              <a:rPr lang="en-US" altLang="ko-KR" dirty="0"/>
              <a:t> user</a:t>
            </a:r>
            <a:r>
              <a:rPr lang="ko-KR" altLang="en-US" dirty="0"/>
              <a:t>로 </a:t>
            </a:r>
            <a:r>
              <a:rPr lang="en-US" altLang="ko-KR" dirty="0"/>
              <a:t>login</a:t>
            </a:r>
            <a:r>
              <a:rPr lang="ko-KR" altLang="en-US"/>
              <a:t>하여 다음과 같은</a:t>
            </a:r>
            <a:r>
              <a:rPr lang="en-US" altLang="ko-KR"/>
              <a:t>USER </a:t>
            </a:r>
            <a:r>
              <a:rPr lang="ko-KR" altLang="en-US" dirty="0"/>
              <a:t>계정 </a:t>
            </a:r>
            <a:r>
              <a:rPr lang="en-US" altLang="ko-KR" dirty="0"/>
              <a:t>2</a:t>
            </a:r>
            <a:r>
              <a:rPr lang="ko-KR" altLang="en-US" dirty="0"/>
              <a:t>개를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제약사항</a:t>
            </a:r>
            <a:endParaRPr lang="en-US" altLang="ko-KR" dirty="0"/>
          </a:p>
          <a:p>
            <a:pPr lvl="2"/>
            <a:r>
              <a:rPr lang="en-US" altLang="ko-KR" dirty="0"/>
              <a:t>USER</a:t>
            </a:r>
            <a:r>
              <a:rPr lang="ko-KR" altLang="en-US" dirty="0"/>
              <a:t>중 하나에 </a:t>
            </a:r>
            <a:r>
              <a:rPr lang="en-US" altLang="ko-KR" dirty="0"/>
              <a:t>DB</a:t>
            </a:r>
            <a:r>
              <a:rPr lang="ko-KR" altLang="en-US" dirty="0"/>
              <a:t>생성 권한을 </a:t>
            </a:r>
            <a:r>
              <a:rPr lang="ko-KR" altLang="en-US" dirty="0" err="1"/>
              <a:t>줄것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37F6FB-F1FD-22AB-F2C1-6694B4F591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실습 과제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4C053-527D-920C-5753-1069EA0D289C}"/>
              </a:ext>
            </a:extLst>
          </p:cNvPr>
          <p:cNvSpPr txBox="1"/>
          <p:nvPr/>
        </p:nvSpPr>
        <p:spPr>
          <a:xfrm>
            <a:off x="5638800" y="297397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92DEF-114F-58FF-211A-EAEBF44AE48A}"/>
              </a:ext>
            </a:extLst>
          </p:cNvPr>
          <p:cNvSpPr txBox="1"/>
          <p:nvPr/>
        </p:nvSpPr>
        <p:spPr>
          <a:xfrm>
            <a:off x="2458656" y="6386346"/>
            <a:ext cx="6909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예</a:t>
            </a:r>
            <a:r>
              <a:rPr lang="en-US" altLang="ko-KR" dirty="0"/>
              <a:t>) CREATE USER </a:t>
            </a:r>
            <a:r>
              <a:rPr lang="en-US" altLang="ko-KR" dirty="0">
                <a:solidFill>
                  <a:srgbClr val="FF0000"/>
                </a:solidFill>
              </a:rPr>
              <a:t>‘yours’ </a:t>
            </a:r>
            <a:r>
              <a:rPr lang="en-US" altLang="ko-KR" dirty="0"/>
              <a:t>CREATEDB PASSWORD </a:t>
            </a:r>
            <a:r>
              <a:rPr lang="en-US" altLang="ko-KR" dirty="0">
                <a:solidFill>
                  <a:srgbClr val="FF0000"/>
                </a:solidFill>
              </a:rPr>
              <a:t>‘</a:t>
            </a:r>
            <a:r>
              <a:rPr lang="en-US" altLang="ko-KR" dirty="0" err="1">
                <a:solidFill>
                  <a:srgbClr val="FF0000"/>
                </a:solidFill>
              </a:rPr>
              <a:t>yourpassword</a:t>
            </a:r>
            <a:r>
              <a:rPr lang="en-US" altLang="ko-KR" dirty="0">
                <a:solidFill>
                  <a:srgbClr val="FF0000"/>
                </a:solidFill>
              </a:rPr>
              <a:t>’</a:t>
            </a:r>
            <a:r>
              <a:rPr lang="en-US" altLang="ko-KR" dirty="0"/>
              <a:t>;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A4124A0-F683-9A26-051E-8EA5525DC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450" y="4227977"/>
            <a:ext cx="7705063" cy="222916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3091832-3C53-EF01-FA0E-851B37C9D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450" y="2716287"/>
            <a:ext cx="7083726" cy="163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9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895B3D9-CFAE-68DE-0B13-25694FA37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834" y="1379101"/>
            <a:ext cx="8152353" cy="5024438"/>
          </a:xfr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05BE74-1828-DDB3-8094-4D6511B2E8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실습과제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4C5AA7-E44F-DCE1-F707-82AC6446A49A}"/>
              </a:ext>
            </a:extLst>
          </p:cNvPr>
          <p:cNvSpPr txBox="1"/>
          <p:nvPr/>
        </p:nvSpPr>
        <p:spPr>
          <a:xfrm>
            <a:off x="415783" y="1042500"/>
            <a:ext cx="70307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이전 </a:t>
            </a:r>
            <a:r>
              <a:rPr lang="ko-KR" altLang="en-US" dirty="0"/>
              <a:t>페이지에서 </a:t>
            </a:r>
            <a:r>
              <a:rPr lang="ko-KR" altLang="en-US"/>
              <a:t>생성한 </a:t>
            </a:r>
            <a:r>
              <a:rPr lang="en-US" altLang="ko-KR">
                <a:solidFill>
                  <a:srgbClr val="FF0000"/>
                </a:solidFill>
              </a:rPr>
              <a:t>test3</a:t>
            </a:r>
            <a:r>
              <a:rPr lang="ko-KR" altLang="en-US"/>
              <a:t>가 </a:t>
            </a:r>
            <a:r>
              <a:rPr lang="en-US" altLang="ko-KR" dirty="0"/>
              <a:t>owner</a:t>
            </a:r>
            <a:r>
              <a:rPr lang="ko-KR" altLang="en-US" dirty="0"/>
              <a:t>인 </a:t>
            </a:r>
            <a:r>
              <a:rPr lang="en-US" altLang="ko-KR" dirty="0"/>
              <a:t>database</a:t>
            </a:r>
            <a:r>
              <a:rPr lang="ko-KR" altLang="en-US" dirty="0"/>
              <a:t>를 </a:t>
            </a:r>
            <a:r>
              <a:rPr lang="ko-KR" altLang="en-US" dirty="0" err="1"/>
              <a:t>생성할것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CFD9003-D723-D152-36D0-839788659D00}"/>
              </a:ext>
            </a:extLst>
          </p:cNvPr>
          <p:cNvSpPr/>
          <p:nvPr/>
        </p:nvSpPr>
        <p:spPr>
          <a:xfrm>
            <a:off x="7545295" y="1284086"/>
            <a:ext cx="299948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1600" dirty="0"/>
              <a:t>예</a:t>
            </a:r>
            <a:r>
              <a:rPr lang="en-US" altLang="ko-KR" sz="1600" dirty="0"/>
              <a:t>) CREATE DATABASE </a:t>
            </a:r>
            <a:r>
              <a:rPr lang="en-US" altLang="ko-KR" sz="1600" dirty="0" err="1"/>
              <a:t>testdb</a:t>
            </a:r>
            <a:r>
              <a:rPr lang="en-US" altLang="ko-KR" sz="1600" dirty="0"/>
              <a:t> OWNER </a:t>
            </a:r>
            <a:r>
              <a:rPr lang="en-US" altLang="ko-KR" sz="1600" dirty="0">
                <a:solidFill>
                  <a:srgbClr val="FF0000"/>
                </a:solidFill>
              </a:rPr>
              <a:t>‘</a:t>
            </a:r>
            <a:r>
              <a:rPr lang="en-US" altLang="ko-KR" sz="1600" dirty="0" err="1">
                <a:solidFill>
                  <a:srgbClr val="FF0000"/>
                </a:solidFill>
              </a:rPr>
              <a:t>definedUser</a:t>
            </a:r>
            <a:r>
              <a:rPr lang="en-US" altLang="ko-KR" sz="1600" dirty="0">
                <a:solidFill>
                  <a:srgbClr val="FF0000"/>
                </a:solidFill>
              </a:rPr>
              <a:t>’</a:t>
            </a:r>
            <a:r>
              <a:rPr lang="en-US" altLang="ko-KR" sz="1600" dirty="0"/>
              <a:t>;</a:t>
            </a:r>
            <a:endParaRPr lang="ko-KR" altLang="en-US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760037-4BCA-A237-3791-214A22076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124" y="1918620"/>
            <a:ext cx="6232942" cy="221757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9A8837D-7353-6E4D-E45D-03A5785A87BD}"/>
              </a:ext>
            </a:extLst>
          </p:cNvPr>
          <p:cNvSpPr/>
          <p:nvPr/>
        </p:nvSpPr>
        <p:spPr>
          <a:xfrm>
            <a:off x="5863959" y="3639902"/>
            <a:ext cx="442451" cy="2418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706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B6FD7A7-D215-3D1E-E3D7-34985621C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testdbDatabase</a:t>
            </a:r>
            <a:r>
              <a:rPr lang="ko-KR" altLang="en-US" dirty="0"/>
              <a:t>에 </a:t>
            </a:r>
            <a:r>
              <a:rPr lang="en-US" altLang="ko-KR" dirty="0"/>
              <a:t>test2 user</a:t>
            </a:r>
            <a:r>
              <a:rPr lang="ko-KR" altLang="en-US" dirty="0"/>
              <a:t>를 위한 </a:t>
            </a:r>
            <a:r>
              <a:rPr lang="en-US" altLang="ko-KR" dirty="0"/>
              <a:t>schema </a:t>
            </a:r>
            <a:r>
              <a:rPr lang="en-US" altLang="ko-KR" dirty="0" err="1"/>
              <a:t>testschema</a:t>
            </a:r>
            <a:r>
              <a:rPr lang="ko-KR" altLang="en-US" dirty="0"/>
              <a:t>를 </a:t>
            </a:r>
            <a:r>
              <a:rPr lang="ko-KR" altLang="en-US" dirty="0" err="1"/>
              <a:t>생성할것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아래의 테이블을 각기 다른 </a:t>
            </a:r>
            <a:r>
              <a:rPr lang="en-US" altLang="ko-KR" dirty="0"/>
              <a:t>user</a:t>
            </a:r>
            <a:r>
              <a:rPr lang="ko-KR" altLang="en-US" dirty="0"/>
              <a:t>로 로그인하여 생성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postgres</a:t>
            </a:r>
            <a:r>
              <a:rPr lang="en-US" altLang="ko-KR" dirty="0"/>
              <a:t> </a:t>
            </a:r>
            <a:r>
              <a:rPr lang="en-US" altLang="ko-KR" dirty="0" err="1"/>
              <a:t>postgresdb</a:t>
            </a:r>
            <a:r>
              <a:rPr lang="ko-KR" altLang="en-US" dirty="0"/>
              <a:t>에 </a:t>
            </a:r>
            <a:r>
              <a:rPr lang="en-US" altLang="ko-KR" dirty="0" err="1"/>
              <a:t>public.test</a:t>
            </a:r>
            <a:r>
              <a:rPr lang="en-US" altLang="ko-KR" dirty="0"/>
              <a:t> </a:t>
            </a:r>
            <a:r>
              <a:rPr lang="ko-KR" altLang="en-US" dirty="0"/>
              <a:t>테이블생성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test3 </a:t>
            </a:r>
            <a:r>
              <a:rPr lang="en-US" altLang="ko-KR" dirty="0" err="1"/>
              <a:t>testdb</a:t>
            </a:r>
            <a:r>
              <a:rPr lang="ko-KR" altLang="en-US" dirty="0"/>
              <a:t>에 </a:t>
            </a:r>
            <a:r>
              <a:rPr lang="en-US" altLang="ko-KR" dirty="0" err="1"/>
              <a:t>public.test</a:t>
            </a:r>
            <a:r>
              <a:rPr lang="en-US" altLang="ko-KR" dirty="0"/>
              <a:t> </a:t>
            </a:r>
            <a:r>
              <a:rPr lang="ko-KR" altLang="en-US" dirty="0"/>
              <a:t>테이블 생성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test2 </a:t>
            </a:r>
            <a:r>
              <a:rPr lang="en-US" altLang="ko-KR" dirty="0" err="1"/>
              <a:t>testdb</a:t>
            </a:r>
            <a:r>
              <a:rPr lang="ko-KR" altLang="en-US" dirty="0"/>
              <a:t>에 </a:t>
            </a:r>
            <a:r>
              <a:rPr lang="en-US" altLang="ko-KR" dirty="0" err="1"/>
              <a:t>testschema.test</a:t>
            </a:r>
            <a:r>
              <a:rPr lang="en-US" altLang="ko-KR" dirty="0"/>
              <a:t> </a:t>
            </a:r>
            <a:r>
              <a:rPr lang="ko-KR" altLang="en-US" dirty="0"/>
              <a:t>테이블 생성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테이블의 </a:t>
            </a:r>
            <a:r>
              <a:rPr lang="en-US" altLang="ko-KR" dirty="0">
                <a:solidFill>
                  <a:srgbClr val="FF0000"/>
                </a:solidFill>
              </a:rPr>
              <a:t>description</a:t>
            </a:r>
            <a:r>
              <a:rPr lang="ko-KR" altLang="en-US" dirty="0">
                <a:solidFill>
                  <a:srgbClr val="FF0000"/>
                </a:solidFill>
              </a:rPr>
              <a:t> 데이터는 </a:t>
            </a:r>
            <a:r>
              <a:rPr lang="en-US" altLang="ko-KR" dirty="0">
                <a:solidFill>
                  <a:srgbClr val="FF0000"/>
                </a:solidFill>
              </a:rPr>
              <a:t>schema</a:t>
            </a:r>
            <a:r>
              <a:rPr lang="ko-KR" altLang="en-US" dirty="0">
                <a:solidFill>
                  <a:srgbClr val="FF0000"/>
                </a:solidFill>
              </a:rPr>
              <a:t>의 </a:t>
            </a:r>
            <a:r>
              <a:rPr lang="en-US" altLang="ko-KR" dirty="0">
                <a:solidFill>
                  <a:srgbClr val="FF0000"/>
                </a:solidFill>
              </a:rPr>
              <a:t>owner</a:t>
            </a:r>
            <a:r>
              <a:rPr lang="ko-KR" altLang="en-US" dirty="0">
                <a:solidFill>
                  <a:srgbClr val="FF0000"/>
                </a:solidFill>
              </a:rPr>
              <a:t>값을 </a:t>
            </a:r>
            <a:r>
              <a:rPr lang="ko-KR" altLang="en-US" dirty="0" err="1">
                <a:solidFill>
                  <a:srgbClr val="FF0000"/>
                </a:solidFill>
              </a:rPr>
              <a:t>넣을것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D232C7-F08D-C148-8341-C77C39BC70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실습과제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B403C4-413A-012A-D90C-3A4F48E22ECD}"/>
              </a:ext>
            </a:extLst>
          </p:cNvPr>
          <p:cNvSpPr/>
          <p:nvPr/>
        </p:nvSpPr>
        <p:spPr>
          <a:xfrm>
            <a:off x="493485" y="4512715"/>
            <a:ext cx="5669137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600" dirty="0"/>
              <a:t>CREATE TABLE </a:t>
            </a:r>
            <a:r>
              <a:rPr lang="en-US" altLang="ko-KR" sz="1600" dirty="0" err="1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schema</a:t>
            </a:r>
            <a:r>
              <a:rPr lang="en-US" altLang="ko-KR" sz="1600" dirty="0" err="1">
                <a:latin typeface="나눔고딕" pitchFamily="2" charset="-127"/>
                <a:ea typeface="나눔고딕" pitchFamily="2" charset="-127"/>
              </a:rPr>
              <a:t>.</a:t>
            </a:r>
            <a:r>
              <a:rPr lang="en-US" altLang="ko-KR" sz="1600" dirty="0" err="1"/>
              <a:t>test</a:t>
            </a:r>
            <a:r>
              <a:rPr lang="en-US" altLang="ko-KR" sz="1600" dirty="0"/>
              <a:t> (</a:t>
            </a:r>
          </a:p>
          <a:p>
            <a:r>
              <a:rPr lang="en-US" altLang="ko-KR" sz="1600" dirty="0"/>
              <a:t>    id </a:t>
            </a:r>
            <a:r>
              <a:rPr lang="en-US" altLang="ko-KR" sz="1600" dirty="0" err="1"/>
              <a:t>bigint</a:t>
            </a:r>
            <a:r>
              <a:rPr lang="en-US" altLang="ko-KR" sz="1600" dirty="0"/>
              <a:t> NOT NULL,</a:t>
            </a:r>
          </a:p>
          <a:p>
            <a:r>
              <a:rPr lang="en-US" altLang="ko-KR" sz="1600" dirty="0"/>
              <a:t>    description text NOT NULL</a:t>
            </a:r>
          </a:p>
          <a:p>
            <a:r>
              <a:rPr lang="en-US" altLang="ko-KR" sz="1600" dirty="0"/>
              <a:t>);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61BCCE-E780-819E-4FCD-8D6DEA76021E}"/>
              </a:ext>
            </a:extLst>
          </p:cNvPr>
          <p:cNvSpPr/>
          <p:nvPr/>
        </p:nvSpPr>
        <p:spPr>
          <a:xfrm>
            <a:off x="6326652" y="4500468"/>
            <a:ext cx="5287770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INSERT INTO </a:t>
            </a:r>
            <a:r>
              <a:rPr lang="en-US" altLang="ko-KR" sz="1600" dirty="0" err="1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schema</a:t>
            </a:r>
            <a:r>
              <a:rPr lang="en-US" altLang="ko-KR" sz="1600" dirty="0" err="1">
                <a:latin typeface="나눔고딕" pitchFamily="2" charset="-127"/>
                <a:ea typeface="나눔고딕" pitchFamily="2" charset="-127"/>
              </a:rPr>
              <a:t>.test</a:t>
            </a:r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(id, description)</a:t>
            </a:r>
          </a:p>
          <a:p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	VALUES (</a:t>
            </a:r>
            <a:r>
              <a:rPr lang="ko-KR" altLang="en-US" sz="1600" dirty="0" err="1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본인학번</a:t>
            </a:r>
            <a:r>
              <a:rPr lang="en-US" altLang="ko-KR" sz="16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, ‘</a:t>
            </a:r>
            <a:r>
              <a:rPr lang="en-US" altLang="ko-KR" sz="1600" dirty="0" err="1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schema_owner</a:t>
            </a:r>
            <a:r>
              <a:rPr lang="en-US" altLang="ko-KR" sz="16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’</a:t>
            </a:r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);</a:t>
            </a:r>
          </a:p>
          <a:p>
            <a:endParaRPr lang="en-US" altLang="ko-KR" sz="1600" dirty="0"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600" dirty="0">
                <a:latin typeface="나눔고딕" pitchFamily="2" charset="-127"/>
                <a:ea typeface="나눔고딕" pitchFamily="2" charset="-127"/>
              </a:rPr>
              <a:t>	 	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361230-8C26-34C7-2DF7-DC21B7519038}"/>
              </a:ext>
            </a:extLst>
          </p:cNvPr>
          <p:cNvSpPr/>
          <p:nvPr/>
        </p:nvSpPr>
        <p:spPr>
          <a:xfrm>
            <a:off x="493484" y="6071612"/>
            <a:ext cx="5669137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600" dirty="0"/>
              <a:t>SELECT</a:t>
            </a:r>
            <a:r>
              <a:rPr lang="ko-KR" altLang="en-US" sz="1600" dirty="0"/>
              <a:t> </a:t>
            </a:r>
            <a:r>
              <a:rPr lang="en-US" altLang="ko-KR" sz="1600" dirty="0"/>
              <a:t>*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FROM test;</a:t>
            </a:r>
          </a:p>
        </p:txBody>
      </p:sp>
    </p:spTree>
    <p:extLst>
      <p:ext uri="{BB962C8B-B14F-4D97-AF65-F5344CB8AC3E}">
        <p14:creationId xmlns:p14="http://schemas.microsoft.com/office/powerpoint/2010/main" val="2548291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B5E3BDB-E53E-57AC-D4F8-DC1E4FB01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postgres</a:t>
            </a:r>
            <a:r>
              <a:rPr lang="en-US" altLang="ko-KR" dirty="0"/>
              <a:t> </a:t>
            </a:r>
            <a:r>
              <a:rPr lang="ko-KR" altLang="en-US" dirty="0"/>
              <a:t>계정으로 </a:t>
            </a:r>
            <a:r>
              <a:rPr lang="en-US" altLang="ko-KR" dirty="0" err="1"/>
              <a:t>testdb</a:t>
            </a:r>
            <a:r>
              <a:rPr lang="ko-KR" altLang="en-US" dirty="0"/>
              <a:t>의 </a:t>
            </a:r>
            <a:r>
              <a:rPr lang="en-US" altLang="ko-KR" dirty="0" err="1"/>
              <a:t>testschema.test</a:t>
            </a:r>
            <a:r>
              <a:rPr lang="ko-KR" altLang="en-US" dirty="0"/>
              <a:t>와 </a:t>
            </a:r>
            <a:r>
              <a:rPr lang="en-US" altLang="ko-KR" dirty="0" err="1"/>
              <a:t>public.test</a:t>
            </a:r>
            <a:r>
              <a:rPr lang="ko-KR" altLang="en-US" dirty="0"/>
              <a:t>에 접근해보고 다음과 같이 두개의 </a:t>
            </a:r>
            <a:r>
              <a:rPr lang="en-US" altLang="ko-KR" dirty="0"/>
              <a:t>output</a:t>
            </a:r>
            <a:r>
              <a:rPr lang="ko-KR" altLang="en-US" dirty="0"/>
              <a:t> 출력 및 캡처 </a:t>
            </a:r>
            <a:r>
              <a:rPr lang="en-US" altLang="ko-KR" dirty="0"/>
              <a:t>(</a:t>
            </a:r>
            <a:r>
              <a:rPr lang="ko-KR" altLang="en-US" dirty="0"/>
              <a:t>파일</a:t>
            </a:r>
            <a:r>
              <a:rPr lang="en-US" altLang="ko-KR" dirty="0"/>
              <a:t>1)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727D9E-0A78-17EA-6D48-7DA7E05BFD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실습과제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8E44C8-11DD-2295-E833-2FD49F508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38" y="2482705"/>
            <a:ext cx="6068272" cy="30960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ECE988A-9686-6D57-D47A-B9D270632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664" y="2407540"/>
            <a:ext cx="6458851" cy="14765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06C8897-C86E-FBEB-61E4-F6B79BD90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754" y="3706537"/>
            <a:ext cx="5382376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39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A6203F4-C78E-7D13-EEAE-2197B09E3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test3 </a:t>
            </a:r>
            <a:r>
              <a:rPr lang="ko-KR" altLang="en-US"/>
              <a:t>계정으로 </a:t>
            </a:r>
            <a:r>
              <a:rPr lang="en-US" altLang="ko-KR"/>
              <a:t>postgresdb</a:t>
            </a:r>
            <a:r>
              <a:rPr lang="ko-KR" altLang="en-US"/>
              <a:t>의 </a:t>
            </a:r>
            <a:r>
              <a:rPr lang="en-US" altLang="ko-KR"/>
              <a:t>public.test </a:t>
            </a:r>
            <a:r>
              <a:rPr lang="ko-KR" altLang="en-US"/>
              <a:t>테이블에 접근해보고 출력된 메시지를 캡처 </a:t>
            </a:r>
            <a:r>
              <a:rPr lang="en-US" altLang="ko-KR"/>
              <a:t>(</a:t>
            </a:r>
            <a:r>
              <a:rPr lang="ko-KR" altLang="en-US"/>
              <a:t>파일</a:t>
            </a:r>
            <a:r>
              <a:rPr lang="en-US" altLang="ko-KR"/>
              <a:t>2)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DB0040-700D-130B-6FC5-8E908E27D8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실습과제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6D80959-18A5-5078-C80A-16FC570E8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570" y="2117868"/>
            <a:ext cx="5098078" cy="387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322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98EB3DD-D283-FF03-6C2B-F71852E56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278" y="1105117"/>
            <a:ext cx="11339444" cy="5023539"/>
          </a:xfrm>
        </p:spPr>
        <p:txBody>
          <a:bodyPr/>
          <a:lstStyle/>
          <a:p>
            <a:r>
              <a:rPr lang="en-US" altLang="ko-KR"/>
              <a:t>test3 </a:t>
            </a:r>
            <a:r>
              <a:rPr lang="ko-KR" altLang="en-US"/>
              <a:t>계정에서 </a:t>
            </a:r>
            <a:r>
              <a:rPr lang="en-US" altLang="ko-KR"/>
              <a:t>testschema</a:t>
            </a:r>
            <a:r>
              <a:rPr lang="ko-KR" altLang="en-US"/>
              <a:t>의 </a:t>
            </a:r>
            <a:r>
              <a:rPr lang="en-US" altLang="ko-KR"/>
              <a:t>test</a:t>
            </a:r>
            <a:r>
              <a:rPr lang="ko-KR" altLang="en-US"/>
              <a:t>에 접근해보고 메시지 캡처 </a:t>
            </a:r>
            <a:r>
              <a:rPr lang="en-US" altLang="ko-KR"/>
              <a:t>(</a:t>
            </a:r>
            <a:r>
              <a:rPr lang="ko-KR" altLang="en-US"/>
              <a:t>파일</a:t>
            </a:r>
            <a:r>
              <a:rPr lang="en-US" altLang="ko-KR"/>
              <a:t>2</a:t>
            </a:r>
            <a:r>
              <a:rPr lang="ko-KR" altLang="en-US"/>
              <a:t>랑 같이 캡처</a:t>
            </a:r>
            <a:r>
              <a:rPr lang="en-US" altLang="ko-KR"/>
              <a:t>)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A44310-73F7-4BD4-738D-1B83B739DE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실습과제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D5E040-2E13-636C-636D-E51F10216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99" y="2080190"/>
            <a:ext cx="5144218" cy="437292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8560CA3-43EE-A7A9-FB46-246995F48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619" y="2321204"/>
            <a:ext cx="4899391" cy="381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630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5CB27E6-474A-F42E-95C1-068819DC3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test2 </a:t>
            </a:r>
            <a:r>
              <a:rPr lang="ko-KR" altLang="en-US"/>
              <a:t>계정에서 </a:t>
            </a:r>
            <a:r>
              <a:rPr lang="en-US" altLang="ko-KR"/>
              <a:t>test2 user</a:t>
            </a:r>
            <a:r>
              <a:rPr lang="ko-KR" altLang="en-US"/>
              <a:t>가 </a:t>
            </a:r>
            <a:r>
              <a:rPr lang="en-US" altLang="ko-KR"/>
              <a:t>owner</a:t>
            </a:r>
            <a:r>
              <a:rPr lang="ko-KR" altLang="en-US"/>
              <a:t>인 </a:t>
            </a:r>
            <a:r>
              <a:rPr lang="en-US" altLang="ko-KR"/>
              <a:t>test</a:t>
            </a:r>
            <a:r>
              <a:rPr lang="ko-KR" altLang="en-US"/>
              <a:t>테이블을 다음과 같이 편집하여 저장하고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test3 </a:t>
            </a:r>
            <a:r>
              <a:rPr lang="ko-KR" altLang="en-US"/>
              <a:t>계정으로 </a:t>
            </a:r>
            <a:r>
              <a:rPr lang="en-US" altLang="ko-KR"/>
              <a:t>login </a:t>
            </a:r>
            <a:r>
              <a:rPr lang="ko-KR" altLang="en-US"/>
              <a:t>하여 </a:t>
            </a:r>
            <a:r>
              <a:rPr lang="en-US" altLang="ko-KR"/>
              <a:t>testschema.test table</a:t>
            </a:r>
            <a:r>
              <a:rPr lang="ko-KR" altLang="en-US"/>
              <a:t>에 접근하였을때 나오는 메시지 캡처 해서 저장</a:t>
            </a:r>
            <a:r>
              <a:rPr lang="en-US" altLang="ko-KR"/>
              <a:t>. (</a:t>
            </a:r>
            <a:r>
              <a:rPr lang="ko-KR" altLang="en-US"/>
              <a:t>파일</a:t>
            </a:r>
            <a:r>
              <a:rPr lang="en-US" altLang="ko-KR"/>
              <a:t>3)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5BAABD-1936-F5E0-6600-9939A76DFA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실습과제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86BEBC-3DF1-9B70-86A1-1827DE424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196" y="2601457"/>
            <a:ext cx="3851328" cy="24440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F3D7734-648A-4E7A-B4FB-5B9154A1D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41" y="2579184"/>
            <a:ext cx="3202417" cy="24886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E0A3413-9157-437E-8A36-4BEBC976C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619" y="2579184"/>
            <a:ext cx="3936991" cy="305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30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C2300B0-6954-4D3E-787F-E89F46F33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최종적으로 다음의 캡처파일</a:t>
            </a:r>
            <a:r>
              <a:rPr lang="en-US" altLang="ko-KR"/>
              <a:t>(1,2,3)</a:t>
            </a:r>
            <a:r>
              <a:rPr lang="ko-KR" altLang="en-US"/>
              <a:t>의 결과를 업로드할것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8F5B0F-727D-A37F-C574-3430D9DE26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실습과제</a:t>
            </a:r>
          </a:p>
        </p:txBody>
      </p:sp>
    </p:spTree>
    <p:extLst>
      <p:ext uri="{BB962C8B-B14F-4D97-AF65-F5344CB8AC3E}">
        <p14:creationId xmlns:p14="http://schemas.microsoft.com/office/powerpoint/2010/main" val="1518546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956</TotalTime>
  <Words>1304</Words>
  <Application>Microsoft Office PowerPoint</Application>
  <PresentationFormat>와이드스크린</PresentationFormat>
  <Paragraphs>247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나눔고딕</vt:lpstr>
      <vt:lpstr>맑은 고딕</vt:lpstr>
      <vt:lpstr>Arial</vt:lpstr>
      <vt:lpstr>Consolas</vt:lpstr>
      <vt:lpstr>Segoe UI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Dongjune Ryu</dc:creator>
  <cp:lastModifiedBy>CIE2_King</cp:lastModifiedBy>
  <cp:revision>199</cp:revision>
  <dcterms:created xsi:type="dcterms:W3CDTF">2024-03-13T04:22:55Z</dcterms:created>
  <dcterms:modified xsi:type="dcterms:W3CDTF">2024-03-28T03:29:02Z</dcterms:modified>
</cp:coreProperties>
</file>