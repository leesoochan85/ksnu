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210 디딤고딕 Bold" charset="1" panose="02020503020101020101"/>
      <p:regular r:id="rId16"/>
    </p:embeddedFont>
    <p:embeddedFont>
      <p:font typeface="Gotham Bold" charset="1" panose="00000000000000000000"/>
      <p:regular r:id="rId17"/>
    </p:embeddedFont>
    <p:embeddedFont>
      <p:font typeface="210 디딤고딕" charset="1" panose="02020503020101020101"/>
      <p:regular r:id="rId18"/>
    </p:embeddedFont>
    <p:embeddedFont>
      <p:font typeface="Noto Kufi Arabic" charset="1" panose="020B0506030804020204"/>
      <p:regular r:id="rId19"/>
    </p:embeddedFont>
    <p:embeddedFont>
      <p:font typeface="Arial" charset="1" panose="020B0502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63454" y="4392794"/>
            <a:ext cx="7779152" cy="4865506"/>
          </a:xfrm>
          <a:custGeom>
            <a:avLst/>
            <a:gdLst/>
            <a:ahLst/>
            <a:cxnLst/>
            <a:rect r="r" b="b" t="t" l="l"/>
            <a:pathLst>
              <a:path h="4865506" w="7779152">
                <a:moveTo>
                  <a:pt x="0" y="0"/>
                </a:moveTo>
                <a:lnTo>
                  <a:pt x="7779152" y="0"/>
                </a:lnTo>
                <a:lnTo>
                  <a:pt x="7779152" y="4865506"/>
                </a:lnTo>
                <a:lnTo>
                  <a:pt x="0" y="48655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315679"/>
            <a:ext cx="4477336" cy="724044"/>
            <a:chOff x="0" y="0"/>
            <a:chExt cx="1179216" cy="1906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9216" cy="190695"/>
            </a:xfrm>
            <a:custGeom>
              <a:avLst/>
              <a:gdLst/>
              <a:ahLst/>
              <a:cxnLst/>
              <a:rect r="r" b="b" t="t" l="l"/>
              <a:pathLst>
                <a:path h="190695" w="1179216">
                  <a:moveTo>
                    <a:pt x="0" y="0"/>
                  </a:moveTo>
                  <a:lnTo>
                    <a:pt x="1179216" y="0"/>
                  </a:lnTo>
                  <a:lnTo>
                    <a:pt x="1179216" y="190695"/>
                  </a:lnTo>
                  <a:lnTo>
                    <a:pt x="0" y="190695"/>
                  </a:lnTo>
                  <a:close/>
                </a:path>
              </a:pathLst>
            </a:custGeom>
            <a:solidFill>
              <a:srgbClr val="101C5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179216" cy="247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FFFFFF"/>
                  </a:solidFill>
                  <a:latin typeface="210 디딤고딕 Bold"/>
                  <a:ea typeface="210 디딤고딕 Bold"/>
                  <a:cs typeface="210 디딤고딕 Bold"/>
                  <a:sym typeface="210 디딤고딕 Bold"/>
                </a:rPr>
                <a:t>Project Progress Report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542129"/>
            <a:ext cx="8248263" cy="311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65"/>
              </a:lnSpc>
            </a:pPr>
            <a:r>
              <a:rPr lang="en-US" sz="10578">
                <a:solidFill>
                  <a:srgbClr val="101C52"/>
                </a:solidFill>
                <a:latin typeface="210 디딤고딕 Bold"/>
                <a:ea typeface="210 디딤고딕 Bold"/>
                <a:cs typeface="210 디딤고딕 Bold"/>
                <a:sym typeface="210 디딤고딕 Bold"/>
              </a:rPr>
              <a:t>웹 프로그래밍 진행 보고서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737250"/>
            <a:ext cx="3539971" cy="52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7"/>
              </a:lnSpc>
            </a:pPr>
            <a:r>
              <a:rPr lang="en-US" sz="3121">
                <a:solidFill>
                  <a:srgbClr val="101C52"/>
                </a:solidFill>
                <a:latin typeface="210 디딤고딕 Bold"/>
                <a:ea typeface="210 디딤고딕 Bold"/>
                <a:cs typeface="210 디딤고딕 Bold"/>
                <a:sym typeface="210 디딤고딕 Bold"/>
              </a:rPr>
              <a:t>2100998 이수찬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58095"/>
            <a:ext cx="4434513" cy="1098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659"/>
              </a:lnSpc>
            </a:pPr>
            <a:r>
              <a:rPr lang="en-US" sz="7216" b="true">
                <a:solidFill>
                  <a:srgbClr val="101C52"/>
                </a:solidFill>
                <a:latin typeface="Gotham Bold"/>
                <a:ea typeface="Gotham Bold"/>
                <a:cs typeface="Gotham Bold"/>
                <a:sym typeface="Gotham Bold"/>
              </a:rPr>
              <a:t>Contents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31447" y="2990783"/>
            <a:ext cx="5741295" cy="59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52"/>
              </a:lnSpc>
            </a:pPr>
            <a:r>
              <a:rPr lang="en-US" sz="3877">
                <a:solidFill>
                  <a:srgbClr val="3D3D3D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프로젝트 개요 및 목표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000308"/>
            <a:ext cx="1002747" cy="59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52"/>
              </a:lnSpc>
            </a:pPr>
            <a:r>
              <a:rPr lang="en-US" sz="3877" b="true">
                <a:solidFill>
                  <a:srgbClr val="101C52"/>
                </a:solidFill>
                <a:latin typeface="Gotham Bold"/>
                <a:ea typeface="Gotham Bold"/>
                <a:cs typeface="Gotham Bold"/>
                <a:sym typeface="Gotham Bold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31447" y="3923257"/>
            <a:ext cx="5741295" cy="59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52"/>
              </a:lnSpc>
            </a:pPr>
            <a:r>
              <a:rPr lang="en-US" sz="3877">
                <a:solidFill>
                  <a:srgbClr val="3D3D3D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진행 상황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932782"/>
            <a:ext cx="1002747" cy="59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52"/>
              </a:lnSpc>
            </a:pPr>
            <a:r>
              <a:rPr lang="en-US" sz="3877" b="true">
                <a:solidFill>
                  <a:srgbClr val="101C52"/>
                </a:solidFill>
                <a:latin typeface="Gotham Bold"/>
                <a:ea typeface="Gotham Bold"/>
                <a:cs typeface="Gotham Bold"/>
                <a:sym typeface="Gotham Bold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31447" y="4855731"/>
            <a:ext cx="5741295" cy="59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52"/>
              </a:lnSpc>
            </a:pPr>
            <a:r>
              <a:rPr lang="en-US" sz="3877">
                <a:solidFill>
                  <a:srgbClr val="3D3D3D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요구 사항 분석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865256"/>
            <a:ext cx="1002747" cy="59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52"/>
              </a:lnSpc>
            </a:pPr>
            <a:r>
              <a:rPr lang="en-US" sz="3877" b="true">
                <a:solidFill>
                  <a:srgbClr val="101C52"/>
                </a:solidFill>
                <a:latin typeface="Gotham Bold"/>
                <a:ea typeface="Gotham Bold"/>
                <a:cs typeface="Gotham Bold"/>
                <a:sym typeface="Gotham Bold"/>
              </a:rPr>
              <a:t>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31447" y="5788205"/>
            <a:ext cx="5741295" cy="59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52"/>
              </a:lnSpc>
            </a:pPr>
            <a:r>
              <a:rPr lang="en-US" sz="3877">
                <a:solidFill>
                  <a:srgbClr val="3D3D3D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시스템 프로세스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797730"/>
            <a:ext cx="1002747" cy="59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52"/>
              </a:lnSpc>
            </a:pPr>
            <a:r>
              <a:rPr lang="en-US" sz="3877" b="true">
                <a:solidFill>
                  <a:srgbClr val="101C52"/>
                </a:solidFill>
                <a:latin typeface="Gotham Bold"/>
                <a:ea typeface="Gotham Bold"/>
                <a:cs typeface="Gotham Bold"/>
                <a:sym typeface="Gotham Bold"/>
              </a:rPr>
              <a:t>04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31447" y="6720678"/>
            <a:ext cx="5741295" cy="59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52"/>
              </a:lnSpc>
            </a:pPr>
            <a:r>
              <a:rPr lang="en-US" sz="3877">
                <a:solidFill>
                  <a:srgbClr val="3D3D3D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UI 기능 및 정리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6730203"/>
            <a:ext cx="1002747" cy="59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52"/>
              </a:lnSpc>
            </a:pPr>
            <a:r>
              <a:rPr lang="en-US" sz="3877" b="true">
                <a:solidFill>
                  <a:srgbClr val="101C52"/>
                </a:solidFill>
                <a:latin typeface="Gotham Bold"/>
                <a:ea typeface="Gotham Bold"/>
                <a:cs typeface="Gotham Bold"/>
                <a:sym typeface="Gotham Bold"/>
              </a:rPr>
              <a:t>05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31447" y="7653152"/>
            <a:ext cx="5741295" cy="59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52"/>
              </a:lnSpc>
            </a:pPr>
            <a:r>
              <a:rPr lang="en-US" sz="3877">
                <a:solidFill>
                  <a:srgbClr val="3D3D3D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결론 및 향후 계획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7662677"/>
            <a:ext cx="1002747" cy="59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52"/>
              </a:lnSpc>
            </a:pPr>
            <a:r>
              <a:rPr lang="en-US" sz="3877" b="true">
                <a:solidFill>
                  <a:srgbClr val="101C52"/>
                </a:solidFill>
                <a:latin typeface="Gotham Bold"/>
                <a:ea typeface="Gotham Bold"/>
                <a:cs typeface="Gotham Bold"/>
                <a:sym typeface="Gotham Bold"/>
              </a:rPr>
              <a:t>06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2532784" y="4865256"/>
            <a:ext cx="4262934" cy="4022660"/>
          </a:xfrm>
          <a:custGeom>
            <a:avLst/>
            <a:gdLst/>
            <a:ahLst/>
            <a:cxnLst/>
            <a:rect r="r" b="b" t="t" l="l"/>
            <a:pathLst>
              <a:path h="4022660" w="4262934">
                <a:moveTo>
                  <a:pt x="0" y="0"/>
                </a:moveTo>
                <a:lnTo>
                  <a:pt x="4262935" y="0"/>
                </a:lnTo>
                <a:lnTo>
                  <a:pt x="4262935" y="4022660"/>
                </a:lnTo>
                <a:lnTo>
                  <a:pt x="0" y="4022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67986" y="6623999"/>
            <a:ext cx="9352028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6500">
                <a:solidFill>
                  <a:srgbClr val="101C52"/>
                </a:solidFill>
                <a:latin typeface="210 디딤고딕 Bold"/>
                <a:ea typeface="210 디딤고딕 Bold"/>
                <a:cs typeface="210 디딤고딕 Bold"/>
                <a:sym typeface="210 디딤고딕 Bold"/>
              </a:rPr>
              <a:t>프로젝트 개요 및 목표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266002" y="2662876"/>
            <a:ext cx="3755996" cy="3277960"/>
          </a:xfrm>
          <a:custGeom>
            <a:avLst/>
            <a:gdLst/>
            <a:ahLst/>
            <a:cxnLst/>
            <a:rect r="r" b="b" t="t" l="l"/>
            <a:pathLst>
              <a:path h="3277960" w="3755996">
                <a:moveTo>
                  <a:pt x="0" y="0"/>
                </a:moveTo>
                <a:lnTo>
                  <a:pt x="3755996" y="0"/>
                </a:lnTo>
                <a:lnTo>
                  <a:pt x="3755996" y="3277960"/>
                </a:lnTo>
                <a:lnTo>
                  <a:pt x="0" y="32779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32933" y="1759752"/>
            <a:ext cx="9222133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20"/>
              </a:lnSpc>
            </a:pPr>
            <a:r>
              <a:rPr lang="en-US" sz="7100">
                <a:solidFill>
                  <a:srgbClr val="101C52"/>
                </a:solidFill>
                <a:latin typeface="210 디딤고딕 Bold"/>
                <a:ea typeface="210 디딤고딕 Bold"/>
                <a:cs typeface="210 디딤고딕 Bold"/>
                <a:sym typeface="210 디딤고딕 Bold"/>
              </a:rPr>
              <a:t>진행 상황 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4272792" y="6029907"/>
            <a:ext cx="11264594" cy="0"/>
          </a:xfrm>
          <a:prstGeom prst="line">
            <a:avLst/>
          </a:prstGeom>
          <a:ln cap="flat" w="66675">
            <a:solidFill>
              <a:srgbClr val="101C5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558507" y="4294712"/>
            <a:ext cx="3428570" cy="342857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1C5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99"/>
                </a:lnSpc>
              </a:pPr>
              <a:r>
                <a:rPr lang="en-US" sz="3599">
                  <a:solidFill>
                    <a:srgbClr val="FFFFFF"/>
                  </a:solidFill>
                  <a:latin typeface="210 디딤고딕"/>
                  <a:ea typeface="210 디딤고딕"/>
                  <a:cs typeface="210 디딤고딕"/>
                  <a:sym typeface="210 디딤고딕"/>
                </a:rPr>
                <a:t>페이지 제작 및 상품 추가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429715" y="4294712"/>
            <a:ext cx="3428570" cy="342857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1C5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49"/>
                </a:lnSpc>
              </a:pPr>
              <a:r>
                <a:rPr lang="en-US" sz="3399">
                  <a:solidFill>
                    <a:srgbClr val="FFFFFF"/>
                  </a:solidFill>
                  <a:latin typeface="210 디딤고딕"/>
                  <a:ea typeface="210 디딤고딕"/>
                  <a:cs typeface="210 디딤고딕"/>
                  <a:sym typeface="210 디딤고딕"/>
                </a:rPr>
                <a:t>사이즈 및 수량 선택 가능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300923" y="4294712"/>
            <a:ext cx="3428570" cy="342857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1C5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49"/>
                </a:lnSpc>
              </a:pPr>
              <a:r>
                <a:rPr lang="en-US" sz="3399">
                  <a:solidFill>
                    <a:srgbClr val="FFFFFF"/>
                  </a:solidFill>
                  <a:latin typeface="210 디딤고딕"/>
                  <a:ea typeface="210 디딤고딕"/>
                  <a:cs typeface="210 디딤고딕"/>
                  <a:sym typeface="210 디딤고딕"/>
                </a:rPr>
                <a:t>개인정보 입력, 결제 방법 선택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29128" y="4065855"/>
            <a:ext cx="3735475" cy="373547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1C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99"/>
                </a:lnSpc>
              </a:pPr>
              <a:r>
                <a:rPr lang="en-US" sz="3199">
                  <a:solidFill>
                    <a:srgbClr val="FFFFFF"/>
                  </a:solidFill>
                  <a:latin typeface="210 디딤고딕"/>
                  <a:ea typeface="210 디딤고딕"/>
                  <a:cs typeface="210 디딤고딕"/>
                  <a:sym typeface="210 디딤고딕"/>
                </a:rPr>
                <a:t>기능적 요구사항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985753" y="4065855"/>
            <a:ext cx="3735475" cy="373547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1C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4"/>
                </a:lnSpc>
              </a:pPr>
              <a:r>
                <a:rPr lang="en-US" sz="2899">
                  <a:solidFill>
                    <a:srgbClr val="FFFFFF"/>
                  </a:solidFill>
                  <a:latin typeface="210 디딤고딕"/>
                  <a:ea typeface="210 디딤고딕"/>
                  <a:cs typeface="210 디딤고딕"/>
                  <a:sym typeface="210 디딤고딕"/>
                </a:rPr>
                <a:t>비기능적 요구사항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434510" y="2476144"/>
            <a:ext cx="941898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6500">
                <a:solidFill>
                  <a:srgbClr val="101C52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요구사항 분석</a:t>
            </a:r>
          </a:p>
        </p:txBody>
      </p:sp>
      <p:sp>
        <p:nvSpPr>
          <p:cNvPr name="AutoShape 9" id="9"/>
          <p:cNvSpPr/>
          <p:nvPr/>
        </p:nvSpPr>
        <p:spPr>
          <a:xfrm>
            <a:off x="6364604" y="5933593"/>
            <a:ext cx="5296271" cy="0"/>
          </a:xfrm>
          <a:prstGeom prst="line">
            <a:avLst/>
          </a:prstGeom>
          <a:ln cap="flat" w="66675">
            <a:solidFill>
              <a:srgbClr val="101C5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872344"/>
            <a:ext cx="3130251" cy="881945"/>
            <a:chOff x="0" y="0"/>
            <a:chExt cx="824428" cy="232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24428" cy="232282"/>
            </a:xfrm>
            <a:custGeom>
              <a:avLst/>
              <a:gdLst/>
              <a:ahLst/>
              <a:cxnLst/>
              <a:rect r="r" b="b" t="t" l="l"/>
              <a:pathLst>
                <a:path h="232282" w="824428">
                  <a:moveTo>
                    <a:pt x="0" y="0"/>
                  </a:moveTo>
                  <a:lnTo>
                    <a:pt x="824428" y="0"/>
                  </a:lnTo>
                  <a:lnTo>
                    <a:pt x="824428" y="232282"/>
                  </a:lnTo>
                  <a:lnTo>
                    <a:pt x="0" y="232282"/>
                  </a:lnTo>
                  <a:close/>
                </a:path>
              </a:pathLst>
            </a:custGeom>
            <a:solidFill>
              <a:srgbClr val="101C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824428" cy="308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  <a:r>
                <a:rPr lang="en-US" sz="3500">
                  <a:solidFill>
                    <a:srgbClr val="F1F1F1"/>
                  </a:solidFill>
                  <a:latin typeface="210 디딤고딕 Bold"/>
                  <a:ea typeface="210 디딤고딕 Bold"/>
                  <a:cs typeface="210 디딤고딕 Bold"/>
                  <a:sym typeface="210 디딤고딕 Bold"/>
                </a:rPr>
                <a:t>상품 선택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36376" y="5872344"/>
            <a:ext cx="3130251" cy="881945"/>
            <a:chOff x="0" y="0"/>
            <a:chExt cx="824428" cy="2322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4428" cy="232282"/>
            </a:xfrm>
            <a:custGeom>
              <a:avLst/>
              <a:gdLst/>
              <a:ahLst/>
              <a:cxnLst/>
              <a:rect r="r" b="b" t="t" l="l"/>
              <a:pathLst>
                <a:path h="232282" w="824428">
                  <a:moveTo>
                    <a:pt x="0" y="0"/>
                  </a:moveTo>
                  <a:lnTo>
                    <a:pt x="824428" y="0"/>
                  </a:lnTo>
                  <a:lnTo>
                    <a:pt x="824428" y="232282"/>
                  </a:lnTo>
                  <a:lnTo>
                    <a:pt x="0" y="232282"/>
                  </a:lnTo>
                  <a:close/>
                </a:path>
              </a:pathLst>
            </a:custGeom>
            <a:solidFill>
              <a:srgbClr val="101C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824428" cy="308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  <a:r>
                <a:rPr lang="en-US" sz="3500">
                  <a:solidFill>
                    <a:srgbClr val="F1F1F1"/>
                  </a:solidFill>
                  <a:latin typeface="210 디딤고딕 Bold"/>
                  <a:ea typeface="210 디딤고딕 Bold"/>
                  <a:cs typeface="210 디딤고딕 Bold"/>
                  <a:sym typeface="210 디딤고딕 Bold"/>
                </a:rPr>
                <a:t>주문하기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3071312"/>
            <a:ext cx="6202558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99"/>
              </a:lnSpc>
            </a:pPr>
            <a:r>
              <a:rPr lang="en-US" sz="6499">
                <a:solidFill>
                  <a:srgbClr val="101C52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시스템 프로세스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028684"/>
            <a:ext cx="600767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87"/>
              </a:lnSpc>
            </a:pPr>
            <a:r>
              <a:rPr lang="en-US" sz="3322">
                <a:solidFill>
                  <a:srgbClr val="3D3D3D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상품 선택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36376" y="7029593"/>
            <a:ext cx="575873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87"/>
              </a:lnSpc>
            </a:pPr>
            <a:r>
              <a:rPr lang="en-US" sz="3322">
                <a:solidFill>
                  <a:srgbClr val="3D3D3D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결제 방법 선택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880738"/>
            <a:ext cx="600767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87"/>
              </a:lnSpc>
            </a:pPr>
            <a:r>
              <a:rPr lang="en-US" sz="3322">
                <a:solidFill>
                  <a:srgbClr val="3D3D3D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상품 옵션 선택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36376" y="7882371"/>
            <a:ext cx="600767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87"/>
              </a:lnSpc>
            </a:pPr>
            <a:r>
              <a:rPr lang="en-US" sz="3322">
                <a:solidFill>
                  <a:srgbClr val="3D3D3D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주문 절차 수행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8732792"/>
            <a:ext cx="600767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87"/>
              </a:lnSpc>
            </a:pPr>
            <a:r>
              <a:rPr lang="en-US" sz="3322">
                <a:solidFill>
                  <a:srgbClr val="3D3D3D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구매 or 장바구니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36376" y="8734425"/>
            <a:ext cx="575873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87"/>
              </a:lnSpc>
            </a:pPr>
            <a:r>
              <a:rPr lang="en-US" sz="3322">
                <a:solidFill>
                  <a:srgbClr val="3D3D3D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주문 완료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86424" y="287142"/>
            <a:ext cx="6702800" cy="6550738"/>
          </a:xfrm>
          <a:custGeom>
            <a:avLst/>
            <a:gdLst/>
            <a:ahLst/>
            <a:cxnLst/>
            <a:rect r="r" b="b" t="t" l="l"/>
            <a:pathLst>
              <a:path h="6550738" w="6702800">
                <a:moveTo>
                  <a:pt x="0" y="0"/>
                </a:moveTo>
                <a:lnTo>
                  <a:pt x="6702800" y="0"/>
                </a:lnTo>
                <a:lnTo>
                  <a:pt x="6702800" y="6550738"/>
                </a:lnTo>
                <a:lnTo>
                  <a:pt x="0" y="6550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77434" y="4089235"/>
            <a:ext cx="569546" cy="1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"/>
              </a:lnSpc>
            </a:pPr>
            <a:r>
              <a:rPr lang="en-US" sz="758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장바구니 담기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84288" y="2002564"/>
            <a:ext cx="271123" cy="1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"/>
              </a:lnSpc>
            </a:pPr>
            <a:r>
              <a:rPr lang="en-US" sz="758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아우터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70614" y="2002564"/>
            <a:ext cx="180755" cy="1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"/>
              </a:lnSpc>
            </a:pPr>
            <a:r>
              <a:rPr lang="en-US" sz="758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팬츠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11385" y="4089235"/>
            <a:ext cx="180755" cy="1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"/>
              </a:lnSpc>
            </a:pPr>
            <a:r>
              <a:rPr lang="en-US" sz="758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구매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22721" y="4891800"/>
            <a:ext cx="361500" cy="1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"/>
              </a:lnSpc>
            </a:pPr>
            <a:r>
              <a:rPr lang="en-US" sz="758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즉시구매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09433" y="2684748"/>
            <a:ext cx="388791" cy="1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"/>
              </a:lnSpc>
            </a:pPr>
            <a:r>
              <a:rPr lang="en-US" sz="758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상품 선택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20769" y="1360511"/>
            <a:ext cx="569546" cy="1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"/>
              </a:lnSpc>
            </a:pPr>
            <a:r>
              <a:rPr lang="en-US" sz="758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카테고리 선택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05401" y="3286671"/>
            <a:ext cx="804883" cy="1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"/>
              </a:lnSpc>
            </a:pPr>
            <a:r>
              <a:rPr lang="en-US" sz="758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사이즈 및 수량 선택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88144" y="2002564"/>
            <a:ext cx="271123" cy="1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"/>
              </a:lnSpc>
            </a:pPr>
            <a:r>
              <a:rPr lang="en-US" sz="758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아우터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05546" y="2002564"/>
            <a:ext cx="361500" cy="1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"/>
              </a:lnSpc>
            </a:pPr>
            <a:r>
              <a:rPr lang="en-US" sz="758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악세사리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69903" y="397436"/>
            <a:ext cx="361500" cy="1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"/>
              </a:lnSpc>
            </a:pPr>
            <a:r>
              <a:rPr lang="en-US" sz="758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홈페이지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69903" y="1360511"/>
            <a:ext cx="361500" cy="1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"/>
              </a:lnSpc>
            </a:pPr>
            <a:r>
              <a:rPr lang="en-US" sz="758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주문하기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69903" y="2163085"/>
            <a:ext cx="361500" cy="1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"/>
              </a:lnSpc>
            </a:pPr>
            <a:r>
              <a:rPr lang="en-US" sz="758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카드결제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69903" y="3126160"/>
            <a:ext cx="361500" cy="1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"/>
              </a:lnSpc>
            </a:pPr>
            <a:r>
              <a:rPr lang="en-US" sz="758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일반결제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56615" y="5854884"/>
            <a:ext cx="388791" cy="1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"/>
              </a:lnSpc>
            </a:pPr>
            <a:r>
              <a:rPr lang="en-US" sz="758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주문 완료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12224" y="3928724"/>
            <a:ext cx="479169" cy="1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"/>
              </a:lnSpc>
            </a:pPr>
            <a:r>
              <a:rPr lang="en-US" sz="758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카드사 선택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54535" y="4570778"/>
            <a:ext cx="596837" cy="1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"/>
              </a:lnSpc>
            </a:pPr>
            <a:r>
              <a:rPr lang="en-US" sz="758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카드 번호 입력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52583" y="5315032"/>
            <a:ext cx="27291" cy="75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"/>
              </a:lnSpc>
            </a:pPr>
            <a:r>
              <a:rPr lang="en-US" sz="75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79343" y="5279506"/>
            <a:ext cx="777583" cy="84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"/>
              </a:lnSpc>
            </a:pPr>
            <a:r>
              <a:rPr lang="en-US" sz="758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카드 비밀번호 입력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064057" y="6496938"/>
            <a:ext cx="985629" cy="1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"/>
              </a:lnSpc>
            </a:pPr>
            <a:r>
              <a:rPr lang="en-US" sz="758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주문 내역 페이지로 이동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93499" y="3126160"/>
            <a:ext cx="361500" cy="1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"/>
              </a:lnSpc>
            </a:pPr>
            <a:r>
              <a:rPr lang="en-US" sz="758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간편결제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49236" y="2163085"/>
            <a:ext cx="451878" cy="1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"/>
              </a:lnSpc>
            </a:pPr>
            <a:r>
              <a:rPr lang="en-US" sz="758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무통장입금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35810" y="3768213"/>
            <a:ext cx="479169" cy="1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"/>
              </a:lnSpc>
            </a:pPr>
            <a:r>
              <a:rPr lang="en-US" sz="758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카드사 선택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45332" y="4410267"/>
            <a:ext cx="867960" cy="1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"/>
              </a:lnSpc>
            </a:pPr>
            <a:r>
              <a:rPr lang="en-US" sz="758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카드사 페이지로 이동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174227" y="4972060"/>
            <a:ext cx="1012920" cy="1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"/>
              </a:lnSpc>
            </a:pPr>
            <a:r>
              <a:rPr lang="en-US" sz="758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결제 완료 후 페이지 이동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777605" y="1360511"/>
            <a:ext cx="361500" cy="1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"/>
              </a:lnSpc>
            </a:pPr>
            <a:r>
              <a:rPr lang="en-US" sz="758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장바구니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777605" y="4089235"/>
            <a:ext cx="361500" cy="1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"/>
              </a:lnSpc>
            </a:pPr>
            <a:r>
              <a:rPr lang="en-US" sz="758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주문완료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764308" y="2163085"/>
            <a:ext cx="388791" cy="1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"/>
              </a:lnSpc>
            </a:pPr>
            <a:r>
              <a:rPr lang="en-US" sz="758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은행 선택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764308" y="3447182"/>
            <a:ext cx="388791" cy="1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"/>
              </a:lnSpc>
            </a:pPr>
            <a:r>
              <a:rPr lang="en-US" sz="758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입금 확인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675654" y="2805138"/>
            <a:ext cx="569546" cy="1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"/>
              </a:lnSpc>
            </a:pPr>
            <a:r>
              <a:rPr lang="en-US" sz="758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계좌번호 전송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736358" y="3974948"/>
            <a:ext cx="167430" cy="199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5"/>
              </a:lnSpc>
            </a:pPr>
            <a:r>
              <a:rPr lang="en-US" sz="10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435972" y="4536741"/>
            <a:ext cx="213673" cy="199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5"/>
              </a:lnSpc>
            </a:pPr>
            <a:r>
              <a:rPr lang="en-US" sz="10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683154" y="2610590"/>
            <a:ext cx="213673" cy="199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5"/>
              </a:lnSpc>
            </a:pPr>
            <a:r>
              <a:rPr lang="en-US" sz="10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683154" y="3573665"/>
            <a:ext cx="213673" cy="199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5"/>
              </a:lnSpc>
            </a:pPr>
            <a:r>
              <a:rPr lang="en-US" sz="10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866365" y="2048788"/>
            <a:ext cx="167430" cy="199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5"/>
              </a:lnSpc>
            </a:pPr>
            <a:r>
              <a:rPr lang="en-US" sz="10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946625" y="3011872"/>
            <a:ext cx="167430" cy="199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5"/>
              </a:lnSpc>
            </a:pPr>
            <a:r>
              <a:rPr lang="en-US" sz="10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800436" y="184227"/>
            <a:ext cx="443190" cy="143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6"/>
              </a:lnSpc>
            </a:pPr>
            <a:r>
              <a:rPr lang="en-US" sz="76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25. 5. 27.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414686" y="184227"/>
            <a:ext cx="221618" cy="143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6"/>
              </a:lnSpc>
            </a:pPr>
            <a:r>
              <a:rPr lang="en-US" sz="76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1:23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800436" y="9971597"/>
            <a:ext cx="1639265" cy="143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6"/>
              </a:lnSpc>
            </a:pPr>
            <a:r>
              <a:rPr lang="en-US" sz="76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file:///C:/Users/leesoochan/OneDrive/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250888" y="9971597"/>
            <a:ext cx="503958" cy="143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6"/>
              </a:lnSpc>
            </a:pPr>
            <a:r>
              <a:rPr lang="en-US" sz="76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.drawio.svg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913515" y="184227"/>
            <a:ext cx="503958" cy="143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6"/>
              </a:lnSpc>
            </a:pPr>
            <a:r>
              <a:rPr lang="en-US" sz="76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.drawio.svg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350552" y="9980762"/>
            <a:ext cx="138673" cy="143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6"/>
              </a:lnSpc>
            </a:pPr>
            <a:r>
              <a:rPr lang="en-US" sz="769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1/1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234939" y="148050"/>
            <a:ext cx="183348" cy="153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6"/>
              </a:lnSpc>
            </a:pPr>
            <a:r>
              <a:rPr lang="en-US" sz="769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오후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407554" y="9935421"/>
            <a:ext cx="1880202" cy="153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6"/>
              </a:lnSpc>
            </a:pPr>
            <a:r>
              <a:rPr lang="en-US" sz="769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문서/카카오톡 받은 파일/프로세스 다이어그램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077501" y="148050"/>
            <a:ext cx="852738" cy="153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6"/>
              </a:lnSpc>
            </a:pPr>
            <a:r>
              <a:rPr lang="en-US" sz="769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프로세스 다이어그램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42525" y="2833523"/>
            <a:ext cx="800295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6500">
                <a:solidFill>
                  <a:srgbClr val="101C52"/>
                </a:solidFill>
                <a:latin typeface="210 디딤고딕 Bold"/>
                <a:ea typeface="210 디딤고딕 Bold"/>
                <a:cs typeface="210 디딤고딕 Bold"/>
                <a:sym typeface="210 디딤고딕 Bold"/>
              </a:rPr>
              <a:t>UI 기능 및 정리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79155" y="6404576"/>
            <a:ext cx="4198156" cy="487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9"/>
              </a:lnSpc>
            </a:pPr>
            <a:r>
              <a:rPr lang="en-US" sz="3157">
                <a:solidFill>
                  <a:srgbClr val="3D3D3D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상품 이미지 스케일 업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047021" y="6404576"/>
            <a:ext cx="4198156" cy="487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9"/>
              </a:lnSpc>
            </a:pPr>
            <a:r>
              <a:rPr lang="en-US" sz="3157">
                <a:solidFill>
                  <a:srgbClr val="3D3D3D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옵션 선택 가능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10689" y="6404576"/>
            <a:ext cx="4198156" cy="487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9"/>
              </a:lnSpc>
            </a:pPr>
            <a:r>
              <a:rPr lang="en-US" sz="3157">
                <a:solidFill>
                  <a:srgbClr val="3D3D3D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원하는 방식으로 결제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279155" y="4544096"/>
            <a:ext cx="4198156" cy="881945"/>
            <a:chOff x="0" y="0"/>
            <a:chExt cx="1105687" cy="2322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5687" cy="232282"/>
            </a:xfrm>
            <a:custGeom>
              <a:avLst/>
              <a:gdLst/>
              <a:ahLst/>
              <a:cxnLst/>
              <a:rect r="r" b="b" t="t" l="l"/>
              <a:pathLst>
                <a:path h="232282" w="1105687">
                  <a:moveTo>
                    <a:pt x="0" y="0"/>
                  </a:moveTo>
                  <a:lnTo>
                    <a:pt x="1105687" y="0"/>
                  </a:lnTo>
                  <a:lnTo>
                    <a:pt x="1105687" y="232282"/>
                  </a:lnTo>
                  <a:lnTo>
                    <a:pt x="0" y="232282"/>
                  </a:lnTo>
                  <a:close/>
                </a:path>
              </a:pathLst>
            </a:custGeom>
            <a:solidFill>
              <a:srgbClr val="101C5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1105687" cy="308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  <a:r>
                <a:rPr lang="en-US" sz="3500">
                  <a:solidFill>
                    <a:srgbClr val="F1F1F1"/>
                  </a:solidFill>
                  <a:latin typeface="210 디딤고딕 Bold"/>
                  <a:ea typeface="210 디딤고딕 Bold"/>
                  <a:cs typeface="210 디딤고딕 Bold"/>
                  <a:sym typeface="210 디딤고딕 Bold"/>
                </a:rPr>
                <a:t>상품 선택 확인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047072" y="4544096"/>
            <a:ext cx="4198156" cy="881945"/>
            <a:chOff x="0" y="0"/>
            <a:chExt cx="1105687" cy="23228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5687" cy="232282"/>
            </a:xfrm>
            <a:custGeom>
              <a:avLst/>
              <a:gdLst/>
              <a:ahLst/>
              <a:cxnLst/>
              <a:rect r="r" b="b" t="t" l="l"/>
              <a:pathLst>
                <a:path h="232282" w="1105687">
                  <a:moveTo>
                    <a:pt x="0" y="0"/>
                  </a:moveTo>
                  <a:lnTo>
                    <a:pt x="1105687" y="0"/>
                  </a:lnTo>
                  <a:lnTo>
                    <a:pt x="1105687" y="232282"/>
                  </a:lnTo>
                  <a:lnTo>
                    <a:pt x="0" y="232282"/>
                  </a:lnTo>
                  <a:close/>
                </a:path>
              </a:pathLst>
            </a:custGeom>
            <a:solidFill>
              <a:srgbClr val="101C5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105687" cy="308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  <a:r>
                <a:rPr lang="en-US" sz="3500">
                  <a:solidFill>
                    <a:srgbClr val="F1F1F1"/>
                  </a:solidFill>
                  <a:latin typeface="210 디딤고딕"/>
                  <a:ea typeface="210 디딤고딕"/>
                  <a:cs typeface="210 디딤고딕"/>
                  <a:sym typeface="210 디딤고딕"/>
                </a:rPr>
                <a:t>사이즈 및 수량 선택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810689" y="4544096"/>
            <a:ext cx="4198156" cy="881945"/>
            <a:chOff x="0" y="0"/>
            <a:chExt cx="1105687" cy="2322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5687" cy="232282"/>
            </a:xfrm>
            <a:custGeom>
              <a:avLst/>
              <a:gdLst/>
              <a:ahLst/>
              <a:cxnLst/>
              <a:rect r="r" b="b" t="t" l="l"/>
              <a:pathLst>
                <a:path h="232282" w="1105687">
                  <a:moveTo>
                    <a:pt x="0" y="0"/>
                  </a:moveTo>
                  <a:lnTo>
                    <a:pt x="1105687" y="0"/>
                  </a:lnTo>
                  <a:lnTo>
                    <a:pt x="1105687" y="232282"/>
                  </a:lnTo>
                  <a:lnTo>
                    <a:pt x="0" y="232282"/>
                  </a:lnTo>
                  <a:close/>
                </a:path>
              </a:pathLst>
            </a:custGeom>
            <a:solidFill>
              <a:srgbClr val="101C5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1105687" cy="308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  <a:r>
                <a:rPr lang="en-US" sz="3500">
                  <a:solidFill>
                    <a:srgbClr val="F1F1F1"/>
                  </a:solidFill>
                  <a:latin typeface="210 디딤고딕 Bold"/>
                  <a:ea typeface="210 디딤고딕 Bold"/>
                  <a:cs typeface="210 디딤고딕 Bold"/>
                  <a:sym typeface="210 디딤고딕 Bold"/>
                </a:rPr>
                <a:t>결제 방법 선택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56094" y="1536885"/>
            <a:ext cx="797581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6500">
                <a:solidFill>
                  <a:srgbClr val="101C52"/>
                </a:solidFill>
                <a:latin typeface="210 디딤고딕 Bold"/>
                <a:ea typeface="210 디딤고딕 Bold"/>
                <a:cs typeface="210 디딤고딕 Bold"/>
                <a:sym typeface="210 디딤고딕 Bold"/>
              </a:rPr>
              <a:t>향후 계획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897175" y="8245290"/>
            <a:ext cx="679258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3D3D3D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방문 분석으로 인한 검색량 증대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897175" y="7456422"/>
            <a:ext cx="6792589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9"/>
              </a:lnSpc>
            </a:pPr>
            <a:r>
              <a:rPr lang="en-US" sz="3699">
                <a:solidFill>
                  <a:srgbClr val="101C52"/>
                </a:solidFill>
                <a:latin typeface="210 디딤고딕 Bold"/>
                <a:ea typeface="210 디딤고딕 Bold"/>
                <a:cs typeface="210 디딤고딕 Bold"/>
                <a:sym typeface="210 디딤고딕 Bold"/>
              </a:rPr>
              <a:t>사용자 방문 분석 추가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245290"/>
            <a:ext cx="797499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3D3D3D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실시간으로 진행되는 소통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456422"/>
            <a:ext cx="7974998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9"/>
              </a:lnSpc>
            </a:pPr>
            <a:r>
              <a:rPr lang="en-US" sz="3699">
                <a:solidFill>
                  <a:srgbClr val="101C52"/>
                </a:solidFill>
                <a:latin typeface="210 디딤고딕 Bold"/>
                <a:ea typeface="210 디딤고딕 Bold"/>
                <a:cs typeface="210 디딤고딕 Bold"/>
                <a:sym typeface="210 디딤고딕 Bold"/>
              </a:rPr>
              <a:t>실시간 채팅 기능 추가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831444" y="3128302"/>
            <a:ext cx="2924051" cy="3980763"/>
          </a:xfrm>
          <a:custGeom>
            <a:avLst/>
            <a:gdLst/>
            <a:ahLst/>
            <a:cxnLst/>
            <a:rect r="r" b="b" t="t" l="l"/>
            <a:pathLst>
              <a:path h="3980763" w="2924051">
                <a:moveTo>
                  <a:pt x="0" y="0"/>
                </a:moveTo>
                <a:lnTo>
                  <a:pt x="2924051" y="0"/>
                </a:lnTo>
                <a:lnTo>
                  <a:pt x="2924051" y="3980763"/>
                </a:lnTo>
                <a:lnTo>
                  <a:pt x="0" y="39807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393104" y="3340392"/>
            <a:ext cx="3246189" cy="3556582"/>
          </a:xfrm>
          <a:custGeom>
            <a:avLst/>
            <a:gdLst/>
            <a:ahLst/>
            <a:cxnLst/>
            <a:rect r="r" b="b" t="t" l="l"/>
            <a:pathLst>
              <a:path h="3556582" w="3246189">
                <a:moveTo>
                  <a:pt x="0" y="0"/>
                </a:moveTo>
                <a:lnTo>
                  <a:pt x="3246190" y="0"/>
                </a:lnTo>
                <a:lnTo>
                  <a:pt x="3246190" y="3556582"/>
                </a:lnTo>
                <a:lnTo>
                  <a:pt x="0" y="3556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82622" y="6542198"/>
            <a:ext cx="4322757" cy="962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9"/>
              </a:lnSpc>
            </a:pPr>
            <a:r>
              <a:rPr lang="en-US" sz="6258">
                <a:solidFill>
                  <a:srgbClr val="101C52"/>
                </a:solidFill>
                <a:latin typeface="210 디딤고딕 Bold"/>
                <a:ea typeface="210 디딤고딕 Bold"/>
                <a:cs typeface="210 디딤고딕 Bold"/>
                <a:sym typeface="210 디딤고딕 Bold"/>
              </a:rPr>
              <a:t>감사합니다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669094" y="2649970"/>
            <a:ext cx="2949812" cy="3290865"/>
          </a:xfrm>
          <a:custGeom>
            <a:avLst/>
            <a:gdLst/>
            <a:ahLst/>
            <a:cxnLst/>
            <a:rect r="r" b="b" t="t" l="l"/>
            <a:pathLst>
              <a:path h="3290865" w="2949812">
                <a:moveTo>
                  <a:pt x="0" y="0"/>
                </a:moveTo>
                <a:lnTo>
                  <a:pt x="2949812" y="0"/>
                </a:lnTo>
                <a:lnTo>
                  <a:pt x="2949812" y="3290866"/>
                </a:lnTo>
                <a:lnTo>
                  <a:pt x="0" y="32908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DAGonKkxXvU</dc:identifier>
  <dcterms:modified xsi:type="dcterms:W3CDTF">2011-08-01T06:04:30Z</dcterms:modified>
  <cp:revision>1</cp:revision>
  <dc:title>남색 마케팅 프로젝트 진행 상황 보고서 프리젠테이션</dc:title>
</cp:coreProperties>
</file>